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FINALIDAD
Dar la bienvenida y presentar la pregunta que orienta el módulo sin revelar todavía el proyecto vertebrador.
TIEMPO
2 minutos
COMPOSICIÓN VISUAL
Portada limpia. A la izquierda, título y pregunta guía. A la derecha, una secuencia visual de tres pasos: instrucción → programa → prueba. Sin referencias a MiniJarvis.
EXPLICACIÓN ORAL SUGERIDA
Programar consistirá en dar instrucciones precisas a un ordenador, observar qué ocurre y comprobar si resuelve bien el problema. Partiremos de tareas pequeñas y avanzaremos hacia programas cada vez más completos. La experiencia previa puede ayudar, pero no es un requisito de partida.
PREGUNTA AL ALUMNADO
¿Qué palabra de la pregunta guía os parece más importante: construir, comprobar, explicar o mejorar?
IDEA O RESPUESTA ESPERADA
Todas forman parte del aprendizaje. Un programa no queda demostrado solo porque parezca funcionar.
ERROR O CONFUSIÓN QUE DEBE EVITARSE
Prometer facilidad, introducir ya el proyecto anual o dar por supuesto que programar es copiar código que se ejecuta.
TRANSICIÓN
Primero vamos a concretar qué significa aprender Programación.
FUENTES DEL PROYECTO
32-lista-conceptos-programacion-por-tema; 01A-anexo-programacion-ra-ce.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FINALIDAD
Explicar qué actividad intelectual y práctica propone el módulo.
TIEMPO
3 minutos
COMPOSICIÓN VISUAL
Cinco tarjetas horizontales conectadas muestran un ciclo sencillo: problema, diseño, código, ejecución y comprobación.
EXPLICACIÓN ORAL SUGERIDA
Partiremos de un problema, pensaremos qué datos y decisiones necesita, escribiremos instrucciones en Java, ejecutaremos el programa y comprobaremos su comportamiento. Ese ciclo se repetirá muchas veces con dificultad creciente.
PREGUNTA AL ALUMNADO
Si un programa se ejecuta, ¿significa necesariamente que resuelve bien el problema?
IDEA O RESPUESTA ESPERADA
No. Hay que probar casos, interpretar resultados y corregir errores.
ERROR O CONFUSIÓN QUE DEBE EVITARSE
Reducir Programación a memorizar sintaxis o a copiar código que se ejecuta.
TRANSICIÓN
Veamos ahora qué conocimientos iremos incorporando a ese ciclo.
FUENTES DEL PROYECTO
32-lista-conceptos-programacion-por-tema; 01A-anexo-programacion-ra-ce, evidencias comunes.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FINALIDAD
Mostrar la progresión de contenidos sin convertirla en un índice rígido de unidades ni anticipar el proyecto anual.
TIEMPO
4 minutos
COMPOSICIÓN VISUAL
Siete tarjetas numeradas. Seis forman dos filas equilibradas y la séptima, de ampliación, queda destacada con color ámbar.
EXPLICACIÓN ORAL SUGERIDA
La ruta comienza con los fundamentos del lenguaje y el control del flujo. Después aparecen las estructuras de datos y la orientación a objetos. Las pruebas, el diseño y la persistencia permiten construir programas más fiables. Programación funcional, interfaces gráficas y bases de datos tienen un alcance adaptable.
PREGUNTA AL ALUMNADO
¿En qué bloque imagináis que un programa empieza a recordar información?
IDEA O RESPUESTA ESPERADA
Con estructuras de datos aparece la memoria temporal y con persistencia la información puede conservarse.
ERROR O CONFUSIÓN QUE DEBE EVITARSE
Presentar los bloques como compartimentos aislados o garantizar idéntica profundidad en todos los contenidos avanzados.
TRANSICIÓN
Esta ruta de contenidos se evalúa mediante capacidades observables: los Resultados de Aprendizaje.
FUENTES DEL PROYECTO
32-lista-conceptos-programacion-por-tema; 01A-anexo-programacion-ra-ce.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FINALIDAD
Dar sentido a los RA antes de mostrar su redacción literal.
TIEMPO
3 minutos
COMPOSICIÓN VISUAL
Nueve tarjetas compactas organizadas en dos filas. Los RA7–RA9 se diferencian visualmente por su alcance adaptable, sin ocultarlos.
EXPLICACIÓN ORAL SUGERIDA
Un RA expresa algo que el alumnado debe llegar a hacer de manera observable: reconocer, escribir, depurar, desarrollar, realizar operaciones o gestionar información. Los temas aportan conocimientos para alcanzar esas capacidades. Los RA7, RA8 y RA9 siguen presentes, aunque su profundidad se ajustará al progreso real del grupo.
PREGUNTA AL ALUMNADO
¿Qué podría demostrar mejor un RA: decir una definición o explicar y modificar un programa?
IDEA O RESPUESTA ESPERADA
La explicación ayuda, pero la capacidad se observa mejor al construir, probar y modificar el programa.
ERROR O CONFUSIÓN QUE DEBE EVITARSE
Tratar los RA como capítulos del libro, introducir porcentajes históricos o hacer desaparecer RA7–RA9.
TRANSICIÓN
Leamos ahora su redacción formal y traduzcámosla a acciones comprensibles.
FUENTES DEL PROYECTO
01A-anexo-programacion-ra-ce, Resultados de Aprendizaje y clasificación de alcance.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FINALIDAD
Presentar literalmente RA1 y RA2 y traducirlos a las primeras acciones del curso.
TIEMPO
3 minutos
COMPOSICIÓN VISUAL
Dos grandes tarjetas simétricas, una por RA. La redacción formal ocupa el centro y debajo aparece una traducción operativa.
EXPLICACIÓN ORAL SUGERIDA
RA1 se centra en reconocer la estructura, el lenguaje y sus elementos. RA2 pide escribir y probar programas sencillos, con una primera aproximación a objetos. No hace falta memorizar hoy la redacción, pero sí comprender qué acciones exige.
PREGUNTA AL ALUMNADO
¿Qué tendría que mostrar una primera versión ejecutable para que pudiéramos comprobarla?
IDEA O RESPUESTA ESPERADA
Una entrada o acción clara, una respuesta observable y una explicación básica de sus partes.
ERROR O CONFUSIÓN QUE DEBE EVITARSE
Confundir los fundamentos de POO de RA2 con el diseño completo en clases que se desarrollará después.
TRANSICIÓN
Cuando ya podemos escribir algo, necesitamos controlar su comportamiento y organizarlo.
FUENTES DEL PROYECTO
01A-anexo-programacion-ra-ce, redacción literal de RA1 y RA2.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FINALIDAD
Presentar literalmente RA3 y RA4 y anticipar el salto desde el control del flujo al diseño orientado a objetos.
TIEMPO
3 minutos
COMPOSICIÓN VISUAL
Dos tarjetas grandes, con RA3 a la izquierda y RA4 a la derecha. Cada una cierra con una acción en lenguaje del alumnado.
EXPLICACIÓN ORAL SUGERIDA
RA3 reúne decisiones, repeticiones y depuración. RA4 exige que el programa deje de ser un bloque único y reparta responsabilidades entre clases y objetos con sentido.
PREGUNTA AL ALUMNADO
¿Por qué conviene repartir un programa grande entre varias clases?
IDEA O RESPUESTA ESPERADA
Para separar responsabilidades, comprender mejor el código y poder modificarlo y probarlo con menos riesgo.
ERROR O CONFUSIÓN QUE DEBE EVITARSE
Presentar las clases como simples carpetas de código o la depuración como corregir al azar.
TRANSICIÓN
Un programa también necesita intercambiar y organizar información.
FUENTES DEL PROYECTO
01A-anexo-programacion-ra-ce, redacción literal de RA3 y RA4.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FINALIDAD
Presentar literalmente RA5 y RA6 y relacionarlos con el flujo y la organización de información.
TIEMPO
3 minutos
COMPOSICIÓN VISUAL
Dos tarjetas grandes con contraste de color. En la parte inferior, una frase refuerza la idea de selección razonada de estructuras.
EXPLICACIÓN ORAL SUGERIDA
RA5 trata la entrada y salida: recibir, mostrar y guardar información mediante recursos del lenguaje. RA6 pide seleccionar estructuras adecuadas para manipular datos, como arrays, listas, conjuntos o mapas.
PREGUNTA AL ALUMNADO
¿Usaríais la misma estructura para guardar una lista ordenada y para evitar elementos repetidos?
IDEA O RESPUESTA ESPERADA
No necesariamente. La estructura se elige según el problema y el comportamiento necesario.
ERROR O CONFUSIÓN QUE DEBE EVITARSE
Reducir RA5 a mostrar texto por pantalla o RA6 a memorizar nombres de colecciones.
TRANSICIÓN
Los tres RA restantes amplían el diseño y la persistencia de la información.
FUENTES DEL PROYECTO
01A-anexo-programacion-ra-ce, redacción literal de RA5 y RA6; 32-lista-conceptos-programacion-por-tema.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FINALIDAD
Mantener visibles RA7, RA8 y RA9 y explicar con precisión su alcance adaptable.
TIEMPO
3 minutos
COMPOSICIÓN VISUAL
Tres tarjetas verticales. Las tres comparten un acento ámbar y una banda inferior explicita que su alcance es adaptable, no inexistente.
EXPLICACIÓN ORAL SUGERIDA
Estos RA forman parte del módulo. El curso los incorpora como ampliación, consolidación o profundización. Su desarrollo dependerá del avance real y de las evidencias disponibles, por lo que no se promete la misma extensión en todos los contenidos avanzados.
PREGUNTA AL ALUMNADO
¿Qué significa aquí alcance adaptable?
IDEA O RESPUESTA ESPERADA
Que los RA siguen presentes, pero la profundidad y las tareas concretas se ajustan al progreso real del grupo.
ERROR O CONFUSIÓN QUE DEBE EVITARSE
Decir que estos RA se eliminan o garantizar un desarrollo completo e idéntico de bases de datos, interfaz gráfica y programación funcional.
TRANSICIÓN
Ya sabemos qué aprenderemos. Ahora veamos cómo vamos a trabajar para conseguirlo.
FUENTES DEL PROYECTO
01A-anexo-programacion-ra-ce, clasificación y redacción literal de RA7, RA8 y RA9.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FINALIDAD
Explicar qué significa ABP en este módulo sin revelar todavía el proyecto concreto.
TIEMPO
3 minutos
COMPOSICIÓN VISUAL
Tres tarjetas horizontales muestran la lógica del ABP: reto, aprendizaje necesario y aplicación comprobable. No aparece ningún nombre de proyecto.
EXPLICACIÓN ORAL SUGERIDA
El proyecto crea una razón para aprender cada concepto. Habrá explicación directa cuando sea necesaria, práctica guiada para ensayar y aplicación en un reto concreto. El producto ayuda a conectar aprendizajes, pero las evidencias deben mostrar capacidades concretas.
PREGUNTA AL ALUMNADO
¿Qué aporta un proyecto frente a ejercicios aislados?
IDEA O RESPUESTA ESPERADA
Da contexto, permite integrar conceptos y obliga a comprobar cómo funcionan juntos.
ERROR O CONFUSIÓN QUE DEBE EVITARSE
Afirmar que el alumnado debe descubrir todo por sí solo o que terminar un producto equivale automáticamente a alcanzar los RA.
TRANSICIÓN
Dentro de cada reto seguiremos un ciclo de aprendizaje completo: HEXA.
FUENTES DEL PROYECTO
00-mapa-maestro-curso-2026-2027, arquitectura metodológica; 32-lista-conceptos-programacion-por-tema, reparto ABP/HEXA.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FINALIDAD
Presentar el ciclo HEXA vigente y dejar claro que se repite completo en cada hito o reto.
TIEMPO
3 minutos
COMPOSICIÓN VISUAL
Cuatro tarjetas consecutivas, una por fase, conectadas por chevrones. Cada fase tiene letra, nombre y acción observable.
EXPLICACIÓN ORAL SUGERIDA
Primero situamos el reto y el éxito esperado. Después exploramos opciones dentro de límites claros. La fase X formaliza los conceptos que necesitamos. En A construimos, probamos, documentamos, defendemos y mejoramos el producto. Este ciclo se repite en cada hito.
PREGUNTA AL ALUMNADO
¿En qué fase convertiríamos una intuición en un concepto bien explicado?
IDEA O RESPUESTA ESPERADA
En X, después de explorar y antes o durante una aplicación consciente.
ERROR O CONFUSIÓN QUE DEBE EVITARSE
Interpretar HEXA como investigación libre sin guía o como cuatro fases que solo se realizan una vez en todo el curso.
TRANSICIÓN
El ciclo se apoya en una organización del trabajo adaptada al aula.
FUENTES DEL PROYECTO
00-mapa-maestro-curso-2026-2027, política obligatoria HEXA en todos los hitos.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FINALIDAD
Explicar cómo se organizará el trabajo y cómo se atenderán diferentes formas de acceso y expresión, sin revelar todavía el proyecto.
TIEMPO
3 minutos
COMPOSICIÓN VISUAL
Dos bloques: Scrum ocupa dos tercios de la diapositiva y DUA un tercio. El cierre inferior subraya la responsabilidad individual.
EXPLICACIÓN ORAL SUGERIDA
Scrum se adapta al aula para hacer visible el trabajo, los bloqueos, las pruebas y la mejora. DUA ofrece distintas vías para comprender y demostrar el aprendizaje. Las aportaciones del equipo no sustituyen la evidencia ni la explicación individual.
PREGUNTA AL ALUMNADO
¿Qué elemento de Scrum permite convertir un error del equipo en una mejora concreta?
IDEA O RESPUESTA ESPERADA
La review aporta comprobación del producto y la retrospectiva permite acordar mejoras del proceso.
ERROR O CONFUSIÓN QUE DEBE EVITARSE
Convertir las funciones educativas en roles oficiales permanentes o confundir DUA con bajar la exigencia.
TRANSICIÓN
Ya conocemos qué aprenderemos y cómo trabajaremos. Ahora sí: veamos cuál será el reto general que dará continuidad al curso.
FUENTES DEL PROYECTO
00-mapa-maestro-curso-2026-2027, Scrum adaptado y DUA; 01A-anexo-programacion-ra-ce, evidencias individuales.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FINALIDAD
Revelar el reto general después de haber presentado el módulo, los RA y la forma de trabajo.
TIEMPO
4 minutos
COMPOSICIÓN VISUAL
Tres zonas: identidad de MiniJarvis a la izquierda, evidencias en el centro y una advertencia visual a la derecha que evita presentarlo como IA completa desde el inicio.
EXPLICACIÓN ORAL SUGERIDA
MiniJarvis será un programa educativo en Java que crecerá por versiones. Cada versión nos servirá para aplicar contenidos concretos y producir evidencias. No empezaremos construyendo una inteligencia artificial completa. La integración de IA solo tendrá sentido cuando existan las bases técnicas y de seguridad necesarias.
PREGUNTA AL ALUMNADO
Si una versión funciona pero nadie puede explicar ni modificar su código, ¿qué evidencia falta?
IDEA O RESPUESTA ESPERADA
Faltan comprensión defendible, autoría comprobable y capacidad de mejora.
ERROR O CONFUSIÓN QUE DEBE EVITARSE
Presentar MiniJarvis como ChatGPT construido desde cero o prometer una integración real de IA desde el principio.
TRANSICIÓN
Veamos cómo crecerá ese reto general a través de hitos sucesivos.
FUENTES DEL PROYECTO
00-mapa-maestro-curso-2026-2027, proyecto mínimo viable y progresión; S201 docente y alumnado, narrativa MiniJarvis.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FINALIDAD
Presentar la secuencia completa de hitos del reto general, incluyendo H0 como primer reto de organización.
TIEMPO
4 minutos
COMPOSICIÓN VISUAL
Nueve hitos compactos en una trayectoria visual alterna. H0 se diferencia en ámbar; los hitos técnicos se agrupan por color.
EXPLICACIÓN ORAL SUGERIDA
El curso no consiste en construir una única versión al final. Cada hito añade una capacidad y permite recoger evidencias. H0 organiza y prueba la forma de trabajar. H1 a H6 construyen el núcleo técnico. H7 introduce o simula IA responsable si procede y HF sirve para demostrar, recuperar y mejorar. En todos los hitos se recorre un ciclo HEXA completo.
PREGUNTA AL ALUMNADO
¿Qué diferencia hay entre un hito y un Resultado de Aprendizaje?
IDEA O RESPUESTA ESPERADA
El hito organiza una versión y su trabajo. El RA expresa la capacidad que debe demostrarse mediante evidencias.
ERROR O CONFUSIÓN QUE DEBE EVITARSE
Asignar cada RA a un único hito cerrado, presentar los hitos como sustitutos de los RA o dejar H0 fuera de la secuencia.
TRANSICIÓN
El primer hito no empieza programando: empieza poniendo a prueba cómo trabaja el equipo.
FUENTES DEL PROYECTO
00-mapa-maestro-curso-2026-2027, trazabilidad por retos H0–HF; 01A-anexo-programacion-ra-ce, relación RA ↔ hitos.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FINALIDAD
Introducir H0 sin desarrollar todavía la sesión S201 y sin convertir HADA en una etiqueta.
TIEMPO
2 minutos
COMPOSICIÓN VISUAL
Cinco pasos secuenciales. El cuarto, la torre, se destaca en ámbar. Una banda inferior aclara el uso de HADA.
EXPLICACIÓN ORAL SUGERIDA
H0 empieza comprendiendo el reto. Después cada persona formulará una hipótesis de contribución con HADA. Se crearán equipos provisionales, se acordarán funciones y se realizarán dos ciclos de una torre para observar cómo el equipo organiza, prueba y mejora. Finalmente se transferirán acuerdos a MiniJarvis.
PREGUNTA AL ALUMNADO
¿Qué podríamos observar en la torre además de su altura?
IDEA O RESPUESTA ESPERADA
Trabajo visible, reparto de funciones, comunicación de bloqueos, pruebas, decisiones y mejora entre ciclos.
ERROR O CONFUSIÓN QUE DEBE EVITARSE
Anticipar puntuaciones o perfiles HADA, formar ya equipos definitivos o convertir las funciones en roles oficiales de Scrum.
TRANSICIÓN
La siguiente presentación abre S201 y desarrolla este primer reto.
FUENTES DEL PROYECTO
S201-curso-narrativa-minijarvis-y-evidencias-docente; S201-curso-narrativa-minijarvis-y-evidencias-alumnado; 00-mapa-maestro-curso-2026-2027.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FINALIDAD
Cerrar esta presentación y marcar un cambio visible al archivo independiente de S201.
TIEMPO
2 minutos
COMPOSICIÓN VISUAL
Cierre oscuro con título grande, pregunta de transición y un bloque H0. No repite contenidos de S201; solo enlaza con ellos.
EXPLICACIÓN ORAL SUGERIDA
Hemos situado qué aprenderemos, cómo se evaluará mediante los RA, cómo trabajaremos y cuál será el reto general. A partir de este punto empieza H0. La siguiente presentación se centra en comprender MiniJarvis, las evidencias defendibles y el reto de diseñar un equipo capaz de producir, comprobar y mejorar.
PREGUNTA AL ALUMNADO
¿Qué tendrá que demostrar un equipo, además de producir algo?
IDEA O RESPUESTA ESPERADA
Que puede organizar el trabajo, comprobar el resultado, explicar decisiones y aplicar mejoras.
ERROR O CONFUSIÓN QUE DEBE EVITARSE
Volver a explicar los RA o las metodologías, introducir puntuaciones HADA, anticipar perfiles o repetir el contenido de S201.
TRANSICIÓN
Cerrar este archivo y abrir S201: «MiniJarvis empieza por el equipo».
FUENTES DEL PROYECTO
S201-curso-narrativa-minijarvis-y-evidencias-docente; S201-curso-narrativa-minijarvis-y-evidencias-alumnado.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7324D"/>
          </a:solidFill>
          <a:ln w="12700">
            <a:solidFill>
              <a:srgbClr val="17324D"/>
            </a:solidFill>
            <a:prstDash val="solid"/>
          </a:ln>
        </p:spPr>
      </p:sp>
      <p:sp>
        <p:nvSpPr>
          <p:cNvPr id="3" name="Shape 1"/>
          <p:cNvSpPr/>
          <p:nvPr/>
        </p:nvSpPr>
        <p:spPr>
          <a:xfrm>
            <a:off x="502920" y="6473952"/>
            <a:ext cx="11201400" cy="0"/>
          </a:xfrm>
          <a:prstGeom prst="line">
            <a:avLst/>
          </a:prstGeom>
          <a:noFill/>
          <a:ln w="12700">
            <a:solidFill>
              <a:srgbClr val="CBD5E1"/>
            </a:solidFill>
            <a:prstDash val="solid"/>
          </a:ln>
        </p:spPr>
      </p:sp>
      <p:sp>
        <p:nvSpPr>
          <p:cNvPr id="4" name="Text 2"/>
          <p:cNvSpPr/>
          <p:nvPr/>
        </p:nvSpPr>
        <p:spPr>
          <a:xfrm>
            <a:off x="530352" y="6510528"/>
            <a:ext cx="3931920" cy="201168"/>
          </a:xfrm>
          <a:prstGeom prst="rect">
            <a:avLst/>
          </a:prstGeom>
          <a:noFill/>
          <a:ln/>
        </p:spPr>
        <p:txBody>
          <a:bodyPr wrap="square" lIns="0" tIns="0" rIns="0" bIns="0" rtlCol="0" anchor="ctr"/>
          <a:lstStyle/>
          <a:p>
            <a:pPr indent="0" marL="0">
              <a:buNone/>
            </a:pPr>
            <a:r>
              <a:rPr lang="en-US" sz="950" dirty="0">
                <a:solidFill>
                  <a:srgbClr val="64748B"/>
                </a:solidFill>
                <a:latin typeface="Aptos" pitchFamily="34" charset="0"/>
                <a:ea typeface="Aptos" pitchFamily="34" charset="-122"/>
                <a:cs typeface="Aptos" pitchFamily="34" charset="-120"/>
              </a:rPr>
              <a:t>PROGRAMACIÓN · 1.º DAW</a:t>
            </a:r>
            <a:endParaRPr lang="en-US" sz="950" dirty="0"/>
          </a:p>
        </p:txBody>
      </p:sp>
      <p:sp>
        <p:nvSpPr>
          <p:cNvPr id="25" name="Slide Number Placeholder 0"/>
          <p:cNvSpPr>
            <a:spLocks noGrp="1"/>
          </p:cNvSpPr>
          <p:nvPr>
            <p:ph type="sldNum" sz="quarter" idx="4294967295"/>
          </p:nvPr>
        </p:nvSpPr>
        <p:spPr>
          <a:xfrm>
            <a:off x="11228832" y="6492240"/>
            <a:ext cx="411480" cy="201168"/>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rgbClr val="64748B"/>
                </a:solidFill>
                <a:latin typeface="Aptos"/>
                <a:ea typeface="Aptos"/>
                <a:cs typeface="Aptos"/>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28832" y="6492240"/>
            <a:ext cx="411480" cy="201168"/>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rgbClr val="64748B"/>
                </a:solidFill>
                <a:latin typeface="Aptos"/>
                <a:ea typeface="Aptos"/>
                <a:cs typeface="Apto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164592"/>
            <a:ext cx="12191695" cy="6309360"/>
          </a:xfrm>
          <a:prstGeom prst="rect">
            <a:avLst/>
          </a:prstGeom>
          <a:solidFill>
            <a:srgbClr val="F5F7FA"/>
          </a:solidFill>
          <a:ln w="12700">
            <a:solidFill>
              <a:srgbClr val="F5F7FA"/>
            </a:solidFill>
            <a:prstDash val="solid"/>
          </a:ln>
        </p:spPr>
      </p:sp>
      <p:sp>
        <p:nvSpPr>
          <p:cNvPr id="3" name="Text 1"/>
          <p:cNvSpPr/>
          <p:nvPr/>
        </p:nvSpPr>
        <p:spPr>
          <a:xfrm>
            <a:off x="731520" y="685800"/>
            <a:ext cx="3108960" cy="320040"/>
          </a:xfrm>
          <a:prstGeom prst="rect">
            <a:avLst/>
          </a:prstGeom>
          <a:noFill/>
          <a:ln/>
        </p:spPr>
        <p:txBody>
          <a:bodyPr wrap="square" lIns="0" tIns="0" rIns="0" bIns="0" rtlCol="0" anchor="ctr"/>
          <a:lstStyle/>
          <a:p>
            <a:pPr indent="0" marL="0">
              <a:buNone/>
            </a:pPr>
            <a:r>
              <a:rPr lang="en-US" sz="1400" b="1" spc="110" kern="0" dirty="0">
                <a:solidFill>
                  <a:srgbClr val="0F766E"/>
                </a:solidFill>
              </a:rPr>
              <a:t>PROGRAMACIÓN</a:t>
            </a:r>
            <a:endParaRPr lang="en-US" sz="1400" dirty="0"/>
          </a:p>
        </p:txBody>
      </p:sp>
      <p:sp>
        <p:nvSpPr>
          <p:cNvPr id="4" name="Text 2"/>
          <p:cNvSpPr/>
          <p:nvPr/>
        </p:nvSpPr>
        <p:spPr>
          <a:xfrm>
            <a:off x="731520" y="1216152"/>
            <a:ext cx="6126480" cy="1417320"/>
          </a:xfrm>
          <a:prstGeom prst="rect">
            <a:avLst/>
          </a:prstGeom>
          <a:noFill/>
          <a:ln/>
        </p:spPr>
        <p:txBody>
          <a:bodyPr wrap="square" lIns="0" tIns="0" rIns="0" bIns="0" rtlCol="0" anchor="ctr"/>
          <a:lstStyle/>
          <a:p>
            <a:pPr indent="0" marL="0">
              <a:buNone/>
            </a:pPr>
            <a:r>
              <a:rPr lang="en-US" sz="3400" b="1" dirty="0">
                <a:solidFill>
                  <a:srgbClr val="17202A"/>
                </a:solidFill>
              </a:rPr>
              <a:t>Construir software</a:t>
            </a:r>
            <a:endParaRPr lang="en-US" sz="3400" dirty="0"/>
          </a:p>
          <a:p>
            <a:pPr indent="0" marL="0">
              <a:buNone/>
            </a:pPr>
            <a:r>
              <a:rPr lang="en-US" sz="3400" b="1" dirty="0">
                <a:solidFill>
                  <a:srgbClr val="17202A"/>
                </a:solidFill>
              </a:rPr>
              <a:t>que entiendes</a:t>
            </a:r>
            <a:endParaRPr lang="en-US" sz="3400" dirty="0"/>
          </a:p>
        </p:txBody>
      </p:sp>
      <p:sp>
        <p:nvSpPr>
          <p:cNvPr id="5" name="Text 3"/>
          <p:cNvSpPr/>
          <p:nvPr/>
        </p:nvSpPr>
        <p:spPr>
          <a:xfrm>
            <a:off x="749808" y="2834640"/>
            <a:ext cx="6400800" cy="960120"/>
          </a:xfrm>
          <a:prstGeom prst="rect">
            <a:avLst/>
          </a:prstGeom>
          <a:noFill/>
          <a:ln/>
        </p:spPr>
        <p:txBody>
          <a:bodyPr wrap="square" lIns="0" tIns="0" rIns="0" bIns="0" rtlCol="0" anchor="ctr"/>
          <a:lstStyle/>
          <a:p>
            <a:pPr indent="0" marL="0">
              <a:buNone/>
            </a:pPr>
            <a:r>
              <a:rPr lang="en-US" sz="2000" dirty="0">
                <a:solidFill>
                  <a:srgbClr val="5B6573"/>
                </a:solidFill>
              </a:rPr>
              <a:t>¿Cómo pasaremos de no conocer Java a construir, comprobar, explicar y mejorar un programa propio?</a:t>
            </a:r>
            <a:endParaRPr lang="en-US" sz="2000" dirty="0"/>
          </a:p>
        </p:txBody>
      </p:sp>
      <p:sp>
        <p:nvSpPr>
          <p:cNvPr id="6" name="Text 4"/>
          <p:cNvSpPr/>
          <p:nvPr/>
        </p:nvSpPr>
        <p:spPr>
          <a:xfrm>
            <a:off x="749808" y="5230368"/>
            <a:ext cx="3749040" cy="310896"/>
          </a:xfrm>
          <a:prstGeom prst="rect">
            <a:avLst/>
          </a:prstGeom>
          <a:noFill/>
          <a:ln/>
        </p:spPr>
        <p:txBody>
          <a:bodyPr wrap="square" lIns="0" tIns="0" rIns="0" bIns="0" rtlCol="0" anchor="ctr"/>
          <a:lstStyle/>
          <a:p>
            <a:pPr indent="0" marL="0">
              <a:buNone/>
            </a:pPr>
            <a:r>
              <a:rPr lang="en-US" sz="1300" b="1" dirty="0">
                <a:solidFill>
                  <a:srgbClr val="17324D"/>
                </a:solidFill>
              </a:rPr>
              <a:t>1.º DAW · Curso 2026/2027</a:t>
            </a:r>
            <a:endParaRPr lang="en-US" sz="1300" dirty="0"/>
          </a:p>
        </p:txBody>
      </p:sp>
      <p:sp>
        <p:nvSpPr>
          <p:cNvPr id="7" name="Shape 5"/>
          <p:cNvSpPr/>
          <p:nvPr/>
        </p:nvSpPr>
        <p:spPr>
          <a:xfrm>
            <a:off x="7818120" y="1508760"/>
            <a:ext cx="585216" cy="585216"/>
          </a:xfrm>
          <a:prstGeom prst="ellipse">
            <a:avLst/>
          </a:prstGeom>
          <a:solidFill>
            <a:srgbClr val="2563EB"/>
          </a:solidFill>
          <a:ln w="12700">
            <a:solidFill>
              <a:srgbClr val="2563EB"/>
            </a:solidFill>
            <a:prstDash val="solid"/>
          </a:ln>
        </p:spPr>
      </p:sp>
      <p:sp>
        <p:nvSpPr>
          <p:cNvPr id="8" name="Text 6"/>
          <p:cNvSpPr/>
          <p:nvPr/>
        </p:nvSpPr>
        <p:spPr>
          <a:xfrm>
            <a:off x="7818120" y="1664208"/>
            <a:ext cx="585216" cy="182880"/>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9" name="Text 7"/>
          <p:cNvSpPr/>
          <p:nvPr/>
        </p:nvSpPr>
        <p:spPr>
          <a:xfrm>
            <a:off x="8567928" y="1627632"/>
            <a:ext cx="1554480" cy="256032"/>
          </a:xfrm>
          <a:prstGeom prst="rect">
            <a:avLst/>
          </a:prstGeom>
          <a:noFill/>
          <a:ln/>
        </p:spPr>
        <p:txBody>
          <a:bodyPr wrap="square" lIns="0" tIns="0" rIns="0" bIns="0" rtlCol="0" anchor="ctr"/>
          <a:lstStyle/>
          <a:p>
            <a:pPr indent="0" marL="0">
              <a:buNone/>
            </a:pPr>
            <a:r>
              <a:rPr lang="en-US" sz="1300" b="1" dirty="0">
                <a:solidFill>
                  <a:srgbClr val="17202A"/>
                </a:solidFill>
              </a:rPr>
              <a:t>instrucción</a:t>
            </a:r>
            <a:endParaRPr lang="en-US" sz="1300" dirty="0"/>
          </a:p>
        </p:txBody>
      </p:sp>
      <p:sp>
        <p:nvSpPr>
          <p:cNvPr id="10" name="Shape 8"/>
          <p:cNvSpPr/>
          <p:nvPr/>
        </p:nvSpPr>
        <p:spPr>
          <a:xfrm>
            <a:off x="8961120" y="2377440"/>
            <a:ext cx="585216" cy="585216"/>
          </a:xfrm>
          <a:prstGeom prst="ellipse">
            <a:avLst/>
          </a:prstGeom>
          <a:solidFill>
            <a:srgbClr val="0F766E"/>
          </a:solidFill>
          <a:ln w="12700">
            <a:solidFill>
              <a:srgbClr val="0F766E"/>
            </a:solidFill>
            <a:prstDash val="solid"/>
          </a:ln>
        </p:spPr>
      </p:sp>
      <p:sp>
        <p:nvSpPr>
          <p:cNvPr id="11" name="Text 9"/>
          <p:cNvSpPr/>
          <p:nvPr/>
        </p:nvSpPr>
        <p:spPr>
          <a:xfrm>
            <a:off x="8961120" y="2532888"/>
            <a:ext cx="585216" cy="182880"/>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2" name="Text 10"/>
          <p:cNvSpPr/>
          <p:nvPr/>
        </p:nvSpPr>
        <p:spPr>
          <a:xfrm>
            <a:off x="9710928" y="2496312"/>
            <a:ext cx="1554480" cy="256032"/>
          </a:xfrm>
          <a:prstGeom prst="rect">
            <a:avLst/>
          </a:prstGeom>
          <a:noFill/>
          <a:ln/>
        </p:spPr>
        <p:txBody>
          <a:bodyPr wrap="square" lIns="0" tIns="0" rIns="0" bIns="0" rtlCol="0" anchor="ctr"/>
          <a:lstStyle/>
          <a:p>
            <a:pPr indent="0" marL="0">
              <a:buNone/>
            </a:pPr>
            <a:r>
              <a:rPr lang="en-US" sz="1300" b="1" dirty="0">
                <a:solidFill>
                  <a:srgbClr val="17202A"/>
                </a:solidFill>
              </a:rPr>
              <a:t>programa</a:t>
            </a:r>
            <a:endParaRPr lang="en-US" sz="1300" dirty="0"/>
          </a:p>
        </p:txBody>
      </p:sp>
      <p:sp>
        <p:nvSpPr>
          <p:cNvPr id="13" name="Shape 11"/>
          <p:cNvSpPr/>
          <p:nvPr/>
        </p:nvSpPr>
        <p:spPr>
          <a:xfrm>
            <a:off x="10104120" y="3246120"/>
            <a:ext cx="585216" cy="585216"/>
          </a:xfrm>
          <a:prstGeom prst="ellipse">
            <a:avLst/>
          </a:prstGeom>
          <a:solidFill>
            <a:srgbClr val="D97706"/>
          </a:solidFill>
          <a:ln w="12700">
            <a:solidFill>
              <a:srgbClr val="D97706"/>
            </a:solidFill>
            <a:prstDash val="solid"/>
          </a:ln>
        </p:spPr>
      </p:sp>
      <p:sp>
        <p:nvSpPr>
          <p:cNvPr id="14" name="Text 12"/>
          <p:cNvSpPr/>
          <p:nvPr/>
        </p:nvSpPr>
        <p:spPr>
          <a:xfrm>
            <a:off x="10104120" y="3401568"/>
            <a:ext cx="585216" cy="18288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5" name="Text 13"/>
          <p:cNvSpPr/>
          <p:nvPr/>
        </p:nvSpPr>
        <p:spPr>
          <a:xfrm>
            <a:off x="10853928" y="3364992"/>
            <a:ext cx="1554480" cy="256032"/>
          </a:xfrm>
          <a:prstGeom prst="rect">
            <a:avLst/>
          </a:prstGeom>
          <a:noFill/>
          <a:ln/>
        </p:spPr>
        <p:txBody>
          <a:bodyPr wrap="square" lIns="0" tIns="0" rIns="0" bIns="0" rtlCol="0" anchor="ctr"/>
          <a:lstStyle/>
          <a:p>
            <a:pPr indent="0" marL="0">
              <a:buNone/>
            </a:pPr>
            <a:r>
              <a:rPr lang="en-US" sz="1300" b="1" dirty="0">
                <a:solidFill>
                  <a:srgbClr val="17202A"/>
                </a:solidFill>
              </a:rPr>
              <a:t>prueba</a:t>
            </a:r>
            <a:endParaRPr lang="en-US" sz="1300" dirty="0"/>
          </a:p>
        </p:txBody>
      </p:sp>
      <p:sp>
        <p:nvSpPr>
          <p:cNvPr id="16" name="Shape 14"/>
          <p:cNvSpPr/>
          <p:nvPr/>
        </p:nvSpPr>
        <p:spPr>
          <a:xfrm>
            <a:off x="8110728" y="2093976"/>
            <a:ext cx="0" cy="1188720"/>
          </a:xfrm>
          <a:prstGeom prst="line">
            <a:avLst/>
          </a:prstGeom>
          <a:noFill/>
          <a:ln w="25400">
            <a:solidFill>
              <a:srgbClr val="AAB7C4"/>
            </a:solidFill>
            <a:prstDash val="solid"/>
          </a:ln>
        </p:spPr>
      </p:sp>
      <p:sp>
        <p:nvSpPr>
          <p:cNvPr id="25" name="Slide Number Placeholder 0"/>
          <p:cNvSpPr>
            <a:spLocks noGrp="1"/>
          </p:cNvSpPr>
          <p:nvPr>
            <p:ph type="sldNum" sz="quarter" idx="4294967295"/>
          </p:nvPr>
        </p:nvSpPr>
        <p:spPr>
          <a:xfrm>
            <a:off x="11228832" y="6492240"/>
            <a:ext cx="411480" cy="201168"/>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rgbClr val="64748B"/>
                </a:solidFill>
                <a:latin typeface="Aptos"/>
                <a:ea typeface="Aptos"/>
                <a:cs typeface="Aptos"/>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84048"/>
            <a:ext cx="4389120" cy="256032"/>
          </a:xfrm>
          <a:prstGeom prst="rect">
            <a:avLst/>
          </a:prstGeom>
          <a:noFill/>
          <a:ln/>
        </p:spPr>
        <p:txBody>
          <a:bodyPr wrap="square" lIns="0" tIns="0" rIns="0" bIns="0" rtlCol="0" anchor="ctr"/>
          <a:lstStyle/>
          <a:p>
            <a:pPr indent="0" marL="0">
              <a:buNone/>
            </a:pPr>
            <a:r>
              <a:rPr lang="en-US" sz="1100" b="1" spc="70" kern="0" dirty="0">
                <a:solidFill>
                  <a:srgbClr val="0F766E"/>
                </a:solidFill>
              </a:rPr>
              <a:t>PROGRAMACIÓN · 1.º DAW</a:t>
            </a:r>
            <a:endParaRPr lang="en-US" sz="1100" dirty="0"/>
          </a:p>
        </p:txBody>
      </p:sp>
      <p:sp>
        <p:nvSpPr>
          <p:cNvPr id="3" name="Text 1"/>
          <p:cNvSpPr/>
          <p:nvPr/>
        </p:nvSpPr>
        <p:spPr>
          <a:xfrm>
            <a:off x="548640" y="749808"/>
            <a:ext cx="9784080" cy="621792"/>
          </a:xfrm>
          <a:prstGeom prst="rect">
            <a:avLst/>
          </a:prstGeom>
          <a:noFill/>
          <a:ln/>
        </p:spPr>
        <p:txBody>
          <a:bodyPr wrap="square" lIns="0" tIns="0" rIns="0" bIns="0" rtlCol="0" anchor="ctr"/>
          <a:lstStyle/>
          <a:p>
            <a:pPr indent="0" marL="0">
              <a:buNone/>
            </a:pPr>
            <a:r>
              <a:rPr lang="en-US" sz="2700" b="1" dirty="0">
                <a:solidFill>
                  <a:srgbClr val="17202A"/>
                </a:solidFill>
              </a:rPr>
              <a:t>El módulo de Programación</a:t>
            </a:r>
            <a:endParaRPr lang="en-US" sz="2700" dirty="0"/>
          </a:p>
        </p:txBody>
      </p:sp>
      <p:sp>
        <p:nvSpPr>
          <p:cNvPr id="4" name="Shape 2"/>
          <p:cNvSpPr/>
          <p:nvPr/>
        </p:nvSpPr>
        <p:spPr>
          <a:xfrm>
            <a:off x="10405872" y="411480"/>
            <a:ext cx="1234440" cy="347472"/>
          </a:xfrm>
          <a:prstGeom prst="roundRect">
            <a:avLst>
              <a:gd name="adj" fmla="val 18421"/>
            </a:avLst>
          </a:prstGeom>
          <a:solidFill>
            <a:srgbClr val="DDEAF7"/>
          </a:solidFill>
          <a:ln w="12700">
            <a:solidFill>
              <a:srgbClr val="8AB4E6"/>
            </a:solidFill>
            <a:prstDash val="solid"/>
          </a:ln>
        </p:spPr>
      </p:sp>
      <p:sp>
        <p:nvSpPr>
          <p:cNvPr id="5" name="Text 3"/>
          <p:cNvSpPr/>
          <p:nvPr/>
        </p:nvSpPr>
        <p:spPr>
          <a:xfrm>
            <a:off x="10405872" y="470916"/>
            <a:ext cx="1234440" cy="182880"/>
          </a:xfrm>
          <a:prstGeom prst="rect">
            <a:avLst/>
          </a:prstGeom>
          <a:noFill/>
          <a:ln/>
        </p:spPr>
        <p:txBody>
          <a:bodyPr wrap="square" lIns="0" tIns="0" rIns="0" bIns="0" rtlCol="0" anchor="ctr"/>
          <a:lstStyle/>
          <a:p>
            <a:pPr algn="ctr" indent="0" marL="0">
              <a:buNone/>
            </a:pPr>
            <a:r>
              <a:rPr lang="en-US" sz="950" b="1" dirty="0">
                <a:solidFill>
                  <a:srgbClr val="2563EB"/>
                </a:solidFill>
              </a:rPr>
              <a:t>MÓDULO</a:t>
            </a:r>
            <a:endParaRPr lang="en-US" sz="950" dirty="0"/>
          </a:p>
        </p:txBody>
      </p:sp>
      <p:sp>
        <p:nvSpPr>
          <p:cNvPr id="6" name="Text 4"/>
          <p:cNvSpPr/>
          <p:nvPr/>
        </p:nvSpPr>
        <p:spPr>
          <a:xfrm>
            <a:off x="566928" y="1517904"/>
            <a:ext cx="9784080" cy="502920"/>
          </a:xfrm>
          <a:prstGeom prst="rect">
            <a:avLst/>
          </a:prstGeom>
          <a:noFill/>
          <a:ln/>
        </p:spPr>
        <p:txBody>
          <a:bodyPr wrap="square" lIns="0" tIns="0" rIns="0" bIns="0" rtlCol="0" anchor="ctr"/>
          <a:lstStyle/>
          <a:p>
            <a:pPr indent="0" marL="0">
              <a:buNone/>
            </a:pPr>
            <a:r>
              <a:rPr lang="en-US" sz="1900" dirty="0">
                <a:solidFill>
                  <a:srgbClr val="5B6573"/>
                </a:solidFill>
              </a:rPr>
              <a:t>Aprenderás a transformar problemas en programas que puedan ejecutarse y comprobarse.</a:t>
            </a:r>
            <a:endParaRPr lang="en-US" sz="1900" dirty="0"/>
          </a:p>
        </p:txBody>
      </p:sp>
      <p:sp>
        <p:nvSpPr>
          <p:cNvPr id="7" name="Shape 5"/>
          <p:cNvSpPr/>
          <p:nvPr/>
        </p:nvSpPr>
        <p:spPr>
          <a:xfrm>
            <a:off x="640080" y="2331720"/>
            <a:ext cx="1874520" cy="2103120"/>
          </a:xfrm>
          <a:prstGeom prst="roundRect">
            <a:avLst>
              <a:gd name="adj" fmla="val 2927"/>
            </a:avLst>
          </a:prstGeom>
          <a:solidFill>
            <a:srgbClr val="FFFFFF"/>
          </a:solidFill>
          <a:ln w="13970">
            <a:solidFill>
              <a:srgbClr val="D4DDE7"/>
            </a:solidFill>
            <a:prstDash val="solid"/>
          </a:ln>
        </p:spPr>
      </p:sp>
      <p:sp>
        <p:nvSpPr>
          <p:cNvPr id="8" name="Shape 6"/>
          <p:cNvSpPr/>
          <p:nvPr/>
        </p:nvSpPr>
        <p:spPr>
          <a:xfrm>
            <a:off x="1307592" y="2578608"/>
            <a:ext cx="530352" cy="530352"/>
          </a:xfrm>
          <a:prstGeom prst="ellipse">
            <a:avLst/>
          </a:prstGeom>
          <a:solidFill>
            <a:srgbClr val="2563EB"/>
          </a:solidFill>
          <a:ln w="12700">
            <a:solidFill>
              <a:srgbClr val="2563EB"/>
            </a:solidFill>
            <a:prstDash val="solid"/>
          </a:ln>
        </p:spPr>
      </p:sp>
      <p:sp>
        <p:nvSpPr>
          <p:cNvPr id="9" name="Text 7"/>
          <p:cNvSpPr/>
          <p:nvPr/>
        </p:nvSpPr>
        <p:spPr>
          <a:xfrm>
            <a:off x="1307592" y="2724912"/>
            <a:ext cx="530352" cy="164592"/>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0" name="Text 8"/>
          <p:cNvSpPr/>
          <p:nvPr/>
        </p:nvSpPr>
        <p:spPr>
          <a:xfrm>
            <a:off x="804672" y="3337560"/>
            <a:ext cx="1545336" cy="310896"/>
          </a:xfrm>
          <a:prstGeom prst="rect">
            <a:avLst/>
          </a:prstGeom>
          <a:noFill/>
          <a:ln/>
        </p:spPr>
        <p:txBody>
          <a:bodyPr wrap="square" lIns="0" tIns="0" rIns="0" bIns="0" rtlCol="0" anchor="ctr"/>
          <a:lstStyle/>
          <a:p>
            <a:pPr algn="ctr" indent="0" marL="0">
              <a:buNone/>
            </a:pPr>
            <a:r>
              <a:rPr lang="en-US" sz="1500" b="1" dirty="0">
                <a:solidFill>
                  <a:srgbClr val="17202A"/>
                </a:solidFill>
              </a:rPr>
              <a:t>Problema</a:t>
            </a:r>
            <a:endParaRPr lang="en-US" sz="1500" dirty="0"/>
          </a:p>
        </p:txBody>
      </p:sp>
      <p:sp>
        <p:nvSpPr>
          <p:cNvPr id="11" name="Text 9"/>
          <p:cNvSpPr/>
          <p:nvPr/>
        </p:nvSpPr>
        <p:spPr>
          <a:xfrm>
            <a:off x="786384" y="3749040"/>
            <a:ext cx="1581912" cy="502920"/>
          </a:xfrm>
          <a:prstGeom prst="rect">
            <a:avLst/>
          </a:prstGeom>
          <a:noFill/>
          <a:ln/>
        </p:spPr>
        <p:txBody>
          <a:bodyPr wrap="square" lIns="0" tIns="0" rIns="0" bIns="0" rtlCol="0" anchor="ctr"/>
          <a:lstStyle/>
          <a:p>
            <a:pPr algn="ctr" indent="0" marL="0">
              <a:buNone/>
            </a:pPr>
            <a:r>
              <a:rPr lang="en-US" sz="1150" dirty="0">
                <a:solidFill>
                  <a:srgbClr val="5B6573"/>
                </a:solidFill>
              </a:rPr>
              <a:t>¿Qué necesito resolver?</a:t>
            </a:r>
            <a:endParaRPr lang="en-US" sz="1150" dirty="0"/>
          </a:p>
        </p:txBody>
      </p:sp>
      <p:sp>
        <p:nvSpPr>
          <p:cNvPr id="12" name="Shape 10"/>
          <p:cNvSpPr/>
          <p:nvPr/>
        </p:nvSpPr>
        <p:spPr>
          <a:xfrm>
            <a:off x="2514600" y="3154680"/>
            <a:ext cx="338328" cy="530352"/>
          </a:xfrm>
          <a:prstGeom prst="chevron">
            <a:avLst/>
          </a:prstGeom>
          <a:solidFill>
            <a:srgbClr val="D9E2EC"/>
          </a:solidFill>
          <a:ln w="12700">
            <a:solidFill>
              <a:srgbClr val="D9E2EC"/>
            </a:solidFill>
            <a:prstDash val="solid"/>
          </a:ln>
        </p:spPr>
      </p:sp>
      <p:sp>
        <p:nvSpPr>
          <p:cNvPr id="13" name="Shape 11"/>
          <p:cNvSpPr/>
          <p:nvPr/>
        </p:nvSpPr>
        <p:spPr>
          <a:xfrm>
            <a:off x="2880360" y="2331720"/>
            <a:ext cx="1874520" cy="2103120"/>
          </a:xfrm>
          <a:prstGeom prst="roundRect">
            <a:avLst>
              <a:gd name="adj" fmla="val 2927"/>
            </a:avLst>
          </a:prstGeom>
          <a:solidFill>
            <a:srgbClr val="FFFFFF"/>
          </a:solidFill>
          <a:ln w="13970">
            <a:solidFill>
              <a:srgbClr val="D4DDE7"/>
            </a:solidFill>
            <a:prstDash val="solid"/>
          </a:ln>
        </p:spPr>
      </p:sp>
      <p:sp>
        <p:nvSpPr>
          <p:cNvPr id="14" name="Shape 12"/>
          <p:cNvSpPr/>
          <p:nvPr/>
        </p:nvSpPr>
        <p:spPr>
          <a:xfrm>
            <a:off x="3547872" y="2578608"/>
            <a:ext cx="530352" cy="530352"/>
          </a:xfrm>
          <a:prstGeom prst="ellipse">
            <a:avLst/>
          </a:prstGeom>
          <a:solidFill>
            <a:srgbClr val="2563EB"/>
          </a:solidFill>
          <a:ln w="12700">
            <a:solidFill>
              <a:srgbClr val="2563EB"/>
            </a:solidFill>
            <a:prstDash val="solid"/>
          </a:ln>
        </p:spPr>
      </p:sp>
      <p:sp>
        <p:nvSpPr>
          <p:cNvPr id="15" name="Text 13"/>
          <p:cNvSpPr/>
          <p:nvPr/>
        </p:nvSpPr>
        <p:spPr>
          <a:xfrm>
            <a:off x="3547872" y="2724912"/>
            <a:ext cx="530352" cy="164592"/>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6" name="Text 14"/>
          <p:cNvSpPr/>
          <p:nvPr/>
        </p:nvSpPr>
        <p:spPr>
          <a:xfrm>
            <a:off x="3044952" y="3337560"/>
            <a:ext cx="1545336" cy="310896"/>
          </a:xfrm>
          <a:prstGeom prst="rect">
            <a:avLst/>
          </a:prstGeom>
          <a:noFill/>
          <a:ln/>
        </p:spPr>
        <p:txBody>
          <a:bodyPr wrap="square" lIns="0" tIns="0" rIns="0" bIns="0" rtlCol="0" anchor="ctr"/>
          <a:lstStyle/>
          <a:p>
            <a:pPr algn="ctr" indent="0" marL="0">
              <a:buNone/>
            </a:pPr>
            <a:r>
              <a:rPr lang="en-US" sz="1500" b="1" dirty="0">
                <a:solidFill>
                  <a:srgbClr val="17202A"/>
                </a:solidFill>
              </a:rPr>
              <a:t>Diseño</a:t>
            </a:r>
            <a:endParaRPr lang="en-US" sz="1500" dirty="0"/>
          </a:p>
        </p:txBody>
      </p:sp>
      <p:sp>
        <p:nvSpPr>
          <p:cNvPr id="17" name="Text 15"/>
          <p:cNvSpPr/>
          <p:nvPr/>
        </p:nvSpPr>
        <p:spPr>
          <a:xfrm>
            <a:off x="3026664" y="3749040"/>
            <a:ext cx="1581912" cy="502920"/>
          </a:xfrm>
          <a:prstGeom prst="rect">
            <a:avLst/>
          </a:prstGeom>
          <a:noFill/>
          <a:ln/>
        </p:spPr>
        <p:txBody>
          <a:bodyPr wrap="square" lIns="0" tIns="0" rIns="0" bIns="0" rtlCol="0" anchor="ctr"/>
          <a:lstStyle/>
          <a:p>
            <a:pPr algn="ctr" indent="0" marL="0">
              <a:buNone/>
            </a:pPr>
            <a:r>
              <a:rPr lang="en-US" sz="1150" dirty="0">
                <a:solidFill>
                  <a:srgbClr val="5B6573"/>
                </a:solidFill>
              </a:rPr>
              <a:t>Ordeno datos y pasos</a:t>
            </a:r>
            <a:endParaRPr lang="en-US" sz="1150" dirty="0"/>
          </a:p>
        </p:txBody>
      </p:sp>
      <p:sp>
        <p:nvSpPr>
          <p:cNvPr id="18" name="Shape 16"/>
          <p:cNvSpPr/>
          <p:nvPr/>
        </p:nvSpPr>
        <p:spPr>
          <a:xfrm>
            <a:off x="4754880" y="3154680"/>
            <a:ext cx="338328" cy="530352"/>
          </a:xfrm>
          <a:prstGeom prst="chevron">
            <a:avLst/>
          </a:prstGeom>
          <a:solidFill>
            <a:srgbClr val="D9E2EC"/>
          </a:solidFill>
          <a:ln w="12700">
            <a:solidFill>
              <a:srgbClr val="D9E2EC"/>
            </a:solidFill>
            <a:prstDash val="solid"/>
          </a:ln>
        </p:spPr>
      </p:sp>
      <p:sp>
        <p:nvSpPr>
          <p:cNvPr id="19" name="Shape 17"/>
          <p:cNvSpPr/>
          <p:nvPr/>
        </p:nvSpPr>
        <p:spPr>
          <a:xfrm>
            <a:off x="5120640" y="2331720"/>
            <a:ext cx="1874520" cy="2103120"/>
          </a:xfrm>
          <a:prstGeom prst="roundRect">
            <a:avLst>
              <a:gd name="adj" fmla="val 2927"/>
            </a:avLst>
          </a:prstGeom>
          <a:solidFill>
            <a:srgbClr val="FFFFFF"/>
          </a:solidFill>
          <a:ln w="13970">
            <a:solidFill>
              <a:srgbClr val="D4DDE7"/>
            </a:solidFill>
            <a:prstDash val="solid"/>
          </a:ln>
        </p:spPr>
      </p:sp>
      <p:sp>
        <p:nvSpPr>
          <p:cNvPr id="20" name="Shape 18"/>
          <p:cNvSpPr/>
          <p:nvPr/>
        </p:nvSpPr>
        <p:spPr>
          <a:xfrm>
            <a:off x="5788152" y="2578608"/>
            <a:ext cx="530352" cy="530352"/>
          </a:xfrm>
          <a:prstGeom prst="ellipse">
            <a:avLst/>
          </a:prstGeom>
          <a:solidFill>
            <a:srgbClr val="0F766E"/>
          </a:solidFill>
          <a:ln w="12700">
            <a:solidFill>
              <a:srgbClr val="0F766E"/>
            </a:solidFill>
            <a:prstDash val="solid"/>
          </a:ln>
        </p:spPr>
      </p:sp>
      <p:sp>
        <p:nvSpPr>
          <p:cNvPr id="21" name="Text 19"/>
          <p:cNvSpPr/>
          <p:nvPr/>
        </p:nvSpPr>
        <p:spPr>
          <a:xfrm>
            <a:off x="5788152" y="2724912"/>
            <a:ext cx="530352" cy="164592"/>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2" name="Text 20"/>
          <p:cNvSpPr/>
          <p:nvPr/>
        </p:nvSpPr>
        <p:spPr>
          <a:xfrm>
            <a:off x="5285232" y="3337560"/>
            <a:ext cx="1545336" cy="310896"/>
          </a:xfrm>
          <a:prstGeom prst="rect">
            <a:avLst/>
          </a:prstGeom>
          <a:noFill/>
          <a:ln/>
        </p:spPr>
        <p:txBody>
          <a:bodyPr wrap="square" lIns="0" tIns="0" rIns="0" bIns="0" rtlCol="0" anchor="ctr"/>
          <a:lstStyle/>
          <a:p>
            <a:pPr algn="ctr" indent="0" marL="0">
              <a:buNone/>
            </a:pPr>
            <a:r>
              <a:rPr lang="en-US" sz="1500" b="1" dirty="0">
                <a:solidFill>
                  <a:srgbClr val="17202A"/>
                </a:solidFill>
              </a:rPr>
              <a:t>Código</a:t>
            </a:r>
            <a:endParaRPr lang="en-US" sz="1500" dirty="0"/>
          </a:p>
        </p:txBody>
      </p:sp>
      <p:sp>
        <p:nvSpPr>
          <p:cNvPr id="23" name="Text 21"/>
          <p:cNvSpPr/>
          <p:nvPr/>
        </p:nvSpPr>
        <p:spPr>
          <a:xfrm>
            <a:off x="5266944" y="3749040"/>
            <a:ext cx="1581912" cy="502920"/>
          </a:xfrm>
          <a:prstGeom prst="rect">
            <a:avLst/>
          </a:prstGeom>
          <a:noFill/>
          <a:ln/>
        </p:spPr>
        <p:txBody>
          <a:bodyPr wrap="square" lIns="0" tIns="0" rIns="0" bIns="0" rtlCol="0" anchor="ctr"/>
          <a:lstStyle/>
          <a:p>
            <a:pPr algn="ctr" indent="0" marL="0">
              <a:buNone/>
            </a:pPr>
            <a:r>
              <a:rPr lang="en-US" sz="1150" dirty="0">
                <a:solidFill>
                  <a:srgbClr val="5B6573"/>
                </a:solidFill>
              </a:rPr>
              <a:t>Escribo instrucciones</a:t>
            </a:r>
            <a:endParaRPr lang="en-US" sz="1150" dirty="0"/>
          </a:p>
        </p:txBody>
      </p:sp>
      <p:sp>
        <p:nvSpPr>
          <p:cNvPr id="24" name="Shape 22"/>
          <p:cNvSpPr/>
          <p:nvPr/>
        </p:nvSpPr>
        <p:spPr>
          <a:xfrm>
            <a:off x="6995160" y="3154680"/>
            <a:ext cx="338328" cy="530352"/>
          </a:xfrm>
          <a:prstGeom prst="chevron">
            <a:avLst/>
          </a:prstGeom>
          <a:solidFill>
            <a:srgbClr val="D9E2EC"/>
          </a:solidFill>
          <a:ln w="12700">
            <a:solidFill>
              <a:srgbClr val="D9E2EC"/>
            </a:solidFill>
            <a:prstDash val="solid"/>
          </a:ln>
        </p:spPr>
      </p:sp>
      <p:sp>
        <p:nvSpPr>
          <p:cNvPr id="25" name="Shape 23"/>
          <p:cNvSpPr/>
          <p:nvPr/>
        </p:nvSpPr>
        <p:spPr>
          <a:xfrm>
            <a:off x="7360920" y="2331720"/>
            <a:ext cx="1874520" cy="2103120"/>
          </a:xfrm>
          <a:prstGeom prst="roundRect">
            <a:avLst>
              <a:gd name="adj" fmla="val 2927"/>
            </a:avLst>
          </a:prstGeom>
          <a:solidFill>
            <a:srgbClr val="FFFFFF"/>
          </a:solidFill>
          <a:ln w="13970">
            <a:solidFill>
              <a:srgbClr val="D4DDE7"/>
            </a:solidFill>
            <a:prstDash val="solid"/>
          </a:ln>
        </p:spPr>
      </p:sp>
      <p:sp>
        <p:nvSpPr>
          <p:cNvPr id="26" name="Shape 24"/>
          <p:cNvSpPr/>
          <p:nvPr/>
        </p:nvSpPr>
        <p:spPr>
          <a:xfrm>
            <a:off x="8028432" y="2578608"/>
            <a:ext cx="530352" cy="530352"/>
          </a:xfrm>
          <a:prstGeom prst="ellipse">
            <a:avLst/>
          </a:prstGeom>
          <a:solidFill>
            <a:srgbClr val="0F766E"/>
          </a:solidFill>
          <a:ln w="12700">
            <a:solidFill>
              <a:srgbClr val="0F766E"/>
            </a:solidFill>
            <a:prstDash val="solid"/>
          </a:ln>
        </p:spPr>
      </p:sp>
      <p:sp>
        <p:nvSpPr>
          <p:cNvPr id="27" name="Text 25"/>
          <p:cNvSpPr/>
          <p:nvPr/>
        </p:nvSpPr>
        <p:spPr>
          <a:xfrm>
            <a:off x="8028432" y="2724912"/>
            <a:ext cx="530352" cy="164592"/>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8" name="Text 26"/>
          <p:cNvSpPr/>
          <p:nvPr/>
        </p:nvSpPr>
        <p:spPr>
          <a:xfrm>
            <a:off x="7525512" y="3337560"/>
            <a:ext cx="1545336" cy="310896"/>
          </a:xfrm>
          <a:prstGeom prst="rect">
            <a:avLst/>
          </a:prstGeom>
          <a:noFill/>
          <a:ln/>
        </p:spPr>
        <p:txBody>
          <a:bodyPr wrap="square" lIns="0" tIns="0" rIns="0" bIns="0" rtlCol="0" anchor="ctr"/>
          <a:lstStyle/>
          <a:p>
            <a:pPr algn="ctr" indent="0" marL="0">
              <a:buNone/>
            </a:pPr>
            <a:r>
              <a:rPr lang="en-US" sz="1500" b="1" dirty="0">
                <a:solidFill>
                  <a:srgbClr val="17202A"/>
                </a:solidFill>
              </a:rPr>
              <a:t>Ejecución</a:t>
            </a:r>
            <a:endParaRPr lang="en-US" sz="1500" dirty="0"/>
          </a:p>
        </p:txBody>
      </p:sp>
      <p:sp>
        <p:nvSpPr>
          <p:cNvPr id="29" name="Text 27"/>
          <p:cNvSpPr/>
          <p:nvPr/>
        </p:nvSpPr>
        <p:spPr>
          <a:xfrm>
            <a:off x="7507224" y="3749040"/>
            <a:ext cx="1581912" cy="502920"/>
          </a:xfrm>
          <a:prstGeom prst="rect">
            <a:avLst/>
          </a:prstGeom>
          <a:noFill/>
          <a:ln/>
        </p:spPr>
        <p:txBody>
          <a:bodyPr wrap="square" lIns="0" tIns="0" rIns="0" bIns="0" rtlCol="0" anchor="ctr"/>
          <a:lstStyle/>
          <a:p>
            <a:pPr algn="ctr" indent="0" marL="0">
              <a:buNone/>
            </a:pPr>
            <a:r>
              <a:rPr lang="en-US" sz="1150" dirty="0">
                <a:solidFill>
                  <a:srgbClr val="5B6573"/>
                </a:solidFill>
              </a:rPr>
              <a:t>Observo el resultado</a:t>
            </a:r>
            <a:endParaRPr lang="en-US" sz="1150" dirty="0"/>
          </a:p>
        </p:txBody>
      </p:sp>
      <p:sp>
        <p:nvSpPr>
          <p:cNvPr id="30" name="Shape 28"/>
          <p:cNvSpPr/>
          <p:nvPr/>
        </p:nvSpPr>
        <p:spPr>
          <a:xfrm>
            <a:off x="9235440" y="3154680"/>
            <a:ext cx="338328" cy="530352"/>
          </a:xfrm>
          <a:prstGeom prst="chevron">
            <a:avLst/>
          </a:prstGeom>
          <a:solidFill>
            <a:srgbClr val="D9E2EC"/>
          </a:solidFill>
          <a:ln w="12700">
            <a:solidFill>
              <a:srgbClr val="D9E2EC"/>
            </a:solidFill>
            <a:prstDash val="solid"/>
          </a:ln>
        </p:spPr>
      </p:sp>
      <p:sp>
        <p:nvSpPr>
          <p:cNvPr id="31" name="Shape 29"/>
          <p:cNvSpPr/>
          <p:nvPr/>
        </p:nvSpPr>
        <p:spPr>
          <a:xfrm>
            <a:off x="9601200" y="2331720"/>
            <a:ext cx="1874520" cy="2103120"/>
          </a:xfrm>
          <a:prstGeom prst="roundRect">
            <a:avLst>
              <a:gd name="adj" fmla="val 2927"/>
            </a:avLst>
          </a:prstGeom>
          <a:solidFill>
            <a:srgbClr val="FFFFFF"/>
          </a:solidFill>
          <a:ln w="13970">
            <a:solidFill>
              <a:srgbClr val="D4DDE7"/>
            </a:solidFill>
            <a:prstDash val="solid"/>
          </a:ln>
        </p:spPr>
      </p:sp>
      <p:sp>
        <p:nvSpPr>
          <p:cNvPr id="32" name="Shape 30"/>
          <p:cNvSpPr/>
          <p:nvPr/>
        </p:nvSpPr>
        <p:spPr>
          <a:xfrm>
            <a:off x="10268712" y="2578608"/>
            <a:ext cx="530352" cy="530352"/>
          </a:xfrm>
          <a:prstGeom prst="ellipse">
            <a:avLst/>
          </a:prstGeom>
          <a:solidFill>
            <a:srgbClr val="D97706"/>
          </a:solidFill>
          <a:ln w="12700">
            <a:solidFill>
              <a:srgbClr val="D97706"/>
            </a:solidFill>
            <a:prstDash val="solid"/>
          </a:ln>
        </p:spPr>
      </p:sp>
      <p:sp>
        <p:nvSpPr>
          <p:cNvPr id="33" name="Text 31"/>
          <p:cNvSpPr/>
          <p:nvPr/>
        </p:nvSpPr>
        <p:spPr>
          <a:xfrm>
            <a:off x="10268712" y="2724912"/>
            <a:ext cx="530352" cy="164592"/>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34" name="Text 32"/>
          <p:cNvSpPr/>
          <p:nvPr/>
        </p:nvSpPr>
        <p:spPr>
          <a:xfrm>
            <a:off x="9765792" y="3337560"/>
            <a:ext cx="1545336" cy="310896"/>
          </a:xfrm>
          <a:prstGeom prst="rect">
            <a:avLst/>
          </a:prstGeom>
          <a:noFill/>
          <a:ln/>
        </p:spPr>
        <p:txBody>
          <a:bodyPr wrap="square" lIns="0" tIns="0" rIns="0" bIns="0" rtlCol="0" anchor="ctr"/>
          <a:lstStyle/>
          <a:p>
            <a:pPr algn="ctr" indent="0" marL="0">
              <a:buNone/>
            </a:pPr>
            <a:r>
              <a:rPr lang="en-US" sz="1500" b="1" dirty="0">
                <a:solidFill>
                  <a:srgbClr val="17202A"/>
                </a:solidFill>
              </a:rPr>
              <a:t>Comprobación</a:t>
            </a:r>
            <a:endParaRPr lang="en-US" sz="1500" dirty="0"/>
          </a:p>
        </p:txBody>
      </p:sp>
      <p:sp>
        <p:nvSpPr>
          <p:cNvPr id="35" name="Text 33"/>
          <p:cNvSpPr/>
          <p:nvPr/>
        </p:nvSpPr>
        <p:spPr>
          <a:xfrm>
            <a:off x="9747504" y="3749040"/>
            <a:ext cx="1581912" cy="502920"/>
          </a:xfrm>
          <a:prstGeom prst="rect">
            <a:avLst/>
          </a:prstGeom>
          <a:noFill/>
          <a:ln/>
        </p:spPr>
        <p:txBody>
          <a:bodyPr wrap="square" lIns="0" tIns="0" rIns="0" bIns="0" rtlCol="0" anchor="ctr"/>
          <a:lstStyle/>
          <a:p>
            <a:pPr algn="ctr" indent="0" marL="0">
              <a:buNone/>
            </a:pPr>
            <a:r>
              <a:rPr lang="en-US" sz="1150" dirty="0">
                <a:solidFill>
                  <a:srgbClr val="5B6573"/>
                </a:solidFill>
              </a:rPr>
              <a:t>Pruebo y corrijo</a:t>
            </a:r>
            <a:endParaRPr lang="en-US" sz="1150" dirty="0"/>
          </a:p>
        </p:txBody>
      </p:sp>
      <p:sp>
        <p:nvSpPr>
          <p:cNvPr id="36" name="Text 34"/>
          <p:cNvSpPr/>
          <p:nvPr/>
        </p:nvSpPr>
        <p:spPr>
          <a:xfrm>
            <a:off x="658368" y="5047488"/>
            <a:ext cx="6675120" cy="384048"/>
          </a:xfrm>
          <a:prstGeom prst="rect">
            <a:avLst/>
          </a:prstGeom>
          <a:noFill/>
          <a:ln/>
        </p:spPr>
        <p:txBody>
          <a:bodyPr wrap="square" lIns="0" tIns="0" rIns="0" bIns="0" rtlCol="0" anchor="ctr"/>
          <a:lstStyle/>
          <a:p>
            <a:pPr indent="0" marL="0">
              <a:buNone/>
            </a:pPr>
            <a:r>
              <a:rPr lang="en-US" sz="1400" b="1" dirty="0">
                <a:solidFill>
                  <a:srgbClr val="17324D"/>
                </a:solidFill>
              </a:rPr>
              <a:t>No se presupone experiencia previa. Avanzaremos de forma progresiva.</a:t>
            </a:r>
            <a:endParaRPr lang="en-US" sz="1400" dirty="0"/>
          </a:p>
        </p:txBody>
      </p:sp>
      <p:sp>
        <p:nvSpPr>
          <p:cNvPr id="25" name="Slide Number Placeholder 0"/>
          <p:cNvSpPr>
            <a:spLocks noGrp="1"/>
          </p:cNvSpPr>
          <p:nvPr>
            <p:ph type="sldNum" sz="quarter" idx="4294967295"/>
          </p:nvPr>
        </p:nvSpPr>
        <p:spPr>
          <a:xfrm>
            <a:off x="11228832" y="6492240"/>
            <a:ext cx="411480" cy="201168"/>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rgbClr val="64748B"/>
                </a:solidFill>
                <a:latin typeface="Aptos"/>
                <a:ea typeface="Aptos"/>
                <a:cs typeface="Apto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84048"/>
            <a:ext cx="4389120" cy="256032"/>
          </a:xfrm>
          <a:prstGeom prst="rect">
            <a:avLst/>
          </a:prstGeom>
          <a:noFill/>
          <a:ln/>
        </p:spPr>
        <p:txBody>
          <a:bodyPr wrap="square" lIns="0" tIns="0" rIns="0" bIns="0" rtlCol="0" anchor="ctr"/>
          <a:lstStyle/>
          <a:p>
            <a:pPr indent="0" marL="0">
              <a:buNone/>
            </a:pPr>
            <a:r>
              <a:rPr lang="en-US" sz="1100" b="1" spc="70" kern="0" dirty="0">
                <a:solidFill>
                  <a:srgbClr val="0F766E"/>
                </a:solidFill>
              </a:rPr>
              <a:t>PROGRAMACIÓN · 1.º DAW</a:t>
            </a:r>
            <a:endParaRPr lang="en-US" sz="1100" dirty="0"/>
          </a:p>
        </p:txBody>
      </p:sp>
      <p:sp>
        <p:nvSpPr>
          <p:cNvPr id="3" name="Text 1"/>
          <p:cNvSpPr/>
          <p:nvPr/>
        </p:nvSpPr>
        <p:spPr>
          <a:xfrm>
            <a:off x="548640" y="749808"/>
            <a:ext cx="9784080" cy="621792"/>
          </a:xfrm>
          <a:prstGeom prst="rect">
            <a:avLst/>
          </a:prstGeom>
          <a:noFill/>
          <a:ln/>
        </p:spPr>
        <p:txBody>
          <a:bodyPr wrap="square" lIns="0" tIns="0" rIns="0" bIns="0" rtlCol="0" anchor="ctr"/>
          <a:lstStyle/>
          <a:p>
            <a:pPr indent="0" marL="0">
              <a:buNone/>
            </a:pPr>
            <a:r>
              <a:rPr lang="en-US" sz="2700" b="1" dirty="0">
                <a:solidFill>
                  <a:srgbClr val="17202A"/>
                </a:solidFill>
              </a:rPr>
              <a:t>El mapa de contenidos</a:t>
            </a:r>
            <a:endParaRPr lang="en-US" sz="2700" dirty="0"/>
          </a:p>
        </p:txBody>
      </p:sp>
      <p:sp>
        <p:nvSpPr>
          <p:cNvPr id="4" name="Shape 2"/>
          <p:cNvSpPr/>
          <p:nvPr/>
        </p:nvSpPr>
        <p:spPr>
          <a:xfrm>
            <a:off x="10405872" y="411480"/>
            <a:ext cx="1234440" cy="347472"/>
          </a:xfrm>
          <a:prstGeom prst="roundRect">
            <a:avLst>
              <a:gd name="adj" fmla="val 18421"/>
            </a:avLst>
          </a:prstGeom>
          <a:solidFill>
            <a:srgbClr val="DDEAF7"/>
          </a:solidFill>
          <a:ln w="12700">
            <a:solidFill>
              <a:srgbClr val="8AB4E6"/>
            </a:solidFill>
            <a:prstDash val="solid"/>
          </a:ln>
        </p:spPr>
      </p:sp>
      <p:sp>
        <p:nvSpPr>
          <p:cNvPr id="5" name="Text 3"/>
          <p:cNvSpPr/>
          <p:nvPr/>
        </p:nvSpPr>
        <p:spPr>
          <a:xfrm>
            <a:off x="10405872" y="470916"/>
            <a:ext cx="1234440" cy="182880"/>
          </a:xfrm>
          <a:prstGeom prst="rect">
            <a:avLst/>
          </a:prstGeom>
          <a:noFill/>
          <a:ln/>
        </p:spPr>
        <p:txBody>
          <a:bodyPr wrap="square" lIns="0" tIns="0" rIns="0" bIns="0" rtlCol="0" anchor="ctr"/>
          <a:lstStyle/>
          <a:p>
            <a:pPr algn="ctr" indent="0" marL="0">
              <a:buNone/>
            </a:pPr>
            <a:r>
              <a:rPr lang="en-US" sz="950" b="1" dirty="0">
                <a:solidFill>
                  <a:srgbClr val="2563EB"/>
                </a:solidFill>
              </a:rPr>
              <a:t>MÓDULO</a:t>
            </a:r>
            <a:endParaRPr lang="en-US" sz="950" dirty="0"/>
          </a:p>
        </p:txBody>
      </p:sp>
      <p:sp>
        <p:nvSpPr>
          <p:cNvPr id="6" name="Shape 4"/>
          <p:cNvSpPr/>
          <p:nvPr/>
        </p:nvSpPr>
        <p:spPr>
          <a:xfrm>
            <a:off x="603504" y="1600200"/>
            <a:ext cx="2578608" cy="1572768"/>
          </a:xfrm>
          <a:prstGeom prst="roundRect">
            <a:avLst>
              <a:gd name="adj" fmla="val 3488"/>
            </a:avLst>
          </a:prstGeom>
          <a:solidFill>
            <a:srgbClr val="FFFFFF"/>
          </a:solidFill>
          <a:ln w="15240">
            <a:solidFill>
              <a:srgbClr val="D6DEE8"/>
            </a:solidFill>
            <a:prstDash val="solid"/>
          </a:ln>
          <a:effectLst>
            <a:outerShdw sx="100000" sy="100000" kx="0" ky="0" algn="bl" rotWithShape="0" blurRad="17780" dist="50800" dir="2700000">
              <a:srgbClr val="D8E0E8">
                <a:alpha val="18000"/>
              </a:srgbClr>
            </a:outerShdw>
          </a:effectLst>
        </p:spPr>
      </p:sp>
      <p:sp>
        <p:nvSpPr>
          <p:cNvPr id="7" name="Shape 5"/>
          <p:cNvSpPr/>
          <p:nvPr/>
        </p:nvSpPr>
        <p:spPr>
          <a:xfrm>
            <a:off x="804672" y="1801368"/>
            <a:ext cx="438912" cy="438912"/>
          </a:xfrm>
          <a:prstGeom prst="ellipse">
            <a:avLst/>
          </a:prstGeom>
          <a:solidFill>
            <a:srgbClr val="2563EB"/>
          </a:solidFill>
          <a:ln w="12700">
            <a:solidFill>
              <a:srgbClr val="2563EB"/>
            </a:solidFill>
            <a:prstDash val="solid"/>
          </a:ln>
        </p:spPr>
      </p:sp>
      <p:sp>
        <p:nvSpPr>
          <p:cNvPr id="8" name="Text 6"/>
          <p:cNvSpPr/>
          <p:nvPr/>
        </p:nvSpPr>
        <p:spPr>
          <a:xfrm>
            <a:off x="804672" y="1883664"/>
            <a:ext cx="438912" cy="182880"/>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9" name="Text 7"/>
          <p:cNvSpPr/>
          <p:nvPr/>
        </p:nvSpPr>
        <p:spPr>
          <a:xfrm>
            <a:off x="1371600" y="1810512"/>
            <a:ext cx="1600200" cy="347472"/>
          </a:xfrm>
          <a:prstGeom prst="rect">
            <a:avLst/>
          </a:prstGeom>
          <a:noFill/>
          <a:ln/>
        </p:spPr>
        <p:txBody>
          <a:bodyPr wrap="square" lIns="0" tIns="0" rIns="0" bIns="0" rtlCol="0" anchor="ctr"/>
          <a:lstStyle/>
          <a:p>
            <a:pPr indent="0" marL="0">
              <a:buNone/>
            </a:pPr>
            <a:r>
              <a:rPr lang="en-US" sz="1500" b="1" dirty="0">
                <a:solidFill>
                  <a:srgbClr val="17202A"/>
                </a:solidFill>
              </a:rPr>
              <a:t>Fundamentos Java</a:t>
            </a:r>
            <a:endParaRPr lang="en-US" sz="1500" dirty="0"/>
          </a:p>
        </p:txBody>
      </p:sp>
      <p:sp>
        <p:nvSpPr>
          <p:cNvPr id="10" name="Text 8"/>
          <p:cNvSpPr/>
          <p:nvPr/>
        </p:nvSpPr>
        <p:spPr>
          <a:xfrm>
            <a:off x="804672" y="2295144"/>
            <a:ext cx="2176272" cy="704088"/>
          </a:xfrm>
          <a:prstGeom prst="rect">
            <a:avLst/>
          </a:prstGeom>
          <a:noFill/>
          <a:ln/>
        </p:spPr>
        <p:txBody>
          <a:bodyPr wrap="square" lIns="254" tIns="254" rIns="254" bIns="254" rtlCol="0" anchor="t"/>
          <a:lstStyle/>
          <a:p>
            <a:pPr indent="0" marL="0">
              <a:buNone/>
            </a:pPr>
            <a:r>
              <a:rPr lang="en-US" sz="1150" dirty="0">
                <a:solidFill>
                  <a:srgbClr val="5B6573"/>
                </a:solidFill>
              </a:rPr>
              <a:t>variables · tipos · entrada/salida</a:t>
            </a:r>
            <a:endParaRPr lang="en-US" sz="1150" dirty="0"/>
          </a:p>
        </p:txBody>
      </p:sp>
      <p:sp>
        <p:nvSpPr>
          <p:cNvPr id="11" name="Shape 9"/>
          <p:cNvSpPr/>
          <p:nvPr/>
        </p:nvSpPr>
        <p:spPr>
          <a:xfrm>
            <a:off x="3419856" y="1600200"/>
            <a:ext cx="2578608" cy="1572768"/>
          </a:xfrm>
          <a:prstGeom prst="roundRect">
            <a:avLst>
              <a:gd name="adj" fmla="val 3488"/>
            </a:avLst>
          </a:prstGeom>
          <a:solidFill>
            <a:srgbClr val="FFFFFF"/>
          </a:solidFill>
          <a:ln w="15240">
            <a:solidFill>
              <a:srgbClr val="D6DEE8"/>
            </a:solidFill>
            <a:prstDash val="solid"/>
          </a:ln>
          <a:effectLst>
            <a:outerShdw sx="100000" sy="100000" kx="0" ky="0" algn="bl" rotWithShape="0" blurRad="17780" dist="50800" dir="2700000">
              <a:srgbClr val="D8E0E8">
                <a:alpha val="18000"/>
              </a:srgbClr>
            </a:outerShdw>
          </a:effectLst>
        </p:spPr>
      </p:sp>
      <p:sp>
        <p:nvSpPr>
          <p:cNvPr id="12" name="Shape 10"/>
          <p:cNvSpPr/>
          <p:nvPr/>
        </p:nvSpPr>
        <p:spPr>
          <a:xfrm>
            <a:off x="3621024" y="1801368"/>
            <a:ext cx="438912" cy="438912"/>
          </a:xfrm>
          <a:prstGeom prst="ellipse">
            <a:avLst/>
          </a:prstGeom>
          <a:solidFill>
            <a:srgbClr val="2563EB"/>
          </a:solidFill>
          <a:ln w="12700">
            <a:solidFill>
              <a:srgbClr val="2563EB"/>
            </a:solidFill>
            <a:prstDash val="solid"/>
          </a:ln>
        </p:spPr>
      </p:sp>
      <p:sp>
        <p:nvSpPr>
          <p:cNvPr id="13" name="Text 11"/>
          <p:cNvSpPr/>
          <p:nvPr/>
        </p:nvSpPr>
        <p:spPr>
          <a:xfrm>
            <a:off x="3621024" y="1883664"/>
            <a:ext cx="438912" cy="182880"/>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4" name="Text 12"/>
          <p:cNvSpPr/>
          <p:nvPr/>
        </p:nvSpPr>
        <p:spPr>
          <a:xfrm>
            <a:off x="4187952" y="1810512"/>
            <a:ext cx="1600200" cy="347472"/>
          </a:xfrm>
          <a:prstGeom prst="rect">
            <a:avLst/>
          </a:prstGeom>
          <a:noFill/>
          <a:ln/>
        </p:spPr>
        <p:txBody>
          <a:bodyPr wrap="square" lIns="0" tIns="0" rIns="0" bIns="0" rtlCol="0" anchor="ctr"/>
          <a:lstStyle/>
          <a:p>
            <a:pPr indent="0" marL="0">
              <a:buNone/>
            </a:pPr>
            <a:r>
              <a:rPr lang="en-US" sz="1500" b="1" dirty="0">
                <a:solidFill>
                  <a:srgbClr val="17202A"/>
                </a:solidFill>
              </a:rPr>
              <a:t>Control y depuración</a:t>
            </a:r>
            <a:endParaRPr lang="en-US" sz="1500" dirty="0"/>
          </a:p>
        </p:txBody>
      </p:sp>
      <p:sp>
        <p:nvSpPr>
          <p:cNvPr id="15" name="Text 13"/>
          <p:cNvSpPr/>
          <p:nvPr/>
        </p:nvSpPr>
        <p:spPr>
          <a:xfrm>
            <a:off x="3621024" y="2295144"/>
            <a:ext cx="2176272" cy="704088"/>
          </a:xfrm>
          <a:prstGeom prst="rect">
            <a:avLst/>
          </a:prstGeom>
          <a:noFill/>
          <a:ln/>
        </p:spPr>
        <p:txBody>
          <a:bodyPr wrap="square" lIns="254" tIns="254" rIns="254" bIns="254" rtlCol="0" anchor="t"/>
          <a:lstStyle/>
          <a:p>
            <a:pPr indent="0" marL="0">
              <a:buNone/>
            </a:pPr>
            <a:r>
              <a:rPr lang="en-US" sz="1150" dirty="0">
                <a:solidFill>
                  <a:srgbClr val="5B6573"/>
                </a:solidFill>
              </a:rPr>
              <a:t>decisiones · bucles · errores</a:t>
            </a:r>
            <a:endParaRPr lang="en-US" sz="1150" dirty="0"/>
          </a:p>
        </p:txBody>
      </p:sp>
      <p:sp>
        <p:nvSpPr>
          <p:cNvPr id="16" name="Shape 14"/>
          <p:cNvSpPr/>
          <p:nvPr/>
        </p:nvSpPr>
        <p:spPr>
          <a:xfrm>
            <a:off x="6236208" y="1600200"/>
            <a:ext cx="2578608" cy="1572768"/>
          </a:xfrm>
          <a:prstGeom prst="roundRect">
            <a:avLst>
              <a:gd name="adj" fmla="val 3488"/>
            </a:avLst>
          </a:prstGeom>
          <a:solidFill>
            <a:srgbClr val="FFFFFF"/>
          </a:solidFill>
          <a:ln w="15240">
            <a:solidFill>
              <a:srgbClr val="D6DEE8"/>
            </a:solidFill>
            <a:prstDash val="solid"/>
          </a:ln>
          <a:effectLst>
            <a:outerShdw sx="100000" sy="100000" kx="0" ky="0" algn="bl" rotWithShape="0" blurRad="17780" dist="50800" dir="2700000">
              <a:srgbClr val="D8E0E8">
                <a:alpha val="18000"/>
              </a:srgbClr>
            </a:outerShdw>
          </a:effectLst>
        </p:spPr>
      </p:sp>
      <p:sp>
        <p:nvSpPr>
          <p:cNvPr id="17" name="Shape 15"/>
          <p:cNvSpPr/>
          <p:nvPr/>
        </p:nvSpPr>
        <p:spPr>
          <a:xfrm>
            <a:off x="6437376" y="1801368"/>
            <a:ext cx="438912" cy="438912"/>
          </a:xfrm>
          <a:prstGeom prst="ellipse">
            <a:avLst/>
          </a:prstGeom>
          <a:solidFill>
            <a:srgbClr val="0F766E"/>
          </a:solidFill>
          <a:ln w="12700">
            <a:solidFill>
              <a:srgbClr val="0F766E"/>
            </a:solidFill>
            <a:prstDash val="solid"/>
          </a:ln>
        </p:spPr>
      </p:sp>
      <p:sp>
        <p:nvSpPr>
          <p:cNvPr id="18" name="Text 16"/>
          <p:cNvSpPr/>
          <p:nvPr/>
        </p:nvSpPr>
        <p:spPr>
          <a:xfrm>
            <a:off x="6437376" y="1883664"/>
            <a:ext cx="438912" cy="182880"/>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9" name="Text 17"/>
          <p:cNvSpPr/>
          <p:nvPr/>
        </p:nvSpPr>
        <p:spPr>
          <a:xfrm>
            <a:off x="7004304" y="1810512"/>
            <a:ext cx="1600200" cy="347472"/>
          </a:xfrm>
          <a:prstGeom prst="rect">
            <a:avLst/>
          </a:prstGeom>
          <a:noFill/>
          <a:ln/>
        </p:spPr>
        <p:txBody>
          <a:bodyPr wrap="square" lIns="0" tIns="0" rIns="0" bIns="0" rtlCol="0" anchor="ctr"/>
          <a:lstStyle/>
          <a:p>
            <a:pPr indent="0" marL="0">
              <a:buNone/>
            </a:pPr>
            <a:r>
              <a:rPr lang="en-US" sz="1500" b="1" dirty="0">
                <a:solidFill>
                  <a:srgbClr val="17202A"/>
                </a:solidFill>
              </a:rPr>
              <a:t>Estructuras de datos</a:t>
            </a:r>
            <a:endParaRPr lang="en-US" sz="1500" dirty="0"/>
          </a:p>
        </p:txBody>
      </p:sp>
      <p:sp>
        <p:nvSpPr>
          <p:cNvPr id="20" name="Text 18"/>
          <p:cNvSpPr/>
          <p:nvPr/>
        </p:nvSpPr>
        <p:spPr>
          <a:xfrm>
            <a:off x="6437376" y="2295144"/>
            <a:ext cx="2176272" cy="704088"/>
          </a:xfrm>
          <a:prstGeom prst="rect">
            <a:avLst/>
          </a:prstGeom>
          <a:noFill/>
          <a:ln/>
        </p:spPr>
        <p:txBody>
          <a:bodyPr wrap="square" lIns="254" tIns="254" rIns="254" bIns="254" rtlCol="0" anchor="t"/>
          <a:lstStyle/>
          <a:p>
            <a:pPr indent="0" marL="0">
              <a:buNone/>
            </a:pPr>
            <a:r>
              <a:rPr lang="en-US" sz="1150" dirty="0">
                <a:solidFill>
                  <a:srgbClr val="5B6573"/>
                </a:solidFill>
              </a:rPr>
              <a:t>arrays · listas · conjuntos · mapas</a:t>
            </a:r>
            <a:endParaRPr lang="en-US" sz="1150" dirty="0"/>
          </a:p>
        </p:txBody>
      </p:sp>
      <p:sp>
        <p:nvSpPr>
          <p:cNvPr id="21" name="Shape 19"/>
          <p:cNvSpPr/>
          <p:nvPr/>
        </p:nvSpPr>
        <p:spPr>
          <a:xfrm>
            <a:off x="9052560" y="1600200"/>
            <a:ext cx="2578608" cy="1572768"/>
          </a:xfrm>
          <a:prstGeom prst="roundRect">
            <a:avLst>
              <a:gd name="adj" fmla="val 3488"/>
            </a:avLst>
          </a:prstGeom>
          <a:solidFill>
            <a:srgbClr val="FFFFFF"/>
          </a:solidFill>
          <a:ln w="15240">
            <a:solidFill>
              <a:srgbClr val="D6DEE8"/>
            </a:solidFill>
            <a:prstDash val="solid"/>
          </a:ln>
          <a:effectLst>
            <a:outerShdw sx="100000" sy="100000" kx="0" ky="0" algn="bl" rotWithShape="0" blurRad="17780" dist="50800" dir="2700000">
              <a:srgbClr val="D8E0E8">
                <a:alpha val="18000"/>
              </a:srgbClr>
            </a:outerShdw>
          </a:effectLst>
        </p:spPr>
      </p:sp>
      <p:sp>
        <p:nvSpPr>
          <p:cNvPr id="22" name="Shape 20"/>
          <p:cNvSpPr/>
          <p:nvPr/>
        </p:nvSpPr>
        <p:spPr>
          <a:xfrm>
            <a:off x="9253728" y="1801368"/>
            <a:ext cx="438912" cy="438912"/>
          </a:xfrm>
          <a:prstGeom prst="ellipse">
            <a:avLst/>
          </a:prstGeom>
          <a:solidFill>
            <a:srgbClr val="0F766E"/>
          </a:solidFill>
          <a:ln w="12700">
            <a:solidFill>
              <a:srgbClr val="0F766E"/>
            </a:solidFill>
            <a:prstDash val="solid"/>
          </a:ln>
        </p:spPr>
      </p:sp>
      <p:sp>
        <p:nvSpPr>
          <p:cNvPr id="23" name="Text 21"/>
          <p:cNvSpPr/>
          <p:nvPr/>
        </p:nvSpPr>
        <p:spPr>
          <a:xfrm>
            <a:off x="9253728" y="1883664"/>
            <a:ext cx="438912" cy="182880"/>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24" name="Text 22"/>
          <p:cNvSpPr/>
          <p:nvPr/>
        </p:nvSpPr>
        <p:spPr>
          <a:xfrm>
            <a:off x="9820656" y="1810512"/>
            <a:ext cx="1600200" cy="347472"/>
          </a:xfrm>
          <a:prstGeom prst="rect">
            <a:avLst/>
          </a:prstGeom>
          <a:noFill/>
          <a:ln/>
        </p:spPr>
        <p:txBody>
          <a:bodyPr wrap="square" lIns="0" tIns="0" rIns="0" bIns="0" rtlCol="0" anchor="ctr"/>
          <a:lstStyle/>
          <a:p>
            <a:pPr indent="0" marL="0">
              <a:buNone/>
            </a:pPr>
            <a:r>
              <a:rPr lang="en-US" sz="1500" b="1" dirty="0">
                <a:solidFill>
                  <a:srgbClr val="17202A"/>
                </a:solidFill>
              </a:rPr>
              <a:t>Orientación a objetos</a:t>
            </a:r>
            <a:endParaRPr lang="en-US" sz="1500" dirty="0"/>
          </a:p>
        </p:txBody>
      </p:sp>
      <p:sp>
        <p:nvSpPr>
          <p:cNvPr id="25" name="Text 23"/>
          <p:cNvSpPr/>
          <p:nvPr/>
        </p:nvSpPr>
        <p:spPr>
          <a:xfrm>
            <a:off x="9253728" y="2295144"/>
            <a:ext cx="2176272" cy="704088"/>
          </a:xfrm>
          <a:prstGeom prst="rect">
            <a:avLst/>
          </a:prstGeom>
          <a:noFill/>
          <a:ln/>
        </p:spPr>
        <p:txBody>
          <a:bodyPr wrap="square" lIns="254" tIns="254" rIns="254" bIns="254" rtlCol="0" anchor="t"/>
          <a:lstStyle/>
          <a:p>
            <a:pPr indent="0" marL="0">
              <a:buNone/>
            </a:pPr>
            <a:r>
              <a:rPr lang="en-US" sz="1150" dirty="0">
                <a:solidFill>
                  <a:srgbClr val="5B6573"/>
                </a:solidFill>
              </a:rPr>
              <a:t>clases · métodos · constructores</a:t>
            </a:r>
            <a:endParaRPr lang="en-US" sz="1150" dirty="0"/>
          </a:p>
        </p:txBody>
      </p:sp>
      <p:sp>
        <p:nvSpPr>
          <p:cNvPr id="26" name="Shape 24"/>
          <p:cNvSpPr/>
          <p:nvPr/>
        </p:nvSpPr>
        <p:spPr>
          <a:xfrm>
            <a:off x="603504" y="3575304"/>
            <a:ext cx="2578608" cy="1572768"/>
          </a:xfrm>
          <a:prstGeom prst="roundRect">
            <a:avLst>
              <a:gd name="adj" fmla="val 3488"/>
            </a:avLst>
          </a:prstGeom>
          <a:solidFill>
            <a:srgbClr val="FFFFFF"/>
          </a:solidFill>
          <a:ln w="15240">
            <a:solidFill>
              <a:srgbClr val="D6DEE8"/>
            </a:solidFill>
            <a:prstDash val="solid"/>
          </a:ln>
          <a:effectLst>
            <a:outerShdw sx="100000" sy="100000" kx="0" ky="0" algn="bl" rotWithShape="0" blurRad="17780" dist="50800" dir="2700000">
              <a:srgbClr val="D8E0E8">
                <a:alpha val="18000"/>
              </a:srgbClr>
            </a:outerShdw>
          </a:effectLst>
        </p:spPr>
      </p:sp>
      <p:sp>
        <p:nvSpPr>
          <p:cNvPr id="27" name="Shape 25"/>
          <p:cNvSpPr/>
          <p:nvPr/>
        </p:nvSpPr>
        <p:spPr>
          <a:xfrm>
            <a:off x="804672" y="3776472"/>
            <a:ext cx="438912" cy="438912"/>
          </a:xfrm>
          <a:prstGeom prst="ellipse">
            <a:avLst/>
          </a:prstGeom>
          <a:solidFill>
            <a:srgbClr val="17324D"/>
          </a:solidFill>
          <a:ln w="12700">
            <a:solidFill>
              <a:srgbClr val="17324D"/>
            </a:solidFill>
            <a:prstDash val="solid"/>
          </a:ln>
        </p:spPr>
      </p:sp>
      <p:sp>
        <p:nvSpPr>
          <p:cNvPr id="28" name="Text 26"/>
          <p:cNvSpPr/>
          <p:nvPr/>
        </p:nvSpPr>
        <p:spPr>
          <a:xfrm>
            <a:off x="804672" y="3858768"/>
            <a:ext cx="438912" cy="182880"/>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29" name="Text 27"/>
          <p:cNvSpPr/>
          <p:nvPr/>
        </p:nvSpPr>
        <p:spPr>
          <a:xfrm>
            <a:off x="1371600" y="3785616"/>
            <a:ext cx="1600200" cy="347472"/>
          </a:xfrm>
          <a:prstGeom prst="rect">
            <a:avLst/>
          </a:prstGeom>
          <a:noFill/>
          <a:ln/>
        </p:spPr>
        <p:txBody>
          <a:bodyPr wrap="square" lIns="0" tIns="0" rIns="0" bIns="0" rtlCol="0" anchor="ctr"/>
          <a:lstStyle/>
          <a:p>
            <a:pPr indent="0" marL="0">
              <a:buNone/>
            </a:pPr>
            <a:r>
              <a:rPr lang="en-US" sz="1500" b="1" dirty="0">
                <a:solidFill>
                  <a:srgbClr val="17202A"/>
                </a:solidFill>
              </a:rPr>
              <a:t>Diseño y pruebas</a:t>
            </a:r>
            <a:endParaRPr lang="en-US" sz="1500" dirty="0"/>
          </a:p>
        </p:txBody>
      </p:sp>
      <p:sp>
        <p:nvSpPr>
          <p:cNvPr id="30" name="Text 28"/>
          <p:cNvSpPr/>
          <p:nvPr/>
        </p:nvSpPr>
        <p:spPr>
          <a:xfrm>
            <a:off x="804672" y="4270248"/>
            <a:ext cx="2176272" cy="704088"/>
          </a:xfrm>
          <a:prstGeom prst="rect">
            <a:avLst/>
          </a:prstGeom>
          <a:noFill/>
          <a:ln/>
        </p:spPr>
        <p:txBody>
          <a:bodyPr wrap="square" lIns="254" tIns="254" rIns="254" bIns="254" rtlCol="0" anchor="t"/>
          <a:lstStyle/>
          <a:p>
            <a:pPr indent="0" marL="0">
              <a:buNone/>
            </a:pPr>
            <a:r>
              <a:rPr lang="en-US" sz="1150" dirty="0">
                <a:solidFill>
                  <a:srgbClr val="5B6573"/>
                </a:solidFill>
              </a:rPr>
              <a:t>interfaces · composición · herencia</a:t>
            </a:r>
            <a:endParaRPr lang="en-US" sz="1150" dirty="0"/>
          </a:p>
        </p:txBody>
      </p:sp>
      <p:sp>
        <p:nvSpPr>
          <p:cNvPr id="31" name="Shape 29"/>
          <p:cNvSpPr/>
          <p:nvPr/>
        </p:nvSpPr>
        <p:spPr>
          <a:xfrm>
            <a:off x="3419856" y="3575304"/>
            <a:ext cx="2578608" cy="1572768"/>
          </a:xfrm>
          <a:prstGeom prst="roundRect">
            <a:avLst>
              <a:gd name="adj" fmla="val 3488"/>
            </a:avLst>
          </a:prstGeom>
          <a:solidFill>
            <a:srgbClr val="FFFFFF"/>
          </a:solidFill>
          <a:ln w="15240">
            <a:solidFill>
              <a:srgbClr val="D6DEE8"/>
            </a:solidFill>
            <a:prstDash val="solid"/>
          </a:ln>
          <a:effectLst>
            <a:outerShdw sx="100000" sy="100000" kx="0" ky="0" algn="bl" rotWithShape="0" blurRad="17780" dist="50800" dir="2700000">
              <a:srgbClr val="D8E0E8">
                <a:alpha val="18000"/>
              </a:srgbClr>
            </a:outerShdw>
          </a:effectLst>
        </p:spPr>
      </p:sp>
      <p:sp>
        <p:nvSpPr>
          <p:cNvPr id="32" name="Shape 30"/>
          <p:cNvSpPr/>
          <p:nvPr/>
        </p:nvSpPr>
        <p:spPr>
          <a:xfrm>
            <a:off x="3621024" y="3776472"/>
            <a:ext cx="438912" cy="438912"/>
          </a:xfrm>
          <a:prstGeom prst="ellipse">
            <a:avLst/>
          </a:prstGeom>
          <a:solidFill>
            <a:srgbClr val="17324D"/>
          </a:solidFill>
          <a:ln w="12700">
            <a:solidFill>
              <a:srgbClr val="17324D"/>
            </a:solidFill>
            <a:prstDash val="solid"/>
          </a:ln>
        </p:spPr>
      </p:sp>
      <p:sp>
        <p:nvSpPr>
          <p:cNvPr id="33" name="Text 31"/>
          <p:cNvSpPr/>
          <p:nvPr/>
        </p:nvSpPr>
        <p:spPr>
          <a:xfrm>
            <a:off x="3621024" y="3858768"/>
            <a:ext cx="438912" cy="182880"/>
          </a:xfrm>
          <a:prstGeom prst="rect">
            <a:avLst/>
          </a:prstGeom>
          <a:noFill/>
          <a:ln/>
        </p:spPr>
        <p:txBody>
          <a:bodyPr wrap="square" lIns="0" tIns="0" rIns="0" bIns="0" rtlCol="0" anchor="ctr"/>
          <a:lstStyle/>
          <a:p>
            <a:pPr algn="ctr" indent="0" marL="0">
              <a:buNone/>
            </a:pPr>
            <a:r>
              <a:rPr lang="en-US" sz="1200" b="1" dirty="0">
                <a:solidFill>
                  <a:srgbClr val="FFFFFF"/>
                </a:solidFill>
              </a:rPr>
              <a:t>6</a:t>
            </a:r>
            <a:endParaRPr lang="en-US" sz="1200" dirty="0"/>
          </a:p>
        </p:txBody>
      </p:sp>
      <p:sp>
        <p:nvSpPr>
          <p:cNvPr id="34" name="Text 32"/>
          <p:cNvSpPr/>
          <p:nvPr/>
        </p:nvSpPr>
        <p:spPr>
          <a:xfrm>
            <a:off x="4187952" y="3785616"/>
            <a:ext cx="1600200" cy="347472"/>
          </a:xfrm>
          <a:prstGeom prst="rect">
            <a:avLst/>
          </a:prstGeom>
          <a:noFill/>
          <a:ln/>
        </p:spPr>
        <p:txBody>
          <a:bodyPr wrap="square" lIns="0" tIns="0" rIns="0" bIns="0" rtlCol="0" anchor="ctr"/>
          <a:lstStyle/>
          <a:p>
            <a:pPr indent="0" marL="0">
              <a:buNone/>
            </a:pPr>
            <a:r>
              <a:rPr lang="en-US" sz="1500" b="1" dirty="0">
                <a:solidFill>
                  <a:srgbClr val="17202A"/>
                </a:solidFill>
              </a:rPr>
              <a:t>Persistencia</a:t>
            </a:r>
            <a:endParaRPr lang="en-US" sz="1500" dirty="0"/>
          </a:p>
        </p:txBody>
      </p:sp>
      <p:sp>
        <p:nvSpPr>
          <p:cNvPr id="35" name="Text 33"/>
          <p:cNvSpPr/>
          <p:nvPr/>
        </p:nvSpPr>
        <p:spPr>
          <a:xfrm>
            <a:off x="3621024" y="4270248"/>
            <a:ext cx="2176272" cy="704088"/>
          </a:xfrm>
          <a:prstGeom prst="rect">
            <a:avLst/>
          </a:prstGeom>
          <a:noFill/>
          <a:ln/>
        </p:spPr>
        <p:txBody>
          <a:bodyPr wrap="square" lIns="254" tIns="254" rIns="254" bIns="254" rtlCol="0" anchor="t"/>
          <a:lstStyle/>
          <a:p>
            <a:pPr indent="0" marL="0">
              <a:buNone/>
            </a:pPr>
            <a:r>
              <a:rPr lang="en-US" sz="1150" dirty="0">
                <a:solidFill>
                  <a:srgbClr val="5B6573"/>
                </a:solidFill>
              </a:rPr>
              <a:t>ficheros · datos · trazabilidad</a:t>
            </a:r>
            <a:endParaRPr lang="en-US" sz="1150" dirty="0"/>
          </a:p>
        </p:txBody>
      </p:sp>
      <p:sp>
        <p:nvSpPr>
          <p:cNvPr id="36" name="Shape 34"/>
          <p:cNvSpPr/>
          <p:nvPr/>
        </p:nvSpPr>
        <p:spPr>
          <a:xfrm>
            <a:off x="6236208" y="3575304"/>
            <a:ext cx="2816352" cy="1572768"/>
          </a:xfrm>
          <a:prstGeom prst="roundRect">
            <a:avLst>
              <a:gd name="adj" fmla="val 3488"/>
            </a:avLst>
          </a:prstGeom>
          <a:solidFill>
            <a:srgbClr val="FFFFFF"/>
          </a:solidFill>
          <a:ln w="15240">
            <a:solidFill>
              <a:srgbClr val="D6DEE8"/>
            </a:solidFill>
            <a:prstDash val="solid"/>
          </a:ln>
          <a:effectLst>
            <a:outerShdw sx="100000" sy="100000" kx="0" ky="0" algn="bl" rotWithShape="0" blurRad="17780" dist="50800" dir="2700000">
              <a:srgbClr val="D8E0E8">
                <a:alpha val="18000"/>
              </a:srgbClr>
            </a:outerShdw>
          </a:effectLst>
        </p:spPr>
      </p:sp>
      <p:sp>
        <p:nvSpPr>
          <p:cNvPr id="37" name="Shape 35"/>
          <p:cNvSpPr/>
          <p:nvPr/>
        </p:nvSpPr>
        <p:spPr>
          <a:xfrm>
            <a:off x="6437376" y="3776472"/>
            <a:ext cx="438912" cy="438912"/>
          </a:xfrm>
          <a:prstGeom prst="ellipse">
            <a:avLst/>
          </a:prstGeom>
          <a:solidFill>
            <a:srgbClr val="D97706"/>
          </a:solidFill>
          <a:ln w="12700">
            <a:solidFill>
              <a:srgbClr val="D97706"/>
            </a:solidFill>
            <a:prstDash val="solid"/>
          </a:ln>
        </p:spPr>
      </p:sp>
      <p:sp>
        <p:nvSpPr>
          <p:cNvPr id="38" name="Text 36"/>
          <p:cNvSpPr/>
          <p:nvPr/>
        </p:nvSpPr>
        <p:spPr>
          <a:xfrm>
            <a:off x="6437376" y="3858768"/>
            <a:ext cx="438912" cy="182880"/>
          </a:xfrm>
          <a:prstGeom prst="rect">
            <a:avLst/>
          </a:prstGeom>
          <a:noFill/>
          <a:ln/>
        </p:spPr>
        <p:txBody>
          <a:bodyPr wrap="square" lIns="0" tIns="0" rIns="0" bIns="0" rtlCol="0" anchor="ctr"/>
          <a:lstStyle/>
          <a:p>
            <a:pPr algn="ctr" indent="0" marL="0">
              <a:buNone/>
            </a:pPr>
            <a:r>
              <a:rPr lang="en-US" sz="1200" b="1" dirty="0">
                <a:solidFill>
                  <a:srgbClr val="FFFFFF"/>
                </a:solidFill>
              </a:rPr>
              <a:t>7</a:t>
            </a:r>
            <a:endParaRPr lang="en-US" sz="1200" dirty="0"/>
          </a:p>
        </p:txBody>
      </p:sp>
      <p:sp>
        <p:nvSpPr>
          <p:cNvPr id="39" name="Text 37"/>
          <p:cNvSpPr/>
          <p:nvPr/>
        </p:nvSpPr>
        <p:spPr>
          <a:xfrm>
            <a:off x="7004304" y="3785616"/>
            <a:ext cx="1837944" cy="347472"/>
          </a:xfrm>
          <a:prstGeom prst="rect">
            <a:avLst/>
          </a:prstGeom>
          <a:noFill/>
          <a:ln/>
        </p:spPr>
        <p:txBody>
          <a:bodyPr wrap="square" lIns="0" tIns="0" rIns="0" bIns="0" rtlCol="0" anchor="ctr"/>
          <a:lstStyle/>
          <a:p>
            <a:pPr indent="0" marL="0">
              <a:buNone/>
            </a:pPr>
            <a:r>
              <a:rPr lang="en-US" sz="1500" b="1" dirty="0">
                <a:solidFill>
                  <a:srgbClr val="17202A"/>
                </a:solidFill>
              </a:rPr>
              <a:t>Ampliación según progreso</a:t>
            </a:r>
            <a:endParaRPr lang="en-US" sz="1500" dirty="0"/>
          </a:p>
        </p:txBody>
      </p:sp>
      <p:sp>
        <p:nvSpPr>
          <p:cNvPr id="40" name="Text 38"/>
          <p:cNvSpPr/>
          <p:nvPr/>
        </p:nvSpPr>
        <p:spPr>
          <a:xfrm>
            <a:off x="6437376" y="4270248"/>
            <a:ext cx="2414016" cy="704088"/>
          </a:xfrm>
          <a:prstGeom prst="rect">
            <a:avLst/>
          </a:prstGeom>
          <a:noFill/>
          <a:ln/>
        </p:spPr>
        <p:txBody>
          <a:bodyPr wrap="square" lIns="254" tIns="254" rIns="254" bIns="254" rtlCol="0" anchor="t"/>
          <a:lstStyle/>
          <a:p>
            <a:pPr indent="0" marL="0">
              <a:buNone/>
            </a:pPr>
            <a:r>
              <a:rPr lang="en-US" sz="1150" dirty="0">
                <a:solidFill>
                  <a:srgbClr val="5B6573"/>
                </a:solidFill>
              </a:rPr>
              <a:t>funcional · GUI · bases de datos</a:t>
            </a:r>
            <a:endParaRPr lang="en-US" sz="1150" dirty="0"/>
          </a:p>
        </p:txBody>
      </p:sp>
      <p:sp>
        <p:nvSpPr>
          <p:cNvPr id="41" name="Text 39"/>
          <p:cNvSpPr/>
          <p:nvPr/>
        </p:nvSpPr>
        <p:spPr>
          <a:xfrm>
            <a:off x="621792" y="5696712"/>
            <a:ext cx="10789920" cy="402336"/>
          </a:xfrm>
          <a:prstGeom prst="rect">
            <a:avLst/>
          </a:prstGeom>
          <a:noFill/>
          <a:ln/>
        </p:spPr>
        <p:txBody>
          <a:bodyPr wrap="square" lIns="0" tIns="0" rIns="0" bIns="0" rtlCol="0" anchor="ctr"/>
          <a:lstStyle/>
          <a:p>
            <a:pPr indent="0" marL="0">
              <a:buNone/>
            </a:pPr>
            <a:r>
              <a:rPr lang="en-US" sz="1350" b="1" dirty="0">
                <a:solidFill>
                  <a:srgbClr val="D97706"/>
                </a:solidFill>
              </a:rPr>
              <a:t>Los contenidos avanzados amplían la ruta cuando el progreso real del grupo lo permite.</a:t>
            </a:r>
            <a:endParaRPr lang="en-US" sz="1350" dirty="0"/>
          </a:p>
        </p:txBody>
      </p:sp>
      <p:sp>
        <p:nvSpPr>
          <p:cNvPr id="25" name="Slide Number Placeholder 0"/>
          <p:cNvSpPr>
            <a:spLocks noGrp="1"/>
          </p:cNvSpPr>
          <p:nvPr>
            <p:ph type="sldNum" sz="quarter" idx="4294967295"/>
          </p:nvPr>
        </p:nvSpPr>
        <p:spPr>
          <a:xfrm>
            <a:off x="11228832" y="6492240"/>
            <a:ext cx="411480" cy="201168"/>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rgbClr val="64748B"/>
                </a:solidFill>
                <a:latin typeface="Aptos"/>
                <a:ea typeface="Aptos"/>
                <a:cs typeface="Apto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84048"/>
            <a:ext cx="4389120" cy="256032"/>
          </a:xfrm>
          <a:prstGeom prst="rect">
            <a:avLst/>
          </a:prstGeom>
          <a:noFill/>
          <a:ln/>
        </p:spPr>
        <p:txBody>
          <a:bodyPr wrap="square" lIns="0" tIns="0" rIns="0" bIns="0" rtlCol="0" anchor="ctr"/>
          <a:lstStyle/>
          <a:p>
            <a:pPr indent="0" marL="0">
              <a:buNone/>
            </a:pPr>
            <a:r>
              <a:rPr lang="en-US" sz="1100" b="1" spc="70" kern="0" dirty="0">
                <a:solidFill>
                  <a:srgbClr val="0F766E"/>
                </a:solidFill>
              </a:rPr>
              <a:t>PROGRAMACIÓN · 1.º DAW</a:t>
            </a:r>
            <a:endParaRPr lang="en-US" sz="1100" dirty="0"/>
          </a:p>
        </p:txBody>
      </p:sp>
      <p:sp>
        <p:nvSpPr>
          <p:cNvPr id="3" name="Text 1"/>
          <p:cNvSpPr/>
          <p:nvPr/>
        </p:nvSpPr>
        <p:spPr>
          <a:xfrm>
            <a:off x="548640" y="749808"/>
            <a:ext cx="9784080" cy="621792"/>
          </a:xfrm>
          <a:prstGeom prst="rect">
            <a:avLst/>
          </a:prstGeom>
          <a:noFill/>
          <a:ln/>
        </p:spPr>
        <p:txBody>
          <a:bodyPr wrap="square" lIns="0" tIns="0" rIns="0" bIns="0" rtlCol="0" anchor="ctr"/>
          <a:lstStyle/>
          <a:p>
            <a:pPr indent="0" marL="0">
              <a:buNone/>
            </a:pPr>
            <a:r>
              <a:rPr lang="en-US" sz="2700" b="1" dirty="0">
                <a:solidFill>
                  <a:srgbClr val="17202A"/>
                </a:solidFill>
              </a:rPr>
              <a:t>Los nueve Resultados de Aprendizaje</a:t>
            </a:r>
            <a:endParaRPr lang="en-US" sz="2700" dirty="0"/>
          </a:p>
        </p:txBody>
      </p:sp>
      <p:sp>
        <p:nvSpPr>
          <p:cNvPr id="4" name="Shape 2"/>
          <p:cNvSpPr/>
          <p:nvPr/>
        </p:nvSpPr>
        <p:spPr>
          <a:xfrm>
            <a:off x="10405872" y="411480"/>
            <a:ext cx="1234440" cy="347472"/>
          </a:xfrm>
          <a:prstGeom prst="roundRect">
            <a:avLst>
              <a:gd name="adj" fmla="val 18421"/>
            </a:avLst>
          </a:prstGeom>
          <a:solidFill>
            <a:srgbClr val="DDEAF7"/>
          </a:solidFill>
          <a:ln w="12700">
            <a:solidFill>
              <a:srgbClr val="8AB4E6"/>
            </a:solidFill>
            <a:prstDash val="solid"/>
          </a:ln>
        </p:spPr>
      </p:sp>
      <p:sp>
        <p:nvSpPr>
          <p:cNvPr id="5" name="Text 3"/>
          <p:cNvSpPr/>
          <p:nvPr/>
        </p:nvSpPr>
        <p:spPr>
          <a:xfrm>
            <a:off x="10405872" y="470916"/>
            <a:ext cx="1234440" cy="182880"/>
          </a:xfrm>
          <a:prstGeom prst="rect">
            <a:avLst/>
          </a:prstGeom>
          <a:noFill/>
          <a:ln/>
        </p:spPr>
        <p:txBody>
          <a:bodyPr wrap="square" lIns="0" tIns="0" rIns="0" bIns="0" rtlCol="0" anchor="ctr"/>
          <a:lstStyle/>
          <a:p>
            <a:pPr algn="ctr" indent="0" marL="0">
              <a:buNone/>
            </a:pPr>
            <a:r>
              <a:rPr lang="en-US" sz="950" b="1" dirty="0">
                <a:solidFill>
                  <a:srgbClr val="2563EB"/>
                </a:solidFill>
              </a:rPr>
              <a:t>MÓDULO</a:t>
            </a:r>
            <a:endParaRPr lang="en-US" sz="950" dirty="0"/>
          </a:p>
        </p:txBody>
      </p:sp>
      <p:sp>
        <p:nvSpPr>
          <p:cNvPr id="6" name="Text 4"/>
          <p:cNvSpPr/>
          <p:nvPr/>
        </p:nvSpPr>
        <p:spPr>
          <a:xfrm>
            <a:off x="566928" y="1481328"/>
            <a:ext cx="10332720" cy="530352"/>
          </a:xfrm>
          <a:prstGeom prst="rect">
            <a:avLst/>
          </a:prstGeom>
          <a:noFill/>
          <a:ln/>
        </p:spPr>
        <p:txBody>
          <a:bodyPr wrap="square" lIns="0" tIns="0" rIns="0" bIns="0" rtlCol="0" anchor="ctr"/>
          <a:lstStyle/>
          <a:p>
            <a:pPr indent="0" marL="0">
              <a:buNone/>
            </a:pPr>
            <a:r>
              <a:rPr lang="en-US" sz="1800" dirty="0">
                <a:solidFill>
                  <a:srgbClr val="5B6573"/>
                </a:solidFill>
              </a:rPr>
              <a:t>Los RA describen capacidades que debes demostrar. Organizan la evaluación, pero no son una simple lista de temas.</a:t>
            </a:r>
            <a:endParaRPr lang="en-US" sz="1800" dirty="0"/>
          </a:p>
        </p:txBody>
      </p:sp>
      <p:sp>
        <p:nvSpPr>
          <p:cNvPr id="7" name="Shape 5"/>
          <p:cNvSpPr/>
          <p:nvPr/>
        </p:nvSpPr>
        <p:spPr>
          <a:xfrm>
            <a:off x="658368" y="2267712"/>
            <a:ext cx="1874520" cy="1078992"/>
          </a:xfrm>
          <a:prstGeom prst="roundRect">
            <a:avLst>
              <a:gd name="adj" fmla="val 4237"/>
            </a:avLst>
          </a:prstGeom>
          <a:solidFill>
            <a:srgbClr val="FFFFFF"/>
          </a:solidFill>
          <a:ln w="12700">
            <a:solidFill>
              <a:srgbClr val="D5DEE8"/>
            </a:solidFill>
            <a:prstDash val="solid"/>
          </a:ln>
        </p:spPr>
      </p:sp>
      <p:sp>
        <p:nvSpPr>
          <p:cNvPr id="8" name="Text 6"/>
          <p:cNvSpPr/>
          <p:nvPr/>
        </p:nvSpPr>
        <p:spPr>
          <a:xfrm>
            <a:off x="795528" y="2395728"/>
            <a:ext cx="329184" cy="256032"/>
          </a:xfrm>
          <a:prstGeom prst="rect">
            <a:avLst/>
          </a:prstGeom>
          <a:noFill/>
          <a:ln/>
        </p:spPr>
        <p:txBody>
          <a:bodyPr wrap="square" lIns="0" tIns="0" rIns="0" bIns="0" rtlCol="0" anchor="ctr"/>
          <a:lstStyle/>
          <a:p>
            <a:pPr algn="ctr" indent="0" marL="0">
              <a:buNone/>
            </a:pPr>
            <a:r>
              <a:rPr lang="en-US" sz="1400" b="1" dirty="0">
                <a:solidFill>
                  <a:srgbClr val="2563EB"/>
                </a:solidFill>
              </a:rPr>
              <a:t>1</a:t>
            </a:r>
            <a:endParaRPr lang="en-US" sz="1400" dirty="0"/>
          </a:p>
        </p:txBody>
      </p:sp>
      <p:sp>
        <p:nvSpPr>
          <p:cNvPr id="9" name="Text 7"/>
          <p:cNvSpPr/>
          <p:nvPr/>
        </p:nvSpPr>
        <p:spPr>
          <a:xfrm>
            <a:off x="1161288" y="2414016"/>
            <a:ext cx="1216152" cy="658368"/>
          </a:xfrm>
          <a:prstGeom prst="rect">
            <a:avLst/>
          </a:prstGeom>
          <a:noFill/>
          <a:ln/>
        </p:spPr>
        <p:txBody>
          <a:bodyPr wrap="square" lIns="0" tIns="0" rIns="0" bIns="0" rtlCol="0" anchor="ctr"/>
          <a:lstStyle/>
          <a:p>
            <a:pPr indent="0" marL="0">
              <a:buNone/>
            </a:pPr>
            <a:r>
              <a:rPr lang="en-US" sz="1220" b="1" dirty="0">
                <a:solidFill>
                  <a:srgbClr val="17202A"/>
                </a:solidFill>
              </a:rPr>
              <a:t>Fundamentos</a:t>
            </a:r>
            <a:endParaRPr lang="en-US" sz="1220" dirty="0"/>
          </a:p>
        </p:txBody>
      </p:sp>
      <p:sp>
        <p:nvSpPr>
          <p:cNvPr id="10" name="Shape 8"/>
          <p:cNvSpPr/>
          <p:nvPr/>
        </p:nvSpPr>
        <p:spPr>
          <a:xfrm>
            <a:off x="2871216" y="2267712"/>
            <a:ext cx="1874520" cy="1078992"/>
          </a:xfrm>
          <a:prstGeom prst="roundRect">
            <a:avLst>
              <a:gd name="adj" fmla="val 4237"/>
            </a:avLst>
          </a:prstGeom>
          <a:solidFill>
            <a:srgbClr val="FFFFFF"/>
          </a:solidFill>
          <a:ln w="12700">
            <a:solidFill>
              <a:srgbClr val="D5DEE8"/>
            </a:solidFill>
            <a:prstDash val="solid"/>
          </a:ln>
        </p:spPr>
      </p:sp>
      <p:sp>
        <p:nvSpPr>
          <p:cNvPr id="11" name="Text 9"/>
          <p:cNvSpPr/>
          <p:nvPr/>
        </p:nvSpPr>
        <p:spPr>
          <a:xfrm>
            <a:off x="3008376" y="2395728"/>
            <a:ext cx="329184" cy="256032"/>
          </a:xfrm>
          <a:prstGeom prst="rect">
            <a:avLst/>
          </a:prstGeom>
          <a:noFill/>
          <a:ln/>
        </p:spPr>
        <p:txBody>
          <a:bodyPr wrap="square" lIns="0" tIns="0" rIns="0" bIns="0" rtlCol="0" anchor="ctr"/>
          <a:lstStyle/>
          <a:p>
            <a:pPr algn="ctr" indent="0" marL="0">
              <a:buNone/>
            </a:pPr>
            <a:r>
              <a:rPr lang="en-US" sz="1400" b="1" dirty="0">
                <a:solidFill>
                  <a:srgbClr val="2563EB"/>
                </a:solidFill>
              </a:rPr>
              <a:t>2</a:t>
            </a:r>
            <a:endParaRPr lang="en-US" sz="1400" dirty="0"/>
          </a:p>
        </p:txBody>
      </p:sp>
      <p:sp>
        <p:nvSpPr>
          <p:cNvPr id="12" name="Text 10"/>
          <p:cNvSpPr/>
          <p:nvPr/>
        </p:nvSpPr>
        <p:spPr>
          <a:xfrm>
            <a:off x="3374136" y="2414016"/>
            <a:ext cx="1216152" cy="658368"/>
          </a:xfrm>
          <a:prstGeom prst="rect">
            <a:avLst/>
          </a:prstGeom>
          <a:noFill/>
          <a:ln/>
        </p:spPr>
        <p:txBody>
          <a:bodyPr wrap="square" lIns="0" tIns="0" rIns="0" bIns="0" rtlCol="0" anchor="ctr"/>
          <a:lstStyle/>
          <a:p>
            <a:pPr indent="0" marL="0">
              <a:buNone/>
            </a:pPr>
            <a:r>
              <a:rPr lang="en-US" sz="1220" b="1" dirty="0">
                <a:solidFill>
                  <a:srgbClr val="17202A"/>
                </a:solidFill>
              </a:rPr>
              <a:t>Programas sencillos</a:t>
            </a:r>
            <a:endParaRPr lang="en-US" sz="1220" dirty="0"/>
          </a:p>
        </p:txBody>
      </p:sp>
      <p:sp>
        <p:nvSpPr>
          <p:cNvPr id="13" name="Shape 11"/>
          <p:cNvSpPr/>
          <p:nvPr/>
        </p:nvSpPr>
        <p:spPr>
          <a:xfrm>
            <a:off x="5084064" y="2267712"/>
            <a:ext cx="1874520" cy="1078992"/>
          </a:xfrm>
          <a:prstGeom prst="roundRect">
            <a:avLst>
              <a:gd name="adj" fmla="val 4237"/>
            </a:avLst>
          </a:prstGeom>
          <a:solidFill>
            <a:srgbClr val="FFFFFF"/>
          </a:solidFill>
          <a:ln w="12700">
            <a:solidFill>
              <a:srgbClr val="D5DEE8"/>
            </a:solidFill>
            <a:prstDash val="solid"/>
          </a:ln>
        </p:spPr>
      </p:sp>
      <p:sp>
        <p:nvSpPr>
          <p:cNvPr id="14" name="Text 12"/>
          <p:cNvSpPr/>
          <p:nvPr/>
        </p:nvSpPr>
        <p:spPr>
          <a:xfrm>
            <a:off x="5221224" y="2395728"/>
            <a:ext cx="329184" cy="256032"/>
          </a:xfrm>
          <a:prstGeom prst="rect">
            <a:avLst/>
          </a:prstGeom>
          <a:noFill/>
          <a:ln/>
        </p:spPr>
        <p:txBody>
          <a:bodyPr wrap="square" lIns="0" tIns="0" rIns="0" bIns="0" rtlCol="0" anchor="ctr"/>
          <a:lstStyle/>
          <a:p>
            <a:pPr algn="ctr" indent="0" marL="0">
              <a:buNone/>
            </a:pPr>
            <a:r>
              <a:rPr lang="en-US" sz="1400" b="1" dirty="0">
                <a:solidFill>
                  <a:srgbClr val="2563EB"/>
                </a:solidFill>
              </a:rPr>
              <a:t>3</a:t>
            </a:r>
            <a:endParaRPr lang="en-US" sz="1400" dirty="0"/>
          </a:p>
        </p:txBody>
      </p:sp>
      <p:sp>
        <p:nvSpPr>
          <p:cNvPr id="15" name="Text 13"/>
          <p:cNvSpPr/>
          <p:nvPr/>
        </p:nvSpPr>
        <p:spPr>
          <a:xfrm>
            <a:off x="5586984" y="2414016"/>
            <a:ext cx="1216152" cy="658368"/>
          </a:xfrm>
          <a:prstGeom prst="rect">
            <a:avLst/>
          </a:prstGeom>
          <a:noFill/>
          <a:ln/>
        </p:spPr>
        <p:txBody>
          <a:bodyPr wrap="square" lIns="0" tIns="0" rIns="0" bIns="0" rtlCol="0" anchor="ctr"/>
          <a:lstStyle/>
          <a:p>
            <a:pPr indent="0" marL="0">
              <a:buNone/>
            </a:pPr>
            <a:r>
              <a:rPr lang="en-US" sz="1220" b="1" dirty="0">
                <a:solidFill>
                  <a:srgbClr val="17202A"/>
                </a:solidFill>
              </a:rPr>
              <a:t>Control y depuración</a:t>
            </a:r>
            <a:endParaRPr lang="en-US" sz="1220" dirty="0"/>
          </a:p>
        </p:txBody>
      </p:sp>
      <p:sp>
        <p:nvSpPr>
          <p:cNvPr id="16" name="Shape 14"/>
          <p:cNvSpPr/>
          <p:nvPr/>
        </p:nvSpPr>
        <p:spPr>
          <a:xfrm>
            <a:off x="7296912" y="2267712"/>
            <a:ext cx="1874520" cy="1078992"/>
          </a:xfrm>
          <a:prstGeom prst="roundRect">
            <a:avLst>
              <a:gd name="adj" fmla="val 4237"/>
            </a:avLst>
          </a:prstGeom>
          <a:solidFill>
            <a:srgbClr val="FFFFFF"/>
          </a:solidFill>
          <a:ln w="12700">
            <a:solidFill>
              <a:srgbClr val="D5DEE8"/>
            </a:solidFill>
            <a:prstDash val="solid"/>
          </a:ln>
        </p:spPr>
      </p:sp>
      <p:sp>
        <p:nvSpPr>
          <p:cNvPr id="17" name="Text 15"/>
          <p:cNvSpPr/>
          <p:nvPr/>
        </p:nvSpPr>
        <p:spPr>
          <a:xfrm>
            <a:off x="7434072" y="2395728"/>
            <a:ext cx="329184" cy="256032"/>
          </a:xfrm>
          <a:prstGeom prst="rect">
            <a:avLst/>
          </a:prstGeom>
          <a:noFill/>
          <a:ln/>
        </p:spPr>
        <p:txBody>
          <a:bodyPr wrap="square" lIns="0" tIns="0" rIns="0" bIns="0" rtlCol="0" anchor="ctr"/>
          <a:lstStyle/>
          <a:p>
            <a:pPr algn="ctr" indent="0" marL="0">
              <a:buNone/>
            </a:pPr>
            <a:r>
              <a:rPr lang="en-US" sz="1400" b="1" dirty="0">
                <a:solidFill>
                  <a:srgbClr val="2563EB"/>
                </a:solidFill>
              </a:rPr>
              <a:t>4</a:t>
            </a:r>
            <a:endParaRPr lang="en-US" sz="1400" dirty="0"/>
          </a:p>
        </p:txBody>
      </p:sp>
      <p:sp>
        <p:nvSpPr>
          <p:cNvPr id="18" name="Text 16"/>
          <p:cNvSpPr/>
          <p:nvPr/>
        </p:nvSpPr>
        <p:spPr>
          <a:xfrm>
            <a:off x="7799832" y="2414016"/>
            <a:ext cx="1216152" cy="658368"/>
          </a:xfrm>
          <a:prstGeom prst="rect">
            <a:avLst/>
          </a:prstGeom>
          <a:noFill/>
          <a:ln/>
        </p:spPr>
        <p:txBody>
          <a:bodyPr wrap="square" lIns="0" tIns="0" rIns="0" bIns="0" rtlCol="0" anchor="ctr"/>
          <a:lstStyle/>
          <a:p>
            <a:pPr indent="0" marL="0">
              <a:buNone/>
            </a:pPr>
            <a:r>
              <a:rPr lang="en-US" sz="1220" b="1" dirty="0">
                <a:solidFill>
                  <a:srgbClr val="17202A"/>
                </a:solidFill>
              </a:rPr>
              <a:t>Clases</a:t>
            </a:r>
            <a:endParaRPr lang="en-US" sz="1220" dirty="0"/>
          </a:p>
        </p:txBody>
      </p:sp>
      <p:sp>
        <p:nvSpPr>
          <p:cNvPr id="19" name="Shape 17"/>
          <p:cNvSpPr/>
          <p:nvPr/>
        </p:nvSpPr>
        <p:spPr>
          <a:xfrm>
            <a:off x="9509760" y="2267712"/>
            <a:ext cx="1874520" cy="1078992"/>
          </a:xfrm>
          <a:prstGeom prst="roundRect">
            <a:avLst>
              <a:gd name="adj" fmla="val 4237"/>
            </a:avLst>
          </a:prstGeom>
          <a:solidFill>
            <a:srgbClr val="FFFFFF"/>
          </a:solidFill>
          <a:ln w="12700">
            <a:solidFill>
              <a:srgbClr val="D5DEE8"/>
            </a:solidFill>
            <a:prstDash val="solid"/>
          </a:ln>
        </p:spPr>
      </p:sp>
      <p:sp>
        <p:nvSpPr>
          <p:cNvPr id="20" name="Text 18"/>
          <p:cNvSpPr/>
          <p:nvPr/>
        </p:nvSpPr>
        <p:spPr>
          <a:xfrm>
            <a:off x="9646920" y="2395728"/>
            <a:ext cx="329184" cy="256032"/>
          </a:xfrm>
          <a:prstGeom prst="rect">
            <a:avLst/>
          </a:prstGeom>
          <a:noFill/>
          <a:ln/>
        </p:spPr>
        <p:txBody>
          <a:bodyPr wrap="square" lIns="0" tIns="0" rIns="0" bIns="0" rtlCol="0" anchor="ctr"/>
          <a:lstStyle/>
          <a:p>
            <a:pPr algn="ctr" indent="0" marL="0">
              <a:buNone/>
            </a:pPr>
            <a:r>
              <a:rPr lang="en-US" sz="1400" b="1" dirty="0">
                <a:solidFill>
                  <a:srgbClr val="2563EB"/>
                </a:solidFill>
              </a:rPr>
              <a:t>5</a:t>
            </a:r>
            <a:endParaRPr lang="en-US" sz="1400" dirty="0"/>
          </a:p>
        </p:txBody>
      </p:sp>
      <p:sp>
        <p:nvSpPr>
          <p:cNvPr id="21" name="Text 19"/>
          <p:cNvSpPr/>
          <p:nvPr/>
        </p:nvSpPr>
        <p:spPr>
          <a:xfrm>
            <a:off x="10012680" y="2414016"/>
            <a:ext cx="1216152" cy="658368"/>
          </a:xfrm>
          <a:prstGeom prst="rect">
            <a:avLst/>
          </a:prstGeom>
          <a:noFill/>
          <a:ln/>
        </p:spPr>
        <p:txBody>
          <a:bodyPr wrap="square" lIns="0" tIns="0" rIns="0" bIns="0" rtlCol="0" anchor="ctr"/>
          <a:lstStyle/>
          <a:p>
            <a:pPr indent="0" marL="0">
              <a:buNone/>
            </a:pPr>
            <a:r>
              <a:rPr lang="en-US" sz="1220" b="1" dirty="0">
                <a:solidFill>
                  <a:srgbClr val="17202A"/>
                </a:solidFill>
              </a:rPr>
              <a:t>Entrada y salida</a:t>
            </a:r>
            <a:endParaRPr lang="en-US" sz="1220" dirty="0"/>
          </a:p>
        </p:txBody>
      </p:sp>
      <p:sp>
        <p:nvSpPr>
          <p:cNvPr id="22" name="Shape 20"/>
          <p:cNvSpPr/>
          <p:nvPr/>
        </p:nvSpPr>
        <p:spPr>
          <a:xfrm>
            <a:off x="658368" y="3712464"/>
            <a:ext cx="1874520" cy="1078992"/>
          </a:xfrm>
          <a:prstGeom prst="roundRect">
            <a:avLst>
              <a:gd name="adj" fmla="val 4237"/>
            </a:avLst>
          </a:prstGeom>
          <a:solidFill>
            <a:srgbClr val="FFFFFF"/>
          </a:solidFill>
          <a:ln w="12700">
            <a:solidFill>
              <a:srgbClr val="D5DEE8"/>
            </a:solidFill>
            <a:prstDash val="solid"/>
          </a:ln>
        </p:spPr>
      </p:sp>
      <p:sp>
        <p:nvSpPr>
          <p:cNvPr id="23" name="Text 21"/>
          <p:cNvSpPr/>
          <p:nvPr/>
        </p:nvSpPr>
        <p:spPr>
          <a:xfrm>
            <a:off x="795528" y="3840480"/>
            <a:ext cx="329184" cy="256032"/>
          </a:xfrm>
          <a:prstGeom prst="rect">
            <a:avLst/>
          </a:prstGeom>
          <a:noFill/>
          <a:ln/>
        </p:spPr>
        <p:txBody>
          <a:bodyPr wrap="square" lIns="0" tIns="0" rIns="0" bIns="0" rtlCol="0" anchor="ctr"/>
          <a:lstStyle/>
          <a:p>
            <a:pPr algn="ctr" indent="0" marL="0">
              <a:buNone/>
            </a:pPr>
            <a:r>
              <a:rPr lang="en-US" sz="1400" b="1" dirty="0">
                <a:solidFill>
                  <a:srgbClr val="2563EB"/>
                </a:solidFill>
              </a:rPr>
              <a:t>6</a:t>
            </a:r>
            <a:endParaRPr lang="en-US" sz="1400" dirty="0"/>
          </a:p>
        </p:txBody>
      </p:sp>
      <p:sp>
        <p:nvSpPr>
          <p:cNvPr id="24" name="Text 22"/>
          <p:cNvSpPr/>
          <p:nvPr/>
        </p:nvSpPr>
        <p:spPr>
          <a:xfrm>
            <a:off x="1161288" y="3858768"/>
            <a:ext cx="1216152" cy="658368"/>
          </a:xfrm>
          <a:prstGeom prst="rect">
            <a:avLst/>
          </a:prstGeom>
          <a:noFill/>
          <a:ln/>
        </p:spPr>
        <p:txBody>
          <a:bodyPr wrap="square" lIns="0" tIns="0" rIns="0" bIns="0" rtlCol="0" anchor="ctr"/>
          <a:lstStyle/>
          <a:p>
            <a:pPr indent="0" marL="0">
              <a:buNone/>
            </a:pPr>
            <a:r>
              <a:rPr lang="en-US" sz="1220" b="1" dirty="0">
                <a:solidFill>
                  <a:srgbClr val="17202A"/>
                </a:solidFill>
              </a:rPr>
              <a:t>Datos avanzados</a:t>
            </a:r>
            <a:endParaRPr lang="en-US" sz="1220" dirty="0"/>
          </a:p>
        </p:txBody>
      </p:sp>
      <p:sp>
        <p:nvSpPr>
          <p:cNvPr id="25" name="Shape 23"/>
          <p:cNvSpPr/>
          <p:nvPr/>
        </p:nvSpPr>
        <p:spPr>
          <a:xfrm>
            <a:off x="2871216" y="3712464"/>
            <a:ext cx="1874520" cy="1078992"/>
          </a:xfrm>
          <a:prstGeom prst="roundRect">
            <a:avLst>
              <a:gd name="adj" fmla="val 4237"/>
            </a:avLst>
          </a:prstGeom>
          <a:solidFill>
            <a:srgbClr val="FFFFFF"/>
          </a:solidFill>
          <a:ln w="12700">
            <a:solidFill>
              <a:srgbClr val="D5DEE8"/>
            </a:solidFill>
            <a:prstDash val="solid"/>
          </a:ln>
        </p:spPr>
      </p:sp>
      <p:sp>
        <p:nvSpPr>
          <p:cNvPr id="26" name="Text 24"/>
          <p:cNvSpPr/>
          <p:nvPr/>
        </p:nvSpPr>
        <p:spPr>
          <a:xfrm>
            <a:off x="3008376" y="3840480"/>
            <a:ext cx="329184" cy="256032"/>
          </a:xfrm>
          <a:prstGeom prst="rect">
            <a:avLst/>
          </a:prstGeom>
          <a:noFill/>
          <a:ln/>
        </p:spPr>
        <p:txBody>
          <a:bodyPr wrap="square" lIns="0" tIns="0" rIns="0" bIns="0" rtlCol="0" anchor="ctr"/>
          <a:lstStyle/>
          <a:p>
            <a:pPr algn="ctr" indent="0" marL="0">
              <a:buNone/>
            </a:pPr>
            <a:r>
              <a:rPr lang="en-US" sz="1400" b="1" dirty="0">
                <a:solidFill>
                  <a:srgbClr val="D97706"/>
                </a:solidFill>
              </a:rPr>
              <a:t>7</a:t>
            </a:r>
            <a:endParaRPr lang="en-US" sz="1400" dirty="0"/>
          </a:p>
        </p:txBody>
      </p:sp>
      <p:sp>
        <p:nvSpPr>
          <p:cNvPr id="27" name="Text 25"/>
          <p:cNvSpPr/>
          <p:nvPr/>
        </p:nvSpPr>
        <p:spPr>
          <a:xfrm>
            <a:off x="3374136" y="3858768"/>
            <a:ext cx="1216152" cy="658368"/>
          </a:xfrm>
          <a:prstGeom prst="rect">
            <a:avLst/>
          </a:prstGeom>
          <a:noFill/>
          <a:ln/>
        </p:spPr>
        <p:txBody>
          <a:bodyPr wrap="square" lIns="0" tIns="0" rIns="0" bIns="0" rtlCol="0" anchor="ctr"/>
          <a:lstStyle/>
          <a:p>
            <a:pPr indent="0" marL="0">
              <a:buNone/>
            </a:pPr>
            <a:r>
              <a:rPr lang="en-US" sz="1220" b="1" dirty="0">
                <a:solidFill>
                  <a:srgbClr val="17202A"/>
                </a:solidFill>
              </a:rPr>
              <a:t>POO avanzada</a:t>
            </a:r>
            <a:endParaRPr lang="en-US" sz="1220" dirty="0"/>
          </a:p>
        </p:txBody>
      </p:sp>
      <p:sp>
        <p:nvSpPr>
          <p:cNvPr id="28" name="Shape 26"/>
          <p:cNvSpPr/>
          <p:nvPr/>
        </p:nvSpPr>
        <p:spPr>
          <a:xfrm>
            <a:off x="5084064" y="3712464"/>
            <a:ext cx="1874520" cy="1078992"/>
          </a:xfrm>
          <a:prstGeom prst="roundRect">
            <a:avLst>
              <a:gd name="adj" fmla="val 4237"/>
            </a:avLst>
          </a:prstGeom>
          <a:solidFill>
            <a:srgbClr val="FFFFFF"/>
          </a:solidFill>
          <a:ln w="12700">
            <a:solidFill>
              <a:srgbClr val="D5DEE8"/>
            </a:solidFill>
            <a:prstDash val="solid"/>
          </a:ln>
        </p:spPr>
      </p:sp>
      <p:sp>
        <p:nvSpPr>
          <p:cNvPr id="29" name="Text 27"/>
          <p:cNvSpPr/>
          <p:nvPr/>
        </p:nvSpPr>
        <p:spPr>
          <a:xfrm>
            <a:off x="5221224" y="3840480"/>
            <a:ext cx="329184" cy="256032"/>
          </a:xfrm>
          <a:prstGeom prst="rect">
            <a:avLst/>
          </a:prstGeom>
          <a:noFill/>
          <a:ln/>
        </p:spPr>
        <p:txBody>
          <a:bodyPr wrap="square" lIns="0" tIns="0" rIns="0" bIns="0" rtlCol="0" anchor="ctr"/>
          <a:lstStyle/>
          <a:p>
            <a:pPr algn="ctr" indent="0" marL="0">
              <a:buNone/>
            </a:pPr>
            <a:r>
              <a:rPr lang="en-US" sz="1400" b="1" dirty="0">
                <a:solidFill>
                  <a:srgbClr val="D97706"/>
                </a:solidFill>
              </a:rPr>
              <a:t>8</a:t>
            </a:r>
            <a:endParaRPr lang="en-US" sz="1400" dirty="0"/>
          </a:p>
        </p:txBody>
      </p:sp>
      <p:sp>
        <p:nvSpPr>
          <p:cNvPr id="30" name="Text 28"/>
          <p:cNvSpPr/>
          <p:nvPr/>
        </p:nvSpPr>
        <p:spPr>
          <a:xfrm>
            <a:off x="5586984" y="3858768"/>
            <a:ext cx="1216152" cy="658368"/>
          </a:xfrm>
          <a:prstGeom prst="rect">
            <a:avLst/>
          </a:prstGeom>
          <a:noFill/>
          <a:ln/>
        </p:spPr>
        <p:txBody>
          <a:bodyPr wrap="square" lIns="0" tIns="0" rIns="0" bIns="0" rtlCol="0" anchor="ctr"/>
          <a:lstStyle/>
          <a:p>
            <a:pPr indent="0" marL="0">
              <a:buNone/>
            </a:pPr>
            <a:r>
              <a:rPr lang="en-US" sz="1220" b="1" dirty="0">
                <a:solidFill>
                  <a:srgbClr val="17202A"/>
                </a:solidFill>
              </a:rPr>
              <a:t>Persistencia OO</a:t>
            </a:r>
            <a:endParaRPr lang="en-US" sz="1220" dirty="0"/>
          </a:p>
        </p:txBody>
      </p:sp>
      <p:sp>
        <p:nvSpPr>
          <p:cNvPr id="31" name="Shape 29"/>
          <p:cNvSpPr/>
          <p:nvPr/>
        </p:nvSpPr>
        <p:spPr>
          <a:xfrm>
            <a:off x="7296912" y="3712464"/>
            <a:ext cx="1874520" cy="1078992"/>
          </a:xfrm>
          <a:prstGeom prst="roundRect">
            <a:avLst>
              <a:gd name="adj" fmla="val 4237"/>
            </a:avLst>
          </a:prstGeom>
          <a:solidFill>
            <a:srgbClr val="FFFFFF"/>
          </a:solidFill>
          <a:ln w="12700">
            <a:solidFill>
              <a:srgbClr val="D5DEE8"/>
            </a:solidFill>
            <a:prstDash val="solid"/>
          </a:ln>
        </p:spPr>
      </p:sp>
      <p:sp>
        <p:nvSpPr>
          <p:cNvPr id="32" name="Text 30"/>
          <p:cNvSpPr/>
          <p:nvPr/>
        </p:nvSpPr>
        <p:spPr>
          <a:xfrm>
            <a:off x="7434072" y="3840480"/>
            <a:ext cx="329184" cy="256032"/>
          </a:xfrm>
          <a:prstGeom prst="rect">
            <a:avLst/>
          </a:prstGeom>
          <a:noFill/>
          <a:ln/>
        </p:spPr>
        <p:txBody>
          <a:bodyPr wrap="square" lIns="0" tIns="0" rIns="0" bIns="0" rtlCol="0" anchor="ctr"/>
          <a:lstStyle/>
          <a:p>
            <a:pPr algn="ctr" indent="0" marL="0">
              <a:buNone/>
            </a:pPr>
            <a:r>
              <a:rPr lang="en-US" sz="1400" b="1" dirty="0">
                <a:solidFill>
                  <a:srgbClr val="D97706"/>
                </a:solidFill>
              </a:rPr>
              <a:t>9</a:t>
            </a:r>
            <a:endParaRPr lang="en-US" sz="1400" dirty="0"/>
          </a:p>
        </p:txBody>
      </p:sp>
      <p:sp>
        <p:nvSpPr>
          <p:cNvPr id="33" name="Text 31"/>
          <p:cNvSpPr/>
          <p:nvPr/>
        </p:nvSpPr>
        <p:spPr>
          <a:xfrm>
            <a:off x="7799832" y="3858768"/>
            <a:ext cx="1216152" cy="658368"/>
          </a:xfrm>
          <a:prstGeom prst="rect">
            <a:avLst/>
          </a:prstGeom>
          <a:noFill/>
          <a:ln/>
        </p:spPr>
        <p:txBody>
          <a:bodyPr wrap="square" lIns="0" tIns="0" rIns="0" bIns="0" rtlCol="0" anchor="ctr"/>
          <a:lstStyle/>
          <a:p>
            <a:pPr indent="0" marL="0">
              <a:buNone/>
            </a:pPr>
            <a:r>
              <a:rPr lang="en-US" sz="1220" b="1" dirty="0">
                <a:solidFill>
                  <a:srgbClr val="17202A"/>
                </a:solidFill>
              </a:rPr>
              <a:t>Integridad de datos</a:t>
            </a:r>
            <a:endParaRPr lang="en-US" sz="1220" dirty="0"/>
          </a:p>
        </p:txBody>
      </p:sp>
      <p:sp>
        <p:nvSpPr>
          <p:cNvPr id="34" name="Text 32"/>
          <p:cNvSpPr/>
          <p:nvPr/>
        </p:nvSpPr>
        <p:spPr>
          <a:xfrm>
            <a:off x="667512" y="5276088"/>
            <a:ext cx="10789920" cy="429768"/>
          </a:xfrm>
          <a:prstGeom prst="rect">
            <a:avLst/>
          </a:prstGeom>
          <a:noFill/>
          <a:ln/>
        </p:spPr>
        <p:txBody>
          <a:bodyPr wrap="square" lIns="0" tIns="0" rIns="0" bIns="0" rtlCol="0" anchor="ctr"/>
          <a:lstStyle/>
          <a:p>
            <a:pPr indent="0" marL="0">
              <a:buNone/>
            </a:pPr>
            <a:r>
              <a:rPr lang="en-US" sz="1350" b="1" dirty="0">
                <a:solidFill>
                  <a:srgbClr val="17324D"/>
                </a:solidFill>
              </a:rPr>
              <a:t>RA1–RA6: núcleo de progreso  ·  RA7–RA9: visibles, con alcance adaptable al progreso real</a:t>
            </a:r>
            <a:endParaRPr lang="en-US" sz="1350" dirty="0"/>
          </a:p>
        </p:txBody>
      </p:sp>
      <p:sp>
        <p:nvSpPr>
          <p:cNvPr id="25" name="Slide Number Placeholder 0"/>
          <p:cNvSpPr>
            <a:spLocks noGrp="1"/>
          </p:cNvSpPr>
          <p:nvPr>
            <p:ph type="sldNum" sz="quarter" idx="4294967295"/>
          </p:nvPr>
        </p:nvSpPr>
        <p:spPr>
          <a:xfrm>
            <a:off x="11228832" y="6492240"/>
            <a:ext cx="411480" cy="201168"/>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rgbClr val="64748B"/>
                </a:solidFill>
                <a:latin typeface="Aptos"/>
                <a:ea typeface="Aptos"/>
                <a:cs typeface="Apto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84048"/>
            <a:ext cx="4389120" cy="256032"/>
          </a:xfrm>
          <a:prstGeom prst="rect">
            <a:avLst/>
          </a:prstGeom>
          <a:noFill/>
          <a:ln/>
        </p:spPr>
        <p:txBody>
          <a:bodyPr wrap="square" lIns="0" tIns="0" rIns="0" bIns="0" rtlCol="0" anchor="ctr"/>
          <a:lstStyle/>
          <a:p>
            <a:pPr indent="0" marL="0">
              <a:buNone/>
            </a:pPr>
            <a:r>
              <a:rPr lang="en-US" sz="1100" b="1" spc="70" kern="0" dirty="0">
                <a:solidFill>
                  <a:srgbClr val="0F766E"/>
                </a:solidFill>
              </a:rPr>
              <a:t>PROGRAMACIÓN · 1.º DAW</a:t>
            </a:r>
            <a:endParaRPr lang="en-US" sz="1100" dirty="0"/>
          </a:p>
        </p:txBody>
      </p:sp>
      <p:sp>
        <p:nvSpPr>
          <p:cNvPr id="3" name="Text 1"/>
          <p:cNvSpPr/>
          <p:nvPr/>
        </p:nvSpPr>
        <p:spPr>
          <a:xfrm>
            <a:off x="548640" y="749808"/>
            <a:ext cx="9784080" cy="621792"/>
          </a:xfrm>
          <a:prstGeom prst="rect">
            <a:avLst/>
          </a:prstGeom>
          <a:noFill/>
          <a:ln/>
        </p:spPr>
        <p:txBody>
          <a:bodyPr wrap="square" lIns="0" tIns="0" rIns="0" bIns="0" rtlCol="0" anchor="ctr"/>
          <a:lstStyle/>
          <a:p>
            <a:pPr indent="0" marL="0">
              <a:buNone/>
            </a:pPr>
            <a:r>
              <a:rPr lang="en-US" sz="2700" b="1" dirty="0">
                <a:solidFill>
                  <a:srgbClr val="17202A"/>
                </a:solidFill>
              </a:rPr>
              <a:t>RA1 y RA2: empezar a programar</a:t>
            </a:r>
            <a:endParaRPr lang="en-US" sz="2700" dirty="0"/>
          </a:p>
        </p:txBody>
      </p:sp>
      <p:sp>
        <p:nvSpPr>
          <p:cNvPr id="4" name="Shape 2"/>
          <p:cNvSpPr/>
          <p:nvPr/>
        </p:nvSpPr>
        <p:spPr>
          <a:xfrm>
            <a:off x="10405872" y="411480"/>
            <a:ext cx="1234440" cy="347472"/>
          </a:xfrm>
          <a:prstGeom prst="roundRect">
            <a:avLst>
              <a:gd name="adj" fmla="val 18421"/>
            </a:avLst>
          </a:prstGeom>
          <a:solidFill>
            <a:srgbClr val="DDEAF7"/>
          </a:solidFill>
          <a:ln w="12700">
            <a:solidFill>
              <a:srgbClr val="8AB4E6"/>
            </a:solidFill>
            <a:prstDash val="solid"/>
          </a:ln>
        </p:spPr>
      </p:sp>
      <p:sp>
        <p:nvSpPr>
          <p:cNvPr id="5" name="Text 3"/>
          <p:cNvSpPr/>
          <p:nvPr/>
        </p:nvSpPr>
        <p:spPr>
          <a:xfrm>
            <a:off x="10405872" y="470916"/>
            <a:ext cx="1234440" cy="182880"/>
          </a:xfrm>
          <a:prstGeom prst="rect">
            <a:avLst/>
          </a:prstGeom>
          <a:noFill/>
          <a:ln/>
        </p:spPr>
        <p:txBody>
          <a:bodyPr wrap="square" lIns="0" tIns="0" rIns="0" bIns="0" rtlCol="0" anchor="ctr"/>
          <a:lstStyle/>
          <a:p>
            <a:pPr algn="ctr" indent="0" marL="0">
              <a:buNone/>
            </a:pPr>
            <a:r>
              <a:rPr lang="en-US" sz="950" b="1" dirty="0">
                <a:solidFill>
                  <a:srgbClr val="2563EB"/>
                </a:solidFill>
              </a:rPr>
              <a:t>MÓDULO</a:t>
            </a:r>
            <a:endParaRPr lang="en-US" sz="950" dirty="0"/>
          </a:p>
        </p:txBody>
      </p:sp>
      <p:sp>
        <p:nvSpPr>
          <p:cNvPr id="6" name="Shape 4"/>
          <p:cNvSpPr/>
          <p:nvPr/>
        </p:nvSpPr>
        <p:spPr>
          <a:xfrm>
            <a:off x="621792" y="1508760"/>
            <a:ext cx="5440680" cy="3438144"/>
          </a:xfrm>
          <a:prstGeom prst="roundRect">
            <a:avLst>
              <a:gd name="adj" fmla="val 1596"/>
            </a:avLst>
          </a:prstGeom>
          <a:solidFill>
            <a:srgbClr val="FFFFFF"/>
          </a:solidFill>
          <a:ln w="13970">
            <a:solidFill>
              <a:srgbClr val="D4DDE7"/>
            </a:solidFill>
            <a:prstDash val="solid"/>
          </a:ln>
        </p:spPr>
      </p:sp>
      <p:sp>
        <p:nvSpPr>
          <p:cNvPr id="7" name="Shape 5"/>
          <p:cNvSpPr/>
          <p:nvPr/>
        </p:nvSpPr>
        <p:spPr>
          <a:xfrm>
            <a:off x="822960" y="1709928"/>
            <a:ext cx="658368" cy="475488"/>
          </a:xfrm>
          <a:prstGeom prst="roundRect">
            <a:avLst>
              <a:gd name="adj" fmla="val 11538"/>
            </a:avLst>
          </a:prstGeom>
          <a:solidFill>
            <a:srgbClr val="2563EB"/>
          </a:solidFill>
          <a:ln w="12700">
            <a:solidFill>
              <a:srgbClr val="2563EB"/>
            </a:solidFill>
            <a:prstDash val="solid"/>
          </a:ln>
        </p:spPr>
      </p:sp>
      <p:sp>
        <p:nvSpPr>
          <p:cNvPr id="8" name="Text 6"/>
          <p:cNvSpPr/>
          <p:nvPr/>
        </p:nvSpPr>
        <p:spPr>
          <a:xfrm>
            <a:off x="822960" y="1810512"/>
            <a:ext cx="658368" cy="201168"/>
          </a:xfrm>
          <a:prstGeom prst="rect">
            <a:avLst/>
          </a:prstGeom>
          <a:noFill/>
          <a:ln/>
        </p:spPr>
        <p:txBody>
          <a:bodyPr wrap="square" lIns="0" tIns="0" rIns="0" bIns="0" rtlCol="0" anchor="ctr"/>
          <a:lstStyle/>
          <a:p>
            <a:pPr algn="ctr" indent="0" marL="0">
              <a:buNone/>
            </a:pPr>
            <a:r>
              <a:rPr lang="en-US" sz="1200" b="1" dirty="0">
                <a:solidFill>
                  <a:srgbClr val="FFFFFF"/>
                </a:solidFill>
              </a:rPr>
              <a:t>RA1</a:t>
            </a:r>
            <a:endParaRPr lang="en-US" sz="1200" dirty="0"/>
          </a:p>
        </p:txBody>
      </p:sp>
      <p:sp>
        <p:nvSpPr>
          <p:cNvPr id="9" name="Text 7"/>
          <p:cNvSpPr/>
          <p:nvPr/>
        </p:nvSpPr>
        <p:spPr>
          <a:xfrm>
            <a:off x="1609344" y="1673352"/>
            <a:ext cx="4233672" cy="2569464"/>
          </a:xfrm>
          <a:prstGeom prst="rect">
            <a:avLst/>
          </a:prstGeom>
          <a:noFill/>
          <a:ln/>
        </p:spPr>
        <p:txBody>
          <a:bodyPr wrap="square" lIns="0" tIns="0" rIns="0" bIns="0" rtlCol="0" anchor="ctr"/>
          <a:lstStyle/>
          <a:p>
            <a:pPr indent="0" marL="0">
              <a:buNone/>
            </a:pPr>
            <a:r>
              <a:rPr lang="en-US" sz="1300" dirty="0">
                <a:solidFill>
                  <a:srgbClr val="17202A"/>
                </a:solidFill>
              </a:rPr>
              <a:t>«Reconoce la estructura de un programa informático, identificando y relacionando los elementos propios del lenguaje de programación utilizado.»</a:t>
            </a:r>
            <a:endParaRPr lang="en-US" sz="1300" dirty="0"/>
          </a:p>
        </p:txBody>
      </p:sp>
      <p:sp>
        <p:nvSpPr>
          <p:cNvPr id="10" name="Shape 8"/>
          <p:cNvSpPr/>
          <p:nvPr/>
        </p:nvSpPr>
        <p:spPr>
          <a:xfrm>
            <a:off x="822960" y="4306824"/>
            <a:ext cx="5038344" cy="0"/>
          </a:xfrm>
          <a:prstGeom prst="line">
            <a:avLst/>
          </a:prstGeom>
          <a:noFill/>
          <a:ln w="12700">
            <a:solidFill>
              <a:srgbClr val="DDE4EC"/>
            </a:solidFill>
            <a:prstDash val="solid"/>
          </a:ln>
        </p:spPr>
      </p:sp>
      <p:sp>
        <p:nvSpPr>
          <p:cNvPr id="11" name="Text 9"/>
          <p:cNvSpPr/>
          <p:nvPr/>
        </p:nvSpPr>
        <p:spPr>
          <a:xfrm>
            <a:off x="841248" y="4443984"/>
            <a:ext cx="5001768" cy="310896"/>
          </a:xfrm>
          <a:prstGeom prst="rect">
            <a:avLst/>
          </a:prstGeom>
          <a:noFill/>
          <a:ln/>
        </p:spPr>
        <p:txBody>
          <a:bodyPr wrap="square" lIns="0" tIns="0" rIns="0" bIns="0" rtlCol="0" anchor="ctr"/>
          <a:lstStyle/>
          <a:p>
            <a:pPr indent="0" marL="0">
              <a:buNone/>
            </a:pPr>
            <a:r>
              <a:rPr lang="en-US" sz="1100" b="1" dirty="0">
                <a:solidFill>
                  <a:srgbClr val="2563EB"/>
                </a:solidFill>
              </a:rPr>
              <a:t>Reconocer las piezas de un programa y cómo se relacionan.</a:t>
            </a:r>
            <a:endParaRPr lang="en-US" sz="1100" dirty="0"/>
          </a:p>
        </p:txBody>
      </p:sp>
      <p:sp>
        <p:nvSpPr>
          <p:cNvPr id="12" name="Shape 10"/>
          <p:cNvSpPr/>
          <p:nvPr/>
        </p:nvSpPr>
        <p:spPr>
          <a:xfrm>
            <a:off x="6144768" y="1508760"/>
            <a:ext cx="5440680" cy="3438144"/>
          </a:xfrm>
          <a:prstGeom prst="roundRect">
            <a:avLst>
              <a:gd name="adj" fmla="val 1596"/>
            </a:avLst>
          </a:prstGeom>
          <a:solidFill>
            <a:srgbClr val="FFFFFF"/>
          </a:solidFill>
          <a:ln w="13970">
            <a:solidFill>
              <a:srgbClr val="D4DDE7"/>
            </a:solidFill>
            <a:prstDash val="solid"/>
          </a:ln>
        </p:spPr>
      </p:sp>
      <p:sp>
        <p:nvSpPr>
          <p:cNvPr id="13" name="Shape 11"/>
          <p:cNvSpPr/>
          <p:nvPr/>
        </p:nvSpPr>
        <p:spPr>
          <a:xfrm>
            <a:off x="6345936" y="1709928"/>
            <a:ext cx="658368" cy="475488"/>
          </a:xfrm>
          <a:prstGeom prst="roundRect">
            <a:avLst>
              <a:gd name="adj" fmla="val 11538"/>
            </a:avLst>
          </a:prstGeom>
          <a:solidFill>
            <a:srgbClr val="0F766E"/>
          </a:solidFill>
          <a:ln w="12700">
            <a:solidFill>
              <a:srgbClr val="0F766E"/>
            </a:solidFill>
            <a:prstDash val="solid"/>
          </a:ln>
        </p:spPr>
      </p:sp>
      <p:sp>
        <p:nvSpPr>
          <p:cNvPr id="14" name="Text 12"/>
          <p:cNvSpPr/>
          <p:nvPr/>
        </p:nvSpPr>
        <p:spPr>
          <a:xfrm>
            <a:off x="6345936" y="1810512"/>
            <a:ext cx="658368" cy="201168"/>
          </a:xfrm>
          <a:prstGeom prst="rect">
            <a:avLst/>
          </a:prstGeom>
          <a:noFill/>
          <a:ln/>
        </p:spPr>
        <p:txBody>
          <a:bodyPr wrap="square" lIns="0" tIns="0" rIns="0" bIns="0" rtlCol="0" anchor="ctr"/>
          <a:lstStyle/>
          <a:p>
            <a:pPr algn="ctr" indent="0" marL="0">
              <a:buNone/>
            </a:pPr>
            <a:r>
              <a:rPr lang="en-US" sz="1200" b="1" dirty="0">
                <a:solidFill>
                  <a:srgbClr val="FFFFFF"/>
                </a:solidFill>
              </a:rPr>
              <a:t>RA2</a:t>
            </a:r>
            <a:endParaRPr lang="en-US" sz="1200" dirty="0"/>
          </a:p>
        </p:txBody>
      </p:sp>
      <p:sp>
        <p:nvSpPr>
          <p:cNvPr id="15" name="Text 13"/>
          <p:cNvSpPr/>
          <p:nvPr/>
        </p:nvSpPr>
        <p:spPr>
          <a:xfrm>
            <a:off x="7132320" y="1673352"/>
            <a:ext cx="4233672" cy="2569464"/>
          </a:xfrm>
          <a:prstGeom prst="rect">
            <a:avLst/>
          </a:prstGeom>
          <a:noFill/>
          <a:ln/>
        </p:spPr>
        <p:txBody>
          <a:bodyPr wrap="square" lIns="0" tIns="0" rIns="0" bIns="0" rtlCol="0" anchor="ctr"/>
          <a:lstStyle/>
          <a:p>
            <a:pPr indent="0" marL="0">
              <a:buNone/>
            </a:pPr>
            <a:r>
              <a:rPr lang="en-US" sz="1300" dirty="0">
                <a:solidFill>
                  <a:srgbClr val="17202A"/>
                </a:solidFill>
              </a:rPr>
              <a:t>«Escribe y prueba programas sencillos, reconociendo y aplicando los fundamentos de la programación orientada a objetos.»</a:t>
            </a:r>
            <a:endParaRPr lang="en-US" sz="1300" dirty="0"/>
          </a:p>
        </p:txBody>
      </p:sp>
      <p:sp>
        <p:nvSpPr>
          <p:cNvPr id="16" name="Shape 14"/>
          <p:cNvSpPr/>
          <p:nvPr/>
        </p:nvSpPr>
        <p:spPr>
          <a:xfrm>
            <a:off x="6345936" y="4306824"/>
            <a:ext cx="5038344" cy="0"/>
          </a:xfrm>
          <a:prstGeom prst="line">
            <a:avLst/>
          </a:prstGeom>
          <a:noFill/>
          <a:ln w="12700">
            <a:solidFill>
              <a:srgbClr val="DDE4EC"/>
            </a:solidFill>
            <a:prstDash val="solid"/>
          </a:ln>
        </p:spPr>
      </p:sp>
      <p:sp>
        <p:nvSpPr>
          <p:cNvPr id="17" name="Text 15"/>
          <p:cNvSpPr/>
          <p:nvPr/>
        </p:nvSpPr>
        <p:spPr>
          <a:xfrm>
            <a:off x="6364224" y="4443984"/>
            <a:ext cx="5001768" cy="310896"/>
          </a:xfrm>
          <a:prstGeom prst="rect">
            <a:avLst/>
          </a:prstGeom>
          <a:noFill/>
          <a:ln/>
        </p:spPr>
        <p:txBody>
          <a:bodyPr wrap="square" lIns="0" tIns="0" rIns="0" bIns="0" rtlCol="0" anchor="ctr"/>
          <a:lstStyle/>
          <a:p>
            <a:pPr indent="0" marL="0">
              <a:buNone/>
            </a:pPr>
            <a:r>
              <a:rPr lang="en-US" sz="1100" b="1" dirty="0">
                <a:solidFill>
                  <a:srgbClr val="0F766E"/>
                </a:solidFill>
              </a:rPr>
              <a:t>Crear las primeras versiones ejecutables y probarlas.</a:t>
            </a:r>
            <a:endParaRPr lang="en-US" sz="1100" dirty="0"/>
          </a:p>
        </p:txBody>
      </p:sp>
      <p:sp>
        <p:nvSpPr>
          <p:cNvPr id="18" name="Text 16"/>
          <p:cNvSpPr/>
          <p:nvPr/>
        </p:nvSpPr>
        <p:spPr>
          <a:xfrm>
            <a:off x="658368" y="5257800"/>
            <a:ext cx="10607040" cy="411480"/>
          </a:xfrm>
          <a:prstGeom prst="rect">
            <a:avLst/>
          </a:prstGeom>
          <a:noFill/>
          <a:ln/>
        </p:spPr>
        <p:txBody>
          <a:bodyPr wrap="square" lIns="0" tIns="0" rIns="0" bIns="0" rtlCol="0" anchor="ctr"/>
          <a:lstStyle/>
          <a:p>
            <a:pPr indent="0" marL="0">
              <a:buNone/>
            </a:pPr>
            <a:r>
              <a:rPr lang="en-US" sz="1350" b="1" dirty="0">
                <a:solidFill>
                  <a:srgbClr val="17324D"/>
                </a:solidFill>
              </a:rPr>
              <a:t>La redacción formal se mantiene. La traducción ayuda a saber qué tendrás que hacer.</a:t>
            </a:r>
            <a:endParaRPr lang="en-US" sz="1350" dirty="0"/>
          </a:p>
        </p:txBody>
      </p:sp>
      <p:sp>
        <p:nvSpPr>
          <p:cNvPr id="25" name="Slide Number Placeholder 0"/>
          <p:cNvSpPr>
            <a:spLocks noGrp="1"/>
          </p:cNvSpPr>
          <p:nvPr>
            <p:ph type="sldNum" sz="quarter" idx="4294967295"/>
          </p:nvPr>
        </p:nvSpPr>
        <p:spPr>
          <a:xfrm>
            <a:off x="11228832" y="6492240"/>
            <a:ext cx="411480" cy="201168"/>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rgbClr val="64748B"/>
                </a:solidFill>
                <a:latin typeface="Aptos"/>
                <a:ea typeface="Aptos"/>
                <a:cs typeface="Apto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84048"/>
            <a:ext cx="4389120" cy="256032"/>
          </a:xfrm>
          <a:prstGeom prst="rect">
            <a:avLst/>
          </a:prstGeom>
          <a:noFill/>
          <a:ln/>
        </p:spPr>
        <p:txBody>
          <a:bodyPr wrap="square" lIns="0" tIns="0" rIns="0" bIns="0" rtlCol="0" anchor="ctr"/>
          <a:lstStyle/>
          <a:p>
            <a:pPr indent="0" marL="0">
              <a:buNone/>
            </a:pPr>
            <a:r>
              <a:rPr lang="en-US" sz="1100" b="1" spc="70" kern="0" dirty="0">
                <a:solidFill>
                  <a:srgbClr val="0F766E"/>
                </a:solidFill>
              </a:rPr>
              <a:t>PROGRAMACIÓN · 1.º DAW</a:t>
            </a:r>
            <a:endParaRPr lang="en-US" sz="1100" dirty="0"/>
          </a:p>
        </p:txBody>
      </p:sp>
      <p:sp>
        <p:nvSpPr>
          <p:cNvPr id="3" name="Text 1"/>
          <p:cNvSpPr/>
          <p:nvPr/>
        </p:nvSpPr>
        <p:spPr>
          <a:xfrm>
            <a:off x="548640" y="749808"/>
            <a:ext cx="9784080" cy="621792"/>
          </a:xfrm>
          <a:prstGeom prst="rect">
            <a:avLst/>
          </a:prstGeom>
          <a:noFill/>
          <a:ln/>
        </p:spPr>
        <p:txBody>
          <a:bodyPr wrap="square" lIns="0" tIns="0" rIns="0" bIns="0" rtlCol="0" anchor="ctr"/>
          <a:lstStyle/>
          <a:p>
            <a:pPr indent="0" marL="0">
              <a:buNone/>
            </a:pPr>
            <a:r>
              <a:rPr lang="en-US" sz="2700" b="1" dirty="0">
                <a:solidFill>
                  <a:srgbClr val="17202A"/>
                </a:solidFill>
              </a:rPr>
              <a:t>RA3 y RA4: controlar y organizar el código</a:t>
            </a:r>
            <a:endParaRPr lang="en-US" sz="2700" dirty="0"/>
          </a:p>
        </p:txBody>
      </p:sp>
      <p:sp>
        <p:nvSpPr>
          <p:cNvPr id="4" name="Shape 2"/>
          <p:cNvSpPr/>
          <p:nvPr/>
        </p:nvSpPr>
        <p:spPr>
          <a:xfrm>
            <a:off x="10405872" y="411480"/>
            <a:ext cx="1234440" cy="347472"/>
          </a:xfrm>
          <a:prstGeom prst="roundRect">
            <a:avLst>
              <a:gd name="adj" fmla="val 18421"/>
            </a:avLst>
          </a:prstGeom>
          <a:solidFill>
            <a:srgbClr val="DDEAF7"/>
          </a:solidFill>
          <a:ln w="12700">
            <a:solidFill>
              <a:srgbClr val="8AB4E6"/>
            </a:solidFill>
            <a:prstDash val="solid"/>
          </a:ln>
        </p:spPr>
      </p:sp>
      <p:sp>
        <p:nvSpPr>
          <p:cNvPr id="5" name="Text 3"/>
          <p:cNvSpPr/>
          <p:nvPr/>
        </p:nvSpPr>
        <p:spPr>
          <a:xfrm>
            <a:off x="10405872" y="470916"/>
            <a:ext cx="1234440" cy="182880"/>
          </a:xfrm>
          <a:prstGeom prst="rect">
            <a:avLst/>
          </a:prstGeom>
          <a:noFill/>
          <a:ln/>
        </p:spPr>
        <p:txBody>
          <a:bodyPr wrap="square" lIns="0" tIns="0" rIns="0" bIns="0" rtlCol="0" anchor="ctr"/>
          <a:lstStyle/>
          <a:p>
            <a:pPr algn="ctr" indent="0" marL="0">
              <a:buNone/>
            </a:pPr>
            <a:r>
              <a:rPr lang="en-US" sz="950" b="1" dirty="0">
                <a:solidFill>
                  <a:srgbClr val="2563EB"/>
                </a:solidFill>
              </a:rPr>
              <a:t>MÓDULO</a:t>
            </a:r>
            <a:endParaRPr lang="en-US" sz="950" dirty="0"/>
          </a:p>
        </p:txBody>
      </p:sp>
      <p:sp>
        <p:nvSpPr>
          <p:cNvPr id="6" name="Shape 4"/>
          <p:cNvSpPr/>
          <p:nvPr/>
        </p:nvSpPr>
        <p:spPr>
          <a:xfrm>
            <a:off x="621792" y="1508760"/>
            <a:ext cx="5440680" cy="3438144"/>
          </a:xfrm>
          <a:prstGeom prst="roundRect">
            <a:avLst>
              <a:gd name="adj" fmla="val 1596"/>
            </a:avLst>
          </a:prstGeom>
          <a:solidFill>
            <a:srgbClr val="FFFFFF"/>
          </a:solidFill>
          <a:ln w="13970">
            <a:solidFill>
              <a:srgbClr val="D4DDE7"/>
            </a:solidFill>
            <a:prstDash val="solid"/>
          </a:ln>
        </p:spPr>
      </p:sp>
      <p:sp>
        <p:nvSpPr>
          <p:cNvPr id="7" name="Shape 5"/>
          <p:cNvSpPr/>
          <p:nvPr/>
        </p:nvSpPr>
        <p:spPr>
          <a:xfrm>
            <a:off x="822960" y="1709928"/>
            <a:ext cx="658368" cy="475488"/>
          </a:xfrm>
          <a:prstGeom prst="roundRect">
            <a:avLst>
              <a:gd name="adj" fmla="val 11538"/>
            </a:avLst>
          </a:prstGeom>
          <a:solidFill>
            <a:srgbClr val="2563EB"/>
          </a:solidFill>
          <a:ln w="12700">
            <a:solidFill>
              <a:srgbClr val="2563EB"/>
            </a:solidFill>
            <a:prstDash val="solid"/>
          </a:ln>
        </p:spPr>
      </p:sp>
      <p:sp>
        <p:nvSpPr>
          <p:cNvPr id="8" name="Text 6"/>
          <p:cNvSpPr/>
          <p:nvPr/>
        </p:nvSpPr>
        <p:spPr>
          <a:xfrm>
            <a:off x="822960" y="1810512"/>
            <a:ext cx="658368" cy="201168"/>
          </a:xfrm>
          <a:prstGeom prst="rect">
            <a:avLst/>
          </a:prstGeom>
          <a:noFill/>
          <a:ln/>
        </p:spPr>
        <p:txBody>
          <a:bodyPr wrap="square" lIns="0" tIns="0" rIns="0" bIns="0" rtlCol="0" anchor="ctr"/>
          <a:lstStyle/>
          <a:p>
            <a:pPr algn="ctr" indent="0" marL="0">
              <a:buNone/>
            </a:pPr>
            <a:r>
              <a:rPr lang="en-US" sz="1200" b="1" dirty="0">
                <a:solidFill>
                  <a:srgbClr val="FFFFFF"/>
                </a:solidFill>
              </a:rPr>
              <a:t>RA3</a:t>
            </a:r>
            <a:endParaRPr lang="en-US" sz="1200" dirty="0"/>
          </a:p>
        </p:txBody>
      </p:sp>
      <p:sp>
        <p:nvSpPr>
          <p:cNvPr id="9" name="Text 7"/>
          <p:cNvSpPr/>
          <p:nvPr/>
        </p:nvSpPr>
        <p:spPr>
          <a:xfrm>
            <a:off x="1609344" y="1673352"/>
            <a:ext cx="4233672" cy="2569464"/>
          </a:xfrm>
          <a:prstGeom prst="rect">
            <a:avLst/>
          </a:prstGeom>
          <a:noFill/>
          <a:ln/>
        </p:spPr>
        <p:txBody>
          <a:bodyPr wrap="square" lIns="0" tIns="0" rIns="0" bIns="0" rtlCol="0" anchor="ctr"/>
          <a:lstStyle/>
          <a:p>
            <a:pPr indent="0" marL="0">
              <a:buNone/>
            </a:pPr>
            <a:r>
              <a:rPr lang="en-US" sz="1300" dirty="0">
                <a:solidFill>
                  <a:srgbClr val="17202A"/>
                </a:solidFill>
              </a:rPr>
              <a:t>«Escribe y depura código, analizando y utilizando las estructuras de control del lenguaje.»</a:t>
            </a:r>
            <a:endParaRPr lang="en-US" sz="1300" dirty="0"/>
          </a:p>
        </p:txBody>
      </p:sp>
      <p:sp>
        <p:nvSpPr>
          <p:cNvPr id="10" name="Shape 8"/>
          <p:cNvSpPr/>
          <p:nvPr/>
        </p:nvSpPr>
        <p:spPr>
          <a:xfrm>
            <a:off x="822960" y="4306824"/>
            <a:ext cx="5038344" cy="0"/>
          </a:xfrm>
          <a:prstGeom prst="line">
            <a:avLst/>
          </a:prstGeom>
          <a:noFill/>
          <a:ln w="12700">
            <a:solidFill>
              <a:srgbClr val="DDE4EC"/>
            </a:solidFill>
            <a:prstDash val="solid"/>
          </a:ln>
        </p:spPr>
      </p:sp>
      <p:sp>
        <p:nvSpPr>
          <p:cNvPr id="11" name="Text 9"/>
          <p:cNvSpPr/>
          <p:nvPr/>
        </p:nvSpPr>
        <p:spPr>
          <a:xfrm>
            <a:off x="841248" y="4443984"/>
            <a:ext cx="5001768" cy="310896"/>
          </a:xfrm>
          <a:prstGeom prst="rect">
            <a:avLst/>
          </a:prstGeom>
          <a:noFill/>
          <a:ln/>
        </p:spPr>
        <p:txBody>
          <a:bodyPr wrap="square" lIns="0" tIns="0" rIns="0" bIns="0" rtlCol="0" anchor="ctr"/>
          <a:lstStyle/>
          <a:p>
            <a:pPr indent="0" marL="0">
              <a:buNone/>
            </a:pPr>
            <a:r>
              <a:rPr lang="en-US" sz="1100" b="1" dirty="0">
                <a:solidFill>
                  <a:srgbClr val="2563EB"/>
                </a:solidFill>
              </a:rPr>
              <a:t>Tomar decisiones, repetir acciones y localizar errores.</a:t>
            </a:r>
            <a:endParaRPr lang="en-US" sz="1100" dirty="0"/>
          </a:p>
        </p:txBody>
      </p:sp>
      <p:sp>
        <p:nvSpPr>
          <p:cNvPr id="12" name="Shape 10"/>
          <p:cNvSpPr/>
          <p:nvPr/>
        </p:nvSpPr>
        <p:spPr>
          <a:xfrm>
            <a:off x="6144768" y="1508760"/>
            <a:ext cx="5440680" cy="3438144"/>
          </a:xfrm>
          <a:prstGeom prst="roundRect">
            <a:avLst>
              <a:gd name="adj" fmla="val 1596"/>
            </a:avLst>
          </a:prstGeom>
          <a:solidFill>
            <a:srgbClr val="FFFFFF"/>
          </a:solidFill>
          <a:ln w="13970">
            <a:solidFill>
              <a:srgbClr val="D4DDE7"/>
            </a:solidFill>
            <a:prstDash val="solid"/>
          </a:ln>
        </p:spPr>
      </p:sp>
      <p:sp>
        <p:nvSpPr>
          <p:cNvPr id="13" name="Shape 11"/>
          <p:cNvSpPr/>
          <p:nvPr/>
        </p:nvSpPr>
        <p:spPr>
          <a:xfrm>
            <a:off x="6345936" y="1709928"/>
            <a:ext cx="658368" cy="475488"/>
          </a:xfrm>
          <a:prstGeom prst="roundRect">
            <a:avLst>
              <a:gd name="adj" fmla="val 11538"/>
            </a:avLst>
          </a:prstGeom>
          <a:solidFill>
            <a:srgbClr val="0F766E"/>
          </a:solidFill>
          <a:ln w="12700">
            <a:solidFill>
              <a:srgbClr val="0F766E"/>
            </a:solidFill>
            <a:prstDash val="solid"/>
          </a:ln>
        </p:spPr>
      </p:sp>
      <p:sp>
        <p:nvSpPr>
          <p:cNvPr id="14" name="Text 12"/>
          <p:cNvSpPr/>
          <p:nvPr/>
        </p:nvSpPr>
        <p:spPr>
          <a:xfrm>
            <a:off x="6345936" y="1810512"/>
            <a:ext cx="658368" cy="201168"/>
          </a:xfrm>
          <a:prstGeom prst="rect">
            <a:avLst/>
          </a:prstGeom>
          <a:noFill/>
          <a:ln/>
        </p:spPr>
        <p:txBody>
          <a:bodyPr wrap="square" lIns="0" tIns="0" rIns="0" bIns="0" rtlCol="0" anchor="ctr"/>
          <a:lstStyle/>
          <a:p>
            <a:pPr algn="ctr" indent="0" marL="0">
              <a:buNone/>
            </a:pPr>
            <a:r>
              <a:rPr lang="en-US" sz="1200" b="1" dirty="0">
                <a:solidFill>
                  <a:srgbClr val="FFFFFF"/>
                </a:solidFill>
              </a:rPr>
              <a:t>RA4</a:t>
            </a:r>
            <a:endParaRPr lang="en-US" sz="1200" dirty="0"/>
          </a:p>
        </p:txBody>
      </p:sp>
      <p:sp>
        <p:nvSpPr>
          <p:cNvPr id="15" name="Text 13"/>
          <p:cNvSpPr/>
          <p:nvPr/>
        </p:nvSpPr>
        <p:spPr>
          <a:xfrm>
            <a:off x="7132320" y="1673352"/>
            <a:ext cx="4233672" cy="2569464"/>
          </a:xfrm>
          <a:prstGeom prst="rect">
            <a:avLst/>
          </a:prstGeom>
          <a:noFill/>
          <a:ln/>
        </p:spPr>
        <p:txBody>
          <a:bodyPr wrap="square" lIns="0" tIns="0" rIns="0" bIns="0" rtlCol="0" anchor="ctr"/>
          <a:lstStyle/>
          <a:p>
            <a:pPr indent="0" marL="0">
              <a:buNone/>
            </a:pPr>
            <a:r>
              <a:rPr lang="en-US" sz="1300" dirty="0">
                <a:solidFill>
                  <a:srgbClr val="17202A"/>
                </a:solidFill>
              </a:rPr>
              <a:t>«Desarrolla programas organizados en clases analizando y aplicando los principios de la programación orientada a objetos.»</a:t>
            </a:r>
            <a:endParaRPr lang="en-US" sz="1300" dirty="0"/>
          </a:p>
        </p:txBody>
      </p:sp>
      <p:sp>
        <p:nvSpPr>
          <p:cNvPr id="16" name="Shape 14"/>
          <p:cNvSpPr/>
          <p:nvPr/>
        </p:nvSpPr>
        <p:spPr>
          <a:xfrm>
            <a:off x="6345936" y="4306824"/>
            <a:ext cx="5038344" cy="0"/>
          </a:xfrm>
          <a:prstGeom prst="line">
            <a:avLst/>
          </a:prstGeom>
          <a:noFill/>
          <a:ln w="12700">
            <a:solidFill>
              <a:srgbClr val="DDE4EC"/>
            </a:solidFill>
            <a:prstDash val="solid"/>
          </a:ln>
        </p:spPr>
      </p:sp>
      <p:sp>
        <p:nvSpPr>
          <p:cNvPr id="17" name="Text 15"/>
          <p:cNvSpPr/>
          <p:nvPr/>
        </p:nvSpPr>
        <p:spPr>
          <a:xfrm>
            <a:off x="6364224" y="4443984"/>
            <a:ext cx="5001768" cy="310896"/>
          </a:xfrm>
          <a:prstGeom prst="rect">
            <a:avLst/>
          </a:prstGeom>
          <a:noFill/>
          <a:ln/>
        </p:spPr>
        <p:txBody>
          <a:bodyPr wrap="square" lIns="0" tIns="0" rIns="0" bIns="0" rtlCol="0" anchor="ctr"/>
          <a:lstStyle/>
          <a:p>
            <a:pPr indent="0" marL="0">
              <a:buNone/>
            </a:pPr>
            <a:r>
              <a:rPr lang="en-US" sz="1100" b="1" dirty="0">
                <a:solidFill>
                  <a:srgbClr val="0F766E"/>
                </a:solidFill>
              </a:rPr>
              <a:t>Repartir responsabilidades entre clases y objetos.</a:t>
            </a:r>
            <a:endParaRPr lang="en-US" sz="1100" dirty="0"/>
          </a:p>
        </p:txBody>
      </p:sp>
      <p:sp>
        <p:nvSpPr>
          <p:cNvPr id="18" name="Text 16"/>
          <p:cNvSpPr/>
          <p:nvPr/>
        </p:nvSpPr>
        <p:spPr>
          <a:xfrm>
            <a:off x="658368" y="5257800"/>
            <a:ext cx="10607040" cy="411480"/>
          </a:xfrm>
          <a:prstGeom prst="rect">
            <a:avLst/>
          </a:prstGeom>
          <a:noFill/>
          <a:ln/>
        </p:spPr>
        <p:txBody>
          <a:bodyPr wrap="square" lIns="0" tIns="0" rIns="0" bIns="0" rtlCol="0" anchor="ctr"/>
          <a:lstStyle/>
          <a:p>
            <a:pPr indent="0" marL="0">
              <a:buNone/>
            </a:pPr>
            <a:r>
              <a:rPr lang="en-US" sz="1350" b="1" dirty="0">
                <a:solidFill>
                  <a:srgbClr val="17324D"/>
                </a:solidFill>
              </a:rPr>
              <a:t>Controlar el flujo y organizar responsabilidades son pasos distintos, pero se apoyan mutuamente.</a:t>
            </a:r>
            <a:endParaRPr lang="en-US" sz="1350" dirty="0"/>
          </a:p>
        </p:txBody>
      </p:sp>
      <p:sp>
        <p:nvSpPr>
          <p:cNvPr id="25" name="Slide Number Placeholder 0"/>
          <p:cNvSpPr>
            <a:spLocks noGrp="1"/>
          </p:cNvSpPr>
          <p:nvPr>
            <p:ph type="sldNum" sz="quarter" idx="4294967295"/>
          </p:nvPr>
        </p:nvSpPr>
        <p:spPr>
          <a:xfrm>
            <a:off x="11228832" y="6492240"/>
            <a:ext cx="411480" cy="201168"/>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rgbClr val="64748B"/>
                </a:solidFill>
                <a:latin typeface="Aptos"/>
                <a:ea typeface="Aptos"/>
                <a:cs typeface="Apto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84048"/>
            <a:ext cx="4389120" cy="256032"/>
          </a:xfrm>
          <a:prstGeom prst="rect">
            <a:avLst/>
          </a:prstGeom>
          <a:noFill/>
          <a:ln/>
        </p:spPr>
        <p:txBody>
          <a:bodyPr wrap="square" lIns="0" tIns="0" rIns="0" bIns="0" rtlCol="0" anchor="ctr"/>
          <a:lstStyle/>
          <a:p>
            <a:pPr indent="0" marL="0">
              <a:buNone/>
            </a:pPr>
            <a:r>
              <a:rPr lang="en-US" sz="1100" b="1" spc="70" kern="0" dirty="0">
                <a:solidFill>
                  <a:srgbClr val="0F766E"/>
                </a:solidFill>
              </a:rPr>
              <a:t>PROGRAMACIÓN · 1.º DAW</a:t>
            </a:r>
            <a:endParaRPr lang="en-US" sz="1100" dirty="0"/>
          </a:p>
        </p:txBody>
      </p:sp>
      <p:sp>
        <p:nvSpPr>
          <p:cNvPr id="3" name="Text 1"/>
          <p:cNvSpPr/>
          <p:nvPr/>
        </p:nvSpPr>
        <p:spPr>
          <a:xfrm>
            <a:off x="548640" y="749808"/>
            <a:ext cx="9784080" cy="621792"/>
          </a:xfrm>
          <a:prstGeom prst="rect">
            <a:avLst/>
          </a:prstGeom>
          <a:noFill/>
          <a:ln/>
        </p:spPr>
        <p:txBody>
          <a:bodyPr wrap="square" lIns="0" tIns="0" rIns="0" bIns="0" rtlCol="0" anchor="ctr"/>
          <a:lstStyle/>
          <a:p>
            <a:pPr indent="0" marL="0">
              <a:buNone/>
            </a:pPr>
            <a:r>
              <a:rPr lang="en-US" sz="2700" b="1" dirty="0">
                <a:solidFill>
                  <a:srgbClr val="17202A"/>
                </a:solidFill>
              </a:rPr>
              <a:t>RA5 y RA6: información y datos</a:t>
            </a:r>
            <a:endParaRPr lang="en-US" sz="2700" dirty="0"/>
          </a:p>
        </p:txBody>
      </p:sp>
      <p:sp>
        <p:nvSpPr>
          <p:cNvPr id="4" name="Shape 2"/>
          <p:cNvSpPr/>
          <p:nvPr/>
        </p:nvSpPr>
        <p:spPr>
          <a:xfrm>
            <a:off x="10405872" y="411480"/>
            <a:ext cx="1234440" cy="347472"/>
          </a:xfrm>
          <a:prstGeom prst="roundRect">
            <a:avLst>
              <a:gd name="adj" fmla="val 18421"/>
            </a:avLst>
          </a:prstGeom>
          <a:solidFill>
            <a:srgbClr val="DDEAF7"/>
          </a:solidFill>
          <a:ln w="12700">
            <a:solidFill>
              <a:srgbClr val="8AB4E6"/>
            </a:solidFill>
            <a:prstDash val="solid"/>
          </a:ln>
        </p:spPr>
      </p:sp>
      <p:sp>
        <p:nvSpPr>
          <p:cNvPr id="5" name="Text 3"/>
          <p:cNvSpPr/>
          <p:nvPr/>
        </p:nvSpPr>
        <p:spPr>
          <a:xfrm>
            <a:off x="10405872" y="470916"/>
            <a:ext cx="1234440" cy="182880"/>
          </a:xfrm>
          <a:prstGeom prst="rect">
            <a:avLst/>
          </a:prstGeom>
          <a:noFill/>
          <a:ln/>
        </p:spPr>
        <p:txBody>
          <a:bodyPr wrap="square" lIns="0" tIns="0" rIns="0" bIns="0" rtlCol="0" anchor="ctr"/>
          <a:lstStyle/>
          <a:p>
            <a:pPr algn="ctr" indent="0" marL="0">
              <a:buNone/>
            </a:pPr>
            <a:r>
              <a:rPr lang="en-US" sz="950" b="1" dirty="0">
                <a:solidFill>
                  <a:srgbClr val="2563EB"/>
                </a:solidFill>
              </a:rPr>
              <a:t>MÓDULO</a:t>
            </a:r>
            <a:endParaRPr lang="en-US" sz="950" dirty="0"/>
          </a:p>
        </p:txBody>
      </p:sp>
      <p:sp>
        <p:nvSpPr>
          <p:cNvPr id="6" name="Shape 4"/>
          <p:cNvSpPr/>
          <p:nvPr/>
        </p:nvSpPr>
        <p:spPr>
          <a:xfrm>
            <a:off x="621792" y="1508760"/>
            <a:ext cx="5440680" cy="3438144"/>
          </a:xfrm>
          <a:prstGeom prst="roundRect">
            <a:avLst>
              <a:gd name="adj" fmla="val 1596"/>
            </a:avLst>
          </a:prstGeom>
          <a:solidFill>
            <a:srgbClr val="FFFFFF"/>
          </a:solidFill>
          <a:ln w="13970">
            <a:solidFill>
              <a:srgbClr val="D4DDE7"/>
            </a:solidFill>
            <a:prstDash val="solid"/>
          </a:ln>
        </p:spPr>
      </p:sp>
      <p:sp>
        <p:nvSpPr>
          <p:cNvPr id="7" name="Shape 5"/>
          <p:cNvSpPr/>
          <p:nvPr/>
        </p:nvSpPr>
        <p:spPr>
          <a:xfrm>
            <a:off x="822960" y="1709928"/>
            <a:ext cx="658368" cy="475488"/>
          </a:xfrm>
          <a:prstGeom prst="roundRect">
            <a:avLst>
              <a:gd name="adj" fmla="val 11538"/>
            </a:avLst>
          </a:prstGeom>
          <a:solidFill>
            <a:srgbClr val="2563EB"/>
          </a:solidFill>
          <a:ln w="12700">
            <a:solidFill>
              <a:srgbClr val="2563EB"/>
            </a:solidFill>
            <a:prstDash val="solid"/>
          </a:ln>
        </p:spPr>
      </p:sp>
      <p:sp>
        <p:nvSpPr>
          <p:cNvPr id="8" name="Text 6"/>
          <p:cNvSpPr/>
          <p:nvPr/>
        </p:nvSpPr>
        <p:spPr>
          <a:xfrm>
            <a:off x="822960" y="1810512"/>
            <a:ext cx="658368" cy="201168"/>
          </a:xfrm>
          <a:prstGeom prst="rect">
            <a:avLst/>
          </a:prstGeom>
          <a:noFill/>
          <a:ln/>
        </p:spPr>
        <p:txBody>
          <a:bodyPr wrap="square" lIns="0" tIns="0" rIns="0" bIns="0" rtlCol="0" anchor="ctr"/>
          <a:lstStyle/>
          <a:p>
            <a:pPr algn="ctr" indent="0" marL="0">
              <a:buNone/>
            </a:pPr>
            <a:r>
              <a:rPr lang="en-US" sz="1200" b="1" dirty="0">
                <a:solidFill>
                  <a:srgbClr val="FFFFFF"/>
                </a:solidFill>
              </a:rPr>
              <a:t>RA5</a:t>
            </a:r>
            <a:endParaRPr lang="en-US" sz="1200" dirty="0"/>
          </a:p>
        </p:txBody>
      </p:sp>
      <p:sp>
        <p:nvSpPr>
          <p:cNvPr id="9" name="Text 7"/>
          <p:cNvSpPr/>
          <p:nvPr/>
        </p:nvSpPr>
        <p:spPr>
          <a:xfrm>
            <a:off x="1609344" y="1673352"/>
            <a:ext cx="4233672" cy="2569464"/>
          </a:xfrm>
          <a:prstGeom prst="rect">
            <a:avLst/>
          </a:prstGeom>
          <a:noFill/>
          <a:ln/>
        </p:spPr>
        <p:txBody>
          <a:bodyPr wrap="square" lIns="0" tIns="0" rIns="0" bIns="0" rtlCol="0" anchor="ctr"/>
          <a:lstStyle/>
          <a:p>
            <a:pPr indent="0" marL="0">
              <a:buNone/>
            </a:pPr>
            <a:r>
              <a:rPr lang="en-US" sz="1300" dirty="0">
                <a:solidFill>
                  <a:srgbClr val="17202A"/>
                </a:solidFill>
              </a:rPr>
              <a:t>«Realiza operaciones de entrada y salida de información, utilizando procedimientos específicos del lenguaje y librerías de clases.»</a:t>
            </a:r>
            <a:endParaRPr lang="en-US" sz="1300" dirty="0"/>
          </a:p>
        </p:txBody>
      </p:sp>
      <p:sp>
        <p:nvSpPr>
          <p:cNvPr id="10" name="Shape 8"/>
          <p:cNvSpPr/>
          <p:nvPr/>
        </p:nvSpPr>
        <p:spPr>
          <a:xfrm>
            <a:off x="822960" y="4306824"/>
            <a:ext cx="5038344" cy="0"/>
          </a:xfrm>
          <a:prstGeom prst="line">
            <a:avLst/>
          </a:prstGeom>
          <a:noFill/>
          <a:ln w="12700">
            <a:solidFill>
              <a:srgbClr val="DDE4EC"/>
            </a:solidFill>
            <a:prstDash val="solid"/>
          </a:ln>
        </p:spPr>
      </p:sp>
      <p:sp>
        <p:nvSpPr>
          <p:cNvPr id="11" name="Text 9"/>
          <p:cNvSpPr/>
          <p:nvPr/>
        </p:nvSpPr>
        <p:spPr>
          <a:xfrm>
            <a:off x="841248" y="4443984"/>
            <a:ext cx="5001768" cy="310896"/>
          </a:xfrm>
          <a:prstGeom prst="rect">
            <a:avLst/>
          </a:prstGeom>
          <a:noFill/>
          <a:ln/>
        </p:spPr>
        <p:txBody>
          <a:bodyPr wrap="square" lIns="0" tIns="0" rIns="0" bIns="0" rtlCol="0" anchor="ctr"/>
          <a:lstStyle/>
          <a:p>
            <a:pPr indent="0" marL="0">
              <a:buNone/>
            </a:pPr>
            <a:r>
              <a:rPr lang="en-US" sz="1100" b="1" dirty="0">
                <a:solidFill>
                  <a:srgbClr val="2563EB"/>
                </a:solidFill>
              </a:rPr>
              <a:t>Leer, mostrar y conservar información mediante recursos adecuados.</a:t>
            </a:r>
            <a:endParaRPr lang="en-US" sz="1100" dirty="0"/>
          </a:p>
        </p:txBody>
      </p:sp>
      <p:sp>
        <p:nvSpPr>
          <p:cNvPr id="12" name="Shape 10"/>
          <p:cNvSpPr/>
          <p:nvPr/>
        </p:nvSpPr>
        <p:spPr>
          <a:xfrm>
            <a:off x="6144768" y="1508760"/>
            <a:ext cx="5440680" cy="3438144"/>
          </a:xfrm>
          <a:prstGeom prst="roundRect">
            <a:avLst>
              <a:gd name="adj" fmla="val 1596"/>
            </a:avLst>
          </a:prstGeom>
          <a:solidFill>
            <a:srgbClr val="FFFFFF"/>
          </a:solidFill>
          <a:ln w="13970">
            <a:solidFill>
              <a:srgbClr val="D4DDE7"/>
            </a:solidFill>
            <a:prstDash val="solid"/>
          </a:ln>
        </p:spPr>
      </p:sp>
      <p:sp>
        <p:nvSpPr>
          <p:cNvPr id="13" name="Shape 11"/>
          <p:cNvSpPr/>
          <p:nvPr/>
        </p:nvSpPr>
        <p:spPr>
          <a:xfrm>
            <a:off x="6345936" y="1709928"/>
            <a:ext cx="658368" cy="475488"/>
          </a:xfrm>
          <a:prstGeom prst="roundRect">
            <a:avLst>
              <a:gd name="adj" fmla="val 11538"/>
            </a:avLst>
          </a:prstGeom>
          <a:solidFill>
            <a:srgbClr val="0F766E"/>
          </a:solidFill>
          <a:ln w="12700">
            <a:solidFill>
              <a:srgbClr val="0F766E"/>
            </a:solidFill>
            <a:prstDash val="solid"/>
          </a:ln>
        </p:spPr>
      </p:sp>
      <p:sp>
        <p:nvSpPr>
          <p:cNvPr id="14" name="Text 12"/>
          <p:cNvSpPr/>
          <p:nvPr/>
        </p:nvSpPr>
        <p:spPr>
          <a:xfrm>
            <a:off x="6345936" y="1810512"/>
            <a:ext cx="658368" cy="201168"/>
          </a:xfrm>
          <a:prstGeom prst="rect">
            <a:avLst/>
          </a:prstGeom>
          <a:noFill/>
          <a:ln/>
        </p:spPr>
        <p:txBody>
          <a:bodyPr wrap="square" lIns="0" tIns="0" rIns="0" bIns="0" rtlCol="0" anchor="ctr"/>
          <a:lstStyle/>
          <a:p>
            <a:pPr algn="ctr" indent="0" marL="0">
              <a:buNone/>
            </a:pPr>
            <a:r>
              <a:rPr lang="en-US" sz="1200" b="1" dirty="0">
                <a:solidFill>
                  <a:srgbClr val="FFFFFF"/>
                </a:solidFill>
              </a:rPr>
              <a:t>RA6</a:t>
            </a:r>
            <a:endParaRPr lang="en-US" sz="1200" dirty="0"/>
          </a:p>
        </p:txBody>
      </p:sp>
      <p:sp>
        <p:nvSpPr>
          <p:cNvPr id="15" name="Text 13"/>
          <p:cNvSpPr/>
          <p:nvPr/>
        </p:nvSpPr>
        <p:spPr>
          <a:xfrm>
            <a:off x="7132320" y="1673352"/>
            <a:ext cx="4233672" cy="2569464"/>
          </a:xfrm>
          <a:prstGeom prst="rect">
            <a:avLst/>
          </a:prstGeom>
          <a:noFill/>
          <a:ln/>
        </p:spPr>
        <p:txBody>
          <a:bodyPr wrap="square" lIns="0" tIns="0" rIns="0" bIns="0" rtlCol="0" anchor="ctr"/>
          <a:lstStyle/>
          <a:p>
            <a:pPr indent="0" marL="0">
              <a:buNone/>
            </a:pPr>
            <a:r>
              <a:rPr lang="en-US" sz="1300" dirty="0">
                <a:solidFill>
                  <a:srgbClr val="17202A"/>
                </a:solidFill>
              </a:rPr>
              <a:t>«Escribe programas que manipulen información seleccionando y utilizando tipos avanzados de datos.»</a:t>
            </a:r>
            <a:endParaRPr lang="en-US" sz="1300" dirty="0"/>
          </a:p>
        </p:txBody>
      </p:sp>
      <p:sp>
        <p:nvSpPr>
          <p:cNvPr id="16" name="Shape 14"/>
          <p:cNvSpPr/>
          <p:nvPr/>
        </p:nvSpPr>
        <p:spPr>
          <a:xfrm>
            <a:off x="6345936" y="4306824"/>
            <a:ext cx="5038344" cy="0"/>
          </a:xfrm>
          <a:prstGeom prst="line">
            <a:avLst/>
          </a:prstGeom>
          <a:noFill/>
          <a:ln w="12700">
            <a:solidFill>
              <a:srgbClr val="DDE4EC"/>
            </a:solidFill>
            <a:prstDash val="solid"/>
          </a:ln>
        </p:spPr>
      </p:sp>
      <p:sp>
        <p:nvSpPr>
          <p:cNvPr id="17" name="Text 15"/>
          <p:cNvSpPr/>
          <p:nvPr/>
        </p:nvSpPr>
        <p:spPr>
          <a:xfrm>
            <a:off x="6364224" y="4443984"/>
            <a:ext cx="5001768" cy="310896"/>
          </a:xfrm>
          <a:prstGeom prst="rect">
            <a:avLst/>
          </a:prstGeom>
          <a:noFill/>
          <a:ln/>
        </p:spPr>
        <p:txBody>
          <a:bodyPr wrap="square" lIns="0" tIns="0" rIns="0" bIns="0" rtlCol="0" anchor="ctr"/>
          <a:lstStyle/>
          <a:p>
            <a:pPr indent="0" marL="0">
              <a:buNone/>
            </a:pPr>
            <a:r>
              <a:rPr lang="en-US" sz="1100" b="1" dirty="0">
                <a:solidFill>
                  <a:srgbClr val="0F766E"/>
                </a:solidFill>
              </a:rPr>
              <a:t>Organizar y procesar datos con estructuras adecuadas.</a:t>
            </a:r>
            <a:endParaRPr lang="en-US" sz="1100" dirty="0"/>
          </a:p>
        </p:txBody>
      </p:sp>
      <p:sp>
        <p:nvSpPr>
          <p:cNvPr id="18" name="Text 16"/>
          <p:cNvSpPr/>
          <p:nvPr/>
        </p:nvSpPr>
        <p:spPr>
          <a:xfrm>
            <a:off x="658368" y="5257800"/>
            <a:ext cx="10607040" cy="411480"/>
          </a:xfrm>
          <a:prstGeom prst="rect">
            <a:avLst/>
          </a:prstGeom>
          <a:noFill/>
          <a:ln/>
        </p:spPr>
        <p:txBody>
          <a:bodyPr wrap="square" lIns="0" tIns="0" rIns="0" bIns="0" rtlCol="0" anchor="ctr"/>
          <a:lstStyle/>
          <a:p>
            <a:pPr indent="0" marL="0">
              <a:buNone/>
            </a:pPr>
            <a:r>
              <a:rPr lang="en-US" sz="1350" b="1" dirty="0">
                <a:solidFill>
                  <a:srgbClr val="17324D"/>
                </a:solidFill>
              </a:rPr>
              <a:t>No basta con conocer estructuras: hay que elegirlas según el problema que resuelven.</a:t>
            </a:r>
            <a:endParaRPr lang="en-US" sz="1350" dirty="0"/>
          </a:p>
        </p:txBody>
      </p:sp>
      <p:sp>
        <p:nvSpPr>
          <p:cNvPr id="25" name="Slide Number Placeholder 0"/>
          <p:cNvSpPr>
            <a:spLocks noGrp="1"/>
          </p:cNvSpPr>
          <p:nvPr>
            <p:ph type="sldNum" sz="quarter" idx="4294967295"/>
          </p:nvPr>
        </p:nvSpPr>
        <p:spPr>
          <a:xfrm>
            <a:off x="11228832" y="6492240"/>
            <a:ext cx="411480" cy="201168"/>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rgbClr val="64748B"/>
                </a:solidFill>
                <a:latin typeface="Aptos"/>
                <a:ea typeface="Aptos"/>
                <a:cs typeface="Apto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84048"/>
            <a:ext cx="4389120" cy="256032"/>
          </a:xfrm>
          <a:prstGeom prst="rect">
            <a:avLst/>
          </a:prstGeom>
          <a:noFill/>
          <a:ln/>
        </p:spPr>
        <p:txBody>
          <a:bodyPr wrap="square" lIns="0" tIns="0" rIns="0" bIns="0" rtlCol="0" anchor="ctr"/>
          <a:lstStyle/>
          <a:p>
            <a:pPr indent="0" marL="0">
              <a:buNone/>
            </a:pPr>
            <a:r>
              <a:rPr lang="en-US" sz="1100" b="1" spc="70" kern="0" dirty="0">
                <a:solidFill>
                  <a:srgbClr val="0F766E"/>
                </a:solidFill>
              </a:rPr>
              <a:t>PROGRAMACIÓN · 1.º DAW</a:t>
            </a:r>
            <a:endParaRPr lang="en-US" sz="1100" dirty="0"/>
          </a:p>
        </p:txBody>
      </p:sp>
      <p:sp>
        <p:nvSpPr>
          <p:cNvPr id="3" name="Text 1"/>
          <p:cNvSpPr/>
          <p:nvPr/>
        </p:nvSpPr>
        <p:spPr>
          <a:xfrm>
            <a:off x="548640" y="749808"/>
            <a:ext cx="9784080" cy="621792"/>
          </a:xfrm>
          <a:prstGeom prst="rect">
            <a:avLst/>
          </a:prstGeom>
          <a:noFill/>
          <a:ln/>
        </p:spPr>
        <p:txBody>
          <a:bodyPr wrap="square" lIns="0" tIns="0" rIns="0" bIns="0" rtlCol="0" anchor="ctr"/>
          <a:lstStyle/>
          <a:p>
            <a:pPr indent="0" marL="0">
              <a:buNone/>
            </a:pPr>
            <a:r>
              <a:rPr lang="en-US" sz="2700" b="1" dirty="0">
                <a:solidFill>
                  <a:srgbClr val="17202A"/>
                </a:solidFill>
              </a:rPr>
              <a:t>RA7, RA8 y RA9: ampliar y persistir</a:t>
            </a:r>
            <a:endParaRPr lang="en-US" sz="2700" dirty="0"/>
          </a:p>
        </p:txBody>
      </p:sp>
      <p:sp>
        <p:nvSpPr>
          <p:cNvPr id="4" name="Shape 2"/>
          <p:cNvSpPr/>
          <p:nvPr/>
        </p:nvSpPr>
        <p:spPr>
          <a:xfrm>
            <a:off x="10405872" y="411480"/>
            <a:ext cx="1234440" cy="347472"/>
          </a:xfrm>
          <a:prstGeom prst="roundRect">
            <a:avLst>
              <a:gd name="adj" fmla="val 18421"/>
            </a:avLst>
          </a:prstGeom>
          <a:solidFill>
            <a:srgbClr val="DDEAF7"/>
          </a:solidFill>
          <a:ln w="12700">
            <a:solidFill>
              <a:srgbClr val="8AB4E6"/>
            </a:solidFill>
            <a:prstDash val="solid"/>
          </a:ln>
        </p:spPr>
      </p:sp>
      <p:sp>
        <p:nvSpPr>
          <p:cNvPr id="5" name="Text 3"/>
          <p:cNvSpPr/>
          <p:nvPr/>
        </p:nvSpPr>
        <p:spPr>
          <a:xfrm>
            <a:off x="10405872" y="470916"/>
            <a:ext cx="1234440" cy="182880"/>
          </a:xfrm>
          <a:prstGeom prst="rect">
            <a:avLst/>
          </a:prstGeom>
          <a:noFill/>
          <a:ln/>
        </p:spPr>
        <p:txBody>
          <a:bodyPr wrap="square" lIns="0" tIns="0" rIns="0" bIns="0" rtlCol="0" anchor="ctr"/>
          <a:lstStyle/>
          <a:p>
            <a:pPr algn="ctr" indent="0" marL="0">
              <a:buNone/>
            </a:pPr>
            <a:r>
              <a:rPr lang="en-US" sz="950" b="1" dirty="0">
                <a:solidFill>
                  <a:srgbClr val="2563EB"/>
                </a:solidFill>
              </a:rPr>
              <a:t>MÓDULO</a:t>
            </a:r>
            <a:endParaRPr lang="en-US" sz="950" dirty="0"/>
          </a:p>
        </p:txBody>
      </p:sp>
      <p:sp>
        <p:nvSpPr>
          <p:cNvPr id="6" name="Shape 4"/>
          <p:cNvSpPr/>
          <p:nvPr/>
        </p:nvSpPr>
        <p:spPr>
          <a:xfrm>
            <a:off x="603504" y="1481328"/>
            <a:ext cx="3675888" cy="3977640"/>
          </a:xfrm>
          <a:prstGeom prst="roundRect">
            <a:avLst>
              <a:gd name="adj" fmla="val 1493"/>
            </a:avLst>
          </a:prstGeom>
          <a:solidFill>
            <a:srgbClr val="FFFFFF"/>
          </a:solidFill>
          <a:ln w="13970">
            <a:solidFill>
              <a:srgbClr val="D4DDE7"/>
            </a:solidFill>
            <a:prstDash val="solid"/>
          </a:ln>
        </p:spPr>
      </p:sp>
      <p:sp>
        <p:nvSpPr>
          <p:cNvPr id="7" name="Shape 5"/>
          <p:cNvSpPr/>
          <p:nvPr/>
        </p:nvSpPr>
        <p:spPr>
          <a:xfrm>
            <a:off x="804672" y="1682496"/>
            <a:ext cx="658368" cy="475488"/>
          </a:xfrm>
          <a:prstGeom prst="roundRect">
            <a:avLst>
              <a:gd name="adj" fmla="val 11538"/>
            </a:avLst>
          </a:prstGeom>
          <a:solidFill>
            <a:srgbClr val="D97706"/>
          </a:solidFill>
          <a:ln w="12700">
            <a:solidFill>
              <a:srgbClr val="D97706"/>
            </a:solidFill>
            <a:prstDash val="solid"/>
          </a:ln>
        </p:spPr>
      </p:sp>
      <p:sp>
        <p:nvSpPr>
          <p:cNvPr id="8" name="Text 6"/>
          <p:cNvSpPr/>
          <p:nvPr/>
        </p:nvSpPr>
        <p:spPr>
          <a:xfrm>
            <a:off x="804672" y="1783080"/>
            <a:ext cx="658368" cy="201168"/>
          </a:xfrm>
          <a:prstGeom prst="rect">
            <a:avLst/>
          </a:prstGeom>
          <a:noFill/>
          <a:ln/>
        </p:spPr>
        <p:txBody>
          <a:bodyPr wrap="square" lIns="0" tIns="0" rIns="0" bIns="0" rtlCol="0" anchor="ctr"/>
          <a:lstStyle/>
          <a:p>
            <a:pPr algn="ctr" indent="0" marL="0">
              <a:buNone/>
            </a:pPr>
            <a:r>
              <a:rPr lang="en-US" sz="1200" b="1" dirty="0">
                <a:solidFill>
                  <a:srgbClr val="FFFFFF"/>
                </a:solidFill>
              </a:rPr>
              <a:t>RA7</a:t>
            </a:r>
            <a:endParaRPr lang="en-US" sz="1200" dirty="0"/>
          </a:p>
        </p:txBody>
      </p:sp>
      <p:sp>
        <p:nvSpPr>
          <p:cNvPr id="9" name="Text 7"/>
          <p:cNvSpPr/>
          <p:nvPr/>
        </p:nvSpPr>
        <p:spPr>
          <a:xfrm>
            <a:off x="1591056" y="1645920"/>
            <a:ext cx="2468880" cy="3108960"/>
          </a:xfrm>
          <a:prstGeom prst="rect">
            <a:avLst/>
          </a:prstGeom>
          <a:noFill/>
          <a:ln/>
        </p:spPr>
        <p:txBody>
          <a:bodyPr wrap="square" lIns="0" tIns="0" rIns="0" bIns="0" rtlCol="0" anchor="ctr"/>
          <a:lstStyle/>
          <a:p>
            <a:pPr indent="0" marL="0">
              <a:buNone/>
            </a:pPr>
            <a:r>
              <a:rPr lang="en-US" sz="1300" dirty="0">
                <a:solidFill>
                  <a:srgbClr val="17202A"/>
                </a:solidFill>
              </a:rPr>
              <a:t>«Desarrolla programas aplicando características avanzadas de los lenguajes orientados a objetos y del entorno de programación.»</a:t>
            </a:r>
            <a:endParaRPr lang="en-US" sz="1300" dirty="0"/>
          </a:p>
        </p:txBody>
      </p:sp>
      <p:sp>
        <p:nvSpPr>
          <p:cNvPr id="10" name="Shape 8"/>
          <p:cNvSpPr/>
          <p:nvPr/>
        </p:nvSpPr>
        <p:spPr>
          <a:xfrm>
            <a:off x="804672" y="4818888"/>
            <a:ext cx="3273552" cy="0"/>
          </a:xfrm>
          <a:prstGeom prst="line">
            <a:avLst/>
          </a:prstGeom>
          <a:noFill/>
          <a:ln w="12700">
            <a:solidFill>
              <a:srgbClr val="DDE4EC"/>
            </a:solidFill>
            <a:prstDash val="solid"/>
          </a:ln>
        </p:spPr>
      </p:sp>
      <p:sp>
        <p:nvSpPr>
          <p:cNvPr id="11" name="Text 9"/>
          <p:cNvSpPr/>
          <p:nvPr/>
        </p:nvSpPr>
        <p:spPr>
          <a:xfrm>
            <a:off x="822960" y="4956048"/>
            <a:ext cx="3236976" cy="310896"/>
          </a:xfrm>
          <a:prstGeom prst="rect">
            <a:avLst/>
          </a:prstGeom>
          <a:noFill/>
          <a:ln/>
        </p:spPr>
        <p:txBody>
          <a:bodyPr wrap="square" lIns="0" tIns="0" rIns="0" bIns="0" rtlCol="0" anchor="ctr"/>
          <a:lstStyle/>
          <a:p>
            <a:pPr indent="0" marL="0">
              <a:buNone/>
            </a:pPr>
            <a:r>
              <a:rPr lang="en-US" sz="1100" b="1" dirty="0">
                <a:solidFill>
                  <a:srgbClr val="D97706"/>
                </a:solidFill>
              </a:rPr>
              <a:t>POO avanzada y recursos del entorno.</a:t>
            </a:r>
            <a:endParaRPr lang="en-US" sz="1100" dirty="0"/>
          </a:p>
        </p:txBody>
      </p:sp>
      <p:sp>
        <p:nvSpPr>
          <p:cNvPr id="12" name="Shape 10"/>
          <p:cNvSpPr/>
          <p:nvPr/>
        </p:nvSpPr>
        <p:spPr>
          <a:xfrm>
            <a:off x="4407408" y="1481328"/>
            <a:ext cx="3675888" cy="3977640"/>
          </a:xfrm>
          <a:prstGeom prst="roundRect">
            <a:avLst>
              <a:gd name="adj" fmla="val 1493"/>
            </a:avLst>
          </a:prstGeom>
          <a:solidFill>
            <a:srgbClr val="FFFFFF"/>
          </a:solidFill>
          <a:ln w="13970">
            <a:solidFill>
              <a:srgbClr val="D4DDE7"/>
            </a:solidFill>
            <a:prstDash val="solid"/>
          </a:ln>
        </p:spPr>
      </p:sp>
      <p:sp>
        <p:nvSpPr>
          <p:cNvPr id="13" name="Shape 11"/>
          <p:cNvSpPr/>
          <p:nvPr/>
        </p:nvSpPr>
        <p:spPr>
          <a:xfrm>
            <a:off x="4608576" y="1682496"/>
            <a:ext cx="658368" cy="475488"/>
          </a:xfrm>
          <a:prstGeom prst="roundRect">
            <a:avLst>
              <a:gd name="adj" fmla="val 11538"/>
            </a:avLst>
          </a:prstGeom>
          <a:solidFill>
            <a:srgbClr val="D97706"/>
          </a:solidFill>
          <a:ln w="12700">
            <a:solidFill>
              <a:srgbClr val="D97706"/>
            </a:solidFill>
            <a:prstDash val="solid"/>
          </a:ln>
        </p:spPr>
      </p:sp>
      <p:sp>
        <p:nvSpPr>
          <p:cNvPr id="14" name="Text 12"/>
          <p:cNvSpPr/>
          <p:nvPr/>
        </p:nvSpPr>
        <p:spPr>
          <a:xfrm>
            <a:off x="4608576" y="1783080"/>
            <a:ext cx="658368" cy="201168"/>
          </a:xfrm>
          <a:prstGeom prst="rect">
            <a:avLst/>
          </a:prstGeom>
          <a:noFill/>
          <a:ln/>
        </p:spPr>
        <p:txBody>
          <a:bodyPr wrap="square" lIns="0" tIns="0" rIns="0" bIns="0" rtlCol="0" anchor="ctr"/>
          <a:lstStyle/>
          <a:p>
            <a:pPr algn="ctr" indent="0" marL="0">
              <a:buNone/>
            </a:pPr>
            <a:r>
              <a:rPr lang="en-US" sz="1200" b="1" dirty="0">
                <a:solidFill>
                  <a:srgbClr val="FFFFFF"/>
                </a:solidFill>
              </a:rPr>
              <a:t>RA8</a:t>
            </a:r>
            <a:endParaRPr lang="en-US" sz="1200" dirty="0"/>
          </a:p>
        </p:txBody>
      </p:sp>
      <p:sp>
        <p:nvSpPr>
          <p:cNvPr id="15" name="Text 13"/>
          <p:cNvSpPr/>
          <p:nvPr/>
        </p:nvSpPr>
        <p:spPr>
          <a:xfrm>
            <a:off x="5394960" y="1645920"/>
            <a:ext cx="2468880" cy="3108960"/>
          </a:xfrm>
          <a:prstGeom prst="rect">
            <a:avLst/>
          </a:prstGeom>
          <a:noFill/>
          <a:ln/>
        </p:spPr>
        <p:txBody>
          <a:bodyPr wrap="square" lIns="0" tIns="0" rIns="0" bIns="0" rtlCol="0" anchor="ctr"/>
          <a:lstStyle/>
          <a:p>
            <a:pPr indent="0" marL="0">
              <a:buNone/>
            </a:pPr>
            <a:r>
              <a:rPr lang="en-US" sz="1300" dirty="0">
                <a:solidFill>
                  <a:srgbClr val="17202A"/>
                </a:solidFill>
              </a:rPr>
              <a:t>«Utiliza bases de datos orientadas a objetos, analizando sus características y aplicando técnicas para mantener la persistencia de la información.»</a:t>
            </a:r>
            <a:endParaRPr lang="en-US" sz="1300" dirty="0"/>
          </a:p>
        </p:txBody>
      </p:sp>
      <p:sp>
        <p:nvSpPr>
          <p:cNvPr id="16" name="Shape 14"/>
          <p:cNvSpPr/>
          <p:nvPr/>
        </p:nvSpPr>
        <p:spPr>
          <a:xfrm>
            <a:off x="4608576" y="4818888"/>
            <a:ext cx="3273552" cy="0"/>
          </a:xfrm>
          <a:prstGeom prst="line">
            <a:avLst/>
          </a:prstGeom>
          <a:noFill/>
          <a:ln w="12700">
            <a:solidFill>
              <a:srgbClr val="DDE4EC"/>
            </a:solidFill>
            <a:prstDash val="solid"/>
          </a:ln>
        </p:spPr>
      </p:sp>
      <p:sp>
        <p:nvSpPr>
          <p:cNvPr id="17" name="Text 15"/>
          <p:cNvSpPr/>
          <p:nvPr/>
        </p:nvSpPr>
        <p:spPr>
          <a:xfrm>
            <a:off x="4626864" y="4956048"/>
            <a:ext cx="3236976" cy="310896"/>
          </a:xfrm>
          <a:prstGeom prst="rect">
            <a:avLst/>
          </a:prstGeom>
          <a:noFill/>
          <a:ln/>
        </p:spPr>
        <p:txBody>
          <a:bodyPr wrap="square" lIns="0" tIns="0" rIns="0" bIns="0" rtlCol="0" anchor="ctr"/>
          <a:lstStyle/>
          <a:p>
            <a:pPr indent="0" marL="0">
              <a:buNone/>
            </a:pPr>
            <a:r>
              <a:rPr lang="en-US" sz="1100" b="1" dirty="0">
                <a:solidFill>
                  <a:srgbClr val="D97706"/>
                </a:solidFill>
              </a:rPr>
              <a:t>Persistencia orientada a objetos.</a:t>
            </a:r>
            <a:endParaRPr lang="en-US" sz="1100" dirty="0"/>
          </a:p>
        </p:txBody>
      </p:sp>
      <p:sp>
        <p:nvSpPr>
          <p:cNvPr id="18" name="Shape 16"/>
          <p:cNvSpPr/>
          <p:nvPr/>
        </p:nvSpPr>
        <p:spPr>
          <a:xfrm>
            <a:off x="8211312" y="1481328"/>
            <a:ext cx="3383280" cy="3977640"/>
          </a:xfrm>
          <a:prstGeom prst="roundRect">
            <a:avLst>
              <a:gd name="adj" fmla="val 1622"/>
            </a:avLst>
          </a:prstGeom>
          <a:solidFill>
            <a:srgbClr val="FFFFFF"/>
          </a:solidFill>
          <a:ln w="13970">
            <a:solidFill>
              <a:srgbClr val="D4DDE7"/>
            </a:solidFill>
            <a:prstDash val="solid"/>
          </a:ln>
        </p:spPr>
      </p:sp>
      <p:sp>
        <p:nvSpPr>
          <p:cNvPr id="19" name="Shape 17"/>
          <p:cNvSpPr/>
          <p:nvPr/>
        </p:nvSpPr>
        <p:spPr>
          <a:xfrm>
            <a:off x="8412480" y="1682496"/>
            <a:ext cx="658368" cy="475488"/>
          </a:xfrm>
          <a:prstGeom prst="roundRect">
            <a:avLst>
              <a:gd name="adj" fmla="val 11538"/>
            </a:avLst>
          </a:prstGeom>
          <a:solidFill>
            <a:srgbClr val="D97706"/>
          </a:solidFill>
          <a:ln w="12700">
            <a:solidFill>
              <a:srgbClr val="D97706"/>
            </a:solidFill>
            <a:prstDash val="solid"/>
          </a:ln>
        </p:spPr>
      </p:sp>
      <p:sp>
        <p:nvSpPr>
          <p:cNvPr id="20" name="Text 18"/>
          <p:cNvSpPr/>
          <p:nvPr/>
        </p:nvSpPr>
        <p:spPr>
          <a:xfrm>
            <a:off x="8412480" y="1783080"/>
            <a:ext cx="658368" cy="201168"/>
          </a:xfrm>
          <a:prstGeom prst="rect">
            <a:avLst/>
          </a:prstGeom>
          <a:noFill/>
          <a:ln/>
        </p:spPr>
        <p:txBody>
          <a:bodyPr wrap="square" lIns="0" tIns="0" rIns="0" bIns="0" rtlCol="0" anchor="ctr"/>
          <a:lstStyle/>
          <a:p>
            <a:pPr algn="ctr" indent="0" marL="0">
              <a:buNone/>
            </a:pPr>
            <a:r>
              <a:rPr lang="en-US" sz="1200" b="1" dirty="0">
                <a:solidFill>
                  <a:srgbClr val="FFFFFF"/>
                </a:solidFill>
              </a:rPr>
              <a:t>RA9</a:t>
            </a:r>
            <a:endParaRPr lang="en-US" sz="1200" dirty="0"/>
          </a:p>
        </p:txBody>
      </p:sp>
      <p:sp>
        <p:nvSpPr>
          <p:cNvPr id="21" name="Text 19"/>
          <p:cNvSpPr/>
          <p:nvPr/>
        </p:nvSpPr>
        <p:spPr>
          <a:xfrm>
            <a:off x="9198864" y="1645920"/>
            <a:ext cx="2176272" cy="3108960"/>
          </a:xfrm>
          <a:prstGeom prst="rect">
            <a:avLst/>
          </a:prstGeom>
          <a:noFill/>
          <a:ln/>
        </p:spPr>
        <p:txBody>
          <a:bodyPr wrap="square" lIns="0" tIns="0" rIns="0" bIns="0" rtlCol="0" anchor="ctr"/>
          <a:lstStyle/>
          <a:p>
            <a:pPr indent="0" marL="0">
              <a:buNone/>
            </a:pPr>
            <a:r>
              <a:rPr lang="en-US" sz="1300" dirty="0">
                <a:solidFill>
                  <a:srgbClr val="17202A"/>
                </a:solidFill>
              </a:rPr>
              <a:t>«Gestiona información almacenada en bases de datos manteniendo la integridad y consistencia de los datos.»</a:t>
            </a:r>
            <a:endParaRPr lang="en-US" sz="1300" dirty="0"/>
          </a:p>
        </p:txBody>
      </p:sp>
      <p:sp>
        <p:nvSpPr>
          <p:cNvPr id="22" name="Shape 20"/>
          <p:cNvSpPr/>
          <p:nvPr/>
        </p:nvSpPr>
        <p:spPr>
          <a:xfrm>
            <a:off x="8412480" y="4818888"/>
            <a:ext cx="2980944" cy="0"/>
          </a:xfrm>
          <a:prstGeom prst="line">
            <a:avLst/>
          </a:prstGeom>
          <a:noFill/>
          <a:ln w="12700">
            <a:solidFill>
              <a:srgbClr val="DDE4EC"/>
            </a:solidFill>
            <a:prstDash val="solid"/>
          </a:ln>
        </p:spPr>
      </p:sp>
      <p:sp>
        <p:nvSpPr>
          <p:cNvPr id="23" name="Text 21"/>
          <p:cNvSpPr/>
          <p:nvPr/>
        </p:nvSpPr>
        <p:spPr>
          <a:xfrm>
            <a:off x="8430768" y="4956048"/>
            <a:ext cx="2944368" cy="310896"/>
          </a:xfrm>
          <a:prstGeom prst="rect">
            <a:avLst/>
          </a:prstGeom>
          <a:noFill/>
          <a:ln/>
        </p:spPr>
        <p:txBody>
          <a:bodyPr wrap="square" lIns="0" tIns="0" rIns="0" bIns="0" rtlCol="0" anchor="ctr"/>
          <a:lstStyle/>
          <a:p>
            <a:pPr indent="0" marL="0">
              <a:buNone/>
            </a:pPr>
            <a:r>
              <a:rPr lang="en-US" sz="1100" b="1" dirty="0">
                <a:solidFill>
                  <a:srgbClr val="D97706"/>
                </a:solidFill>
              </a:rPr>
              <a:t>Gestión segura y consistente de datos.</a:t>
            </a:r>
            <a:endParaRPr lang="en-US" sz="1100" dirty="0"/>
          </a:p>
        </p:txBody>
      </p:sp>
      <p:sp>
        <p:nvSpPr>
          <p:cNvPr id="24" name="Shape 22"/>
          <p:cNvSpPr/>
          <p:nvPr/>
        </p:nvSpPr>
        <p:spPr>
          <a:xfrm>
            <a:off x="3364992" y="5614416"/>
            <a:ext cx="5486400" cy="411480"/>
          </a:xfrm>
          <a:prstGeom prst="roundRect">
            <a:avLst>
              <a:gd name="adj" fmla="val 8889"/>
            </a:avLst>
          </a:prstGeom>
          <a:solidFill>
            <a:srgbClr val="FEF3C7"/>
          </a:solidFill>
          <a:ln w="12700">
            <a:solidFill>
              <a:srgbClr val="F2C96D"/>
            </a:solidFill>
            <a:prstDash val="solid"/>
          </a:ln>
        </p:spPr>
      </p:sp>
      <p:sp>
        <p:nvSpPr>
          <p:cNvPr id="25" name="Text 23"/>
          <p:cNvSpPr/>
          <p:nvPr/>
        </p:nvSpPr>
        <p:spPr>
          <a:xfrm>
            <a:off x="3456432" y="5724144"/>
            <a:ext cx="5303520" cy="164592"/>
          </a:xfrm>
          <a:prstGeom prst="rect">
            <a:avLst/>
          </a:prstGeom>
          <a:noFill/>
          <a:ln/>
        </p:spPr>
        <p:txBody>
          <a:bodyPr wrap="square" lIns="0" tIns="0" rIns="0" bIns="0" rtlCol="0" anchor="ctr"/>
          <a:lstStyle/>
          <a:p>
            <a:pPr algn="ctr" indent="0" marL="0">
              <a:buNone/>
            </a:pPr>
            <a:r>
              <a:rPr lang="en-US" sz="1120" b="1" dirty="0">
                <a:solidFill>
                  <a:srgbClr val="D97706"/>
                </a:solidFill>
              </a:rPr>
              <a:t>ALCANCE ADAPTABLE AL PROGRESO REAL DEL GRUPO</a:t>
            </a:r>
            <a:endParaRPr lang="en-US" sz="1120" dirty="0"/>
          </a:p>
        </p:txBody>
      </p:sp>
      <p:sp>
        <p:nvSpPr>
          <p:cNvPr id="25" name="Slide Number Placeholder 0"/>
          <p:cNvSpPr>
            <a:spLocks noGrp="1"/>
          </p:cNvSpPr>
          <p:nvPr>
            <p:ph type="sldNum" sz="quarter" idx="4294967295"/>
          </p:nvPr>
        </p:nvSpPr>
        <p:spPr>
          <a:xfrm>
            <a:off x="11228832" y="6492240"/>
            <a:ext cx="411480" cy="201168"/>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rgbClr val="64748B"/>
                </a:solidFill>
                <a:latin typeface="Aptos"/>
                <a:ea typeface="Aptos"/>
                <a:cs typeface="Apto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84048"/>
            <a:ext cx="4389120" cy="256032"/>
          </a:xfrm>
          <a:prstGeom prst="rect">
            <a:avLst/>
          </a:prstGeom>
          <a:noFill/>
          <a:ln/>
        </p:spPr>
        <p:txBody>
          <a:bodyPr wrap="square" lIns="0" tIns="0" rIns="0" bIns="0" rtlCol="0" anchor="ctr"/>
          <a:lstStyle/>
          <a:p>
            <a:pPr indent="0" marL="0">
              <a:buNone/>
            </a:pPr>
            <a:r>
              <a:rPr lang="en-US" sz="1100" b="1" spc="70" kern="0" dirty="0">
                <a:solidFill>
                  <a:srgbClr val="0F766E"/>
                </a:solidFill>
              </a:rPr>
              <a:t>PROGRAMACIÓN · 1.º DAW</a:t>
            </a:r>
            <a:endParaRPr lang="en-US" sz="1100" dirty="0"/>
          </a:p>
        </p:txBody>
      </p:sp>
      <p:sp>
        <p:nvSpPr>
          <p:cNvPr id="3" name="Text 1"/>
          <p:cNvSpPr/>
          <p:nvPr/>
        </p:nvSpPr>
        <p:spPr>
          <a:xfrm>
            <a:off x="548640" y="749808"/>
            <a:ext cx="9784080" cy="621792"/>
          </a:xfrm>
          <a:prstGeom prst="rect">
            <a:avLst/>
          </a:prstGeom>
          <a:noFill/>
          <a:ln/>
        </p:spPr>
        <p:txBody>
          <a:bodyPr wrap="square" lIns="0" tIns="0" rIns="0" bIns="0" rtlCol="0" anchor="ctr"/>
          <a:lstStyle/>
          <a:p>
            <a:pPr indent="0" marL="0">
              <a:buNone/>
            </a:pPr>
            <a:r>
              <a:rPr lang="en-US" sz="2700" b="1" dirty="0">
                <a:solidFill>
                  <a:srgbClr val="17202A"/>
                </a:solidFill>
              </a:rPr>
              <a:t>ABP: aprender resolviendo retos con sentido</a:t>
            </a:r>
            <a:endParaRPr lang="en-US" sz="2700" dirty="0"/>
          </a:p>
        </p:txBody>
      </p:sp>
      <p:sp>
        <p:nvSpPr>
          <p:cNvPr id="4" name="Shape 2"/>
          <p:cNvSpPr/>
          <p:nvPr/>
        </p:nvSpPr>
        <p:spPr>
          <a:xfrm>
            <a:off x="10405872" y="411480"/>
            <a:ext cx="1234440" cy="347472"/>
          </a:xfrm>
          <a:prstGeom prst="roundRect">
            <a:avLst>
              <a:gd name="adj" fmla="val 18421"/>
            </a:avLst>
          </a:prstGeom>
          <a:solidFill>
            <a:srgbClr val="E0F2F1"/>
          </a:solidFill>
          <a:ln w="12700">
            <a:solidFill>
              <a:srgbClr val="7DD3C7"/>
            </a:solidFill>
            <a:prstDash val="solid"/>
          </a:ln>
        </p:spPr>
      </p:sp>
      <p:sp>
        <p:nvSpPr>
          <p:cNvPr id="5" name="Text 3"/>
          <p:cNvSpPr/>
          <p:nvPr/>
        </p:nvSpPr>
        <p:spPr>
          <a:xfrm>
            <a:off x="10405872" y="470916"/>
            <a:ext cx="1234440" cy="182880"/>
          </a:xfrm>
          <a:prstGeom prst="rect">
            <a:avLst/>
          </a:prstGeom>
          <a:noFill/>
          <a:ln/>
        </p:spPr>
        <p:txBody>
          <a:bodyPr wrap="square" lIns="0" tIns="0" rIns="0" bIns="0" rtlCol="0" anchor="ctr"/>
          <a:lstStyle/>
          <a:p>
            <a:pPr algn="ctr" indent="0" marL="0">
              <a:buNone/>
            </a:pPr>
            <a:r>
              <a:rPr lang="en-US" sz="950" b="1" dirty="0">
                <a:solidFill>
                  <a:srgbClr val="0F766E"/>
                </a:solidFill>
              </a:rPr>
              <a:t>CÓMO</a:t>
            </a:r>
            <a:endParaRPr lang="en-US" sz="950" dirty="0"/>
          </a:p>
        </p:txBody>
      </p:sp>
      <p:sp>
        <p:nvSpPr>
          <p:cNvPr id="6" name="Text 4"/>
          <p:cNvSpPr/>
          <p:nvPr/>
        </p:nvSpPr>
        <p:spPr>
          <a:xfrm>
            <a:off x="576072" y="1481328"/>
            <a:ext cx="10515600" cy="530352"/>
          </a:xfrm>
          <a:prstGeom prst="rect">
            <a:avLst/>
          </a:prstGeom>
          <a:noFill/>
          <a:ln/>
        </p:spPr>
        <p:txBody>
          <a:bodyPr wrap="square" lIns="0" tIns="0" rIns="0" bIns="0" rtlCol="0" anchor="ctr"/>
          <a:lstStyle/>
          <a:p>
            <a:pPr indent="0" marL="0">
              <a:buNone/>
            </a:pPr>
            <a:r>
              <a:rPr lang="en-US" sz="1850" dirty="0">
                <a:solidFill>
                  <a:srgbClr val="5B6573"/>
                </a:solidFill>
              </a:rPr>
              <a:t>El aprendizaje basado en proyectos conecta los conceptos con un producto o problema que exige aplicarlos.</a:t>
            </a:r>
            <a:endParaRPr lang="en-US" sz="1850" dirty="0"/>
          </a:p>
        </p:txBody>
      </p:sp>
      <p:sp>
        <p:nvSpPr>
          <p:cNvPr id="7" name="Shape 5"/>
          <p:cNvSpPr/>
          <p:nvPr/>
        </p:nvSpPr>
        <p:spPr>
          <a:xfrm>
            <a:off x="658368" y="2267712"/>
            <a:ext cx="3401568" cy="2514600"/>
          </a:xfrm>
          <a:prstGeom prst="roundRect">
            <a:avLst>
              <a:gd name="adj" fmla="val 2182"/>
            </a:avLst>
          </a:prstGeom>
          <a:solidFill>
            <a:srgbClr val="FFFFFF"/>
          </a:solidFill>
          <a:ln w="13970">
            <a:solidFill>
              <a:srgbClr val="D4DDE7"/>
            </a:solidFill>
            <a:prstDash val="solid"/>
          </a:ln>
        </p:spPr>
      </p:sp>
      <p:sp>
        <p:nvSpPr>
          <p:cNvPr id="8" name="Shape 6"/>
          <p:cNvSpPr/>
          <p:nvPr/>
        </p:nvSpPr>
        <p:spPr>
          <a:xfrm>
            <a:off x="886968" y="2514600"/>
            <a:ext cx="530352" cy="530352"/>
          </a:xfrm>
          <a:prstGeom prst="ellipse">
            <a:avLst/>
          </a:prstGeom>
          <a:solidFill>
            <a:srgbClr val="2563EB"/>
          </a:solidFill>
          <a:ln w="12700">
            <a:solidFill>
              <a:srgbClr val="2563EB"/>
            </a:solidFill>
            <a:prstDash val="solid"/>
          </a:ln>
        </p:spPr>
      </p:sp>
      <p:sp>
        <p:nvSpPr>
          <p:cNvPr id="9" name="Text 7"/>
          <p:cNvSpPr/>
          <p:nvPr/>
        </p:nvSpPr>
        <p:spPr>
          <a:xfrm>
            <a:off x="886968" y="2660904"/>
            <a:ext cx="530352" cy="164592"/>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0" name="Text 8"/>
          <p:cNvSpPr/>
          <p:nvPr/>
        </p:nvSpPr>
        <p:spPr>
          <a:xfrm>
            <a:off x="1554480" y="2514600"/>
            <a:ext cx="2176272" cy="420624"/>
          </a:xfrm>
          <a:prstGeom prst="rect">
            <a:avLst/>
          </a:prstGeom>
          <a:noFill/>
          <a:ln/>
        </p:spPr>
        <p:txBody>
          <a:bodyPr wrap="square" lIns="0" tIns="0" rIns="0" bIns="0" rtlCol="0" anchor="ctr"/>
          <a:lstStyle/>
          <a:p>
            <a:pPr indent="0" marL="0">
              <a:buNone/>
            </a:pPr>
            <a:r>
              <a:rPr lang="en-US" sz="1600" b="1" dirty="0">
                <a:solidFill>
                  <a:srgbClr val="17202A"/>
                </a:solidFill>
              </a:rPr>
              <a:t>Entender el reto</a:t>
            </a:r>
            <a:endParaRPr lang="en-US" sz="1600" dirty="0"/>
          </a:p>
        </p:txBody>
      </p:sp>
      <p:sp>
        <p:nvSpPr>
          <p:cNvPr id="11" name="Text 9"/>
          <p:cNvSpPr/>
          <p:nvPr/>
        </p:nvSpPr>
        <p:spPr>
          <a:xfrm>
            <a:off x="914400" y="3273552"/>
            <a:ext cx="2880360" cy="987552"/>
          </a:xfrm>
          <a:prstGeom prst="rect">
            <a:avLst/>
          </a:prstGeom>
          <a:noFill/>
          <a:ln/>
        </p:spPr>
        <p:txBody>
          <a:bodyPr wrap="square" lIns="0" tIns="0" rIns="0" bIns="0" rtlCol="0" anchor="ctr"/>
          <a:lstStyle/>
          <a:p>
            <a:pPr indent="0" marL="0">
              <a:buNone/>
            </a:pPr>
            <a:r>
              <a:rPr lang="en-US" sz="1300" dirty="0">
                <a:solidFill>
                  <a:srgbClr val="5B6573"/>
                </a:solidFill>
              </a:rPr>
              <a:t>Saber qué problema hay que resolver y qué cuenta como éxito.</a:t>
            </a:r>
            <a:endParaRPr lang="en-US" sz="1300" dirty="0"/>
          </a:p>
        </p:txBody>
      </p:sp>
      <p:sp>
        <p:nvSpPr>
          <p:cNvPr id="12" name="Shape 10"/>
          <p:cNvSpPr/>
          <p:nvPr/>
        </p:nvSpPr>
        <p:spPr>
          <a:xfrm>
            <a:off x="4462272" y="2267712"/>
            <a:ext cx="3401568" cy="2514600"/>
          </a:xfrm>
          <a:prstGeom prst="roundRect">
            <a:avLst>
              <a:gd name="adj" fmla="val 2182"/>
            </a:avLst>
          </a:prstGeom>
          <a:solidFill>
            <a:srgbClr val="FFFFFF"/>
          </a:solidFill>
          <a:ln w="13970">
            <a:solidFill>
              <a:srgbClr val="D4DDE7"/>
            </a:solidFill>
            <a:prstDash val="solid"/>
          </a:ln>
        </p:spPr>
      </p:sp>
      <p:sp>
        <p:nvSpPr>
          <p:cNvPr id="13" name="Shape 11"/>
          <p:cNvSpPr/>
          <p:nvPr/>
        </p:nvSpPr>
        <p:spPr>
          <a:xfrm>
            <a:off x="4690872" y="2514600"/>
            <a:ext cx="530352" cy="530352"/>
          </a:xfrm>
          <a:prstGeom prst="ellipse">
            <a:avLst/>
          </a:prstGeom>
          <a:solidFill>
            <a:srgbClr val="0F766E"/>
          </a:solidFill>
          <a:ln w="12700">
            <a:solidFill>
              <a:srgbClr val="0F766E"/>
            </a:solidFill>
            <a:prstDash val="solid"/>
          </a:ln>
        </p:spPr>
      </p:sp>
      <p:sp>
        <p:nvSpPr>
          <p:cNvPr id="14" name="Text 12"/>
          <p:cNvSpPr/>
          <p:nvPr/>
        </p:nvSpPr>
        <p:spPr>
          <a:xfrm>
            <a:off x="4690872" y="2660904"/>
            <a:ext cx="530352" cy="164592"/>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5" name="Text 13"/>
          <p:cNvSpPr/>
          <p:nvPr/>
        </p:nvSpPr>
        <p:spPr>
          <a:xfrm>
            <a:off x="5358384" y="2514600"/>
            <a:ext cx="2176272" cy="420624"/>
          </a:xfrm>
          <a:prstGeom prst="rect">
            <a:avLst/>
          </a:prstGeom>
          <a:noFill/>
          <a:ln/>
        </p:spPr>
        <p:txBody>
          <a:bodyPr wrap="square" lIns="0" tIns="0" rIns="0" bIns="0" rtlCol="0" anchor="ctr"/>
          <a:lstStyle/>
          <a:p>
            <a:pPr indent="0" marL="0">
              <a:buNone/>
            </a:pPr>
            <a:r>
              <a:rPr lang="en-US" sz="1600" b="1" dirty="0">
                <a:solidFill>
                  <a:srgbClr val="17202A"/>
                </a:solidFill>
              </a:rPr>
              <a:t>Aprender lo necesario</a:t>
            </a:r>
            <a:endParaRPr lang="en-US" sz="1600" dirty="0"/>
          </a:p>
        </p:txBody>
      </p:sp>
      <p:sp>
        <p:nvSpPr>
          <p:cNvPr id="16" name="Text 14"/>
          <p:cNvSpPr/>
          <p:nvPr/>
        </p:nvSpPr>
        <p:spPr>
          <a:xfrm>
            <a:off x="4718304" y="3273552"/>
            <a:ext cx="2880360" cy="987552"/>
          </a:xfrm>
          <a:prstGeom prst="rect">
            <a:avLst/>
          </a:prstGeom>
          <a:noFill/>
          <a:ln/>
        </p:spPr>
        <p:txBody>
          <a:bodyPr wrap="square" lIns="0" tIns="0" rIns="0" bIns="0" rtlCol="0" anchor="ctr"/>
          <a:lstStyle/>
          <a:p>
            <a:pPr indent="0" marL="0">
              <a:buNone/>
            </a:pPr>
            <a:r>
              <a:rPr lang="en-US" sz="1300" dirty="0">
                <a:solidFill>
                  <a:srgbClr val="5B6573"/>
                </a:solidFill>
              </a:rPr>
              <a:t>Combinar explicación docente, práctica guiada y exploración.</a:t>
            </a:r>
            <a:endParaRPr lang="en-US" sz="1300" dirty="0"/>
          </a:p>
        </p:txBody>
      </p:sp>
      <p:sp>
        <p:nvSpPr>
          <p:cNvPr id="17" name="Shape 15"/>
          <p:cNvSpPr/>
          <p:nvPr/>
        </p:nvSpPr>
        <p:spPr>
          <a:xfrm>
            <a:off x="8266176" y="2267712"/>
            <a:ext cx="3401568" cy="2514600"/>
          </a:xfrm>
          <a:prstGeom prst="roundRect">
            <a:avLst>
              <a:gd name="adj" fmla="val 2182"/>
            </a:avLst>
          </a:prstGeom>
          <a:solidFill>
            <a:srgbClr val="FFFFFF"/>
          </a:solidFill>
          <a:ln w="13970">
            <a:solidFill>
              <a:srgbClr val="D4DDE7"/>
            </a:solidFill>
            <a:prstDash val="solid"/>
          </a:ln>
        </p:spPr>
      </p:sp>
      <p:sp>
        <p:nvSpPr>
          <p:cNvPr id="18" name="Shape 16"/>
          <p:cNvSpPr/>
          <p:nvPr/>
        </p:nvSpPr>
        <p:spPr>
          <a:xfrm>
            <a:off x="8494776" y="2514600"/>
            <a:ext cx="530352" cy="530352"/>
          </a:xfrm>
          <a:prstGeom prst="ellipse">
            <a:avLst/>
          </a:prstGeom>
          <a:solidFill>
            <a:srgbClr val="D97706"/>
          </a:solidFill>
          <a:ln w="12700">
            <a:solidFill>
              <a:srgbClr val="D97706"/>
            </a:solidFill>
            <a:prstDash val="solid"/>
          </a:ln>
        </p:spPr>
      </p:sp>
      <p:sp>
        <p:nvSpPr>
          <p:cNvPr id="19" name="Text 17"/>
          <p:cNvSpPr/>
          <p:nvPr/>
        </p:nvSpPr>
        <p:spPr>
          <a:xfrm>
            <a:off x="8494776" y="2660904"/>
            <a:ext cx="530352" cy="164592"/>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0" name="Text 18"/>
          <p:cNvSpPr/>
          <p:nvPr/>
        </p:nvSpPr>
        <p:spPr>
          <a:xfrm>
            <a:off x="9162288" y="2514600"/>
            <a:ext cx="2176272" cy="420624"/>
          </a:xfrm>
          <a:prstGeom prst="rect">
            <a:avLst/>
          </a:prstGeom>
          <a:noFill/>
          <a:ln/>
        </p:spPr>
        <p:txBody>
          <a:bodyPr wrap="square" lIns="0" tIns="0" rIns="0" bIns="0" rtlCol="0" anchor="ctr"/>
          <a:lstStyle/>
          <a:p>
            <a:pPr indent="0" marL="0">
              <a:buNone/>
            </a:pPr>
            <a:r>
              <a:rPr lang="en-US" sz="1600" b="1" dirty="0">
                <a:solidFill>
                  <a:srgbClr val="17202A"/>
                </a:solidFill>
              </a:rPr>
              <a:t>Aplicar y comprobar</a:t>
            </a:r>
            <a:endParaRPr lang="en-US" sz="1600" dirty="0"/>
          </a:p>
        </p:txBody>
      </p:sp>
      <p:sp>
        <p:nvSpPr>
          <p:cNvPr id="21" name="Text 19"/>
          <p:cNvSpPr/>
          <p:nvPr/>
        </p:nvSpPr>
        <p:spPr>
          <a:xfrm>
            <a:off x="8522208" y="3273552"/>
            <a:ext cx="2880360" cy="987552"/>
          </a:xfrm>
          <a:prstGeom prst="rect">
            <a:avLst/>
          </a:prstGeom>
          <a:noFill/>
          <a:ln/>
        </p:spPr>
        <p:txBody>
          <a:bodyPr wrap="square" lIns="0" tIns="0" rIns="0" bIns="0" rtlCol="0" anchor="ctr"/>
          <a:lstStyle/>
          <a:p>
            <a:pPr indent="0" marL="0">
              <a:buNone/>
            </a:pPr>
            <a:r>
              <a:rPr lang="en-US" sz="1300" dirty="0">
                <a:solidFill>
                  <a:srgbClr val="5B6573"/>
                </a:solidFill>
              </a:rPr>
              <a:t>Construir, probar, explicar y mejorar una solución observable.</a:t>
            </a:r>
            <a:endParaRPr lang="en-US" sz="1300" dirty="0"/>
          </a:p>
        </p:txBody>
      </p:sp>
      <p:sp>
        <p:nvSpPr>
          <p:cNvPr id="22" name="Text 20"/>
          <p:cNvSpPr/>
          <p:nvPr/>
        </p:nvSpPr>
        <p:spPr>
          <a:xfrm>
            <a:off x="685800" y="5230368"/>
            <a:ext cx="10789920" cy="411480"/>
          </a:xfrm>
          <a:prstGeom prst="rect">
            <a:avLst/>
          </a:prstGeom>
          <a:noFill/>
          <a:ln/>
        </p:spPr>
        <p:txBody>
          <a:bodyPr wrap="square" lIns="0" tIns="0" rIns="0" bIns="0" rtlCol="0" anchor="ctr"/>
          <a:lstStyle/>
          <a:p>
            <a:pPr indent="0" marL="0">
              <a:buNone/>
            </a:pPr>
            <a:r>
              <a:rPr lang="en-US" sz="1400" b="1" dirty="0">
                <a:solidFill>
                  <a:srgbClr val="17324D"/>
                </a:solidFill>
              </a:rPr>
              <a:t>El proyecto da contexto. Los RA siguen indicando qué aprendizaje debe demostrarse.</a:t>
            </a:r>
            <a:endParaRPr lang="en-US" sz="1400" dirty="0"/>
          </a:p>
        </p:txBody>
      </p:sp>
      <p:sp>
        <p:nvSpPr>
          <p:cNvPr id="25" name="Slide Number Placeholder 0"/>
          <p:cNvSpPr>
            <a:spLocks noGrp="1"/>
          </p:cNvSpPr>
          <p:nvPr>
            <p:ph type="sldNum" sz="quarter" idx="4294967295"/>
          </p:nvPr>
        </p:nvSpPr>
        <p:spPr>
          <a:xfrm>
            <a:off x="11228832" y="6492240"/>
            <a:ext cx="411480" cy="201168"/>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rgbClr val="64748B"/>
                </a:solidFill>
                <a:latin typeface="Aptos"/>
                <a:ea typeface="Aptos"/>
                <a:cs typeface="Apto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84048"/>
            <a:ext cx="4389120" cy="256032"/>
          </a:xfrm>
          <a:prstGeom prst="rect">
            <a:avLst/>
          </a:prstGeom>
          <a:noFill/>
          <a:ln/>
        </p:spPr>
        <p:txBody>
          <a:bodyPr wrap="square" lIns="0" tIns="0" rIns="0" bIns="0" rtlCol="0" anchor="ctr"/>
          <a:lstStyle/>
          <a:p>
            <a:pPr indent="0" marL="0">
              <a:buNone/>
            </a:pPr>
            <a:r>
              <a:rPr lang="en-US" sz="1100" b="1" spc="70" kern="0" dirty="0">
                <a:solidFill>
                  <a:srgbClr val="0F766E"/>
                </a:solidFill>
              </a:rPr>
              <a:t>PROGRAMACIÓN · 1.º DAW</a:t>
            </a:r>
            <a:endParaRPr lang="en-US" sz="1100" dirty="0"/>
          </a:p>
        </p:txBody>
      </p:sp>
      <p:sp>
        <p:nvSpPr>
          <p:cNvPr id="3" name="Text 1"/>
          <p:cNvSpPr/>
          <p:nvPr/>
        </p:nvSpPr>
        <p:spPr>
          <a:xfrm>
            <a:off x="548640" y="749808"/>
            <a:ext cx="9784080" cy="621792"/>
          </a:xfrm>
          <a:prstGeom prst="rect">
            <a:avLst/>
          </a:prstGeom>
          <a:noFill/>
          <a:ln/>
        </p:spPr>
        <p:txBody>
          <a:bodyPr wrap="square" lIns="0" tIns="0" rIns="0" bIns="0" rtlCol="0" anchor="ctr"/>
          <a:lstStyle/>
          <a:p>
            <a:pPr indent="0" marL="0">
              <a:buNone/>
            </a:pPr>
            <a:r>
              <a:rPr lang="en-US" sz="2700" b="1" dirty="0">
                <a:solidFill>
                  <a:srgbClr val="17202A"/>
                </a:solidFill>
              </a:rPr>
              <a:t>HEXA: un ciclo completo en cada reto</a:t>
            </a:r>
            <a:endParaRPr lang="en-US" sz="2700" dirty="0"/>
          </a:p>
        </p:txBody>
      </p:sp>
      <p:sp>
        <p:nvSpPr>
          <p:cNvPr id="4" name="Shape 2"/>
          <p:cNvSpPr/>
          <p:nvPr/>
        </p:nvSpPr>
        <p:spPr>
          <a:xfrm>
            <a:off x="10405872" y="411480"/>
            <a:ext cx="1234440" cy="347472"/>
          </a:xfrm>
          <a:prstGeom prst="roundRect">
            <a:avLst>
              <a:gd name="adj" fmla="val 18421"/>
            </a:avLst>
          </a:prstGeom>
          <a:solidFill>
            <a:srgbClr val="E0F2F1"/>
          </a:solidFill>
          <a:ln w="12700">
            <a:solidFill>
              <a:srgbClr val="7DD3C7"/>
            </a:solidFill>
            <a:prstDash val="solid"/>
          </a:ln>
        </p:spPr>
      </p:sp>
      <p:sp>
        <p:nvSpPr>
          <p:cNvPr id="5" name="Text 3"/>
          <p:cNvSpPr/>
          <p:nvPr/>
        </p:nvSpPr>
        <p:spPr>
          <a:xfrm>
            <a:off x="10405872" y="470916"/>
            <a:ext cx="1234440" cy="182880"/>
          </a:xfrm>
          <a:prstGeom prst="rect">
            <a:avLst/>
          </a:prstGeom>
          <a:noFill/>
          <a:ln/>
        </p:spPr>
        <p:txBody>
          <a:bodyPr wrap="square" lIns="0" tIns="0" rIns="0" bIns="0" rtlCol="0" anchor="ctr"/>
          <a:lstStyle/>
          <a:p>
            <a:pPr algn="ctr" indent="0" marL="0">
              <a:buNone/>
            </a:pPr>
            <a:r>
              <a:rPr lang="en-US" sz="950" b="1" dirty="0">
                <a:solidFill>
                  <a:srgbClr val="0F766E"/>
                </a:solidFill>
              </a:rPr>
              <a:t>CÓMO</a:t>
            </a:r>
            <a:endParaRPr lang="en-US" sz="950" dirty="0"/>
          </a:p>
        </p:txBody>
      </p:sp>
      <p:sp>
        <p:nvSpPr>
          <p:cNvPr id="6" name="Shape 4"/>
          <p:cNvSpPr/>
          <p:nvPr/>
        </p:nvSpPr>
        <p:spPr>
          <a:xfrm>
            <a:off x="658368" y="1691640"/>
            <a:ext cx="2468880" cy="3218688"/>
          </a:xfrm>
          <a:prstGeom prst="roundRect">
            <a:avLst>
              <a:gd name="adj" fmla="val 2222"/>
            </a:avLst>
          </a:prstGeom>
          <a:solidFill>
            <a:srgbClr val="FFFFFF"/>
          </a:solidFill>
          <a:ln w="13970">
            <a:solidFill>
              <a:srgbClr val="D4DDE7"/>
            </a:solidFill>
            <a:prstDash val="solid"/>
          </a:ln>
        </p:spPr>
      </p:sp>
      <p:sp>
        <p:nvSpPr>
          <p:cNvPr id="7" name="Shape 5"/>
          <p:cNvSpPr/>
          <p:nvPr/>
        </p:nvSpPr>
        <p:spPr>
          <a:xfrm>
            <a:off x="1508760" y="1947672"/>
            <a:ext cx="768096" cy="768096"/>
          </a:xfrm>
          <a:prstGeom prst="ellipse">
            <a:avLst/>
          </a:prstGeom>
          <a:solidFill>
            <a:srgbClr val="2563EB"/>
          </a:solidFill>
          <a:ln w="12700">
            <a:solidFill>
              <a:srgbClr val="2563EB"/>
            </a:solidFill>
            <a:prstDash val="solid"/>
          </a:ln>
        </p:spPr>
      </p:sp>
      <p:sp>
        <p:nvSpPr>
          <p:cNvPr id="8" name="Text 6"/>
          <p:cNvSpPr/>
          <p:nvPr/>
        </p:nvSpPr>
        <p:spPr>
          <a:xfrm>
            <a:off x="1508760" y="2148840"/>
            <a:ext cx="768096" cy="219456"/>
          </a:xfrm>
          <a:prstGeom prst="rect">
            <a:avLst/>
          </a:prstGeom>
          <a:noFill/>
          <a:ln/>
        </p:spPr>
        <p:txBody>
          <a:bodyPr wrap="square" lIns="0" tIns="0" rIns="0" bIns="0" rtlCol="0" anchor="ctr"/>
          <a:lstStyle/>
          <a:p>
            <a:pPr algn="ctr" indent="0" marL="0">
              <a:buNone/>
            </a:pPr>
            <a:r>
              <a:rPr lang="en-US" sz="2000" b="1" dirty="0">
                <a:solidFill>
                  <a:srgbClr val="FFFFFF"/>
                </a:solidFill>
              </a:rPr>
              <a:t>H</a:t>
            </a:r>
            <a:endParaRPr lang="en-US" sz="2000" dirty="0"/>
          </a:p>
        </p:txBody>
      </p:sp>
      <p:sp>
        <p:nvSpPr>
          <p:cNvPr id="9" name="Text 7"/>
          <p:cNvSpPr/>
          <p:nvPr/>
        </p:nvSpPr>
        <p:spPr>
          <a:xfrm>
            <a:off x="859536" y="2990088"/>
            <a:ext cx="2066544" cy="475488"/>
          </a:xfrm>
          <a:prstGeom prst="rect">
            <a:avLst/>
          </a:prstGeom>
          <a:noFill/>
          <a:ln/>
        </p:spPr>
        <p:txBody>
          <a:bodyPr wrap="square" lIns="0" tIns="0" rIns="0" bIns="0" rtlCol="0" anchor="ctr"/>
          <a:lstStyle/>
          <a:p>
            <a:pPr algn="ctr" indent="0" marL="0">
              <a:buNone/>
            </a:pPr>
            <a:r>
              <a:rPr lang="en-US" sz="1600" b="1" dirty="0">
                <a:solidFill>
                  <a:srgbClr val="17202A"/>
                </a:solidFill>
              </a:rPr>
              <a:t>Hecho / reto</a:t>
            </a:r>
            <a:endParaRPr lang="en-US" sz="1600" dirty="0"/>
          </a:p>
        </p:txBody>
      </p:sp>
      <p:sp>
        <p:nvSpPr>
          <p:cNvPr id="10" name="Text 8"/>
          <p:cNvSpPr/>
          <p:nvPr/>
        </p:nvSpPr>
        <p:spPr>
          <a:xfrm>
            <a:off x="886968" y="3675888"/>
            <a:ext cx="2011680" cy="841248"/>
          </a:xfrm>
          <a:prstGeom prst="rect">
            <a:avLst/>
          </a:prstGeom>
          <a:noFill/>
          <a:ln/>
        </p:spPr>
        <p:txBody>
          <a:bodyPr wrap="square" lIns="0" tIns="0" rIns="0" bIns="0" rtlCol="0" anchor="ctr"/>
          <a:lstStyle/>
          <a:p>
            <a:pPr algn="ctr" indent="0" marL="0">
              <a:buNone/>
            </a:pPr>
            <a:r>
              <a:rPr lang="en-US" sz="1220" dirty="0">
                <a:solidFill>
                  <a:srgbClr val="5B6573"/>
                </a:solidFill>
              </a:rPr>
              <a:t>Situar problema, producto, límites y criterios de éxito.</a:t>
            </a:r>
            <a:endParaRPr lang="en-US" sz="1220" dirty="0"/>
          </a:p>
        </p:txBody>
      </p:sp>
      <p:sp>
        <p:nvSpPr>
          <p:cNvPr id="11" name="Shape 9"/>
          <p:cNvSpPr/>
          <p:nvPr/>
        </p:nvSpPr>
        <p:spPr>
          <a:xfrm>
            <a:off x="3163824" y="2816352"/>
            <a:ext cx="274320" cy="603504"/>
          </a:xfrm>
          <a:prstGeom prst="chevron">
            <a:avLst/>
          </a:prstGeom>
          <a:solidFill>
            <a:srgbClr val="D6DEE8"/>
          </a:solidFill>
          <a:ln w="12700">
            <a:solidFill>
              <a:srgbClr val="D6DEE8"/>
            </a:solidFill>
            <a:prstDash val="solid"/>
          </a:ln>
        </p:spPr>
      </p:sp>
      <p:sp>
        <p:nvSpPr>
          <p:cNvPr id="12" name="Shape 10"/>
          <p:cNvSpPr/>
          <p:nvPr/>
        </p:nvSpPr>
        <p:spPr>
          <a:xfrm>
            <a:off x="3447288" y="1691640"/>
            <a:ext cx="2468880" cy="3218688"/>
          </a:xfrm>
          <a:prstGeom prst="roundRect">
            <a:avLst>
              <a:gd name="adj" fmla="val 2222"/>
            </a:avLst>
          </a:prstGeom>
          <a:solidFill>
            <a:srgbClr val="FFFFFF"/>
          </a:solidFill>
          <a:ln w="13970">
            <a:solidFill>
              <a:srgbClr val="D4DDE7"/>
            </a:solidFill>
            <a:prstDash val="solid"/>
          </a:ln>
        </p:spPr>
      </p:sp>
      <p:sp>
        <p:nvSpPr>
          <p:cNvPr id="13" name="Shape 11"/>
          <p:cNvSpPr/>
          <p:nvPr/>
        </p:nvSpPr>
        <p:spPr>
          <a:xfrm>
            <a:off x="4297680" y="1947672"/>
            <a:ext cx="768096" cy="768096"/>
          </a:xfrm>
          <a:prstGeom prst="ellipse">
            <a:avLst/>
          </a:prstGeom>
          <a:solidFill>
            <a:srgbClr val="0F766E"/>
          </a:solidFill>
          <a:ln w="12700">
            <a:solidFill>
              <a:srgbClr val="0F766E"/>
            </a:solidFill>
            <a:prstDash val="solid"/>
          </a:ln>
        </p:spPr>
      </p:sp>
      <p:sp>
        <p:nvSpPr>
          <p:cNvPr id="14" name="Text 12"/>
          <p:cNvSpPr/>
          <p:nvPr/>
        </p:nvSpPr>
        <p:spPr>
          <a:xfrm>
            <a:off x="4297680" y="2148840"/>
            <a:ext cx="768096" cy="219456"/>
          </a:xfrm>
          <a:prstGeom prst="rect">
            <a:avLst/>
          </a:prstGeom>
          <a:noFill/>
          <a:ln/>
        </p:spPr>
        <p:txBody>
          <a:bodyPr wrap="square" lIns="0" tIns="0" rIns="0" bIns="0" rtlCol="0" anchor="ctr"/>
          <a:lstStyle/>
          <a:p>
            <a:pPr algn="ctr" indent="0" marL="0">
              <a:buNone/>
            </a:pPr>
            <a:r>
              <a:rPr lang="en-US" sz="2000" b="1" dirty="0">
                <a:solidFill>
                  <a:srgbClr val="FFFFFF"/>
                </a:solidFill>
              </a:rPr>
              <a:t>E</a:t>
            </a:r>
            <a:endParaRPr lang="en-US" sz="2000" dirty="0"/>
          </a:p>
        </p:txBody>
      </p:sp>
      <p:sp>
        <p:nvSpPr>
          <p:cNvPr id="15" name="Text 13"/>
          <p:cNvSpPr/>
          <p:nvPr/>
        </p:nvSpPr>
        <p:spPr>
          <a:xfrm>
            <a:off x="3648456" y="2990088"/>
            <a:ext cx="2066544" cy="475488"/>
          </a:xfrm>
          <a:prstGeom prst="rect">
            <a:avLst/>
          </a:prstGeom>
          <a:noFill/>
          <a:ln/>
        </p:spPr>
        <p:txBody>
          <a:bodyPr wrap="square" lIns="0" tIns="0" rIns="0" bIns="0" rtlCol="0" anchor="ctr"/>
          <a:lstStyle/>
          <a:p>
            <a:pPr algn="ctr" indent="0" marL="0">
              <a:buNone/>
            </a:pPr>
            <a:r>
              <a:rPr lang="en-US" sz="1600" b="1" dirty="0">
                <a:solidFill>
                  <a:srgbClr val="17202A"/>
                </a:solidFill>
              </a:rPr>
              <a:t>Exploración</a:t>
            </a:r>
            <a:endParaRPr lang="en-US" sz="1600" dirty="0"/>
          </a:p>
        </p:txBody>
      </p:sp>
      <p:sp>
        <p:nvSpPr>
          <p:cNvPr id="16" name="Text 14"/>
          <p:cNvSpPr/>
          <p:nvPr/>
        </p:nvSpPr>
        <p:spPr>
          <a:xfrm>
            <a:off x="3675888" y="3675888"/>
            <a:ext cx="2011680" cy="841248"/>
          </a:xfrm>
          <a:prstGeom prst="rect">
            <a:avLst/>
          </a:prstGeom>
          <a:noFill/>
          <a:ln/>
        </p:spPr>
        <p:txBody>
          <a:bodyPr wrap="square" lIns="0" tIns="0" rIns="0" bIns="0" rtlCol="0" anchor="ctr"/>
          <a:lstStyle/>
          <a:p>
            <a:pPr algn="ctr" indent="0" marL="0">
              <a:buNone/>
            </a:pPr>
            <a:r>
              <a:rPr lang="en-US" sz="1220" dirty="0">
                <a:solidFill>
                  <a:srgbClr val="5B6573"/>
                </a:solidFill>
              </a:rPr>
              <a:t>Comparar, predecir, formular hipótesis y hacer pruebas guiadas.</a:t>
            </a:r>
            <a:endParaRPr lang="en-US" sz="1220" dirty="0"/>
          </a:p>
        </p:txBody>
      </p:sp>
      <p:sp>
        <p:nvSpPr>
          <p:cNvPr id="17" name="Shape 15"/>
          <p:cNvSpPr/>
          <p:nvPr/>
        </p:nvSpPr>
        <p:spPr>
          <a:xfrm>
            <a:off x="5952744" y="2816352"/>
            <a:ext cx="274320" cy="603504"/>
          </a:xfrm>
          <a:prstGeom prst="chevron">
            <a:avLst/>
          </a:prstGeom>
          <a:solidFill>
            <a:srgbClr val="D6DEE8"/>
          </a:solidFill>
          <a:ln w="12700">
            <a:solidFill>
              <a:srgbClr val="D6DEE8"/>
            </a:solidFill>
            <a:prstDash val="solid"/>
          </a:ln>
        </p:spPr>
      </p:sp>
      <p:sp>
        <p:nvSpPr>
          <p:cNvPr id="18" name="Shape 16"/>
          <p:cNvSpPr/>
          <p:nvPr/>
        </p:nvSpPr>
        <p:spPr>
          <a:xfrm>
            <a:off x="6236208" y="1691640"/>
            <a:ext cx="2468880" cy="3218688"/>
          </a:xfrm>
          <a:prstGeom prst="roundRect">
            <a:avLst>
              <a:gd name="adj" fmla="val 2222"/>
            </a:avLst>
          </a:prstGeom>
          <a:solidFill>
            <a:srgbClr val="FFFFFF"/>
          </a:solidFill>
          <a:ln w="13970">
            <a:solidFill>
              <a:srgbClr val="D4DDE7"/>
            </a:solidFill>
            <a:prstDash val="solid"/>
          </a:ln>
        </p:spPr>
      </p:sp>
      <p:sp>
        <p:nvSpPr>
          <p:cNvPr id="19" name="Shape 17"/>
          <p:cNvSpPr/>
          <p:nvPr/>
        </p:nvSpPr>
        <p:spPr>
          <a:xfrm>
            <a:off x="7086600" y="1947672"/>
            <a:ext cx="768096" cy="768096"/>
          </a:xfrm>
          <a:prstGeom prst="ellipse">
            <a:avLst/>
          </a:prstGeom>
          <a:solidFill>
            <a:srgbClr val="17324D"/>
          </a:solidFill>
          <a:ln w="12700">
            <a:solidFill>
              <a:srgbClr val="17324D"/>
            </a:solidFill>
            <a:prstDash val="solid"/>
          </a:ln>
        </p:spPr>
      </p:sp>
      <p:sp>
        <p:nvSpPr>
          <p:cNvPr id="20" name="Text 18"/>
          <p:cNvSpPr/>
          <p:nvPr/>
        </p:nvSpPr>
        <p:spPr>
          <a:xfrm>
            <a:off x="7086600" y="2148840"/>
            <a:ext cx="768096" cy="219456"/>
          </a:xfrm>
          <a:prstGeom prst="rect">
            <a:avLst/>
          </a:prstGeom>
          <a:noFill/>
          <a:ln/>
        </p:spPr>
        <p:txBody>
          <a:bodyPr wrap="square" lIns="0" tIns="0" rIns="0" bIns="0" rtlCol="0" anchor="ctr"/>
          <a:lstStyle/>
          <a:p>
            <a:pPr algn="ctr" indent="0" marL="0">
              <a:buNone/>
            </a:pPr>
            <a:r>
              <a:rPr lang="en-US" sz="2000" b="1" dirty="0">
                <a:solidFill>
                  <a:srgbClr val="FFFFFF"/>
                </a:solidFill>
              </a:rPr>
              <a:t>X</a:t>
            </a:r>
            <a:endParaRPr lang="en-US" sz="2000" dirty="0"/>
          </a:p>
        </p:txBody>
      </p:sp>
      <p:sp>
        <p:nvSpPr>
          <p:cNvPr id="21" name="Text 19"/>
          <p:cNvSpPr/>
          <p:nvPr/>
        </p:nvSpPr>
        <p:spPr>
          <a:xfrm>
            <a:off x="6437376" y="2990088"/>
            <a:ext cx="2066544" cy="475488"/>
          </a:xfrm>
          <a:prstGeom prst="rect">
            <a:avLst/>
          </a:prstGeom>
          <a:noFill/>
          <a:ln/>
        </p:spPr>
        <p:txBody>
          <a:bodyPr wrap="square" lIns="0" tIns="0" rIns="0" bIns="0" rtlCol="0" anchor="ctr"/>
          <a:lstStyle/>
          <a:p>
            <a:pPr algn="ctr" indent="0" marL="0">
              <a:buNone/>
            </a:pPr>
            <a:r>
              <a:rPr lang="en-US" sz="1600" b="1" dirty="0">
                <a:solidFill>
                  <a:srgbClr val="17202A"/>
                </a:solidFill>
              </a:rPr>
              <a:t>eXplicación</a:t>
            </a:r>
            <a:endParaRPr lang="en-US" sz="1600" dirty="0"/>
          </a:p>
        </p:txBody>
      </p:sp>
      <p:sp>
        <p:nvSpPr>
          <p:cNvPr id="22" name="Text 20"/>
          <p:cNvSpPr/>
          <p:nvPr/>
        </p:nvSpPr>
        <p:spPr>
          <a:xfrm>
            <a:off x="6464808" y="3675888"/>
            <a:ext cx="2011680" cy="841248"/>
          </a:xfrm>
          <a:prstGeom prst="rect">
            <a:avLst/>
          </a:prstGeom>
          <a:noFill/>
          <a:ln/>
        </p:spPr>
        <p:txBody>
          <a:bodyPr wrap="square" lIns="0" tIns="0" rIns="0" bIns="0" rtlCol="0" anchor="ctr"/>
          <a:lstStyle/>
          <a:p>
            <a:pPr algn="ctr" indent="0" marL="0">
              <a:buNone/>
            </a:pPr>
            <a:r>
              <a:rPr lang="en-US" sz="1220" dirty="0">
                <a:solidFill>
                  <a:srgbClr val="5B6573"/>
                </a:solidFill>
              </a:rPr>
              <a:t>Formalizar los conceptos necesarios después de explorar.</a:t>
            </a:r>
            <a:endParaRPr lang="en-US" sz="1220" dirty="0"/>
          </a:p>
        </p:txBody>
      </p:sp>
      <p:sp>
        <p:nvSpPr>
          <p:cNvPr id="23" name="Shape 21"/>
          <p:cNvSpPr/>
          <p:nvPr/>
        </p:nvSpPr>
        <p:spPr>
          <a:xfrm>
            <a:off x="8741664" y="2816352"/>
            <a:ext cx="274320" cy="603504"/>
          </a:xfrm>
          <a:prstGeom prst="chevron">
            <a:avLst/>
          </a:prstGeom>
          <a:solidFill>
            <a:srgbClr val="D6DEE8"/>
          </a:solidFill>
          <a:ln w="12700">
            <a:solidFill>
              <a:srgbClr val="D6DEE8"/>
            </a:solidFill>
            <a:prstDash val="solid"/>
          </a:ln>
        </p:spPr>
      </p:sp>
      <p:sp>
        <p:nvSpPr>
          <p:cNvPr id="24" name="Shape 22"/>
          <p:cNvSpPr/>
          <p:nvPr/>
        </p:nvSpPr>
        <p:spPr>
          <a:xfrm>
            <a:off x="9025128" y="1691640"/>
            <a:ext cx="2468880" cy="3218688"/>
          </a:xfrm>
          <a:prstGeom prst="roundRect">
            <a:avLst>
              <a:gd name="adj" fmla="val 2222"/>
            </a:avLst>
          </a:prstGeom>
          <a:solidFill>
            <a:srgbClr val="FFFFFF"/>
          </a:solidFill>
          <a:ln w="13970">
            <a:solidFill>
              <a:srgbClr val="D4DDE7"/>
            </a:solidFill>
            <a:prstDash val="solid"/>
          </a:ln>
        </p:spPr>
      </p:sp>
      <p:sp>
        <p:nvSpPr>
          <p:cNvPr id="25" name="Shape 23"/>
          <p:cNvSpPr/>
          <p:nvPr/>
        </p:nvSpPr>
        <p:spPr>
          <a:xfrm>
            <a:off x="9875520" y="1947672"/>
            <a:ext cx="768096" cy="768096"/>
          </a:xfrm>
          <a:prstGeom prst="ellipse">
            <a:avLst/>
          </a:prstGeom>
          <a:solidFill>
            <a:srgbClr val="D97706"/>
          </a:solidFill>
          <a:ln w="12700">
            <a:solidFill>
              <a:srgbClr val="D97706"/>
            </a:solidFill>
            <a:prstDash val="solid"/>
          </a:ln>
        </p:spPr>
      </p:sp>
      <p:sp>
        <p:nvSpPr>
          <p:cNvPr id="26" name="Text 24"/>
          <p:cNvSpPr/>
          <p:nvPr/>
        </p:nvSpPr>
        <p:spPr>
          <a:xfrm>
            <a:off x="9875520" y="2148840"/>
            <a:ext cx="768096" cy="219456"/>
          </a:xfrm>
          <a:prstGeom prst="rect">
            <a:avLst/>
          </a:prstGeom>
          <a:noFill/>
          <a:ln/>
        </p:spPr>
        <p:txBody>
          <a:bodyPr wrap="square" lIns="0" tIns="0" rIns="0" bIns="0" rtlCol="0" anchor="ctr"/>
          <a:lstStyle/>
          <a:p>
            <a:pPr algn="ctr" indent="0" marL="0">
              <a:buNone/>
            </a:pPr>
            <a:r>
              <a:rPr lang="en-US" sz="2000" b="1" dirty="0">
                <a:solidFill>
                  <a:srgbClr val="FFFFFF"/>
                </a:solidFill>
              </a:rPr>
              <a:t>A</a:t>
            </a:r>
            <a:endParaRPr lang="en-US" sz="2000" dirty="0"/>
          </a:p>
        </p:txBody>
      </p:sp>
      <p:sp>
        <p:nvSpPr>
          <p:cNvPr id="27" name="Text 25"/>
          <p:cNvSpPr/>
          <p:nvPr/>
        </p:nvSpPr>
        <p:spPr>
          <a:xfrm>
            <a:off x="9226296" y="2990088"/>
            <a:ext cx="2066544" cy="475488"/>
          </a:xfrm>
          <a:prstGeom prst="rect">
            <a:avLst/>
          </a:prstGeom>
          <a:noFill/>
          <a:ln/>
        </p:spPr>
        <p:txBody>
          <a:bodyPr wrap="square" lIns="0" tIns="0" rIns="0" bIns="0" rtlCol="0" anchor="ctr"/>
          <a:lstStyle/>
          <a:p>
            <a:pPr algn="ctr" indent="0" marL="0">
              <a:buNone/>
            </a:pPr>
            <a:r>
              <a:rPr lang="en-US" sz="1600" b="1" dirty="0">
                <a:solidFill>
                  <a:srgbClr val="17202A"/>
                </a:solidFill>
              </a:rPr>
              <a:t>Aplicación</a:t>
            </a:r>
            <a:endParaRPr lang="en-US" sz="1600" dirty="0"/>
          </a:p>
        </p:txBody>
      </p:sp>
      <p:sp>
        <p:nvSpPr>
          <p:cNvPr id="28" name="Text 26"/>
          <p:cNvSpPr/>
          <p:nvPr/>
        </p:nvSpPr>
        <p:spPr>
          <a:xfrm>
            <a:off x="9253728" y="3675888"/>
            <a:ext cx="2011680" cy="841248"/>
          </a:xfrm>
          <a:prstGeom prst="rect">
            <a:avLst/>
          </a:prstGeom>
          <a:noFill/>
          <a:ln/>
        </p:spPr>
        <p:txBody>
          <a:bodyPr wrap="square" lIns="0" tIns="0" rIns="0" bIns="0" rtlCol="0" anchor="ctr"/>
          <a:lstStyle/>
          <a:p>
            <a:pPr algn="ctr" indent="0" marL="0">
              <a:buNone/>
            </a:pPr>
            <a:r>
              <a:rPr lang="en-US" sz="1220" dirty="0">
                <a:solidFill>
                  <a:srgbClr val="5B6573"/>
                </a:solidFill>
              </a:rPr>
              <a:t>Construir, probar, documentar, defender y mejorar.</a:t>
            </a:r>
            <a:endParaRPr lang="en-US" sz="1220" dirty="0"/>
          </a:p>
        </p:txBody>
      </p:sp>
      <p:sp>
        <p:nvSpPr>
          <p:cNvPr id="29" name="Text 27"/>
          <p:cNvSpPr/>
          <p:nvPr/>
        </p:nvSpPr>
        <p:spPr>
          <a:xfrm>
            <a:off x="685800" y="5285232"/>
            <a:ext cx="10698480" cy="420624"/>
          </a:xfrm>
          <a:prstGeom prst="rect">
            <a:avLst/>
          </a:prstGeom>
          <a:noFill/>
          <a:ln/>
        </p:spPr>
        <p:txBody>
          <a:bodyPr wrap="square" lIns="0" tIns="0" rIns="0" bIns="0" rtlCol="0" anchor="ctr"/>
          <a:lstStyle/>
          <a:p>
            <a:pPr indent="0" marL="0">
              <a:buNone/>
            </a:pPr>
            <a:r>
              <a:rPr lang="en-US" sz="1400" b="1" dirty="0">
                <a:solidFill>
                  <a:srgbClr val="17324D"/>
                </a:solidFill>
              </a:rPr>
              <a:t>Cada hito o reto recorre H–E–X–A. El producto final por sí solo no sustituye el proceso.</a:t>
            </a:r>
            <a:endParaRPr lang="en-US" sz="1400" dirty="0"/>
          </a:p>
        </p:txBody>
      </p:sp>
      <p:sp>
        <p:nvSpPr>
          <p:cNvPr id="25" name="Slide Number Placeholder 0"/>
          <p:cNvSpPr>
            <a:spLocks noGrp="1"/>
          </p:cNvSpPr>
          <p:nvPr>
            <p:ph type="sldNum" sz="quarter" idx="4294967295"/>
          </p:nvPr>
        </p:nvSpPr>
        <p:spPr>
          <a:xfrm>
            <a:off x="11228832" y="6492240"/>
            <a:ext cx="411480" cy="201168"/>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rgbClr val="64748B"/>
                </a:solidFill>
                <a:latin typeface="Aptos"/>
                <a:ea typeface="Aptos"/>
                <a:cs typeface="Apto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84048"/>
            <a:ext cx="4389120" cy="256032"/>
          </a:xfrm>
          <a:prstGeom prst="rect">
            <a:avLst/>
          </a:prstGeom>
          <a:noFill/>
          <a:ln/>
        </p:spPr>
        <p:txBody>
          <a:bodyPr wrap="square" lIns="0" tIns="0" rIns="0" bIns="0" rtlCol="0" anchor="ctr"/>
          <a:lstStyle/>
          <a:p>
            <a:pPr indent="0" marL="0">
              <a:buNone/>
            </a:pPr>
            <a:r>
              <a:rPr lang="en-US" sz="1100" b="1" spc="70" kern="0" dirty="0">
                <a:solidFill>
                  <a:srgbClr val="0F766E"/>
                </a:solidFill>
              </a:rPr>
              <a:t>PROGRAMACIÓN · 1.º DAW</a:t>
            </a:r>
            <a:endParaRPr lang="en-US" sz="1100" dirty="0"/>
          </a:p>
        </p:txBody>
      </p:sp>
      <p:sp>
        <p:nvSpPr>
          <p:cNvPr id="3" name="Text 1"/>
          <p:cNvSpPr/>
          <p:nvPr/>
        </p:nvSpPr>
        <p:spPr>
          <a:xfrm>
            <a:off x="548640" y="749808"/>
            <a:ext cx="9784080" cy="621792"/>
          </a:xfrm>
          <a:prstGeom prst="rect">
            <a:avLst/>
          </a:prstGeom>
          <a:noFill/>
          <a:ln/>
        </p:spPr>
        <p:txBody>
          <a:bodyPr wrap="square" lIns="0" tIns="0" rIns="0" bIns="0" rtlCol="0" anchor="ctr"/>
          <a:lstStyle/>
          <a:p>
            <a:pPr indent="0" marL="0">
              <a:buNone/>
            </a:pPr>
            <a:r>
              <a:rPr lang="en-US" sz="2700" b="1" dirty="0">
                <a:solidFill>
                  <a:srgbClr val="17202A"/>
                </a:solidFill>
              </a:rPr>
              <a:t>Scrum adaptado y DUA: organizar y hacer accesible el aprendizaje</a:t>
            </a:r>
            <a:endParaRPr lang="en-US" sz="2700" dirty="0"/>
          </a:p>
        </p:txBody>
      </p:sp>
      <p:sp>
        <p:nvSpPr>
          <p:cNvPr id="4" name="Shape 2"/>
          <p:cNvSpPr/>
          <p:nvPr/>
        </p:nvSpPr>
        <p:spPr>
          <a:xfrm>
            <a:off x="10405872" y="411480"/>
            <a:ext cx="1234440" cy="347472"/>
          </a:xfrm>
          <a:prstGeom prst="roundRect">
            <a:avLst>
              <a:gd name="adj" fmla="val 18421"/>
            </a:avLst>
          </a:prstGeom>
          <a:solidFill>
            <a:srgbClr val="E0F2F1"/>
          </a:solidFill>
          <a:ln w="12700">
            <a:solidFill>
              <a:srgbClr val="7DD3C7"/>
            </a:solidFill>
            <a:prstDash val="solid"/>
          </a:ln>
        </p:spPr>
      </p:sp>
      <p:sp>
        <p:nvSpPr>
          <p:cNvPr id="5" name="Text 3"/>
          <p:cNvSpPr/>
          <p:nvPr/>
        </p:nvSpPr>
        <p:spPr>
          <a:xfrm>
            <a:off x="10405872" y="470916"/>
            <a:ext cx="1234440" cy="182880"/>
          </a:xfrm>
          <a:prstGeom prst="rect">
            <a:avLst/>
          </a:prstGeom>
          <a:noFill/>
          <a:ln/>
        </p:spPr>
        <p:txBody>
          <a:bodyPr wrap="square" lIns="0" tIns="0" rIns="0" bIns="0" rtlCol="0" anchor="ctr"/>
          <a:lstStyle/>
          <a:p>
            <a:pPr algn="ctr" indent="0" marL="0">
              <a:buNone/>
            </a:pPr>
            <a:r>
              <a:rPr lang="en-US" sz="950" b="1" dirty="0">
                <a:solidFill>
                  <a:srgbClr val="0F766E"/>
                </a:solidFill>
              </a:rPr>
              <a:t>CÓMO</a:t>
            </a:r>
            <a:endParaRPr lang="en-US" sz="950" dirty="0"/>
          </a:p>
        </p:txBody>
      </p:sp>
      <p:sp>
        <p:nvSpPr>
          <p:cNvPr id="6" name="Shape 4"/>
          <p:cNvSpPr/>
          <p:nvPr/>
        </p:nvSpPr>
        <p:spPr>
          <a:xfrm>
            <a:off x="621792" y="1481328"/>
            <a:ext cx="6446520" cy="4315968"/>
          </a:xfrm>
          <a:prstGeom prst="roundRect">
            <a:avLst>
              <a:gd name="adj" fmla="val 1271"/>
            </a:avLst>
          </a:prstGeom>
          <a:solidFill>
            <a:srgbClr val="FFFFFF"/>
          </a:solidFill>
          <a:ln w="13970">
            <a:solidFill>
              <a:srgbClr val="D4DDE7"/>
            </a:solidFill>
            <a:prstDash val="solid"/>
          </a:ln>
        </p:spPr>
      </p:sp>
      <p:sp>
        <p:nvSpPr>
          <p:cNvPr id="7" name="Text 5"/>
          <p:cNvSpPr/>
          <p:nvPr/>
        </p:nvSpPr>
        <p:spPr>
          <a:xfrm>
            <a:off x="896112" y="1764792"/>
            <a:ext cx="2286000" cy="310896"/>
          </a:xfrm>
          <a:prstGeom prst="rect">
            <a:avLst/>
          </a:prstGeom>
          <a:noFill/>
          <a:ln/>
        </p:spPr>
        <p:txBody>
          <a:bodyPr wrap="square" lIns="0" tIns="0" rIns="0" bIns="0" rtlCol="0" anchor="ctr"/>
          <a:lstStyle/>
          <a:p>
            <a:pPr indent="0" marL="0">
              <a:buNone/>
            </a:pPr>
            <a:r>
              <a:rPr lang="en-US" sz="1500" b="1" dirty="0">
                <a:solidFill>
                  <a:srgbClr val="0F766E"/>
                </a:solidFill>
              </a:rPr>
              <a:t>SCRUM ADAPTADO</a:t>
            </a:r>
            <a:endParaRPr lang="en-US" sz="1500" dirty="0"/>
          </a:p>
        </p:txBody>
      </p:sp>
      <p:sp>
        <p:nvSpPr>
          <p:cNvPr id="8" name="Shape 6"/>
          <p:cNvSpPr/>
          <p:nvPr/>
        </p:nvSpPr>
        <p:spPr>
          <a:xfrm>
            <a:off x="941832" y="2350008"/>
            <a:ext cx="320040" cy="320040"/>
          </a:xfrm>
          <a:prstGeom prst="ellipse">
            <a:avLst/>
          </a:prstGeom>
          <a:solidFill>
            <a:srgbClr val="0F766E"/>
          </a:solidFill>
          <a:ln w="12700">
            <a:solidFill>
              <a:srgbClr val="0F766E"/>
            </a:solidFill>
            <a:prstDash val="solid"/>
          </a:ln>
        </p:spPr>
      </p:sp>
      <p:sp>
        <p:nvSpPr>
          <p:cNvPr id="9" name="Text 7"/>
          <p:cNvSpPr/>
          <p:nvPr/>
        </p:nvSpPr>
        <p:spPr>
          <a:xfrm>
            <a:off x="941832" y="2423160"/>
            <a:ext cx="320040" cy="128016"/>
          </a:xfrm>
          <a:prstGeom prst="rect">
            <a:avLst/>
          </a:prstGeom>
          <a:noFill/>
          <a:ln/>
        </p:spPr>
        <p:txBody>
          <a:bodyPr wrap="square" lIns="0" tIns="0" rIns="0" bIns="0" rtlCol="0" anchor="ctr"/>
          <a:lstStyle/>
          <a:p>
            <a:pPr algn="ctr" indent="0" marL="0">
              <a:buNone/>
            </a:pPr>
            <a:r>
              <a:rPr lang="en-US" sz="900" b="1" dirty="0">
                <a:solidFill>
                  <a:srgbClr val="FFFFFF"/>
                </a:solidFill>
              </a:rPr>
              <a:t>1</a:t>
            </a:r>
            <a:endParaRPr lang="en-US" sz="900" dirty="0"/>
          </a:p>
        </p:txBody>
      </p:sp>
      <p:sp>
        <p:nvSpPr>
          <p:cNvPr id="10" name="Text 8"/>
          <p:cNvSpPr/>
          <p:nvPr/>
        </p:nvSpPr>
        <p:spPr>
          <a:xfrm>
            <a:off x="1417320" y="2331720"/>
            <a:ext cx="4206240" cy="329184"/>
          </a:xfrm>
          <a:prstGeom prst="rect">
            <a:avLst/>
          </a:prstGeom>
          <a:noFill/>
          <a:ln/>
        </p:spPr>
        <p:txBody>
          <a:bodyPr wrap="square" lIns="0" tIns="0" rIns="0" bIns="0" rtlCol="0" anchor="ctr"/>
          <a:lstStyle/>
          <a:p>
            <a:pPr indent="0" marL="0">
              <a:buNone/>
            </a:pPr>
            <a:r>
              <a:rPr lang="en-US" sz="1350" b="1" dirty="0">
                <a:solidFill>
                  <a:srgbClr val="17202A"/>
                </a:solidFill>
              </a:rPr>
              <a:t>Backlog visible</a:t>
            </a:r>
            <a:endParaRPr lang="en-US" sz="1350" dirty="0"/>
          </a:p>
        </p:txBody>
      </p:sp>
      <p:sp>
        <p:nvSpPr>
          <p:cNvPr id="11" name="Shape 9"/>
          <p:cNvSpPr/>
          <p:nvPr/>
        </p:nvSpPr>
        <p:spPr>
          <a:xfrm>
            <a:off x="941832" y="2935224"/>
            <a:ext cx="320040" cy="320040"/>
          </a:xfrm>
          <a:prstGeom prst="ellipse">
            <a:avLst/>
          </a:prstGeom>
          <a:solidFill>
            <a:srgbClr val="0F766E"/>
          </a:solidFill>
          <a:ln w="12700">
            <a:solidFill>
              <a:srgbClr val="0F766E"/>
            </a:solidFill>
            <a:prstDash val="solid"/>
          </a:ln>
        </p:spPr>
      </p:sp>
      <p:sp>
        <p:nvSpPr>
          <p:cNvPr id="12" name="Text 10"/>
          <p:cNvSpPr/>
          <p:nvPr/>
        </p:nvSpPr>
        <p:spPr>
          <a:xfrm>
            <a:off x="941832" y="3008376"/>
            <a:ext cx="320040" cy="128016"/>
          </a:xfrm>
          <a:prstGeom prst="rect">
            <a:avLst/>
          </a:prstGeom>
          <a:noFill/>
          <a:ln/>
        </p:spPr>
        <p:txBody>
          <a:bodyPr wrap="square" lIns="0" tIns="0" rIns="0" bIns="0" rtlCol="0" anchor="ctr"/>
          <a:lstStyle/>
          <a:p>
            <a:pPr algn="ctr" indent="0" marL="0">
              <a:buNone/>
            </a:pPr>
            <a:r>
              <a:rPr lang="en-US" sz="900" b="1" dirty="0">
                <a:solidFill>
                  <a:srgbClr val="FFFFFF"/>
                </a:solidFill>
              </a:rPr>
              <a:t>2</a:t>
            </a:r>
            <a:endParaRPr lang="en-US" sz="900" dirty="0"/>
          </a:p>
        </p:txBody>
      </p:sp>
      <p:sp>
        <p:nvSpPr>
          <p:cNvPr id="13" name="Text 11"/>
          <p:cNvSpPr/>
          <p:nvPr/>
        </p:nvSpPr>
        <p:spPr>
          <a:xfrm>
            <a:off x="1417320" y="2916936"/>
            <a:ext cx="4206240" cy="329184"/>
          </a:xfrm>
          <a:prstGeom prst="rect">
            <a:avLst/>
          </a:prstGeom>
          <a:noFill/>
          <a:ln/>
        </p:spPr>
        <p:txBody>
          <a:bodyPr wrap="square" lIns="0" tIns="0" rIns="0" bIns="0" rtlCol="0" anchor="ctr"/>
          <a:lstStyle/>
          <a:p>
            <a:pPr indent="0" marL="0">
              <a:buNone/>
            </a:pPr>
            <a:r>
              <a:rPr lang="en-US" sz="1350" b="1" dirty="0">
                <a:solidFill>
                  <a:srgbClr val="17202A"/>
                </a:solidFill>
              </a:rPr>
              <a:t>Trabajo acotado</a:t>
            </a:r>
            <a:endParaRPr lang="en-US" sz="1350" dirty="0"/>
          </a:p>
        </p:txBody>
      </p:sp>
      <p:sp>
        <p:nvSpPr>
          <p:cNvPr id="14" name="Shape 12"/>
          <p:cNvSpPr/>
          <p:nvPr/>
        </p:nvSpPr>
        <p:spPr>
          <a:xfrm>
            <a:off x="941832" y="3520440"/>
            <a:ext cx="320040" cy="320040"/>
          </a:xfrm>
          <a:prstGeom prst="ellipse">
            <a:avLst/>
          </a:prstGeom>
          <a:solidFill>
            <a:srgbClr val="0F766E"/>
          </a:solidFill>
          <a:ln w="12700">
            <a:solidFill>
              <a:srgbClr val="0F766E"/>
            </a:solidFill>
            <a:prstDash val="solid"/>
          </a:ln>
        </p:spPr>
      </p:sp>
      <p:sp>
        <p:nvSpPr>
          <p:cNvPr id="15" name="Text 13"/>
          <p:cNvSpPr/>
          <p:nvPr/>
        </p:nvSpPr>
        <p:spPr>
          <a:xfrm>
            <a:off x="941832" y="3593592"/>
            <a:ext cx="320040" cy="128016"/>
          </a:xfrm>
          <a:prstGeom prst="rect">
            <a:avLst/>
          </a:prstGeom>
          <a:noFill/>
          <a:ln/>
        </p:spPr>
        <p:txBody>
          <a:bodyPr wrap="square" lIns="0" tIns="0" rIns="0" bIns="0" rtlCol="0" anchor="ctr"/>
          <a:lstStyle/>
          <a:p>
            <a:pPr algn="ctr" indent="0" marL="0">
              <a:buNone/>
            </a:pPr>
            <a:r>
              <a:rPr lang="en-US" sz="900" b="1" dirty="0">
                <a:solidFill>
                  <a:srgbClr val="FFFFFF"/>
                </a:solidFill>
              </a:rPr>
              <a:t>3</a:t>
            </a:r>
            <a:endParaRPr lang="en-US" sz="900" dirty="0"/>
          </a:p>
        </p:txBody>
      </p:sp>
      <p:sp>
        <p:nvSpPr>
          <p:cNvPr id="16" name="Text 14"/>
          <p:cNvSpPr/>
          <p:nvPr/>
        </p:nvSpPr>
        <p:spPr>
          <a:xfrm>
            <a:off x="1417320" y="3502152"/>
            <a:ext cx="4206240" cy="329184"/>
          </a:xfrm>
          <a:prstGeom prst="rect">
            <a:avLst/>
          </a:prstGeom>
          <a:noFill/>
          <a:ln/>
        </p:spPr>
        <p:txBody>
          <a:bodyPr wrap="square" lIns="0" tIns="0" rIns="0" bIns="0" rtlCol="0" anchor="ctr"/>
          <a:lstStyle/>
          <a:p>
            <a:pPr indent="0" marL="0">
              <a:buNone/>
            </a:pPr>
            <a:r>
              <a:rPr lang="en-US" sz="1350" b="1" dirty="0">
                <a:solidFill>
                  <a:srgbClr val="17202A"/>
                </a:solidFill>
              </a:rPr>
              <a:t>Bloqueos y prueba</a:t>
            </a:r>
            <a:endParaRPr lang="en-US" sz="1350" dirty="0"/>
          </a:p>
        </p:txBody>
      </p:sp>
      <p:sp>
        <p:nvSpPr>
          <p:cNvPr id="17" name="Shape 15"/>
          <p:cNvSpPr/>
          <p:nvPr/>
        </p:nvSpPr>
        <p:spPr>
          <a:xfrm>
            <a:off x="941832" y="4105656"/>
            <a:ext cx="320040" cy="320040"/>
          </a:xfrm>
          <a:prstGeom prst="ellipse">
            <a:avLst/>
          </a:prstGeom>
          <a:solidFill>
            <a:srgbClr val="0F766E"/>
          </a:solidFill>
          <a:ln w="12700">
            <a:solidFill>
              <a:srgbClr val="0F766E"/>
            </a:solidFill>
            <a:prstDash val="solid"/>
          </a:ln>
        </p:spPr>
      </p:sp>
      <p:sp>
        <p:nvSpPr>
          <p:cNvPr id="18" name="Text 16"/>
          <p:cNvSpPr/>
          <p:nvPr/>
        </p:nvSpPr>
        <p:spPr>
          <a:xfrm>
            <a:off x="941832" y="4178808"/>
            <a:ext cx="320040" cy="128016"/>
          </a:xfrm>
          <a:prstGeom prst="rect">
            <a:avLst/>
          </a:prstGeom>
          <a:noFill/>
          <a:ln/>
        </p:spPr>
        <p:txBody>
          <a:bodyPr wrap="square" lIns="0" tIns="0" rIns="0" bIns="0" rtlCol="0" anchor="ctr"/>
          <a:lstStyle/>
          <a:p>
            <a:pPr algn="ctr" indent="0" marL="0">
              <a:buNone/>
            </a:pPr>
            <a:r>
              <a:rPr lang="en-US" sz="900" b="1" dirty="0">
                <a:solidFill>
                  <a:srgbClr val="FFFFFF"/>
                </a:solidFill>
              </a:rPr>
              <a:t>4</a:t>
            </a:r>
            <a:endParaRPr lang="en-US" sz="900" dirty="0"/>
          </a:p>
        </p:txBody>
      </p:sp>
      <p:sp>
        <p:nvSpPr>
          <p:cNvPr id="19" name="Text 17"/>
          <p:cNvSpPr/>
          <p:nvPr/>
        </p:nvSpPr>
        <p:spPr>
          <a:xfrm>
            <a:off x="1417320" y="4087368"/>
            <a:ext cx="4206240" cy="329184"/>
          </a:xfrm>
          <a:prstGeom prst="rect">
            <a:avLst/>
          </a:prstGeom>
          <a:noFill/>
          <a:ln/>
        </p:spPr>
        <p:txBody>
          <a:bodyPr wrap="square" lIns="0" tIns="0" rIns="0" bIns="0" rtlCol="0" anchor="ctr"/>
          <a:lstStyle/>
          <a:p>
            <a:pPr indent="0" marL="0">
              <a:buNone/>
            </a:pPr>
            <a:r>
              <a:rPr lang="en-US" sz="1350" b="1" dirty="0">
                <a:solidFill>
                  <a:srgbClr val="17202A"/>
                </a:solidFill>
              </a:rPr>
              <a:t>Review</a:t>
            </a:r>
            <a:endParaRPr lang="en-US" sz="1350" dirty="0"/>
          </a:p>
        </p:txBody>
      </p:sp>
      <p:sp>
        <p:nvSpPr>
          <p:cNvPr id="20" name="Shape 18"/>
          <p:cNvSpPr/>
          <p:nvPr/>
        </p:nvSpPr>
        <p:spPr>
          <a:xfrm>
            <a:off x="941832" y="4690872"/>
            <a:ext cx="320040" cy="320040"/>
          </a:xfrm>
          <a:prstGeom prst="ellipse">
            <a:avLst/>
          </a:prstGeom>
          <a:solidFill>
            <a:srgbClr val="0F766E"/>
          </a:solidFill>
          <a:ln w="12700">
            <a:solidFill>
              <a:srgbClr val="0F766E"/>
            </a:solidFill>
            <a:prstDash val="solid"/>
          </a:ln>
        </p:spPr>
      </p:sp>
      <p:sp>
        <p:nvSpPr>
          <p:cNvPr id="21" name="Text 19"/>
          <p:cNvSpPr/>
          <p:nvPr/>
        </p:nvSpPr>
        <p:spPr>
          <a:xfrm>
            <a:off x="941832" y="4764024"/>
            <a:ext cx="320040" cy="128016"/>
          </a:xfrm>
          <a:prstGeom prst="rect">
            <a:avLst/>
          </a:prstGeom>
          <a:noFill/>
          <a:ln/>
        </p:spPr>
        <p:txBody>
          <a:bodyPr wrap="square" lIns="0" tIns="0" rIns="0" bIns="0" rtlCol="0" anchor="ctr"/>
          <a:lstStyle/>
          <a:p>
            <a:pPr algn="ctr" indent="0" marL="0">
              <a:buNone/>
            </a:pPr>
            <a:r>
              <a:rPr lang="en-US" sz="900" b="1" dirty="0">
                <a:solidFill>
                  <a:srgbClr val="FFFFFF"/>
                </a:solidFill>
              </a:rPr>
              <a:t>5</a:t>
            </a:r>
            <a:endParaRPr lang="en-US" sz="900" dirty="0"/>
          </a:p>
        </p:txBody>
      </p:sp>
      <p:sp>
        <p:nvSpPr>
          <p:cNvPr id="22" name="Text 20"/>
          <p:cNvSpPr/>
          <p:nvPr/>
        </p:nvSpPr>
        <p:spPr>
          <a:xfrm>
            <a:off x="1417320" y="4672584"/>
            <a:ext cx="4206240" cy="329184"/>
          </a:xfrm>
          <a:prstGeom prst="rect">
            <a:avLst/>
          </a:prstGeom>
          <a:noFill/>
          <a:ln/>
        </p:spPr>
        <p:txBody>
          <a:bodyPr wrap="square" lIns="0" tIns="0" rIns="0" bIns="0" rtlCol="0" anchor="ctr"/>
          <a:lstStyle/>
          <a:p>
            <a:pPr indent="0" marL="0">
              <a:buNone/>
            </a:pPr>
            <a:r>
              <a:rPr lang="en-US" sz="1350" b="1" dirty="0">
                <a:solidFill>
                  <a:srgbClr val="17202A"/>
                </a:solidFill>
              </a:rPr>
              <a:t>Retrospectiva y mejora</a:t>
            </a:r>
            <a:endParaRPr lang="en-US" sz="1350" dirty="0"/>
          </a:p>
        </p:txBody>
      </p:sp>
      <p:sp>
        <p:nvSpPr>
          <p:cNvPr id="23" name="Text 21"/>
          <p:cNvSpPr/>
          <p:nvPr/>
        </p:nvSpPr>
        <p:spPr>
          <a:xfrm>
            <a:off x="914400" y="5367528"/>
            <a:ext cx="5440680" cy="384048"/>
          </a:xfrm>
          <a:prstGeom prst="rect">
            <a:avLst/>
          </a:prstGeom>
          <a:noFill/>
          <a:ln/>
        </p:spPr>
        <p:txBody>
          <a:bodyPr wrap="square" lIns="0" tIns="0" rIns="0" bIns="0" rtlCol="0" anchor="ctr"/>
          <a:lstStyle/>
          <a:p>
            <a:pPr indent="0" marL="0">
              <a:buNone/>
            </a:pPr>
            <a:r>
              <a:rPr lang="en-US" sz="1180" dirty="0">
                <a:solidFill>
                  <a:srgbClr val="5B6573"/>
                </a:solidFill>
              </a:rPr>
              <a:t>Organiza el trabajo del aula. No simula una empresa completa ni fija roles permanentes.</a:t>
            </a:r>
            <a:endParaRPr lang="en-US" sz="1180" dirty="0"/>
          </a:p>
        </p:txBody>
      </p:sp>
      <p:sp>
        <p:nvSpPr>
          <p:cNvPr id="24" name="Shape 22"/>
          <p:cNvSpPr/>
          <p:nvPr/>
        </p:nvSpPr>
        <p:spPr>
          <a:xfrm>
            <a:off x="7278624" y="1481328"/>
            <a:ext cx="4315968" cy="4315968"/>
          </a:xfrm>
          <a:prstGeom prst="roundRect">
            <a:avLst>
              <a:gd name="adj" fmla="val 1271"/>
            </a:avLst>
          </a:prstGeom>
          <a:solidFill>
            <a:srgbClr val="EEF6F5"/>
          </a:solidFill>
          <a:ln w="13970">
            <a:solidFill>
              <a:srgbClr val="B9D8D4"/>
            </a:solidFill>
            <a:prstDash val="solid"/>
          </a:ln>
        </p:spPr>
      </p:sp>
      <p:sp>
        <p:nvSpPr>
          <p:cNvPr id="25" name="Text 23"/>
          <p:cNvSpPr/>
          <p:nvPr/>
        </p:nvSpPr>
        <p:spPr>
          <a:xfrm>
            <a:off x="7571232" y="1764792"/>
            <a:ext cx="1005840" cy="310896"/>
          </a:xfrm>
          <a:prstGeom prst="rect">
            <a:avLst/>
          </a:prstGeom>
          <a:noFill/>
          <a:ln/>
        </p:spPr>
        <p:txBody>
          <a:bodyPr wrap="square" lIns="0" tIns="0" rIns="0" bIns="0" rtlCol="0" anchor="ctr"/>
          <a:lstStyle/>
          <a:p>
            <a:pPr indent="0" marL="0">
              <a:buNone/>
            </a:pPr>
            <a:r>
              <a:rPr lang="en-US" sz="1500" b="1" dirty="0">
                <a:solidFill>
                  <a:srgbClr val="0F766E"/>
                </a:solidFill>
              </a:rPr>
              <a:t>DUA</a:t>
            </a:r>
            <a:endParaRPr lang="en-US" sz="1500" dirty="0"/>
          </a:p>
        </p:txBody>
      </p:sp>
      <p:sp>
        <p:nvSpPr>
          <p:cNvPr id="26" name="Text 24"/>
          <p:cNvSpPr/>
          <p:nvPr/>
        </p:nvSpPr>
        <p:spPr>
          <a:xfrm>
            <a:off x="7571232" y="2267712"/>
            <a:ext cx="3611880" cy="841248"/>
          </a:xfrm>
          <a:prstGeom prst="rect">
            <a:avLst/>
          </a:prstGeom>
          <a:noFill/>
          <a:ln/>
        </p:spPr>
        <p:txBody>
          <a:bodyPr wrap="square" lIns="0" tIns="0" rIns="0" bIns="0" rtlCol="0" anchor="ctr"/>
          <a:lstStyle/>
          <a:p>
            <a:pPr indent="0" marL="0">
              <a:buNone/>
            </a:pPr>
            <a:r>
              <a:rPr lang="en-US" sz="1400" dirty="0">
                <a:solidFill>
                  <a:srgbClr val="17202A"/>
                </a:solidFill>
              </a:rPr>
              <a:t>Varias formas de comprender, practicar, expresar lo aprendido y recibir apoyo.</a:t>
            </a:r>
            <a:endParaRPr lang="en-US" sz="1400" dirty="0"/>
          </a:p>
        </p:txBody>
      </p:sp>
      <p:sp>
        <p:nvSpPr>
          <p:cNvPr id="27" name="Shape 25"/>
          <p:cNvSpPr/>
          <p:nvPr/>
        </p:nvSpPr>
        <p:spPr>
          <a:xfrm>
            <a:off x="7571232" y="3401568"/>
            <a:ext cx="1508760" cy="457200"/>
          </a:xfrm>
          <a:prstGeom prst="roundRect">
            <a:avLst>
              <a:gd name="adj" fmla="val 10000"/>
            </a:avLst>
          </a:prstGeom>
          <a:solidFill>
            <a:srgbClr val="FFFFFF"/>
          </a:solidFill>
          <a:ln w="12700">
            <a:solidFill>
              <a:srgbClr val="C7DEDB"/>
            </a:solidFill>
            <a:prstDash val="solid"/>
          </a:ln>
        </p:spPr>
      </p:sp>
      <p:sp>
        <p:nvSpPr>
          <p:cNvPr id="28" name="Text 26"/>
          <p:cNvSpPr/>
          <p:nvPr/>
        </p:nvSpPr>
        <p:spPr>
          <a:xfrm>
            <a:off x="7607808" y="3529584"/>
            <a:ext cx="1435608" cy="164592"/>
          </a:xfrm>
          <a:prstGeom prst="rect">
            <a:avLst/>
          </a:prstGeom>
          <a:noFill/>
          <a:ln/>
        </p:spPr>
        <p:txBody>
          <a:bodyPr wrap="square" lIns="0" tIns="0" rIns="0" bIns="0" rtlCol="0" anchor="ctr"/>
          <a:lstStyle/>
          <a:p>
            <a:pPr algn="ctr" indent="0" marL="0">
              <a:buNone/>
            </a:pPr>
            <a:r>
              <a:rPr lang="en-US" sz="1080" b="1" dirty="0">
                <a:solidFill>
                  <a:srgbClr val="17324D"/>
                </a:solidFill>
              </a:rPr>
              <a:t>explicación</a:t>
            </a:r>
            <a:endParaRPr lang="en-US" sz="1080" dirty="0"/>
          </a:p>
        </p:txBody>
      </p:sp>
      <p:sp>
        <p:nvSpPr>
          <p:cNvPr id="29" name="Shape 27"/>
          <p:cNvSpPr/>
          <p:nvPr/>
        </p:nvSpPr>
        <p:spPr>
          <a:xfrm>
            <a:off x="9290304" y="3401568"/>
            <a:ext cx="1508760" cy="457200"/>
          </a:xfrm>
          <a:prstGeom prst="roundRect">
            <a:avLst>
              <a:gd name="adj" fmla="val 10000"/>
            </a:avLst>
          </a:prstGeom>
          <a:solidFill>
            <a:srgbClr val="FFFFFF"/>
          </a:solidFill>
          <a:ln w="12700">
            <a:solidFill>
              <a:srgbClr val="C7DEDB"/>
            </a:solidFill>
            <a:prstDash val="solid"/>
          </a:ln>
        </p:spPr>
      </p:sp>
      <p:sp>
        <p:nvSpPr>
          <p:cNvPr id="30" name="Text 28"/>
          <p:cNvSpPr/>
          <p:nvPr/>
        </p:nvSpPr>
        <p:spPr>
          <a:xfrm>
            <a:off x="9326880" y="3529584"/>
            <a:ext cx="1435608" cy="164592"/>
          </a:xfrm>
          <a:prstGeom prst="rect">
            <a:avLst/>
          </a:prstGeom>
          <a:noFill/>
          <a:ln/>
        </p:spPr>
        <p:txBody>
          <a:bodyPr wrap="square" lIns="0" tIns="0" rIns="0" bIns="0" rtlCol="0" anchor="ctr"/>
          <a:lstStyle/>
          <a:p>
            <a:pPr algn="ctr" indent="0" marL="0">
              <a:buNone/>
            </a:pPr>
            <a:r>
              <a:rPr lang="en-US" sz="1080" b="1" dirty="0">
                <a:solidFill>
                  <a:srgbClr val="17324D"/>
                </a:solidFill>
              </a:rPr>
              <a:t>código</a:t>
            </a:r>
            <a:endParaRPr lang="en-US" sz="1080" dirty="0"/>
          </a:p>
        </p:txBody>
      </p:sp>
      <p:sp>
        <p:nvSpPr>
          <p:cNvPr id="31" name="Shape 29"/>
          <p:cNvSpPr/>
          <p:nvPr/>
        </p:nvSpPr>
        <p:spPr>
          <a:xfrm>
            <a:off x="7571232" y="4087368"/>
            <a:ext cx="1508760" cy="457200"/>
          </a:xfrm>
          <a:prstGeom prst="roundRect">
            <a:avLst>
              <a:gd name="adj" fmla="val 10000"/>
            </a:avLst>
          </a:prstGeom>
          <a:solidFill>
            <a:srgbClr val="FFFFFF"/>
          </a:solidFill>
          <a:ln w="12700">
            <a:solidFill>
              <a:srgbClr val="C7DEDB"/>
            </a:solidFill>
            <a:prstDash val="solid"/>
          </a:ln>
        </p:spPr>
      </p:sp>
      <p:sp>
        <p:nvSpPr>
          <p:cNvPr id="32" name="Text 30"/>
          <p:cNvSpPr/>
          <p:nvPr/>
        </p:nvSpPr>
        <p:spPr>
          <a:xfrm>
            <a:off x="7607808" y="4215384"/>
            <a:ext cx="1435608" cy="164592"/>
          </a:xfrm>
          <a:prstGeom prst="rect">
            <a:avLst/>
          </a:prstGeom>
          <a:noFill/>
          <a:ln/>
        </p:spPr>
        <p:txBody>
          <a:bodyPr wrap="square" lIns="0" tIns="0" rIns="0" bIns="0" rtlCol="0" anchor="ctr"/>
          <a:lstStyle/>
          <a:p>
            <a:pPr algn="ctr" indent="0" marL="0">
              <a:buNone/>
            </a:pPr>
            <a:r>
              <a:rPr lang="en-US" sz="1080" b="1" dirty="0">
                <a:solidFill>
                  <a:srgbClr val="17324D"/>
                </a:solidFill>
              </a:rPr>
              <a:t>diagramas</a:t>
            </a:r>
            <a:endParaRPr lang="en-US" sz="1080" dirty="0"/>
          </a:p>
        </p:txBody>
      </p:sp>
      <p:sp>
        <p:nvSpPr>
          <p:cNvPr id="33" name="Shape 31"/>
          <p:cNvSpPr/>
          <p:nvPr/>
        </p:nvSpPr>
        <p:spPr>
          <a:xfrm>
            <a:off x="9290304" y="4087368"/>
            <a:ext cx="1508760" cy="457200"/>
          </a:xfrm>
          <a:prstGeom prst="roundRect">
            <a:avLst>
              <a:gd name="adj" fmla="val 10000"/>
            </a:avLst>
          </a:prstGeom>
          <a:solidFill>
            <a:srgbClr val="FFFFFF"/>
          </a:solidFill>
          <a:ln w="12700">
            <a:solidFill>
              <a:srgbClr val="C7DEDB"/>
            </a:solidFill>
            <a:prstDash val="solid"/>
          </a:ln>
        </p:spPr>
      </p:sp>
      <p:sp>
        <p:nvSpPr>
          <p:cNvPr id="34" name="Text 32"/>
          <p:cNvSpPr/>
          <p:nvPr/>
        </p:nvSpPr>
        <p:spPr>
          <a:xfrm>
            <a:off x="9326880" y="4215384"/>
            <a:ext cx="1435608" cy="164592"/>
          </a:xfrm>
          <a:prstGeom prst="rect">
            <a:avLst/>
          </a:prstGeom>
          <a:noFill/>
          <a:ln/>
        </p:spPr>
        <p:txBody>
          <a:bodyPr wrap="square" lIns="0" tIns="0" rIns="0" bIns="0" rtlCol="0" anchor="ctr"/>
          <a:lstStyle/>
          <a:p>
            <a:pPr algn="ctr" indent="0" marL="0">
              <a:buNone/>
            </a:pPr>
            <a:r>
              <a:rPr lang="en-US" sz="1080" b="1" dirty="0">
                <a:solidFill>
                  <a:srgbClr val="17324D"/>
                </a:solidFill>
              </a:rPr>
              <a:t>demos</a:t>
            </a:r>
            <a:endParaRPr lang="en-US" sz="1080" dirty="0"/>
          </a:p>
        </p:txBody>
      </p:sp>
      <p:sp>
        <p:nvSpPr>
          <p:cNvPr id="35" name="Shape 33"/>
          <p:cNvSpPr/>
          <p:nvPr/>
        </p:nvSpPr>
        <p:spPr>
          <a:xfrm>
            <a:off x="7571232" y="4773168"/>
            <a:ext cx="1508760" cy="457200"/>
          </a:xfrm>
          <a:prstGeom prst="roundRect">
            <a:avLst>
              <a:gd name="adj" fmla="val 10000"/>
            </a:avLst>
          </a:prstGeom>
          <a:solidFill>
            <a:srgbClr val="FFFFFF"/>
          </a:solidFill>
          <a:ln w="12700">
            <a:solidFill>
              <a:srgbClr val="C7DEDB"/>
            </a:solidFill>
            <a:prstDash val="solid"/>
          </a:ln>
        </p:spPr>
      </p:sp>
      <p:sp>
        <p:nvSpPr>
          <p:cNvPr id="36" name="Text 34"/>
          <p:cNvSpPr/>
          <p:nvPr/>
        </p:nvSpPr>
        <p:spPr>
          <a:xfrm>
            <a:off x="7607808" y="4901184"/>
            <a:ext cx="1435608" cy="164592"/>
          </a:xfrm>
          <a:prstGeom prst="rect">
            <a:avLst/>
          </a:prstGeom>
          <a:noFill/>
          <a:ln/>
        </p:spPr>
        <p:txBody>
          <a:bodyPr wrap="square" lIns="0" tIns="0" rIns="0" bIns="0" rtlCol="0" anchor="ctr"/>
          <a:lstStyle/>
          <a:p>
            <a:pPr algn="ctr" indent="0" marL="0">
              <a:buNone/>
            </a:pPr>
            <a:r>
              <a:rPr lang="en-US" sz="1080" b="1" dirty="0">
                <a:solidFill>
                  <a:srgbClr val="17324D"/>
                </a:solidFill>
              </a:rPr>
              <a:t>plantillas y defensa</a:t>
            </a:r>
            <a:endParaRPr lang="en-US" sz="1080" dirty="0"/>
          </a:p>
        </p:txBody>
      </p:sp>
      <p:sp>
        <p:nvSpPr>
          <p:cNvPr id="37" name="Text 35"/>
          <p:cNvSpPr/>
          <p:nvPr/>
        </p:nvSpPr>
        <p:spPr>
          <a:xfrm>
            <a:off x="685800" y="5989320"/>
            <a:ext cx="10789920" cy="292608"/>
          </a:xfrm>
          <a:prstGeom prst="rect">
            <a:avLst/>
          </a:prstGeom>
          <a:noFill/>
          <a:ln/>
        </p:spPr>
        <p:txBody>
          <a:bodyPr wrap="square" lIns="0" tIns="0" rIns="0" bIns="0" rtlCol="0" anchor="ctr"/>
          <a:lstStyle/>
          <a:p>
            <a:pPr indent="0" marL="0">
              <a:buNone/>
            </a:pPr>
            <a:r>
              <a:rPr lang="en-US" sz="1300" b="1" dirty="0">
                <a:solidFill>
                  <a:srgbClr val="17324D"/>
                </a:solidFill>
              </a:rPr>
              <a:t>El equipo ayuda a aprender. Cada persona conserva su responsabilidad individual.</a:t>
            </a:r>
            <a:endParaRPr lang="en-US" sz="1300" dirty="0"/>
          </a:p>
        </p:txBody>
      </p:sp>
      <p:sp>
        <p:nvSpPr>
          <p:cNvPr id="25" name="Slide Number Placeholder 0"/>
          <p:cNvSpPr>
            <a:spLocks noGrp="1"/>
          </p:cNvSpPr>
          <p:nvPr>
            <p:ph type="sldNum" sz="quarter" idx="4294967295"/>
          </p:nvPr>
        </p:nvSpPr>
        <p:spPr>
          <a:xfrm>
            <a:off x="11228832" y="6492240"/>
            <a:ext cx="411480" cy="201168"/>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rgbClr val="64748B"/>
                </a:solidFill>
                <a:latin typeface="Aptos"/>
                <a:ea typeface="Aptos"/>
                <a:cs typeface="Apto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4389120" cy="256032"/>
          </a:xfrm>
          <a:prstGeom prst="rect">
            <a:avLst/>
          </a:prstGeom>
          <a:noFill/>
          <a:ln/>
        </p:spPr>
        <p:txBody>
          <a:bodyPr wrap="square" lIns="0" tIns="0" rIns="0" bIns="0" rtlCol="0" anchor="ctr"/>
          <a:lstStyle/>
          <a:p>
            <a:pPr indent="0" marL="0">
              <a:buNone/>
            </a:pPr>
            <a:r>
              <a:rPr lang="en-US" sz="1100" b="1" spc="70" kern="0" dirty="0">
                <a:solidFill>
                  <a:srgbClr val="0F766E"/>
                </a:solidFill>
              </a:rPr>
              <a:t>PROGRAMACIÓN · 1.º DAW</a:t>
            </a:r>
            <a:endParaRPr lang="en-US" sz="1100" dirty="0"/>
          </a:p>
        </p:txBody>
      </p:sp>
      <p:sp>
        <p:nvSpPr>
          <p:cNvPr id="3" name="Text 1"/>
          <p:cNvSpPr/>
          <p:nvPr/>
        </p:nvSpPr>
        <p:spPr>
          <a:xfrm>
            <a:off x="548640" y="749808"/>
            <a:ext cx="9784080" cy="621792"/>
          </a:xfrm>
          <a:prstGeom prst="rect">
            <a:avLst/>
          </a:prstGeom>
          <a:noFill/>
          <a:ln/>
        </p:spPr>
        <p:txBody>
          <a:bodyPr wrap="square" lIns="0" tIns="0" rIns="0" bIns="0" rtlCol="0" anchor="ctr"/>
          <a:lstStyle/>
          <a:p>
            <a:pPr indent="0" marL="0">
              <a:buNone/>
            </a:pPr>
            <a:r>
              <a:rPr lang="en-US" sz="2700" b="1" dirty="0">
                <a:solidFill>
                  <a:srgbClr val="17202A"/>
                </a:solidFill>
              </a:rPr>
              <a:t>El reto general: MiniJarvis</a:t>
            </a:r>
            <a:endParaRPr lang="en-US" sz="2700" dirty="0"/>
          </a:p>
        </p:txBody>
      </p:sp>
      <p:sp>
        <p:nvSpPr>
          <p:cNvPr id="4" name="Shape 2"/>
          <p:cNvSpPr/>
          <p:nvPr/>
        </p:nvSpPr>
        <p:spPr>
          <a:xfrm>
            <a:off x="10405872" y="411480"/>
            <a:ext cx="1234440" cy="347472"/>
          </a:xfrm>
          <a:prstGeom prst="roundRect">
            <a:avLst>
              <a:gd name="adj" fmla="val 18421"/>
            </a:avLst>
          </a:prstGeom>
          <a:solidFill>
            <a:srgbClr val="FEF3C7"/>
          </a:solidFill>
          <a:ln w="12700">
            <a:solidFill>
              <a:srgbClr val="F2C96D"/>
            </a:solidFill>
            <a:prstDash val="solid"/>
          </a:ln>
        </p:spPr>
      </p:sp>
      <p:sp>
        <p:nvSpPr>
          <p:cNvPr id="5" name="Text 3"/>
          <p:cNvSpPr/>
          <p:nvPr/>
        </p:nvSpPr>
        <p:spPr>
          <a:xfrm>
            <a:off x="10405872" y="470916"/>
            <a:ext cx="1234440" cy="182880"/>
          </a:xfrm>
          <a:prstGeom prst="rect">
            <a:avLst/>
          </a:prstGeom>
          <a:noFill/>
          <a:ln/>
        </p:spPr>
        <p:txBody>
          <a:bodyPr wrap="square" lIns="0" tIns="0" rIns="0" bIns="0" rtlCol="0" anchor="ctr"/>
          <a:lstStyle/>
          <a:p>
            <a:pPr algn="ctr" indent="0" marL="0">
              <a:buNone/>
            </a:pPr>
            <a:r>
              <a:rPr lang="en-US" sz="950" b="1" dirty="0">
                <a:solidFill>
                  <a:srgbClr val="D97706"/>
                </a:solidFill>
              </a:rPr>
              <a:t>RETO</a:t>
            </a:r>
            <a:endParaRPr lang="en-US" sz="950" dirty="0"/>
          </a:p>
        </p:txBody>
      </p:sp>
      <p:sp>
        <p:nvSpPr>
          <p:cNvPr id="6" name="Text 4"/>
          <p:cNvSpPr/>
          <p:nvPr/>
        </p:nvSpPr>
        <p:spPr>
          <a:xfrm>
            <a:off x="576072" y="1481328"/>
            <a:ext cx="10561320" cy="640080"/>
          </a:xfrm>
          <a:prstGeom prst="rect">
            <a:avLst/>
          </a:prstGeom>
          <a:noFill/>
          <a:ln/>
        </p:spPr>
        <p:txBody>
          <a:bodyPr wrap="square" lIns="0" tIns="0" rIns="0" bIns="0" rtlCol="0" anchor="ctr"/>
          <a:lstStyle/>
          <a:p>
            <a:pPr indent="0" marL="0">
              <a:buNone/>
            </a:pPr>
            <a:r>
              <a:rPr lang="en-US" sz="2000" dirty="0">
                <a:solidFill>
                  <a:srgbClr val="5B6573"/>
                </a:solidFill>
              </a:rPr>
              <a:t>Construir en Java un programa que crece por versiones y que podamos comprender, probar, explicar y mejorar.</a:t>
            </a:r>
            <a:endParaRPr lang="en-US" sz="2000" dirty="0"/>
          </a:p>
        </p:txBody>
      </p:sp>
      <p:sp>
        <p:nvSpPr>
          <p:cNvPr id="7" name="Shape 5"/>
          <p:cNvSpPr/>
          <p:nvPr/>
        </p:nvSpPr>
        <p:spPr>
          <a:xfrm>
            <a:off x="658368" y="2331720"/>
            <a:ext cx="3794760" cy="2542032"/>
          </a:xfrm>
          <a:prstGeom prst="roundRect">
            <a:avLst>
              <a:gd name="adj" fmla="val 2878"/>
            </a:avLst>
          </a:prstGeom>
          <a:solidFill>
            <a:srgbClr val="17324D"/>
          </a:solidFill>
          <a:ln w="12700">
            <a:solidFill>
              <a:srgbClr val="17324D"/>
            </a:solidFill>
            <a:prstDash val="solid"/>
          </a:ln>
        </p:spPr>
      </p:sp>
      <p:sp>
        <p:nvSpPr>
          <p:cNvPr id="8" name="Text 6"/>
          <p:cNvSpPr/>
          <p:nvPr/>
        </p:nvSpPr>
        <p:spPr>
          <a:xfrm>
            <a:off x="1033272" y="2761488"/>
            <a:ext cx="3063240" cy="1124712"/>
          </a:xfrm>
          <a:prstGeom prst="rect">
            <a:avLst/>
          </a:prstGeom>
          <a:noFill/>
          <a:ln/>
        </p:spPr>
        <p:txBody>
          <a:bodyPr wrap="square" lIns="0" tIns="0" rIns="0" bIns="0" rtlCol="0" anchor="ctr"/>
          <a:lstStyle/>
          <a:p>
            <a:pPr algn="ctr" indent="0" marL="0">
              <a:buNone/>
            </a:pPr>
            <a:r>
              <a:rPr lang="en-US" sz="3400" b="1" dirty="0">
                <a:solidFill>
                  <a:srgbClr val="FFFFFF"/>
                </a:solidFill>
              </a:rPr>
              <a:t>Mini</a:t>
            </a:r>
            <a:endParaRPr lang="en-US" sz="3400" dirty="0"/>
          </a:p>
          <a:p>
            <a:pPr algn="ctr" indent="0" marL="0">
              <a:buNone/>
            </a:pPr>
            <a:r>
              <a:rPr lang="en-US" sz="3400" b="1" dirty="0">
                <a:solidFill>
                  <a:srgbClr val="FFFFFF"/>
                </a:solidFill>
              </a:rPr>
              <a:t>Jarvis</a:t>
            </a:r>
            <a:endParaRPr lang="en-US" sz="3400" dirty="0"/>
          </a:p>
        </p:txBody>
      </p:sp>
      <p:sp>
        <p:nvSpPr>
          <p:cNvPr id="9" name="Text 7"/>
          <p:cNvSpPr/>
          <p:nvPr/>
        </p:nvSpPr>
        <p:spPr>
          <a:xfrm>
            <a:off x="1051560" y="4224528"/>
            <a:ext cx="3017520" cy="310896"/>
          </a:xfrm>
          <a:prstGeom prst="rect">
            <a:avLst/>
          </a:prstGeom>
          <a:noFill/>
          <a:ln/>
        </p:spPr>
        <p:txBody>
          <a:bodyPr wrap="square" lIns="0" tIns="0" rIns="0" bIns="0" rtlCol="0" anchor="ctr"/>
          <a:lstStyle/>
          <a:p>
            <a:pPr algn="ctr" indent="0" marL="0">
              <a:buNone/>
            </a:pPr>
            <a:r>
              <a:rPr lang="en-US" sz="1300" b="1" dirty="0">
                <a:solidFill>
                  <a:srgbClr val="DDEAF7"/>
                </a:solidFill>
              </a:rPr>
              <a:t>programa Java progresivo</a:t>
            </a:r>
            <a:endParaRPr lang="en-US" sz="1300" dirty="0"/>
          </a:p>
        </p:txBody>
      </p:sp>
      <p:sp>
        <p:nvSpPr>
          <p:cNvPr id="10" name="Shape 8"/>
          <p:cNvSpPr/>
          <p:nvPr/>
        </p:nvSpPr>
        <p:spPr>
          <a:xfrm>
            <a:off x="4956048" y="2331720"/>
            <a:ext cx="1828800" cy="420624"/>
          </a:xfrm>
          <a:prstGeom prst="roundRect">
            <a:avLst>
              <a:gd name="adj" fmla="val 8696"/>
            </a:avLst>
          </a:prstGeom>
          <a:solidFill>
            <a:srgbClr val="FFFFFF"/>
          </a:solidFill>
          <a:ln w="12700">
            <a:solidFill>
              <a:srgbClr val="D4DDE7"/>
            </a:solidFill>
            <a:prstDash val="solid"/>
          </a:ln>
        </p:spPr>
      </p:sp>
      <p:sp>
        <p:nvSpPr>
          <p:cNvPr id="11" name="Shape 9"/>
          <p:cNvSpPr/>
          <p:nvPr/>
        </p:nvSpPr>
        <p:spPr>
          <a:xfrm>
            <a:off x="4956048" y="2331720"/>
            <a:ext cx="164592" cy="420624"/>
          </a:xfrm>
          <a:prstGeom prst="rect">
            <a:avLst/>
          </a:prstGeom>
          <a:solidFill>
            <a:srgbClr val="2563EB"/>
          </a:solidFill>
          <a:ln w="12700">
            <a:solidFill>
              <a:srgbClr val="2563EB"/>
            </a:solidFill>
            <a:prstDash val="solid"/>
          </a:ln>
        </p:spPr>
      </p:sp>
      <p:sp>
        <p:nvSpPr>
          <p:cNvPr id="12" name="Text 10"/>
          <p:cNvSpPr/>
          <p:nvPr/>
        </p:nvSpPr>
        <p:spPr>
          <a:xfrm>
            <a:off x="5257800" y="2432304"/>
            <a:ext cx="1261872" cy="182880"/>
          </a:xfrm>
          <a:prstGeom prst="rect">
            <a:avLst/>
          </a:prstGeom>
          <a:noFill/>
          <a:ln/>
        </p:spPr>
        <p:txBody>
          <a:bodyPr wrap="square" lIns="0" tIns="0" rIns="0" bIns="0" rtlCol="0" anchor="ctr"/>
          <a:lstStyle/>
          <a:p>
            <a:pPr indent="0" marL="0">
              <a:buNone/>
            </a:pPr>
            <a:r>
              <a:rPr lang="en-US" sz="1250" b="1" dirty="0">
                <a:solidFill>
                  <a:srgbClr val="17202A"/>
                </a:solidFill>
              </a:rPr>
              <a:t>Código</a:t>
            </a:r>
            <a:endParaRPr lang="en-US" sz="1250" dirty="0"/>
          </a:p>
        </p:txBody>
      </p:sp>
      <p:sp>
        <p:nvSpPr>
          <p:cNvPr id="13" name="Shape 11"/>
          <p:cNvSpPr/>
          <p:nvPr/>
        </p:nvSpPr>
        <p:spPr>
          <a:xfrm>
            <a:off x="4956048" y="2907792"/>
            <a:ext cx="1828800" cy="420624"/>
          </a:xfrm>
          <a:prstGeom prst="roundRect">
            <a:avLst>
              <a:gd name="adj" fmla="val 8696"/>
            </a:avLst>
          </a:prstGeom>
          <a:solidFill>
            <a:srgbClr val="FFFFFF"/>
          </a:solidFill>
          <a:ln w="12700">
            <a:solidFill>
              <a:srgbClr val="D4DDE7"/>
            </a:solidFill>
            <a:prstDash val="solid"/>
          </a:ln>
        </p:spPr>
      </p:sp>
      <p:sp>
        <p:nvSpPr>
          <p:cNvPr id="14" name="Shape 12"/>
          <p:cNvSpPr/>
          <p:nvPr/>
        </p:nvSpPr>
        <p:spPr>
          <a:xfrm>
            <a:off x="4956048" y="2907792"/>
            <a:ext cx="164592" cy="420624"/>
          </a:xfrm>
          <a:prstGeom prst="rect">
            <a:avLst/>
          </a:prstGeom>
          <a:solidFill>
            <a:srgbClr val="0F766E"/>
          </a:solidFill>
          <a:ln w="12700">
            <a:solidFill>
              <a:srgbClr val="0F766E"/>
            </a:solidFill>
            <a:prstDash val="solid"/>
          </a:ln>
        </p:spPr>
      </p:sp>
      <p:sp>
        <p:nvSpPr>
          <p:cNvPr id="15" name="Text 13"/>
          <p:cNvSpPr/>
          <p:nvPr/>
        </p:nvSpPr>
        <p:spPr>
          <a:xfrm>
            <a:off x="5257800" y="3008376"/>
            <a:ext cx="1261872" cy="182880"/>
          </a:xfrm>
          <a:prstGeom prst="rect">
            <a:avLst/>
          </a:prstGeom>
          <a:noFill/>
          <a:ln/>
        </p:spPr>
        <p:txBody>
          <a:bodyPr wrap="square" lIns="0" tIns="0" rIns="0" bIns="0" rtlCol="0" anchor="ctr"/>
          <a:lstStyle/>
          <a:p>
            <a:pPr indent="0" marL="0">
              <a:buNone/>
            </a:pPr>
            <a:r>
              <a:rPr lang="en-US" sz="1250" b="1" dirty="0">
                <a:solidFill>
                  <a:srgbClr val="17202A"/>
                </a:solidFill>
              </a:rPr>
              <a:t>Pruebas</a:t>
            </a:r>
            <a:endParaRPr lang="en-US" sz="1250" dirty="0"/>
          </a:p>
        </p:txBody>
      </p:sp>
      <p:sp>
        <p:nvSpPr>
          <p:cNvPr id="16" name="Shape 14"/>
          <p:cNvSpPr/>
          <p:nvPr/>
        </p:nvSpPr>
        <p:spPr>
          <a:xfrm>
            <a:off x="4956048" y="3483864"/>
            <a:ext cx="1828800" cy="420624"/>
          </a:xfrm>
          <a:prstGeom prst="roundRect">
            <a:avLst>
              <a:gd name="adj" fmla="val 8696"/>
            </a:avLst>
          </a:prstGeom>
          <a:solidFill>
            <a:srgbClr val="FFFFFF"/>
          </a:solidFill>
          <a:ln w="12700">
            <a:solidFill>
              <a:srgbClr val="D4DDE7"/>
            </a:solidFill>
            <a:prstDash val="solid"/>
          </a:ln>
        </p:spPr>
      </p:sp>
      <p:sp>
        <p:nvSpPr>
          <p:cNvPr id="17" name="Shape 15"/>
          <p:cNvSpPr/>
          <p:nvPr/>
        </p:nvSpPr>
        <p:spPr>
          <a:xfrm>
            <a:off x="4956048" y="3483864"/>
            <a:ext cx="164592" cy="420624"/>
          </a:xfrm>
          <a:prstGeom prst="rect">
            <a:avLst/>
          </a:prstGeom>
          <a:solidFill>
            <a:srgbClr val="17324D"/>
          </a:solidFill>
          <a:ln w="12700">
            <a:solidFill>
              <a:srgbClr val="17324D"/>
            </a:solidFill>
            <a:prstDash val="solid"/>
          </a:ln>
        </p:spPr>
      </p:sp>
      <p:sp>
        <p:nvSpPr>
          <p:cNvPr id="18" name="Text 16"/>
          <p:cNvSpPr/>
          <p:nvPr/>
        </p:nvSpPr>
        <p:spPr>
          <a:xfrm>
            <a:off x="5257800" y="3584448"/>
            <a:ext cx="1261872" cy="182880"/>
          </a:xfrm>
          <a:prstGeom prst="rect">
            <a:avLst/>
          </a:prstGeom>
          <a:noFill/>
          <a:ln/>
        </p:spPr>
        <p:txBody>
          <a:bodyPr wrap="square" lIns="0" tIns="0" rIns="0" bIns="0" rtlCol="0" anchor="ctr"/>
          <a:lstStyle/>
          <a:p>
            <a:pPr indent="0" marL="0">
              <a:buNone/>
            </a:pPr>
            <a:r>
              <a:rPr lang="en-US" sz="1250" b="1" dirty="0">
                <a:solidFill>
                  <a:srgbClr val="17202A"/>
                </a:solidFill>
              </a:rPr>
              <a:t>Documentación</a:t>
            </a:r>
            <a:endParaRPr lang="en-US" sz="1250" dirty="0"/>
          </a:p>
        </p:txBody>
      </p:sp>
      <p:sp>
        <p:nvSpPr>
          <p:cNvPr id="19" name="Shape 17"/>
          <p:cNvSpPr/>
          <p:nvPr/>
        </p:nvSpPr>
        <p:spPr>
          <a:xfrm>
            <a:off x="4956048" y="4059936"/>
            <a:ext cx="1828800" cy="420624"/>
          </a:xfrm>
          <a:prstGeom prst="roundRect">
            <a:avLst>
              <a:gd name="adj" fmla="val 8696"/>
            </a:avLst>
          </a:prstGeom>
          <a:solidFill>
            <a:srgbClr val="FFFFFF"/>
          </a:solidFill>
          <a:ln w="12700">
            <a:solidFill>
              <a:srgbClr val="D4DDE7"/>
            </a:solidFill>
            <a:prstDash val="solid"/>
          </a:ln>
        </p:spPr>
      </p:sp>
      <p:sp>
        <p:nvSpPr>
          <p:cNvPr id="20" name="Shape 18"/>
          <p:cNvSpPr/>
          <p:nvPr/>
        </p:nvSpPr>
        <p:spPr>
          <a:xfrm>
            <a:off x="4956048" y="4059936"/>
            <a:ext cx="164592" cy="420624"/>
          </a:xfrm>
          <a:prstGeom prst="rect">
            <a:avLst/>
          </a:prstGeom>
          <a:solidFill>
            <a:srgbClr val="D97706"/>
          </a:solidFill>
          <a:ln w="12700">
            <a:solidFill>
              <a:srgbClr val="D97706"/>
            </a:solidFill>
            <a:prstDash val="solid"/>
          </a:ln>
        </p:spPr>
      </p:sp>
      <p:sp>
        <p:nvSpPr>
          <p:cNvPr id="21" name="Text 19"/>
          <p:cNvSpPr/>
          <p:nvPr/>
        </p:nvSpPr>
        <p:spPr>
          <a:xfrm>
            <a:off x="5257800" y="4160520"/>
            <a:ext cx="1261872" cy="182880"/>
          </a:xfrm>
          <a:prstGeom prst="rect">
            <a:avLst/>
          </a:prstGeom>
          <a:noFill/>
          <a:ln/>
        </p:spPr>
        <p:txBody>
          <a:bodyPr wrap="square" lIns="0" tIns="0" rIns="0" bIns="0" rtlCol="0" anchor="ctr"/>
          <a:lstStyle/>
          <a:p>
            <a:pPr indent="0" marL="0">
              <a:buNone/>
            </a:pPr>
            <a:r>
              <a:rPr lang="en-US" sz="1250" b="1" dirty="0">
                <a:solidFill>
                  <a:srgbClr val="17202A"/>
                </a:solidFill>
              </a:rPr>
              <a:t>Explicación</a:t>
            </a:r>
            <a:endParaRPr lang="en-US" sz="1250" dirty="0"/>
          </a:p>
        </p:txBody>
      </p:sp>
      <p:sp>
        <p:nvSpPr>
          <p:cNvPr id="22" name="Shape 20"/>
          <p:cNvSpPr/>
          <p:nvPr/>
        </p:nvSpPr>
        <p:spPr>
          <a:xfrm>
            <a:off x="4956048" y="4636008"/>
            <a:ext cx="1828800" cy="420624"/>
          </a:xfrm>
          <a:prstGeom prst="roundRect">
            <a:avLst>
              <a:gd name="adj" fmla="val 8696"/>
            </a:avLst>
          </a:prstGeom>
          <a:solidFill>
            <a:srgbClr val="FFFFFF"/>
          </a:solidFill>
          <a:ln w="12700">
            <a:solidFill>
              <a:srgbClr val="D4DDE7"/>
            </a:solidFill>
            <a:prstDash val="solid"/>
          </a:ln>
        </p:spPr>
      </p:sp>
      <p:sp>
        <p:nvSpPr>
          <p:cNvPr id="23" name="Shape 21"/>
          <p:cNvSpPr/>
          <p:nvPr/>
        </p:nvSpPr>
        <p:spPr>
          <a:xfrm>
            <a:off x="4956048" y="4636008"/>
            <a:ext cx="164592" cy="420624"/>
          </a:xfrm>
          <a:prstGeom prst="rect">
            <a:avLst/>
          </a:prstGeom>
          <a:solidFill>
            <a:srgbClr val="B91C1C"/>
          </a:solidFill>
          <a:ln w="12700">
            <a:solidFill>
              <a:srgbClr val="B91C1C"/>
            </a:solidFill>
            <a:prstDash val="solid"/>
          </a:ln>
        </p:spPr>
      </p:sp>
      <p:sp>
        <p:nvSpPr>
          <p:cNvPr id="24" name="Text 22"/>
          <p:cNvSpPr/>
          <p:nvPr/>
        </p:nvSpPr>
        <p:spPr>
          <a:xfrm>
            <a:off x="5257800" y="4736592"/>
            <a:ext cx="1261872" cy="182880"/>
          </a:xfrm>
          <a:prstGeom prst="rect">
            <a:avLst/>
          </a:prstGeom>
          <a:noFill/>
          <a:ln/>
        </p:spPr>
        <p:txBody>
          <a:bodyPr wrap="square" lIns="0" tIns="0" rIns="0" bIns="0" rtlCol="0" anchor="ctr"/>
          <a:lstStyle/>
          <a:p>
            <a:pPr indent="0" marL="0">
              <a:buNone/>
            </a:pPr>
            <a:r>
              <a:rPr lang="en-US" sz="1250" b="1" dirty="0">
                <a:solidFill>
                  <a:srgbClr val="17202A"/>
                </a:solidFill>
              </a:rPr>
              <a:t>Mejora</a:t>
            </a:r>
            <a:endParaRPr lang="en-US" sz="1250" dirty="0"/>
          </a:p>
        </p:txBody>
      </p:sp>
      <p:sp>
        <p:nvSpPr>
          <p:cNvPr id="25" name="Shape 23"/>
          <p:cNvSpPr/>
          <p:nvPr/>
        </p:nvSpPr>
        <p:spPr>
          <a:xfrm>
            <a:off x="7315200" y="2331720"/>
            <a:ext cx="4069080" cy="2542032"/>
          </a:xfrm>
          <a:prstGeom prst="roundRect">
            <a:avLst>
              <a:gd name="adj" fmla="val 2158"/>
            </a:avLst>
          </a:prstGeom>
          <a:solidFill>
            <a:srgbClr val="FEF3C7"/>
          </a:solidFill>
          <a:ln w="15240">
            <a:solidFill>
              <a:srgbClr val="F2C96D"/>
            </a:solidFill>
            <a:prstDash val="solid"/>
          </a:ln>
        </p:spPr>
      </p:sp>
      <p:sp>
        <p:nvSpPr>
          <p:cNvPr id="26" name="Text 24"/>
          <p:cNvSpPr/>
          <p:nvPr/>
        </p:nvSpPr>
        <p:spPr>
          <a:xfrm>
            <a:off x="7635240" y="2697480"/>
            <a:ext cx="3429000" cy="566928"/>
          </a:xfrm>
          <a:prstGeom prst="rect">
            <a:avLst/>
          </a:prstGeom>
          <a:noFill/>
          <a:ln/>
        </p:spPr>
        <p:txBody>
          <a:bodyPr wrap="square" lIns="0" tIns="0" rIns="0" bIns="0" rtlCol="0" anchor="ctr"/>
          <a:lstStyle/>
          <a:p>
            <a:pPr algn="ctr" indent="0" marL="0">
              <a:buNone/>
            </a:pPr>
            <a:r>
              <a:rPr lang="en-US" sz="1800" b="1" dirty="0">
                <a:solidFill>
                  <a:srgbClr val="D97706"/>
                </a:solidFill>
              </a:rPr>
              <a:t>No empezaremos construyendo una IA completa.</a:t>
            </a:r>
            <a:endParaRPr lang="en-US" sz="1800" dirty="0"/>
          </a:p>
        </p:txBody>
      </p:sp>
      <p:sp>
        <p:nvSpPr>
          <p:cNvPr id="27" name="Text 25"/>
          <p:cNvSpPr/>
          <p:nvPr/>
        </p:nvSpPr>
        <p:spPr>
          <a:xfrm>
            <a:off x="7635240" y="3474720"/>
            <a:ext cx="3429000" cy="877824"/>
          </a:xfrm>
          <a:prstGeom prst="rect">
            <a:avLst/>
          </a:prstGeom>
          <a:noFill/>
          <a:ln/>
        </p:spPr>
        <p:txBody>
          <a:bodyPr wrap="square" lIns="0" tIns="0" rIns="0" bIns="0" rtlCol="0" anchor="ctr"/>
          <a:lstStyle/>
          <a:p>
            <a:pPr algn="ctr" indent="0" marL="0">
              <a:buNone/>
            </a:pPr>
            <a:r>
              <a:rPr lang="en-US" sz="1400" dirty="0">
                <a:solidFill>
                  <a:srgbClr val="17202A"/>
                </a:solidFill>
              </a:rPr>
              <a:t>Primero construiremos software sencillo y defendible. La integración de IA solo aparecerá de forma segura si procede.</a:t>
            </a:r>
            <a:endParaRPr lang="en-US" sz="1400" dirty="0"/>
          </a:p>
        </p:txBody>
      </p:sp>
      <p:sp>
        <p:nvSpPr>
          <p:cNvPr id="28" name="Text 26"/>
          <p:cNvSpPr/>
          <p:nvPr/>
        </p:nvSpPr>
        <p:spPr>
          <a:xfrm>
            <a:off x="685800" y="5413248"/>
            <a:ext cx="10789920" cy="402336"/>
          </a:xfrm>
          <a:prstGeom prst="rect">
            <a:avLst/>
          </a:prstGeom>
          <a:noFill/>
          <a:ln/>
        </p:spPr>
        <p:txBody>
          <a:bodyPr wrap="square" lIns="0" tIns="0" rIns="0" bIns="0" rtlCol="0" anchor="ctr"/>
          <a:lstStyle/>
          <a:p>
            <a:pPr indent="0" marL="0">
              <a:buNone/>
            </a:pPr>
            <a:r>
              <a:rPr lang="en-US" sz="1350" b="1" dirty="0">
                <a:solidFill>
                  <a:srgbClr val="17324D"/>
                </a:solidFill>
              </a:rPr>
              <a:t>El reto da continuidad al curso; los RA siguen siendo la referencia de evaluación.</a:t>
            </a:r>
            <a:endParaRPr lang="en-US" sz="1350" dirty="0"/>
          </a:p>
        </p:txBody>
      </p:sp>
      <p:sp>
        <p:nvSpPr>
          <p:cNvPr id="25" name="Slide Number Placeholder 0"/>
          <p:cNvSpPr>
            <a:spLocks noGrp="1"/>
          </p:cNvSpPr>
          <p:nvPr>
            <p:ph type="sldNum" sz="quarter" idx="4294967295"/>
          </p:nvPr>
        </p:nvSpPr>
        <p:spPr>
          <a:xfrm>
            <a:off x="11228832" y="6492240"/>
            <a:ext cx="411480" cy="201168"/>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rgbClr val="64748B"/>
                </a:solidFill>
                <a:latin typeface="Aptos"/>
                <a:ea typeface="Aptos"/>
                <a:cs typeface="Apto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84048"/>
            <a:ext cx="4389120" cy="256032"/>
          </a:xfrm>
          <a:prstGeom prst="rect">
            <a:avLst/>
          </a:prstGeom>
          <a:noFill/>
          <a:ln/>
        </p:spPr>
        <p:txBody>
          <a:bodyPr wrap="square" lIns="0" tIns="0" rIns="0" bIns="0" rtlCol="0" anchor="ctr"/>
          <a:lstStyle/>
          <a:p>
            <a:pPr indent="0" marL="0">
              <a:buNone/>
            </a:pPr>
            <a:r>
              <a:rPr lang="en-US" sz="1100" b="1" spc="70" kern="0" dirty="0">
                <a:solidFill>
                  <a:srgbClr val="0F766E"/>
                </a:solidFill>
              </a:rPr>
              <a:t>PROGRAMACIÓN · 1.º DAW</a:t>
            </a:r>
            <a:endParaRPr lang="en-US" sz="1100" dirty="0"/>
          </a:p>
        </p:txBody>
      </p:sp>
      <p:sp>
        <p:nvSpPr>
          <p:cNvPr id="3" name="Text 1"/>
          <p:cNvSpPr/>
          <p:nvPr/>
        </p:nvSpPr>
        <p:spPr>
          <a:xfrm>
            <a:off x="548640" y="749808"/>
            <a:ext cx="9784080" cy="621792"/>
          </a:xfrm>
          <a:prstGeom prst="rect">
            <a:avLst/>
          </a:prstGeom>
          <a:noFill/>
          <a:ln/>
        </p:spPr>
        <p:txBody>
          <a:bodyPr wrap="square" lIns="0" tIns="0" rIns="0" bIns="0" rtlCol="0" anchor="ctr"/>
          <a:lstStyle/>
          <a:p>
            <a:pPr indent="0" marL="0">
              <a:buNone/>
            </a:pPr>
            <a:r>
              <a:rPr lang="en-US" sz="2700" b="1" dirty="0">
                <a:solidFill>
                  <a:srgbClr val="17202A"/>
                </a:solidFill>
              </a:rPr>
              <a:t>MiniJarvis crece por hitos</a:t>
            </a:r>
            <a:endParaRPr lang="en-US" sz="2700" dirty="0"/>
          </a:p>
        </p:txBody>
      </p:sp>
      <p:sp>
        <p:nvSpPr>
          <p:cNvPr id="4" name="Shape 2"/>
          <p:cNvSpPr/>
          <p:nvPr/>
        </p:nvSpPr>
        <p:spPr>
          <a:xfrm>
            <a:off x="10405872" y="411480"/>
            <a:ext cx="1234440" cy="347472"/>
          </a:xfrm>
          <a:prstGeom prst="roundRect">
            <a:avLst>
              <a:gd name="adj" fmla="val 18421"/>
            </a:avLst>
          </a:prstGeom>
          <a:solidFill>
            <a:srgbClr val="FEF3C7"/>
          </a:solidFill>
          <a:ln w="12700">
            <a:solidFill>
              <a:srgbClr val="F2C96D"/>
            </a:solidFill>
            <a:prstDash val="solid"/>
          </a:ln>
        </p:spPr>
      </p:sp>
      <p:sp>
        <p:nvSpPr>
          <p:cNvPr id="5" name="Text 3"/>
          <p:cNvSpPr/>
          <p:nvPr/>
        </p:nvSpPr>
        <p:spPr>
          <a:xfrm>
            <a:off x="10405872" y="470916"/>
            <a:ext cx="1234440" cy="182880"/>
          </a:xfrm>
          <a:prstGeom prst="rect">
            <a:avLst/>
          </a:prstGeom>
          <a:noFill/>
          <a:ln/>
        </p:spPr>
        <p:txBody>
          <a:bodyPr wrap="square" lIns="0" tIns="0" rIns="0" bIns="0" rtlCol="0" anchor="ctr"/>
          <a:lstStyle/>
          <a:p>
            <a:pPr algn="ctr" indent="0" marL="0">
              <a:buNone/>
            </a:pPr>
            <a:r>
              <a:rPr lang="en-US" sz="950" b="1" dirty="0">
                <a:solidFill>
                  <a:srgbClr val="D97706"/>
                </a:solidFill>
              </a:rPr>
              <a:t>RETO</a:t>
            </a:r>
            <a:endParaRPr lang="en-US" sz="950" dirty="0"/>
          </a:p>
        </p:txBody>
      </p:sp>
      <p:sp>
        <p:nvSpPr>
          <p:cNvPr id="6" name="Text 4"/>
          <p:cNvSpPr/>
          <p:nvPr/>
        </p:nvSpPr>
        <p:spPr>
          <a:xfrm>
            <a:off x="576072" y="1444752"/>
            <a:ext cx="10698480" cy="640080"/>
          </a:xfrm>
          <a:prstGeom prst="rect">
            <a:avLst/>
          </a:prstGeom>
          <a:noFill/>
          <a:ln/>
        </p:spPr>
        <p:txBody>
          <a:bodyPr wrap="square" lIns="0" tIns="0" rIns="0" bIns="0" rtlCol="0" anchor="ctr"/>
          <a:lstStyle/>
          <a:p>
            <a:pPr indent="0" marL="0">
              <a:buNone/>
            </a:pPr>
            <a:r>
              <a:rPr lang="en-US" sz="1820" dirty="0">
                <a:solidFill>
                  <a:srgbClr val="5B6573"/>
                </a:solidFill>
              </a:rPr>
              <a:t>Cada hito es un reto completo: recorre HEXA y deja producto, pruebas, documentación, explicación y mejora.</a:t>
            </a:r>
            <a:endParaRPr lang="en-US" sz="1820" dirty="0"/>
          </a:p>
        </p:txBody>
      </p:sp>
      <p:sp>
        <p:nvSpPr>
          <p:cNvPr id="7" name="Shape 5"/>
          <p:cNvSpPr/>
          <p:nvPr/>
        </p:nvSpPr>
        <p:spPr>
          <a:xfrm>
            <a:off x="658368" y="2240280"/>
            <a:ext cx="1847088" cy="1060704"/>
          </a:xfrm>
          <a:prstGeom prst="roundRect">
            <a:avLst>
              <a:gd name="adj" fmla="val 5172"/>
            </a:avLst>
          </a:prstGeom>
          <a:solidFill>
            <a:srgbClr val="FFFFFF"/>
          </a:solidFill>
          <a:ln w="13970">
            <a:solidFill>
              <a:srgbClr val="D4DDE7"/>
            </a:solidFill>
            <a:prstDash val="solid"/>
          </a:ln>
        </p:spPr>
      </p:sp>
      <p:sp>
        <p:nvSpPr>
          <p:cNvPr id="8" name="Shape 6"/>
          <p:cNvSpPr/>
          <p:nvPr/>
        </p:nvSpPr>
        <p:spPr>
          <a:xfrm>
            <a:off x="804672" y="2386584"/>
            <a:ext cx="502920" cy="329184"/>
          </a:xfrm>
          <a:prstGeom prst="roundRect">
            <a:avLst>
              <a:gd name="adj" fmla="val 11111"/>
            </a:avLst>
          </a:prstGeom>
          <a:solidFill>
            <a:srgbClr val="D97706"/>
          </a:solidFill>
          <a:ln w="12700">
            <a:solidFill>
              <a:srgbClr val="D97706"/>
            </a:solidFill>
            <a:prstDash val="solid"/>
          </a:ln>
        </p:spPr>
      </p:sp>
      <p:sp>
        <p:nvSpPr>
          <p:cNvPr id="9" name="Text 7"/>
          <p:cNvSpPr/>
          <p:nvPr/>
        </p:nvSpPr>
        <p:spPr>
          <a:xfrm>
            <a:off x="804672" y="2468880"/>
            <a:ext cx="502920" cy="128016"/>
          </a:xfrm>
          <a:prstGeom prst="rect">
            <a:avLst/>
          </a:prstGeom>
          <a:noFill/>
          <a:ln/>
        </p:spPr>
        <p:txBody>
          <a:bodyPr wrap="square" lIns="0" tIns="0" rIns="0" bIns="0" rtlCol="0" anchor="ctr"/>
          <a:lstStyle/>
          <a:p>
            <a:pPr algn="ctr" indent="0" marL="0">
              <a:buNone/>
            </a:pPr>
            <a:r>
              <a:rPr lang="en-US" sz="1070" b="1" dirty="0">
                <a:solidFill>
                  <a:srgbClr val="FFFFFF"/>
                </a:solidFill>
              </a:rPr>
              <a:t>H0</a:t>
            </a:r>
            <a:endParaRPr lang="en-US" sz="1070" dirty="0"/>
          </a:p>
        </p:txBody>
      </p:sp>
      <p:sp>
        <p:nvSpPr>
          <p:cNvPr id="10" name="Text 8"/>
          <p:cNvSpPr/>
          <p:nvPr/>
        </p:nvSpPr>
        <p:spPr>
          <a:xfrm>
            <a:off x="1408176" y="2404872"/>
            <a:ext cx="932688" cy="640080"/>
          </a:xfrm>
          <a:prstGeom prst="rect">
            <a:avLst/>
          </a:prstGeom>
          <a:noFill/>
          <a:ln/>
        </p:spPr>
        <p:txBody>
          <a:bodyPr wrap="square" lIns="0" tIns="0" rIns="0" bIns="0" rtlCol="0" anchor="ctr"/>
          <a:lstStyle/>
          <a:p>
            <a:pPr algn="l" indent="0" marL="0">
              <a:buNone/>
            </a:pPr>
            <a:r>
              <a:rPr lang="en-US" sz="1260" b="1" dirty="0">
                <a:solidFill>
                  <a:srgbClr val="17202A"/>
                </a:solidFill>
              </a:rPr>
              <a:t>Equipo</a:t>
            </a:r>
            <a:endParaRPr lang="en-US" sz="1260" dirty="0"/>
          </a:p>
        </p:txBody>
      </p:sp>
      <p:sp>
        <p:nvSpPr>
          <p:cNvPr id="11" name="Shape 9"/>
          <p:cNvSpPr/>
          <p:nvPr/>
        </p:nvSpPr>
        <p:spPr>
          <a:xfrm>
            <a:off x="2880360" y="2240280"/>
            <a:ext cx="1847088" cy="1060704"/>
          </a:xfrm>
          <a:prstGeom prst="roundRect">
            <a:avLst>
              <a:gd name="adj" fmla="val 5172"/>
            </a:avLst>
          </a:prstGeom>
          <a:solidFill>
            <a:srgbClr val="FFFFFF"/>
          </a:solidFill>
          <a:ln w="13970">
            <a:solidFill>
              <a:srgbClr val="D4DDE7"/>
            </a:solidFill>
            <a:prstDash val="solid"/>
          </a:ln>
        </p:spPr>
      </p:sp>
      <p:sp>
        <p:nvSpPr>
          <p:cNvPr id="12" name="Shape 10"/>
          <p:cNvSpPr/>
          <p:nvPr/>
        </p:nvSpPr>
        <p:spPr>
          <a:xfrm>
            <a:off x="3026664" y="2386584"/>
            <a:ext cx="502920" cy="329184"/>
          </a:xfrm>
          <a:prstGeom prst="roundRect">
            <a:avLst>
              <a:gd name="adj" fmla="val 11111"/>
            </a:avLst>
          </a:prstGeom>
          <a:solidFill>
            <a:srgbClr val="2563EB"/>
          </a:solidFill>
          <a:ln w="12700">
            <a:solidFill>
              <a:srgbClr val="2563EB"/>
            </a:solidFill>
            <a:prstDash val="solid"/>
          </a:ln>
        </p:spPr>
      </p:sp>
      <p:sp>
        <p:nvSpPr>
          <p:cNvPr id="13" name="Text 11"/>
          <p:cNvSpPr/>
          <p:nvPr/>
        </p:nvSpPr>
        <p:spPr>
          <a:xfrm>
            <a:off x="3026664" y="2468880"/>
            <a:ext cx="502920" cy="128016"/>
          </a:xfrm>
          <a:prstGeom prst="rect">
            <a:avLst/>
          </a:prstGeom>
          <a:noFill/>
          <a:ln/>
        </p:spPr>
        <p:txBody>
          <a:bodyPr wrap="square" lIns="0" tIns="0" rIns="0" bIns="0" rtlCol="0" anchor="ctr"/>
          <a:lstStyle/>
          <a:p>
            <a:pPr algn="ctr" indent="0" marL="0">
              <a:buNone/>
            </a:pPr>
            <a:r>
              <a:rPr lang="en-US" sz="1070" b="1" dirty="0">
                <a:solidFill>
                  <a:srgbClr val="FFFFFF"/>
                </a:solidFill>
              </a:rPr>
              <a:t>H1</a:t>
            </a:r>
            <a:endParaRPr lang="en-US" sz="1070" dirty="0"/>
          </a:p>
        </p:txBody>
      </p:sp>
      <p:sp>
        <p:nvSpPr>
          <p:cNvPr id="14" name="Text 12"/>
          <p:cNvSpPr/>
          <p:nvPr/>
        </p:nvSpPr>
        <p:spPr>
          <a:xfrm>
            <a:off x="3630168" y="2404872"/>
            <a:ext cx="932688" cy="640080"/>
          </a:xfrm>
          <a:prstGeom prst="rect">
            <a:avLst/>
          </a:prstGeom>
          <a:noFill/>
          <a:ln/>
        </p:spPr>
        <p:txBody>
          <a:bodyPr wrap="square" lIns="0" tIns="0" rIns="0" bIns="0" rtlCol="0" anchor="ctr"/>
          <a:lstStyle/>
          <a:p>
            <a:pPr algn="l" indent="0" marL="0">
              <a:buNone/>
            </a:pPr>
            <a:r>
              <a:rPr lang="en-US" sz="1260" b="1" dirty="0">
                <a:solidFill>
                  <a:srgbClr val="17202A"/>
                </a:solidFill>
              </a:rPr>
              <a:t>Fundamentos</a:t>
            </a:r>
            <a:endParaRPr lang="en-US" sz="1260" dirty="0"/>
          </a:p>
        </p:txBody>
      </p:sp>
      <p:sp>
        <p:nvSpPr>
          <p:cNvPr id="15" name="Shape 13"/>
          <p:cNvSpPr/>
          <p:nvPr/>
        </p:nvSpPr>
        <p:spPr>
          <a:xfrm>
            <a:off x="5102352" y="2240280"/>
            <a:ext cx="1847088" cy="1060704"/>
          </a:xfrm>
          <a:prstGeom prst="roundRect">
            <a:avLst>
              <a:gd name="adj" fmla="val 5172"/>
            </a:avLst>
          </a:prstGeom>
          <a:solidFill>
            <a:srgbClr val="FFFFFF"/>
          </a:solidFill>
          <a:ln w="13970">
            <a:solidFill>
              <a:srgbClr val="D4DDE7"/>
            </a:solidFill>
            <a:prstDash val="solid"/>
          </a:ln>
        </p:spPr>
      </p:sp>
      <p:sp>
        <p:nvSpPr>
          <p:cNvPr id="16" name="Shape 14"/>
          <p:cNvSpPr/>
          <p:nvPr/>
        </p:nvSpPr>
        <p:spPr>
          <a:xfrm>
            <a:off x="5248656" y="2386584"/>
            <a:ext cx="502920" cy="329184"/>
          </a:xfrm>
          <a:prstGeom prst="roundRect">
            <a:avLst>
              <a:gd name="adj" fmla="val 11111"/>
            </a:avLst>
          </a:prstGeom>
          <a:solidFill>
            <a:srgbClr val="2563EB"/>
          </a:solidFill>
          <a:ln w="12700">
            <a:solidFill>
              <a:srgbClr val="2563EB"/>
            </a:solidFill>
            <a:prstDash val="solid"/>
          </a:ln>
        </p:spPr>
      </p:sp>
      <p:sp>
        <p:nvSpPr>
          <p:cNvPr id="17" name="Text 15"/>
          <p:cNvSpPr/>
          <p:nvPr/>
        </p:nvSpPr>
        <p:spPr>
          <a:xfrm>
            <a:off x="5248656" y="2468880"/>
            <a:ext cx="502920" cy="128016"/>
          </a:xfrm>
          <a:prstGeom prst="rect">
            <a:avLst/>
          </a:prstGeom>
          <a:noFill/>
          <a:ln/>
        </p:spPr>
        <p:txBody>
          <a:bodyPr wrap="square" lIns="0" tIns="0" rIns="0" bIns="0" rtlCol="0" anchor="ctr"/>
          <a:lstStyle/>
          <a:p>
            <a:pPr algn="ctr" indent="0" marL="0">
              <a:buNone/>
            </a:pPr>
            <a:r>
              <a:rPr lang="en-US" sz="1070" b="1" dirty="0">
                <a:solidFill>
                  <a:srgbClr val="FFFFFF"/>
                </a:solidFill>
              </a:rPr>
              <a:t>H2</a:t>
            </a:r>
            <a:endParaRPr lang="en-US" sz="1070" dirty="0"/>
          </a:p>
        </p:txBody>
      </p:sp>
      <p:sp>
        <p:nvSpPr>
          <p:cNvPr id="18" name="Text 16"/>
          <p:cNvSpPr/>
          <p:nvPr/>
        </p:nvSpPr>
        <p:spPr>
          <a:xfrm>
            <a:off x="5852160" y="2404872"/>
            <a:ext cx="932688" cy="640080"/>
          </a:xfrm>
          <a:prstGeom prst="rect">
            <a:avLst/>
          </a:prstGeom>
          <a:noFill/>
          <a:ln/>
        </p:spPr>
        <p:txBody>
          <a:bodyPr wrap="square" lIns="0" tIns="0" rIns="0" bIns="0" rtlCol="0" anchor="ctr"/>
          <a:lstStyle/>
          <a:p>
            <a:pPr algn="l" indent="0" marL="0">
              <a:buNone/>
            </a:pPr>
            <a:r>
              <a:rPr lang="en-US" sz="1260" b="1" dirty="0">
                <a:solidFill>
                  <a:srgbClr val="17202A"/>
                </a:solidFill>
              </a:rPr>
              <a:t>Decisiones</a:t>
            </a:r>
            <a:endParaRPr lang="en-US" sz="1260" dirty="0"/>
          </a:p>
        </p:txBody>
      </p:sp>
      <p:sp>
        <p:nvSpPr>
          <p:cNvPr id="19" name="Shape 17"/>
          <p:cNvSpPr/>
          <p:nvPr/>
        </p:nvSpPr>
        <p:spPr>
          <a:xfrm>
            <a:off x="7324344" y="2240280"/>
            <a:ext cx="1847088" cy="1060704"/>
          </a:xfrm>
          <a:prstGeom prst="roundRect">
            <a:avLst>
              <a:gd name="adj" fmla="val 5172"/>
            </a:avLst>
          </a:prstGeom>
          <a:solidFill>
            <a:srgbClr val="FFFFFF"/>
          </a:solidFill>
          <a:ln w="13970">
            <a:solidFill>
              <a:srgbClr val="D4DDE7"/>
            </a:solidFill>
            <a:prstDash val="solid"/>
          </a:ln>
        </p:spPr>
      </p:sp>
      <p:sp>
        <p:nvSpPr>
          <p:cNvPr id="20" name="Shape 18"/>
          <p:cNvSpPr/>
          <p:nvPr/>
        </p:nvSpPr>
        <p:spPr>
          <a:xfrm>
            <a:off x="7470648" y="2386584"/>
            <a:ext cx="502920" cy="329184"/>
          </a:xfrm>
          <a:prstGeom prst="roundRect">
            <a:avLst>
              <a:gd name="adj" fmla="val 11111"/>
            </a:avLst>
          </a:prstGeom>
          <a:solidFill>
            <a:srgbClr val="2563EB"/>
          </a:solidFill>
          <a:ln w="12700">
            <a:solidFill>
              <a:srgbClr val="2563EB"/>
            </a:solidFill>
            <a:prstDash val="solid"/>
          </a:ln>
        </p:spPr>
      </p:sp>
      <p:sp>
        <p:nvSpPr>
          <p:cNvPr id="21" name="Text 19"/>
          <p:cNvSpPr/>
          <p:nvPr/>
        </p:nvSpPr>
        <p:spPr>
          <a:xfrm>
            <a:off x="7470648" y="2468880"/>
            <a:ext cx="502920" cy="128016"/>
          </a:xfrm>
          <a:prstGeom prst="rect">
            <a:avLst/>
          </a:prstGeom>
          <a:noFill/>
          <a:ln/>
        </p:spPr>
        <p:txBody>
          <a:bodyPr wrap="square" lIns="0" tIns="0" rIns="0" bIns="0" rtlCol="0" anchor="ctr"/>
          <a:lstStyle/>
          <a:p>
            <a:pPr algn="ctr" indent="0" marL="0">
              <a:buNone/>
            </a:pPr>
            <a:r>
              <a:rPr lang="en-US" sz="1070" b="1" dirty="0">
                <a:solidFill>
                  <a:srgbClr val="FFFFFF"/>
                </a:solidFill>
              </a:rPr>
              <a:t>H3</a:t>
            </a:r>
            <a:endParaRPr lang="en-US" sz="1070" dirty="0"/>
          </a:p>
        </p:txBody>
      </p:sp>
      <p:sp>
        <p:nvSpPr>
          <p:cNvPr id="22" name="Text 20"/>
          <p:cNvSpPr/>
          <p:nvPr/>
        </p:nvSpPr>
        <p:spPr>
          <a:xfrm>
            <a:off x="8074152" y="2404872"/>
            <a:ext cx="932688" cy="640080"/>
          </a:xfrm>
          <a:prstGeom prst="rect">
            <a:avLst/>
          </a:prstGeom>
          <a:noFill/>
          <a:ln/>
        </p:spPr>
        <p:txBody>
          <a:bodyPr wrap="square" lIns="0" tIns="0" rIns="0" bIns="0" rtlCol="0" anchor="ctr"/>
          <a:lstStyle/>
          <a:p>
            <a:pPr algn="l" indent="0" marL="0">
              <a:buNone/>
            </a:pPr>
            <a:r>
              <a:rPr lang="en-US" sz="1260" b="1" dirty="0">
                <a:solidFill>
                  <a:srgbClr val="17202A"/>
                </a:solidFill>
              </a:rPr>
              <a:t>Memoria</a:t>
            </a:r>
            <a:endParaRPr lang="en-US" sz="1260" dirty="0"/>
          </a:p>
        </p:txBody>
      </p:sp>
      <p:sp>
        <p:nvSpPr>
          <p:cNvPr id="23" name="Shape 21"/>
          <p:cNvSpPr/>
          <p:nvPr/>
        </p:nvSpPr>
        <p:spPr>
          <a:xfrm>
            <a:off x="9546336" y="2240280"/>
            <a:ext cx="1847088" cy="1060704"/>
          </a:xfrm>
          <a:prstGeom prst="roundRect">
            <a:avLst>
              <a:gd name="adj" fmla="val 5172"/>
            </a:avLst>
          </a:prstGeom>
          <a:solidFill>
            <a:srgbClr val="FFFFFF"/>
          </a:solidFill>
          <a:ln w="13970">
            <a:solidFill>
              <a:srgbClr val="D4DDE7"/>
            </a:solidFill>
            <a:prstDash val="solid"/>
          </a:ln>
        </p:spPr>
      </p:sp>
      <p:sp>
        <p:nvSpPr>
          <p:cNvPr id="24" name="Shape 22"/>
          <p:cNvSpPr/>
          <p:nvPr/>
        </p:nvSpPr>
        <p:spPr>
          <a:xfrm>
            <a:off x="9692640" y="2386584"/>
            <a:ext cx="502920" cy="329184"/>
          </a:xfrm>
          <a:prstGeom prst="roundRect">
            <a:avLst>
              <a:gd name="adj" fmla="val 11111"/>
            </a:avLst>
          </a:prstGeom>
          <a:solidFill>
            <a:srgbClr val="0F766E"/>
          </a:solidFill>
          <a:ln w="12700">
            <a:solidFill>
              <a:srgbClr val="0F766E"/>
            </a:solidFill>
            <a:prstDash val="solid"/>
          </a:ln>
        </p:spPr>
      </p:sp>
      <p:sp>
        <p:nvSpPr>
          <p:cNvPr id="25" name="Text 23"/>
          <p:cNvSpPr/>
          <p:nvPr/>
        </p:nvSpPr>
        <p:spPr>
          <a:xfrm>
            <a:off x="9692640" y="2468880"/>
            <a:ext cx="502920" cy="128016"/>
          </a:xfrm>
          <a:prstGeom prst="rect">
            <a:avLst/>
          </a:prstGeom>
          <a:noFill/>
          <a:ln/>
        </p:spPr>
        <p:txBody>
          <a:bodyPr wrap="square" lIns="0" tIns="0" rIns="0" bIns="0" rtlCol="0" anchor="ctr"/>
          <a:lstStyle/>
          <a:p>
            <a:pPr algn="ctr" indent="0" marL="0">
              <a:buNone/>
            </a:pPr>
            <a:r>
              <a:rPr lang="en-US" sz="1070" b="1" dirty="0">
                <a:solidFill>
                  <a:srgbClr val="FFFFFF"/>
                </a:solidFill>
              </a:rPr>
              <a:t>H4</a:t>
            </a:r>
            <a:endParaRPr lang="en-US" sz="1070" dirty="0"/>
          </a:p>
        </p:txBody>
      </p:sp>
      <p:sp>
        <p:nvSpPr>
          <p:cNvPr id="26" name="Text 24"/>
          <p:cNvSpPr/>
          <p:nvPr/>
        </p:nvSpPr>
        <p:spPr>
          <a:xfrm>
            <a:off x="10296144" y="2404872"/>
            <a:ext cx="932688" cy="640080"/>
          </a:xfrm>
          <a:prstGeom prst="rect">
            <a:avLst/>
          </a:prstGeom>
          <a:noFill/>
          <a:ln/>
        </p:spPr>
        <p:txBody>
          <a:bodyPr wrap="square" lIns="0" tIns="0" rIns="0" bIns="0" rtlCol="0" anchor="ctr"/>
          <a:lstStyle/>
          <a:p>
            <a:pPr algn="l" indent="0" marL="0">
              <a:buNone/>
            </a:pPr>
            <a:r>
              <a:rPr lang="en-US" sz="1260" b="1" dirty="0">
                <a:solidFill>
                  <a:srgbClr val="17202A"/>
                </a:solidFill>
              </a:rPr>
              <a:t>POO</a:t>
            </a:r>
            <a:endParaRPr lang="en-US" sz="1260" dirty="0"/>
          </a:p>
        </p:txBody>
      </p:sp>
      <p:sp>
        <p:nvSpPr>
          <p:cNvPr id="27" name="Shape 25"/>
          <p:cNvSpPr/>
          <p:nvPr/>
        </p:nvSpPr>
        <p:spPr>
          <a:xfrm>
            <a:off x="1783080" y="3685032"/>
            <a:ext cx="1847088" cy="1060704"/>
          </a:xfrm>
          <a:prstGeom prst="roundRect">
            <a:avLst>
              <a:gd name="adj" fmla="val 5172"/>
            </a:avLst>
          </a:prstGeom>
          <a:solidFill>
            <a:srgbClr val="FFFFFF"/>
          </a:solidFill>
          <a:ln w="13970">
            <a:solidFill>
              <a:srgbClr val="D4DDE7"/>
            </a:solidFill>
            <a:prstDash val="solid"/>
          </a:ln>
        </p:spPr>
      </p:sp>
      <p:sp>
        <p:nvSpPr>
          <p:cNvPr id="28" name="Shape 26"/>
          <p:cNvSpPr/>
          <p:nvPr/>
        </p:nvSpPr>
        <p:spPr>
          <a:xfrm>
            <a:off x="1929384" y="3831336"/>
            <a:ext cx="502920" cy="329184"/>
          </a:xfrm>
          <a:prstGeom prst="roundRect">
            <a:avLst>
              <a:gd name="adj" fmla="val 11111"/>
            </a:avLst>
          </a:prstGeom>
          <a:solidFill>
            <a:srgbClr val="0F766E"/>
          </a:solidFill>
          <a:ln w="12700">
            <a:solidFill>
              <a:srgbClr val="0F766E"/>
            </a:solidFill>
            <a:prstDash val="solid"/>
          </a:ln>
        </p:spPr>
      </p:sp>
      <p:sp>
        <p:nvSpPr>
          <p:cNvPr id="29" name="Text 27"/>
          <p:cNvSpPr/>
          <p:nvPr/>
        </p:nvSpPr>
        <p:spPr>
          <a:xfrm>
            <a:off x="1929384" y="3913632"/>
            <a:ext cx="502920" cy="128016"/>
          </a:xfrm>
          <a:prstGeom prst="rect">
            <a:avLst/>
          </a:prstGeom>
          <a:noFill/>
          <a:ln/>
        </p:spPr>
        <p:txBody>
          <a:bodyPr wrap="square" lIns="0" tIns="0" rIns="0" bIns="0" rtlCol="0" anchor="ctr"/>
          <a:lstStyle/>
          <a:p>
            <a:pPr algn="ctr" indent="0" marL="0">
              <a:buNone/>
            </a:pPr>
            <a:r>
              <a:rPr lang="en-US" sz="1070" b="1" dirty="0">
                <a:solidFill>
                  <a:srgbClr val="FFFFFF"/>
                </a:solidFill>
              </a:rPr>
              <a:t>H5</a:t>
            </a:r>
            <a:endParaRPr lang="en-US" sz="1070" dirty="0"/>
          </a:p>
        </p:txBody>
      </p:sp>
      <p:sp>
        <p:nvSpPr>
          <p:cNvPr id="30" name="Text 28"/>
          <p:cNvSpPr/>
          <p:nvPr/>
        </p:nvSpPr>
        <p:spPr>
          <a:xfrm>
            <a:off x="2532888" y="3849624"/>
            <a:ext cx="932688" cy="640080"/>
          </a:xfrm>
          <a:prstGeom prst="rect">
            <a:avLst/>
          </a:prstGeom>
          <a:noFill/>
          <a:ln/>
        </p:spPr>
        <p:txBody>
          <a:bodyPr wrap="square" lIns="0" tIns="0" rIns="0" bIns="0" rtlCol="0" anchor="ctr"/>
          <a:lstStyle/>
          <a:p>
            <a:pPr algn="l" indent="0" marL="0">
              <a:buNone/>
            </a:pPr>
            <a:r>
              <a:rPr lang="en-US" sz="1260" b="1" dirty="0">
                <a:solidFill>
                  <a:srgbClr val="17202A"/>
                </a:solidFill>
              </a:rPr>
              <a:t>Extensibilidad</a:t>
            </a:r>
            <a:endParaRPr lang="en-US" sz="1260" dirty="0"/>
          </a:p>
        </p:txBody>
      </p:sp>
      <p:sp>
        <p:nvSpPr>
          <p:cNvPr id="31" name="Shape 29"/>
          <p:cNvSpPr/>
          <p:nvPr/>
        </p:nvSpPr>
        <p:spPr>
          <a:xfrm>
            <a:off x="4005072" y="3685032"/>
            <a:ext cx="1847088" cy="1060704"/>
          </a:xfrm>
          <a:prstGeom prst="roundRect">
            <a:avLst>
              <a:gd name="adj" fmla="val 5172"/>
            </a:avLst>
          </a:prstGeom>
          <a:solidFill>
            <a:srgbClr val="FFFFFF"/>
          </a:solidFill>
          <a:ln w="13970">
            <a:solidFill>
              <a:srgbClr val="D4DDE7"/>
            </a:solidFill>
            <a:prstDash val="solid"/>
          </a:ln>
        </p:spPr>
      </p:sp>
      <p:sp>
        <p:nvSpPr>
          <p:cNvPr id="32" name="Shape 30"/>
          <p:cNvSpPr/>
          <p:nvPr/>
        </p:nvSpPr>
        <p:spPr>
          <a:xfrm>
            <a:off x="4151376" y="3831336"/>
            <a:ext cx="502920" cy="329184"/>
          </a:xfrm>
          <a:prstGeom prst="roundRect">
            <a:avLst>
              <a:gd name="adj" fmla="val 11111"/>
            </a:avLst>
          </a:prstGeom>
          <a:solidFill>
            <a:srgbClr val="0F766E"/>
          </a:solidFill>
          <a:ln w="12700">
            <a:solidFill>
              <a:srgbClr val="0F766E"/>
            </a:solidFill>
            <a:prstDash val="solid"/>
          </a:ln>
        </p:spPr>
      </p:sp>
      <p:sp>
        <p:nvSpPr>
          <p:cNvPr id="33" name="Text 31"/>
          <p:cNvSpPr/>
          <p:nvPr/>
        </p:nvSpPr>
        <p:spPr>
          <a:xfrm>
            <a:off x="4151376" y="3913632"/>
            <a:ext cx="502920" cy="128016"/>
          </a:xfrm>
          <a:prstGeom prst="rect">
            <a:avLst/>
          </a:prstGeom>
          <a:noFill/>
          <a:ln/>
        </p:spPr>
        <p:txBody>
          <a:bodyPr wrap="square" lIns="0" tIns="0" rIns="0" bIns="0" rtlCol="0" anchor="ctr"/>
          <a:lstStyle/>
          <a:p>
            <a:pPr algn="ctr" indent="0" marL="0">
              <a:buNone/>
            </a:pPr>
            <a:r>
              <a:rPr lang="en-US" sz="1070" b="1" dirty="0">
                <a:solidFill>
                  <a:srgbClr val="FFFFFF"/>
                </a:solidFill>
              </a:rPr>
              <a:t>H6</a:t>
            </a:r>
            <a:endParaRPr lang="en-US" sz="1070" dirty="0"/>
          </a:p>
        </p:txBody>
      </p:sp>
      <p:sp>
        <p:nvSpPr>
          <p:cNvPr id="34" name="Text 32"/>
          <p:cNvSpPr/>
          <p:nvPr/>
        </p:nvSpPr>
        <p:spPr>
          <a:xfrm>
            <a:off x="4754880" y="3849624"/>
            <a:ext cx="932688" cy="640080"/>
          </a:xfrm>
          <a:prstGeom prst="rect">
            <a:avLst/>
          </a:prstGeom>
          <a:noFill/>
          <a:ln/>
        </p:spPr>
        <p:txBody>
          <a:bodyPr wrap="square" lIns="0" tIns="0" rIns="0" bIns="0" rtlCol="0" anchor="ctr"/>
          <a:lstStyle/>
          <a:p>
            <a:pPr algn="l" indent="0" marL="0">
              <a:buNone/>
            </a:pPr>
            <a:r>
              <a:rPr lang="en-US" sz="1260" b="1" dirty="0">
                <a:solidFill>
                  <a:srgbClr val="17202A"/>
                </a:solidFill>
              </a:rPr>
              <a:t>Persistencia</a:t>
            </a:r>
            <a:endParaRPr lang="en-US" sz="1260" dirty="0"/>
          </a:p>
        </p:txBody>
      </p:sp>
      <p:sp>
        <p:nvSpPr>
          <p:cNvPr id="35" name="Shape 33"/>
          <p:cNvSpPr/>
          <p:nvPr/>
        </p:nvSpPr>
        <p:spPr>
          <a:xfrm>
            <a:off x="6227064" y="3685032"/>
            <a:ext cx="1847088" cy="1060704"/>
          </a:xfrm>
          <a:prstGeom prst="roundRect">
            <a:avLst>
              <a:gd name="adj" fmla="val 5172"/>
            </a:avLst>
          </a:prstGeom>
          <a:solidFill>
            <a:srgbClr val="FFFFFF"/>
          </a:solidFill>
          <a:ln w="13970">
            <a:solidFill>
              <a:srgbClr val="D4DDE7"/>
            </a:solidFill>
            <a:prstDash val="solid"/>
          </a:ln>
        </p:spPr>
      </p:sp>
      <p:sp>
        <p:nvSpPr>
          <p:cNvPr id="36" name="Shape 34"/>
          <p:cNvSpPr/>
          <p:nvPr/>
        </p:nvSpPr>
        <p:spPr>
          <a:xfrm>
            <a:off x="6373368" y="3831336"/>
            <a:ext cx="502920" cy="329184"/>
          </a:xfrm>
          <a:prstGeom prst="roundRect">
            <a:avLst>
              <a:gd name="adj" fmla="val 11111"/>
            </a:avLst>
          </a:prstGeom>
          <a:solidFill>
            <a:srgbClr val="17324D"/>
          </a:solidFill>
          <a:ln w="12700">
            <a:solidFill>
              <a:srgbClr val="17324D"/>
            </a:solidFill>
            <a:prstDash val="solid"/>
          </a:ln>
        </p:spPr>
      </p:sp>
      <p:sp>
        <p:nvSpPr>
          <p:cNvPr id="37" name="Text 35"/>
          <p:cNvSpPr/>
          <p:nvPr/>
        </p:nvSpPr>
        <p:spPr>
          <a:xfrm>
            <a:off x="6373368" y="3913632"/>
            <a:ext cx="502920" cy="128016"/>
          </a:xfrm>
          <a:prstGeom prst="rect">
            <a:avLst/>
          </a:prstGeom>
          <a:noFill/>
          <a:ln/>
        </p:spPr>
        <p:txBody>
          <a:bodyPr wrap="square" lIns="0" tIns="0" rIns="0" bIns="0" rtlCol="0" anchor="ctr"/>
          <a:lstStyle/>
          <a:p>
            <a:pPr algn="ctr" indent="0" marL="0">
              <a:buNone/>
            </a:pPr>
            <a:r>
              <a:rPr lang="en-US" sz="1070" b="1" dirty="0">
                <a:solidFill>
                  <a:srgbClr val="FFFFFF"/>
                </a:solidFill>
              </a:rPr>
              <a:t>H7</a:t>
            </a:r>
            <a:endParaRPr lang="en-US" sz="1070" dirty="0"/>
          </a:p>
        </p:txBody>
      </p:sp>
      <p:sp>
        <p:nvSpPr>
          <p:cNvPr id="38" name="Text 36"/>
          <p:cNvSpPr/>
          <p:nvPr/>
        </p:nvSpPr>
        <p:spPr>
          <a:xfrm>
            <a:off x="6976872" y="3849624"/>
            <a:ext cx="932688" cy="640080"/>
          </a:xfrm>
          <a:prstGeom prst="rect">
            <a:avLst/>
          </a:prstGeom>
          <a:noFill/>
          <a:ln/>
        </p:spPr>
        <p:txBody>
          <a:bodyPr wrap="square" lIns="0" tIns="0" rIns="0" bIns="0" rtlCol="0" anchor="ctr"/>
          <a:lstStyle/>
          <a:p>
            <a:pPr algn="l" indent="0" marL="0">
              <a:buNone/>
            </a:pPr>
            <a:r>
              <a:rPr lang="en-US" sz="1260" b="1" dirty="0">
                <a:solidFill>
                  <a:srgbClr val="17202A"/>
                </a:solidFill>
              </a:rPr>
              <a:t>IA segura</a:t>
            </a:r>
            <a:endParaRPr lang="en-US" sz="1260" dirty="0"/>
          </a:p>
        </p:txBody>
      </p:sp>
      <p:sp>
        <p:nvSpPr>
          <p:cNvPr id="39" name="Shape 37"/>
          <p:cNvSpPr/>
          <p:nvPr/>
        </p:nvSpPr>
        <p:spPr>
          <a:xfrm>
            <a:off x="8449056" y="3685032"/>
            <a:ext cx="1847088" cy="1060704"/>
          </a:xfrm>
          <a:prstGeom prst="roundRect">
            <a:avLst>
              <a:gd name="adj" fmla="val 5172"/>
            </a:avLst>
          </a:prstGeom>
          <a:solidFill>
            <a:srgbClr val="FFFFFF"/>
          </a:solidFill>
          <a:ln w="13970">
            <a:solidFill>
              <a:srgbClr val="D4DDE7"/>
            </a:solidFill>
            <a:prstDash val="solid"/>
          </a:ln>
        </p:spPr>
      </p:sp>
      <p:sp>
        <p:nvSpPr>
          <p:cNvPr id="40" name="Shape 38"/>
          <p:cNvSpPr/>
          <p:nvPr/>
        </p:nvSpPr>
        <p:spPr>
          <a:xfrm>
            <a:off x="8595360" y="3831336"/>
            <a:ext cx="502920" cy="329184"/>
          </a:xfrm>
          <a:prstGeom prst="roundRect">
            <a:avLst>
              <a:gd name="adj" fmla="val 11111"/>
            </a:avLst>
          </a:prstGeom>
          <a:solidFill>
            <a:srgbClr val="17324D"/>
          </a:solidFill>
          <a:ln w="12700">
            <a:solidFill>
              <a:srgbClr val="17324D"/>
            </a:solidFill>
            <a:prstDash val="solid"/>
          </a:ln>
        </p:spPr>
      </p:sp>
      <p:sp>
        <p:nvSpPr>
          <p:cNvPr id="41" name="Text 39"/>
          <p:cNvSpPr/>
          <p:nvPr/>
        </p:nvSpPr>
        <p:spPr>
          <a:xfrm>
            <a:off x="8595360" y="3913632"/>
            <a:ext cx="502920" cy="128016"/>
          </a:xfrm>
          <a:prstGeom prst="rect">
            <a:avLst/>
          </a:prstGeom>
          <a:noFill/>
          <a:ln/>
        </p:spPr>
        <p:txBody>
          <a:bodyPr wrap="square" lIns="0" tIns="0" rIns="0" bIns="0" rtlCol="0" anchor="ctr"/>
          <a:lstStyle/>
          <a:p>
            <a:pPr algn="ctr" indent="0" marL="0">
              <a:buNone/>
            </a:pPr>
            <a:r>
              <a:rPr lang="en-US" sz="1070" b="1" dirty="0">
                <a:solidFill>
                  <a:srgbClr val="FFFFFF"/>
                </a:solidFill>
              </a:rPr>
              <a:t>HF</a:t>
            </a:r>
            <a:endParaRPr lang="en-US" sz="1070" dirty="0"/>
          </a:p>
        </p:txBody>
      </p:sp>
      <p:sp>
        <p:nvSpPr>
          <p:cNvPr id="42" name="Text 40"/>
          <p:cNvSpPr/>
          <p:nvPr/>
        </p:nvSpPr>
        <p:spPr>
          <a:xfrm>
            <a:off x="9198864" y="3849624"/>
            <a:ext cx="932688" cy="640080"/>
          </a:xfrm>
          <a:prstGeom prst="rect">
            <a:avLst/>
          </a:prstGeom>
          <a:noFill/>
          <a:ln/>
        </p:spPr>
        <p:txBody>
          <a:bodyPr wrap="square" lIns="0" tIns="0" rIns="0" bIns="0" rtlCol="0" anchor="ctr"/>
          <a:lstStyle/>
          <a:p>
            <a:pPr algn="l" indent="0" marL="0">
              <a:buNone/>
            </a:pPr>
            <a:r>
              <a:rPr lang="en-US" sz="1260" b="1" dirty="0">
                <a:solidFill>
                  <a:srgbClr val="17202A"/>
                </a:solidFill>
              </a:rPr>
              <a:t>Demostrar y mejorar</a:t>
            </a:r>
            <a:endParaRPr lang="en-US" sz="1260" dirty="0"/>
          </a:p>
        </p:txBody>
      </p:sp>
      <p:sp>
        <p:nvSpPr>
          <p:cNvPr id="43" name="Text 41"/>
          <p:cNvSpPr/>
          <p:nvPr/>
        </p:nvSpPr>
        <p:spPr>
          <a:xfrm>
            <a:off x="667512" y="5230368"/>
            <a:ext cx="10789920" cy="566928"/>
          </a:xfrm>
          <a:prstGeom prst="rect">
            <a:avLst/>
          </a:prstGeom>
          <a:noFill/>
          <a:ln/>
        </p:spPr>
        <p:txBody>
          <a:bodyPr wrap="square" lIns="0" tIns="0" rIns="0" bIns="0" rtlCol="0" anchor="ctr"/>
          <a:lstStyle/>
          <a:p>
            <a:pPr algn="ctr" indent="0" marL="0">
              <a:buNone/>
            </a:pPr>
            <a:r>
              <a:rPr lang="en-US" sz="1340" b="1" dirty="0">
                <a:solidFill>
                  <a:srgbClr val="17324D"/>
                </a:solidFill>
              </a:rPr>
              <a:t>H0 organiza el equipo · H1–H6 construyen el núcleo · H7 y HF amplían, integran, recuperan y mejoran según progreso.</a:t>
            </a:r>
            <a:endParaRPr lang="en-US" sz="1340" dirty="0"/>
          </a:p>
        </p:txBody>
      </p:sp>
      <p:sp>
        <p:nvSpPr>
          <p:cNvPr id="25" name="Slide Number Placeholder 0"/>
          <p:cNvSpPr>
            <a:spLocks noGrp="1"/>
          </p:cNvSpPr>
          <p:nvPr>
            <p:ph type="sldNum" sz="quarter" idx="4294967295"/>
          </p:nvPr>
        </p:nvSpPr>
        <p:spPr>
          <a:xfrm>
            <a:off x="11228832" y="6492240"/>
            <a:ext cx="411480" cy="201168"/>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rgbClr val="64748B"/>
                </a:solidFill>
                <a:latin typeface="Aptos"/>
                <a:ea typeface="Aptos"/>
                <a:cs typeface="Apto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384048"/>
            <a:ext cx="4389120" cy="256032"/>
          </a:xfrm>
          <a:prstGeom prst="rect">
            <a:avLst/>
          </a:prstGeom>
          <a:noFill/>
          <a:ln/>
        </p:spPr>
        <p:txBody>
          <a:bodyPr wrap="square" lIns="0" tIns="0" rIns="0" bIns="0" rtlCol="0" anchor="ctr"/>
          <a:lstStyle/>
          <a:p>
            <a:pPr indent="0" marL="0">
              <a:buNone/>
            </a:pPr>
            <a:r>
              <a:rPr lang="en-US" sz="1100" b="1" spc="70" kern="0" dirty="0">
                <a:solidFill>
                  <a:srgbClr val="0F766E"/>
                </a:solidFill>
              </a:rPr>
              <a:t>PROGRAMACIÓN · 1.º DAW</a:t>
            </a:r>
            <a:endParaRPr lang="en-US" sz="1100" dirty="0"/>
          </a:p>
        </p:txBody>
      </p:sp>
      <p:sp>
        <p:nvSpPr>
          <p:cNvPr id="3" name="Text 1"/>
          <p:cNvSpPr/>
          <p:nvPr/>
        </p:nvSpPr>
        <p:spPr>
          <a:xfrm>
            <a:off x="548640" y="749808"/>
            <a:ext cx="9784080" cy="621792"/>
          </a:xfrm>
          <a:prstGeom prst="rect">
            <a:avLst/>
          </a:prstGeom>
          <a:noFill/>
          <a:ln/>
        </p:spPr>
        <p:txBody>
          <a:bodyPr wrap="square" lIns="0" tIns="0" rIns="0" bIns="0" rtlCol="0" anchor="ctr"/>
          <a:lstStyle/>
          <a:p>
            <a:pPr indent="0" marL="0">
              <a:buNone/>
            </a:pPr>
            <a:r>
              <a:rPr lang="en-US" sz="2700" b="1" dirty="0">
                <a:solidFill>
                  <a:srgbClr val="17202A"/>
                </a:solidFill>
              </a:rPr>
              <a:t>H0: el primer reto es el equipo</a:t>
            </a:r>
            <a:endParaRPr lang="en-US" sz="2700" dirty="0"/>
          </a:p>
        </p:txBody>
      </p:sp>
      <p:sp>
        <p:nvSpPr>
          <p:cNvPr id="4" name="Shape 2"/>
          <p:cNvSpPr/>
          <p:nvPr/>
        </p:nvSpPr>
        <p:spPr>
          <a:xfrm>
            <a:off x="10405872" y="411480"/>
            <a:ext cx="1234440" cy="347472"/>
          </a:xfrm>
          <a:prstGeom prst="roundRect">
            <a:avLst>
              <a:gd name="adj" fmla="val 18421"/>
            </a:avLst>
          </a:prstGeom>
          <a:solidFill>
            <a:srgbClr val="FEF3C7"/>
          </a:solidFill>
          <a:ln w="12700">
            <a:solidFill>
              <a:srgbClr val="F2C96D"/>
            </a:solidFill>
            <a:prstDash val="solid"/>
          </a:ln>
        </p:spPr>
      </p:sp>
      <p:sp>
        <p:nvSpPr>
          <p:cNvPr id="5" name="Text 3"/>
          <p:cNvSpPr/>
          <p:nvPr/>
        </p:nvSpPr>
        <p:spPr>
          <a:xfrm>
            <a:off x="10405872" y="470916"/>
            <a:ext cx="1234440" cy="182880"/>
          </a:xfrm>
          <a:prstGeom prst="rect">
            <a:avLst/>
          </a:prstGeom>
          <a:noFill/>
          <a:ln/>
        </p:spPr>
        <p:txBody>
          <a:bodyPr wrap="square" lIns="0" tIns="0" rIns="0" bIns="0" rtlCol="0" anchor="ctr"/>
          <a:lstStyle/>
          <a:p>
            <a:pPr algn="ctr" indent="0" marL="0">
              <a:buNone/>
            </a:pPr>
            <a:r>
              <a:rPr lang="en-US" sz="950" b="1" dirty="0">
                <a:solidFill>
                  <a:srgbClr val="D97706"/>
                </a:solidFill>
              </a:rPr>
              <a:t>RETO</a:t>
            </a:r>
            <a:endParaRPr lang="en-US" sz="950" dirty="0"/>
          </a:p>
        </p:txBody>
      </p:sp>
      <p:sp>
        <p:nvSpPr>
          <p:cNvPr id="6" name="Shape 4"/>
          <p:cNvSpPr/>
          <p:nvPr/>
        </p:nvSpPr>
        <p:spPr>
          <a:xfrm>
            <a:off x="640080" y="1874520"/>
            <a:ext cx="1901952" cy="2377440"/>
          </a:xfrm>
          <a:prstGeom prst="roundRect">
            <a:avLst>
              <a:gd name="adj" fmla="val 2885"/>
            </a:avLst>
          </a:prstGeom>
          <a:solidFill>
            <a:srgbClr val="FFFFFF"/>
          </a:solidFill>
          <a:ln w="13970">
            <a:solidFill>
              <a:srgbClr val="D4DDE7"/>
            </a:solidFill>
            <a:prstDash val="solid"/>
          </a:ln>
        </p:spPr>
      </p:sp>
      <p:sp>
        <p:nvSpPr>
          <p:cNvPr id="7" name="Shape 5"/>
          <p:cNvSpPr/>
          <p:nvPr/>
        </p:nvSpPr>
        <p:spPr>
          <a:xfrm>
            <a:off x="1298448" y="2148840"/>
            <a:ext cx="566928" cy="566928"/>
          </a:xfrm>
          <a:prstGeom prst="ellipse">
            <a:avLst/>
          </a:prstGeom>
          <a:solidFill>
            <a:srgbClr val="0F766E"/>
          </a:solidFill>
          <a:ln w="12700">
            <a:solidFill>
              <a:srgbClr val="0F766E"/>
            </a:solidFill>
            <a:prstDash val="solid"/>
          </a:ln>
        </p:spPr>
      </p:sp>
      <p:sp>
        <p:nvSpPr>
          <p:cNvPr id="8" name="Text 6"/>
          <p:cNvSpPr/>
          <p:nvPr/>
        </p:nvSpPr>
        <p:spPr>
          <a:xfrm>
            <a:off x="1298448" y="2304288"/>
            <a:ext cx="566928" cy="164592"/>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9" name="Text 7"/>
          <p:cNvSpPr/>
          <p:nvPr/>
        </p:nvSpPr>
        <p:spPr>
          <a:xfrm>
            <a:off x="804672" y="2999232"/>
            <a:ext cx="1572768" cy="347472"/>
          </a:xfrm>
          <a:prstGeom prst="rect">
            <a:avLst/>
          </a:prstGeom>
          <a:noFill/>
          <a:ln/>
        </p:spPr>
        <p:txBody>
          <a:bodyPr wrap="square" lIns="0" tIns="0" rIns="0" bIns="0" rtlCol="0" anchor="ctr"/>
          <a:lstStyle/>
          <a:p>
            <a:pPr algn="ctr" indent="0" marL="0">
              <a:buNone/>
            </a:pPr>
            <a:r>
              <a:rPr lang="en-US" sz="1450" b="1" dirty="0">
                <a:solidFill>
                  <a:srgbClr val="17202A"/>
                </a:solidFill>
              </a:rPr>
              <a:t>Comprender</a:t>
            </a:r>
            <a:endParaRPr lang="en-US" sz="1450" dirty="0"/>
          </a:p>
        </p:txBody>
      </p:sp>
      <p:sp>
        <p:nvSpPr>
          <p:cNvPr id="10" name="Text 8"/>
          <p:cNvSpPr/>
          <p:nvPr/>
        </p:nvSpPr>
        <p:spPr>
          <a:xfrm>
            <a:off x="804672" y="3456432"/>
            <a:ext cx="1572768" cy="347472"/>
          </a:xfrm>
          <a:prstGeom prst="rect">
            <a:avLst/>
          </a:prstGeom>
          <a:noFill/>
          <a:ln/>
        </p:spPr>
        <p:txBody>
          <a:bodyPr wrap="square" lIns="0" tIns="0" rIns="0" bIns="0" rtlCol="0" anchor="ctr"/>
          <a:lstStyle/>
          <a:p>
            <a:pPr algn="ctr" indent="0" marL="0">
              <a:buNone/>
            </a:pPr>
            <a:r>
              <a:rPr lang="en-US" sz="1250" dirty="0">
                <a:solidFill>
                  <a:srgbClr val="5B6573"/>
                </a:solidFill>
              </a:rPr>
              <a:t>el reto</a:t>
            </a:r>
            <a:endParaRPr lang="en-US" sz="1250" dirty="0"/>
          </a:p>
        </p:txBody>
      </p:sp>
      <p:sp>
        <p:nvSpPr>
          <p:cNvPr id="11" name="Shape 9"/>
          <p:cNvSpPr/>
          <p:nvPr/>
        </p:nvSpPr>
        <p:spPr>
          <a:xfrm>
            <a:off x="2907792" y="1874520"/>
            <a:ext cx="1901952" cy="2377440"/>
          </a:xfrm>
          <a:prstGeom prst="roundRect">
            <a:avLst>
              <a:gd name="adj" fmla="val 2885"/>
            </a:avLst>
          </a:prstGeom>
          <a:solidFill>
            <a:srgbClr val="FFFFFF"/>
          </a:solidFill>
          <a:ln w="13970">
            <a:solidFill>
              <a:srgbClr val="D4DDE7"/>
            </a:solidFill>
            <a:prstDash val="solid"/>
          </a:ln>
        </p:spPr>
      </p:sp>
      <p:sp>
        <p:nvSpPr>
          <p:cNvPr id="12" name="Shape 10"/>
          <p:cNvSpPr/>
          <p:nvPr/>
        </p:nvSpPr>
        <p:spPr>
          <a:xfrm>
            <a:off x="3566160" y="2148840"/>
            <a:ext cx="566928" cy="566928"/>
          </a:xfrm>
          <a:prstGeom prst="ellipse">
            <a:avLst/>
          </a:prstGeom>
          <a:solidFill>
            <a:srgbClr val="0F766E"/>
          </a:solidFill>
          <a:ln w="12700">
            <a:solidFill>
              <a:srgbClr val="0F766E"/>
            </a:solidFill>
            <a:prstDash val="solid"/>
          </a:ln>
        </p:spPr>
      </p:sp>
      <p:sp>
        <p:nvSpPr>
          <p:cNvPr id="13" name="Text 11"/>
          <p:cNvSpPr/>
          <p:nvPr/>
        </p:nvSpPr>
        <p:spPr>
          <a:xfrm>
            <a:off x="3566160" y="2304288"/>
            <a:ext cx="566928" cy="164592"/>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4" name="Text 12"/>
          <p:cNvSpPr/>
          <p:nvPr/>
        </p:nvSpPr>
        <p:spPr>
          <a:xfrm>
            <a:off x="3072384" y="2999232"/>
            <a:ext cx="1572768" cy="347472"/>
          </a:xfrm>
          <a:prstGeom prst="rect">
            <a:avLst/>
          </a:prstGeom>
          <a:noFill/>
          <a:ln/>
        </p:spPr>
        <p:txBody>
          <a:bodyPr wrap="square" lIns="0" tIns="0" rIns="0" bIns="0" rtlCol="0" anchor="ctr"/>
          <a:lstStyle/>
          <a:p>
            <a:pPr algn="ctr" indent="0" marL="0">
              <a:buNone/>
            </a:pPr>
            <a:r>
              <a:rPr lang="en-US" sz="1450" b="1" dirty="0">
                <a:solidFill>
                  <a:srgbClr val="17202A"/>
                </a:solidFill>
              </a:rPr>
              <a:t>Hipótesis</a:t>
            </a:r>
            <a:endParaRPr lang="en-US" sz="1450" dirty="0"/>
          </a:p>
        </p:txBody>
      </p:sp>
      <p:sp>
        <p:nvSpPr>
          <p:cNvPr id="15" name="Text 13"/>
          <p:cNvSpPr/>
          <p:nvPr/>
        </p:nvSpPr>
        <p:spPr>
          <a:xfrm>
            <a:off x="3072384" y="3456432"/>
            <a:ext cx="1572768" cy="347472"/>
          </a:xfrm>
          <a:prstGeom prst="rect">
            <a:avLst/>
          </a:prstGeom>
          <a:noFill/>
          <a:ln/>
        </p:spPr>
        <p:txBody>
          <a:bodyPr wrap="square" lIns="0" tIns="0" rIns="0" bIns="0" rtlCol="0" anchor="ctr"/>
          <a:lstStyle/>
          <a:p>
            <a:pPr algn="ctr" indent="0" marL="0">
              <a:buNone/>
            </a:pPr>
            <a:r>
              <a:rPr lang="en-US" sz="1250" dirty="0">
                <a:solidFill>
                  <a:srgbClr val="5B6573"/>
                </a:solidFill>
              </a:rPr>
              <a:t>individual</a:t>
            </a:r>
            <a:endParaRPr lang="en-US" sz="1250" dirty="0"/>
          </a:p>
        </p:txBody>
      </p:sp>
      <p:sp>
        <p:nvSpPr>
          <p:cNvPr id="16" name="Shape 14"/>
          <p:cNvSpPr/>
          <p:nvPr/>
        </p:nvSpPr>
        <p:spPr>
          <a:xfrm>
            <a:off x="5175504" y="1874520"/>
            <a:ext cx="1901952" cy="2377440"/>
          </a:xfrm>
          <a:prstGeom prst="roundRect">
            <a:avLst>
              <a:gd name="adj" fmla="val 2885"/>
            </a:avLst>
          </a:prstGeom>
          <a:solidFill>
            <a:srgbClr val="FFFFFF"/>
          </a:solidFill>
          <a:ln w="13970">
            <a:solidFill>
              <a:srgbClr val="D4DDE7"/>
            </a:solidFill>
            <a:prstDash val="solid"/>
          </a:ln>
        </p:spPr>
      </p:sp>
      <p:sp>
        <p:nvSpPr>
          <p:cNvPr id="17" name="Shape 15"/>
          <p:cNvSpPr/>
          <p:nvPr/>
        </p:nvSpPr>
        <p:spPr>
          <a:xfrm>
            <a:off x="5833872" y="2148840"/>
            <a:ext cx="566928" cy="566928"/>
          </a:xfrm>
          <a:prstGeom prst="ellipse">
            <a:avLst/>
          </a:prstGeom>
          <a:solidFill>
            <a:srgbClr val="0F766E"/>
          </a:solidFill>
          <a:ln w="12700">
            <a:solidFill>
              <a:srgbClr val="0F766E"/>
            </a:solidFill>
            <a:prstDash val="solid"/>
          </a:ln>
        </p:spPr>
      </p:sp>
      <p:sp>
        <p:nvSpPr>
          <p:cNvPr id="18" name="Text 16"/>
          <p:cNvSpPr/>
          <p:nvPr/>
        </p:nvSpPr>
        <p:spPr>
          <a:xfrm>
            <a:off x="5833872" y="2304288"/>
            <a:ext cx="566928" cy="164592"/>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9" name="Text 17"/>
          <p:cNvSpPr/>
          <p:nvPr/>
        </p:nvSpPr>
        <p:spPr>
          <a:xfrm>
            <a:off x="5340096" y="2999232"/>
            <a:ext cx="1572768" cy="347472"/>
          </a:xfrm>
          <a:prstGeom prst="rect">
            <a:avLst/>
          </a:prstGeom>
          <a:noFill/>
          <a:ln/>
        </p:spPr>
        <p:txBody>
          <a:bodyPr wrap="square" lIns="0" tIns="0" rIns="0" bIns="0" rtlCol="0" anchor="ctr"/>
          <a:lstStyle/>
          <a:p>
            <a:pPr algn="ctr" indent="0" marL="0">
              <a:buNone/>
            </a:pPr>
            <a:r>
              <a:rPr lang="en-US" sz="1450" b="1" dirty="0">
                <a:solidFill>
                  <a:srgbClr val="17202A"/>
                </a:solidFill>
              </a:rPr>
              <a:t>Equipos</a:t>
            </a:r>
            <a:endParaRPr lang="en-US" sz="1450" dirty="0"/>
          </a:p>
        </p:txBody>
      </p:sp>
      <p:sp>
        <p:nvSpPr>
          <p:cNvPr id="20" name="Text 18"/>
          <p:cNvSpPr/>
          <p:nvPr/>
        </p:nvSpPr>
        <p:spPr>
          <a:xfrm>
            <a:off x="5340096" y="3456432"/>
            <a:ext cx="1572768" cy="347472"/>
          </a:xfrm>
          <a:prstGeom prst="rect">
            <a:avLst/>
          </a:prstGeom>
          <a:noFill/>
          <a:ln/>
        </p:spPr>
        <p:txBody>
          <a:bodyPr wrap="square" lIns="0" tIns="0" rIns="0" bIns="0" rtlCol="0" anchor="ctr"/>
          <a:lstStyle/>
          <a:p>
            <a:pPr algn="ctr" indent="0" marL="0">
              <a:buNone/>
            </a:pPr>
            <a:r>
              <a:rPr lang="en-US" sz="1250" dirty="0">
                <a:solidFill>
                  <a:srgbClr val="5B6573"/>
                </a:solidFill>
              </a:rPr>
              <a:t>provisionales</a:t>
            </a:r>
            <a:endParaRPr lang="en-US" sz="1250" dirty="0"/>
          </a:p>
        </p:txBody>
      </p:sp>
      <p:sp>
        <p:nvSpPr>
          <p:cNvPr id="21" name="Shape 19"/>
          <p:cNvSpPr/>
          <p:nvPr/>
        </p:nvSpPr>
        <p:spPr>
          <a:xfrm>
            <a:off x="7443216" y="1874520"/>
            <a:ext cx="1901952" cy="2377440"/>
          </a:xfrm>
          <a:prstGeom prst="roundRect">
            <a:avLst>
              <a:gd name="adj" fmla="val 2885"/>
            </a:avLst>
          </a:prstGeom>
          <a:solidFill>
            <a:srgbClr val="FFFFFF"/>
          </a:solidFill>
          <a:ln w="13970">
            <a:solidFill>
              <a:srgbClr val="D4DDE7"/>
            </a:solidFill>
            <a:prstDash val="solid"/>
          </a:ln>
        </p:spPr>
      </p:sp>
      <p:sp>
        <p:nvSpPr>
          <p:cNvPr id="22" name="Shape 20"/>
          <p:cNvSpPr/>
          <p:nvPr/>
        </p:nvSpPr>
        <p:spPr>
          <a:xfrm>
            <a:off x="8101584" y="2148840"/>
            <a:ext cx="566928" cy="566928"/>
          </a:xfrm>
          <a:prstGeom prst="ellipse">
            <a:avLst/>
          </a:prstGeom>
          <a:solidFill>
            <a:srgbClr val="D97706"/>
          </a:solidFill>
          <a:ln w="12700">
            <a:solidFill>
              <a:srgbClr val="D97706"/>
            </a:solidFill>
            <a:prstDash val="solid"/>
          </a:ln>
        </p:spPr>
      </p:sp>
      <p:sp>
        <p:nvSpPr>
          <p:cNvPr id="23" name="Text 21"/>
          <p:cNvSpPr/>
          <p:nvPr/>
        </p:nvSpPr>
        <p:spPr>
          <a:xfrm>
            <a:off x="8101584" y="2304288"/>
            <a:ext cx="566928" cy="164592"/>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4" name="Text 22"/>
          <p:cNvSpPr/>
          <p:nvPr/>
        </p:nvSpPr>
        <p:spPr>
          <a:xfrm>
            <a:off x="7607808" y="2999232"/>
            <a:ext cx="1572768" cy="347472"/>
          </a:xfrm>
          <a:prstGeom prst="rect">
            <a:avLst/>
          </a:prstGeom>
          <a:noFill/>
          <a:ln/>
        </p:spPr>
        <p:txBody>
          <a:bodyPr wrap="square" lIns="0" tIns="0" rIns="0" bIns="0" rtlCol="0" anchor="ctr"/>
          <a:lstStyle/>
          <a:p>
            <a:pPr algn="ctr" indent="0" marL="0">
              <a:buNone/>
            </a:pPr>
            <a:r>
              <a:rPr lang="en-US" sz="1450" b="1" dirty="0">
                <a:solidFill>
                  <a:srgbClr val="17202A"/>
                </a:solidFill>
              </a:rPr>
              <a:t>Dos ciclos</a:t>
            </a:r>
            <a:endParaRPr lang="en-US" sz="1450" dirty="0"/>
          </a:p>
        </p:txBody>
      </p:sp>
      <p:sp>
        <p:nvSpPr>
          <p:cNvPr id="25" name="Text 23"/>
          <p:cNvSpPr/>
          <p:nvPr/>
        </p:nvSpPr>
        <p:spPr>
          <a:xfrm>
            <a:off x="7607808" y="3456432"/>
            <a:ext cx="1572768" cy="347472"/>
          </a:xfrm>
          <a:prstGeom prst="rect">
            <a:avLst/>
          </a:prstGeom>
          <a:noFill/>
          <a:ln/>
        </p:spPr>
        <p:txBody>
          <a:bodyPr wrap="square" lIns="0" tIns="0" rIns="0" bIns="0" rtlCol="0" anchor="ctr"/>
          <a:lstStyle/>
          <a:p>
            <a:pPr algn="ctr" indent="0" marL="0">
              <a:buNone/>
            </a:pPr>
            <a:r>
              <a:rPr lang="en-US" sz="1250" dirty="0">
                <a:solidFill>
                  <a:srgbClr val="5B6573"/>
                </a:solidFill>
              </a:rPr>
              <a:t>de una torre</a:t>
            </a:r>
            <a:endParaRPr lang="en-US" sz="1250" dirty="0"/>
          </a:p>
        </p:txBody>
      </p:sp>
      <p:sp>
        <p:nvSpPr>
          <p:cNvPr id="26" name="Shape 24"/>
          <p:cNvSpPr/>
          <p:nvPr/>
        </p:nvSpPr>
        <p:spPr>
          <a:xfrm>
            <a:off x="9710928" y="1874520"/>
            <a:ext cx="1901952" cy="2377440"/>
          </a:xfrm>
          <a:prstGeom prst="roundRect">
            <a:avLst>
              <a:gd name="adj" fmla="val 2885"/>
            </a:avLst>
          </a:prstGeom>
          <a:solidFill>
            <a:srgbClr val="FFFFFF"/>
          </a:solidFill>
          <a:ln w="13970">
            <a:solidFill>
              <a:srgbClr val="D4DDE7"/>
            </a:solidFill>
            <a:prstDash val="solid"/>
          </a:ln>
        </p:spPr>
      </p:sp>
      <p:sp>
        <p:nvSpPr>
          <p:cNvPr id="27" name="Shape 25"/>
          <p:cNvSpPr/>
          <p:nvPr/>
        </p:nvSpPr>
        <p:spPr>
          <a:xfrm>
            <a:off x="10369296" y="2148840"/>
            <a:ext cx="566928" cy="566928"/>
          </a:xfrm>
          <a:prstGeom prst="ellipse">
            <a:avLst/>
          </a:prstGeom>
          <a:solidFill>
            <a:srgbClr val="0F766E"/>
          </a:solidFill>
          <a:ln w="12700">
            <a:solidFill>
              <a:srgbClr val="0F766E"/>
            </a:solidFill>
            <a:prstDash val="solid"/>
          </a:ln>
        </p:spPr>
      </p:sp>
      <p:sp>
        <p:nvSpPr>
          <p:cNvPr id="28" name="Text 26"/>
          <p:cNvSpPr/>
          <p:nvPr/>
        </p:nvSpPr>
        <p:spPr>
          <a:xfrm>
            <a:off x="10369296" y="2304288"/>
            <a:ext cx="566928" cy="164592"/>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9" name="Text 27"/>
          <p:cNvSpPr/>
          <p:nvPr/>
        </p:nvSpPr>
        <p:spPr>
          <a:xfrm>
            <a:off x="9875520" y="2999232"/>
            <a:ext cx="1572768" cy="347472"/>
          </a:xfrm>
          <a:prstGeom prst="rect">
            <a:avLst/>
          </a:prstGeom>
          <a:noFill/>
          <a:ln/>
        </p:spPr>
        <p:txBody>
          <a:bodyPr wrap="square" lIns="0" tIns="0" rIns="0" bIns="0" rtlCol="0" anchor="ctr"/>
          <a:lstStyle/>
          <a:p>
            <a:pPr algn="ctr" indent="0" marL="0">
              <a:buNone/>
            </a:pPr>
            <a:r>
              <a:rPr lang="en-US" sz="1450" b="1" dirty="0">
                <a:solidFill>
                  <a:srgbClr val="17202A"/>
                </a:solidFill>
              </a:rPr>
              <a:t>Revisar</a:t>
            </a:r>
            <a:endParaRPr lang="en-US" sz="1450" dirty="0"/>
          </a:p>
        </p:txBody>
      </p:sp>
      <p:sp>
        <p:nvSpPr>
          <p:cNvPr id="30" name="Text 28"/>
          <p:cNvSpPr/>
          <p:nvPr/>
        </p:nvSpPr>
        <p:spPr>
          <a:xfrm>
            <a:off x="9875520" y="3456432"/>
            <a:ext cx="1572768" cy="347472"/>
          </a:xfrm>
          <a:prstGeom prst="rect">
            <a:avLst/>
          </a:prstGeom>
          <a:noFill/>
          <a:ln/>
        </p:spPr>
        <p:txBody>
          <a:bodyPr wrap="square" lIns="0" tIns="0" rIns="0" bIns="0" rtlCol="0" anchor="ctr"/>
          <a:lstStyle/>
          <a:p>
            <a:pPr algn="ctr" indent="0" marL="0">
              <a:buNone/>
            </a:pPr>
            <a:r>
              <a:rPr lang="en-US" sz="1250" dirty="0">
                <a:solidFill>
                  <a:srgbClr val="5B6573"/>
                </a:solidFill>
              </a:rPr>
              <a:t>y transferir</a:t>
            </a:r>
            <a:endParaRPr lang="en-US" sz="1250" dirty="0"/>
          </a:p>
        </p:txBody>
      </p:sp>
      <p:sp>
        <p:nvSpPr>
          <p:cNvPr id="31" name="Shape 29"/>
          <p:cNvSpPr/>
          <p:nvPr/>
        </p:nvSpPr>
        <p:spPr>
          <a:xfrm>
            <a:off x="1115568" y="4736592"/>
            <a:ext cx="9921240" cy="658368"/>
          </a:xfrm>
          <a:prstGeom prst="roundRect">
            <a:avLst>
              <a:gd name="adj" fmla="val 6944"/>
            </a:avLst>
          </a:prstGeom>
          <a:solidFill>
            <a:srgbClr val="EEF6F5"/>
          </a:solidFill>
          <a:ln w="12700">
            <a:solidFill>
              <a:srgbClr val="B9D8D4"/>
            </a:solidFill>
            <a:prstDash val="solid"/>
          </a:ln>
        </p:spPr>
      </p:sp>
      <p:sp>
        <p:nvSpPr>
          <p:cNvPr id="32" name="Text 30"/>
          <p:cNvSpPr/>
          <p:nvPr/>
        </p:nvSpPr>
        <p:spPr>
          <a:xfrm>
            <a:off x="1344168" y="4919472"/>
            <a:ext cx="9464040" cy="292608"/>
          </a:xfrm>
          <a:prstGeom prst="rect">
            <a:avLst/>
          </a:prstGeom>
          <a:noFill/>
          <a:ln/>
        </p:spPr>
        <p:txBody>
          <a:bodyPr wrap="square" lIns="0" tIns="0" rIns="0" bIns="0" rtlCol="0" anchor="ctr"/>
          <a:lstStyle/>
          <a:p>
            <a:pPr algn="ctr" indent="0" marL="0">
              <a:buNone/>
            </a:pPr>
            <a:r>
              <a:rPr lang="en-US" sz="1220" dirty="0">
                <a:solidFill>
                  <a:srgbClr val="17324D"/>
                </a:solidFill>
              </a:rPr>
              <a:t>HADA formula una hipótesis revisable: no es una nota, una personalidad ni un rol permanente. La torre comprueba organización, pruebas y mejora, no solo altura.</a:t>
            </a:r>
            <a:endParaRPr lang="en-US" sz="1220" dirty="0"/>
          </a:p>
        </p:txBody>
      </p:sp>
      <p:sp>
        <p:nvSpPr>
          <p:cNvPr id="25" name="Slide Number Placeholder 0"/>
          <p:cNvSpPr>
            <a:spLocks noGrp="1"/>
          </p:cNvSpPr>
          <p:nvPr>
            <p:ph type="sldNum" sz="quarter" idx="4294967295"/>
          </p:nvPr>
        </p:nvSpPr>
        <p:spPr>
          <a:xfrm>
            <a:off x="11228832" y="6492240"/>
            <a:ext cx="411480" cy="201168"/>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rgbClr val="64748B"/>
                </a:solidFill>
                <a:latin typeface="Aptos"/>
                <a:ea typeface="Aptos"/>
                <a:cs typeface="Aptos"/>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7324D"/>
        </a:solidFill>
      </p:bgPr>
    </p:bg>
    <p:spTree>
      <p:nvGrpSpPr>
        <p:cNvPr id="1" name=""/>
        <p:cNvGrpSpPr/>
        <p:nvPr/>
      </p:nvGrpSpPr>
      <p:grpSpPr>
        <a:xfrm>
          <a:off x="0" y="0"/>
          <a:ext cx="0" cy="0"/>
          <a:chOff x="0" y="0"/>
          <a:chExt cx="0" cy="0"/>
        </a:xfrm>
      </p:grpSpPr>
      <p:sp>
        <p:nvSpPr>
          <p:cNvPr id="2" name="Text 0"/>
          <p:cNvSpPr/>
          <p:nvPr/>
        </p:nvSpPr>
        <p:spPr>
          <a:xfrm>
            <a:off x="749808" y="777240"/>
            <a:ext cx="3383280" cy="292608"/>
          </a:xfrm>
          <a:prstGeom prst="rect">
            <a:avLst/>
          </a:prstGeom>
          <a:noFill/>
          <a:ln/>
        </p:spPr>
        <p:txBody>
          <a:bodyPr wrap="square" lIns="0" tIns="0" rIns="0" bIns="0" rtlCol="0" anchor="ctr"/>
          <a:lstStyle/>
          <a:p>
            <a:pPr indent="0" marL="0">
              <a:buNone/>
            </a:pPr>
            <a:r>
              <a:rPr lang="en-US" sz="1200" b="1" spc="80" kern="0" dirty="0">
                <a:solidFill>
                  <a:srgbClr val="9ED7D0"/>
                </a:solidFill>
              </a:rPr>
              <a:t>SIGUIENTE PRESENTACIÓN</a:t>
            </a:r>
            <a:endParaRPr lang="en-US" sz="1200" dirty="0"/>
          </a:p>
        </p:txBody>
      </p:sp>
      <p:sp>
        <p:nvSpPr>
          <p:cNvPr id="3" name="Text 1"/>
          <p:cNvSpPr/>
          <p:nvPr/>
        </p:nvSpPr>
        <p:spPr>
          <a:xfrm>
            <a:off x="749808" y="1417320"/>
            <a:ext cx="6949440" cy="1417320"/>
          </a:xfrm>
          <a:prstGeom prst="rect">
            <a:avLst/>
          </a:prstGeom>
          <a:noFill/>
          <a:ln/>
        </p:spPr>
        <p:txBody>
          <a:bodyPr wrap="square" lIns="0" tIns="0" rIns="0" bIns="0" rtlCol="0" anchor="ctr"/>
          <a:lstStyle/>
          <a:p>
            <a:pPr indent="0" marL="0">
              <a:buNone/>
            </a:pPr>
            <a:r>
              <a:rPr lang="en-US" sz="3400" b="1" dirty="0">
                <a:solidFill>
                  <a:srgbClr val="FFFFFF"/>
                </a:solidFill>
              </a:rPr>
              <a:t>MiniJarvis empieza</a:t>
            </a:r>
            <a:endParaRPr lang="en-US" sz="3400" dirty="0"/>
          </a:p>
          <a:p>
            <a:pPr indent="0" marL="0">
              <a:buNone/>
            </a:pPr>
            <a:r>
              <a:rPr lang="en-US" sz="3400" b="1" dirty="0">
                <a:solidFill>
                  <a:srgbClr val="FFFFFF"/>
                </a:solidFill>
              </a:rPr>
              <a:t>por el equipo</a:t>
            </a:r>
            <a:endParaRPr lang="en-US" sz="3400" dirty="0"/>
          </a:p>
        </p:txBody>
      </p:sp>
      <p:sp>
        <p:nvSpPr>
          <p:cNvPr id="4" name="Text 2"/>
          <p:cNvSpPr/>
          <p:nvPr/>
        </p:nvSpPr>
        <p:spPr>
          <a:xfrm>
            <a:off x="768096" y="3136392"/>
            <a:ext cx="7543800" cy="1143000"/>
          </a:xfrm>
          <a:prstGeom prst="rect">
            <a:avLst/>
          </a:prstGeom>
          <a:noFill/>
          <a:ln/>
        </p:spPr>
        <p:txBody>
          <a:bodyPr wrap="square" lIns="0" tIns="0" rIns="0" bIns="0" rtlCol="0" anchor="ctr"/>
          <a:lstStyle/>
          <a:p>
            <a:pPr indent="0" marL="0">
              <a:buNone/>
            </a:pPr>
            <a:r>
              <a:rPr lang="en-US" sz="1800" dirty="0">
                <a:solidFill>
                  <a:srgbClr val="D9E5EF"/>
                </a:solidFill>
              </a:rPr>
              <a:t>Ya sabemos qué aprenderemos en Programación y cómo se organizará el curso. Ahora empieza H0: ¿cómo diseñamos un equipo capaz de producir, comprobar y mejorar?</a:t>
            </a:r>
            <a:endParaRPr lang="en-US" sz="1800" dirty="0"/>
          </a:p>
        </p:txBody>
      </p:sp>
      <p:sp>
        <p:nvSpPr>
          <p:cNvPr id="5" name="Shape 3"/>
          <p:cNvSpPr/>
          <p:nvPr/>
        </p:nvSpPr>
        <p:spPr>
          <a:xfrm>
            <a:off x="8979408" y="1481328"/>
            <a:ext cx="2139696" cy="987552"/>
          </a:xfrm>
          <a:prstGeom prst="roundRect">
            <a:avLst>
              <a:gd name="adj" fmla="val 6481"/>
            </a:avLst>
          </a:prstGeom>
          <a:solidFill>
            <a:srgbClr val="D97706"/>
          </a:solidFill>
          <a:ln w="12700">
            <a:solidFill>
              <a:srgbClr val="D97706"/>
            </a:solidFill>
            <a:prstDash val="solid"/>
          </a:ln>
        </p:spPr>
      </p:sp>
      <p:sp>
        <p:nvSpPr>
          <p:cNvPr id="6" name="Text 4"/>
          <p:cNvSpPr/>
          <p:nvPr/>
        </p:nvSpPr>
        <p:spPr>
          <a:xfrm>
            <a:off x="8979408" y="1709928"/>
            <a:ext cx="2139696" cy="329184"/>
          </a:xfrm>
          <a:prstGeom prst="rect">
            <a:avLst/>
          </a:prstGeom>
          <a:noFill/>
          <a:ln/>
        </p:spPr>
        <p:txBody>
          <a:bodyPr wrap="square" lIns="0" tIns="0" rIns="0" bIns="0" rtlCol="0" anchor="ctr"/>
          <a:lstStyle/>
          <a:p>
            <a:pPr algn="ctr" indent="0" marL="0">
              <a:buNone/>
            </a:pPr>
            <a:r>
              <a:rPr lang="en-US" sz="2500" b="1" dirty="0">
                <a:solidFill>
                  <a:srgbClr val="FFFFFF"/>
                </a:solidFill>
              </a:rPr>
              <a:t>H0</a:t>
            </a:r>
            <a:endParaRPr lang="en-US" sz="2500" dirty="0"/>
          </a:p>
        </p:txBody>
      </p:sp>
      <p:sp>
        <p:nvSpPr>
          <p:cNvPr id="7" name="Text 5"/>
          <p:cNvSpPr/>
          <p:nvPr/>
        </p:nvSpPr>
        <p:spPr>
          <a:xfrm>
            <a:off x="7891272" y="5084064"/>
            <a:ext cx="3566160" cy="438912"/>
          </a:xfrm>
          <a:prstGeom prst="rect">
            <a:avLst/>
          </a:prstGeom>
          <a:noFill/>
          <a:ln/>
        </p:spPr>
        <p:txBody>
          <a:bodyPr wrap="square" lIns="0" tIns="0" rIns="0" bIns="0" rtlCol="0" anchor="ctr"/>
          <a:lstStyle/>
          <a:p>
            <a:pPr algn="r" indent="0" marL="0">
              <a:buNone/>
            </a:pPr>
            <a:r>
              <a:rPr lang="en-US" sz="1280" b="1" dirty="0">
                <a:solidFill>
                  <a:srgbClr val="B8D4EA"/>
                </a:solidFill>
              </a:rPr>
              <a:t>S201 · «MiniJarvis empieza por el equipo»</a:t>
            </a:r>
            <a:endParaRPr lang="en-US" sz="1280" dirty="0"/>
          </a:p>
        </p:txBody>
      </p:sp>
      <p:sp>
        <p:nvSpPr>
          <p:cNvPr id="8" name="Shape 6"/>
          <p:cNvSpPr/>
          <p:nvPr/>
        </p:nvSpPr>
        <p:spPr>
          <a:xfrm>
            <a:off x="749808" y="5897880"/>
            <a:ext cx="10698480" cy="0"/>
          </a:xfrm>
          <a:prstGeom prst="line">
            <a:avLst/>
          </a:prstGeom>
          <a:noFill/>
          <a:ln w="12700">
            <a:solidFill>
              <a:srgbClr val="49667E"/>
            </a:solidFill>
            <a:prstDash val="solid"/>
          </a:ln>
        </p:spPr>
      </p:sp>
      <p:sp>
        <p:nvSpPr>
          <p:cNvPr id="9" name="Text 7"/>
          <p:cNvSpPr/>
          <p:nvPr/>
        </p:nvSpPr>
        <p:spPr>
          <a:xfrm>
            <a:off x="749808" y="6062472"/>
            <a:ext cx="6217920" cy="256032"/>
          </a:xfrm>
          <a:prstGeom prst="rect">
            <a:avLst/>
          </a:prstGeom>
          <a:noFill/>
          <a:ln/>
        </p:spPr>
        <p:txBody>
          <a:bodyPr wrap="square" lIns="0" tIns="0" rIns="0" bIns="0" rtlCol="0" anchor="ctr"/>
          <a:lstStyle/>
          <a:p>
            <a:pPr indent="0" marL="0">
              <a:buNone/>
            </a:pPr>
            <a:r>
              <a:rPr lang="en-US" sz="1150" dirty="0">
                <a:solidFill>
                  <a:srgbClr val="B6C7D4"/>
                </a:solidFill>
              </a:rPr>
              <a:t>Cerrar este archivo y abrir la presentación específica de S201.</a:t>
            </a:r>
            <a:endParaRPr lang="en-US" sz="1150" dirty="0"/>
          </a:p>
        </p:txBody>
      </p:sp>
      <p:sp>
        <p:nvSpPr>
          <p:cNvPr id="25" name="Slide Number Placeholder 0"/>
          <p:cNvSpPr>
            <a:spLocks noGrp="1"/>
          </p:cNvSpPr>
          <p:nvPr>
            <p:ph type="sldNum" sz="quarter" idx="4294967295"/>
          </p:nvPr>
        </p:nvSpPr>
        <p:spPr>
          <a:xfrm>
            <a:off x="11228832" y="6492240"/>
            <a:ext cx="411480" cy="201168"/>
          </a:xfrm>
          <a:prstGeom prst="rect">
            <a:avLst/>
          </a:prstGeom>
          <a:extLst>
            <a:ext uri="{C572A759-6A51-4108-AA02-DFA0A04FC94B}">
              <ma14:wrappingTextBoxFlag xmlns:ma14="http://schemas.microsoft.com/office/mac/drawingml/2011/main" val="0"/>
            </a:ext>
          </a:extLst>
        </p:spPr>
        <p:txBody>
          <a:bodyPr lIns="0" tIns="0" rIns="0" bIns="0"/>
          <a:lstStyle>
            <a:lvl1pPr>
              <a:defRPr sz="950">
                <a:solidFill>
                  <a:srgbClr val="64748B"/>
                </a:solidFill>
                <a:latin typeface="Aptos"/>
                <a:ea typeface="Aptos"/>
                <a:cs typeface="Aptos"/>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Programación 1.º DAW 2026/2027 - orden revisado</dc:title>
  <dc:subject>Presentación inicial del módulo de Programación - 1.º DAW</dc:subject>
  <dc:creator>OpenAI</dc:creator>
  <cp:lastModifiedBy>OpenAI</cp:lastModifiedBy>
  <cp:revision>1</cp:revision>
  <dcterms:created xsi:type="dcterms:W3CDTF">2026-09-16T23:07:58Z</dcterms:created>
  <dcterms:modified xsi:type="dcterms:W3CDTF">2026-09-16T23:07:58Z</dcterms:modified>
</cp:coreProperties>
</file>