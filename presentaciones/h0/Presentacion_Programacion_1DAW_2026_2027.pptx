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Dar la bienvenida al módulo, situar el propósito central y activar la pregunta guía del curso.</a:t>
            </a:r>
          </a:p>
          <a:p>
            <a:r>
              <a:t>2. Tiempo: 2 minutos</a:t>
            </a:r>
          </a:p>
          <a:p>
            <a:r>
              <a:t>3. Explicación oral: ¡Bienvenidos a Programación! En este módulo no nos limitaremos a copiar código de Internet ni a pedirle a una IA que trabaje por nosotros. El objetivo real es aprender a pensar como desarrolladores: comprender cada línea, tomar decisiones de diseño, detectar fallos y construir software robusto desde la base.</a:t>
            </a:r>
          </a:p>
          <a:p>
            <a:r>
              <a:t>4. Pregunta breve: ¿Qué diferencia crees que hay entre usar un programa y construirlo desde cero?</a:t>
            </a:r>
          </a:p>
          <a:p>
            <a:r>
              <a:t>5. Idea esperada: Usar un programa es consumir funcionalidad; construirlo exige entender cómo se manejan los datos, las decisiones y las instrucciones internas.</a:t>
            </a:r>
          </a:p>
          <a:p>
            <a:r>
              <a:t>6. Error a evitar: Evitar la idea de que programar consiste únicamente en memorizar sintaxis o escribir comandos sin entender qué ocurre por dentro.</a:t>
            </a:r>
          </a:p>
          <a:p>
            <a:r>
              <a:t>7. Transición: Vamos a ver exactamente qué significa aprender a programar en este primer año de DAW.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Explicar el concepto del módulo en el lenguaje del alumnado y disipar el miedo inicial a la falta de experiencia previa.</a:t>
            </a:r>
          </a:p>
          <a:p>
            <a:r>
              <a:t>2. Tiempo: 3 minutos</a:t>
            </a:r>
          </a:p>
          <a:p>
            <a:r>
              <a:t>3. Explicación oral: Programar es traducir un problema de la vida real o de una empresa en una secuencia lógica de instrucciones que una máquina pueda ejecutar de forma fiable. No presuponemos que sepáis nada de Java. Partimos desde la base, pero con la exigencia de que cada avance que hagamos deba poder ejecutarse, probarse y explicarse.</a:t>
            </a:r>
          </a:p>
          <a:p>
            <a:r>
              <a:t>4. Pregunta breve: Si le pides a alguien "haz un café", ¿qué instrucciones implícitas estás dando por sentadas que una máquina no entendería?</a:t>
            </a:r>
          </a:p>
          <a:p>
            <a:r>
              <a:t>5. Idea esperada: La máquina necesita conocer cada paso explícito: dónde buscar la taza, cuánta agua verter, qué hacer si no hay café, etc.</a:t>
            </a:r>
          </a:p>
          <a:p>
            <a:r>
              <a:t>6. Error a evitar: Creer que el ordenador "entiende" lo que queremos decir aunque la instrucción esté incompleta o mal formulada.</a:t>
            </a:r>
          </a:p>
          <a:p>
            <a:r>
              <a:t>7. Transición: Para lograr este objetivo, ¿cuáles son los contenidos clave que estudiaremos durante el curso?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Presentar el mapa global de contenidos del módulo como una progresión de aprendizaje coherente en lugar de un listado inconexo de temas.</a:t>
            </a:r>
          </a:p>
          <a:p>
            <a:r>
              <a:t>2. Tiempo: 4 minutos</a:t>
            </a:r>
          </a:p>
          <a:p>
            <a:r>
              <a:t>3. Explicación oral: Esta es la ruta del curso. Comenzaremos aprendiendo cómo manejar datos e instrucciones sencillas en Java. Progresivamente añadiremos la toma de decisiones, la depuración para corregir fallos, la gestión de datos en memoria y el diseño orientado a objetos. El bloque final nos permitirá guardar información de forma permanente y explorar tecnologías avanzadas según el ritmo del grupo.</a:t>
            </a:r>
          </a:p>
          <a:p>
            <a:r>
              <a:t>4. Pregunta breve: Observando las estaciones, ¿por qué creéis que estudiamos las listas y colecciones antes de crear nuestras propias clases avanzadas?</a:t>
            </a:r>
          </a:p>
          <a:p>
            <a:r>
              <a:t>5. Idea esperada: Porque antes de estructurar objetos complejos necesitamos saber cómo manejar y almacenar múltiples datos simples en memoria.</a:t>
            </a:r>
          </a:p>
          <a:p>
            <a:r>
              <a:t>6. Error a evitar: Considerar los temas como compartimentos estancos; cada estación se construye directamente sobre la anterior.</a:t>
            </a:r>
          </a:p>
          <a:p>
            <a:r>
              <a:t>7. Transición: Esta ruta no es arbitraria: responde a los compromisos oficiales de aprendizaje del módulo. Vamos a ver qué son los Resultados de Aprendizaje.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Explicar el concepto de RA como evidencias de desempeño real frente a la memorización teórica.</a:t>
            </a:r>
          </a:p>
          <a:p>
            <a:r>
              <a:t>2. Tiempo: 3 minutos</a:t>
            </a:r>
          </a:p>
          <a:p>
            <a:r>
              <a:t>3. Explicación oral: Un Resultado de Aprendizaje no es una lección del libro. Es una meta formal que describe lo que seréis capaces de hacer de forma autónoma: escribir un programa, corregir un error, guardar datos en un fichero o estructurar clases. Todo lo que hagamos en el aula servirá para recopilar evidencias directas de que habéis alcanzado estos RA.</a:t>
            </a:r>
          </a:p>
          <a:p>
            <a:r>
              <a:t>4. Pregunta breve: ¿Qué diferencia hay entre "saber la teoría de bucles" y "demostrar el RA de estructuras de control"?</a:t>
            </a:r>
          </a:p>
          <a:p>
            <a:r>
              <a:t>5. Idea esperada: Demostrar el RA implica escribir el bucle correctamente en un programa real, depurarlo si falla y explicar por qué se eligió esa solución.</a:t>
            </a:r>
          </a:p>
          <a:p>
            <a:r>
              <a:t>6. Error a evitar: Pensar que la nota depende únicamente de exámenes teóricos tradicionales; la evaluación se basa en el trabajo práctico y la defensa técnica.</a:t>
            </a:r>
          </a:p>
          <a:p>
            <a:r>
              <a:t>7. Transición: Revisemos detalladamente los dos primeros Resultados de Aprendizaje con los que iniciaremos el curso.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Presentar formalmente el texto de RA1 y RA2 con su traducción práctica para el trabajo diario del alumnado.</a:t>
            </a:r>
          </a:p>
          <a:p>
            <a:r>
              <a:t>2. Tiempo: 3 minutos</a:t>
            </a:r>
          </a:p>
          <a:p>
            <a:r>
              <a:t>3. Explicación oral: Estos dos primeros RA marcan el inicio del viaje. RA1 consiste en comprender la anatomía de un programa Java: dónde están las variables, cómo se organizan las instrucciones y cómo interactúa el entorno con el código. RA2 consiste en dar el salto a la acción: escribir programas funcionales sencillos, usar las librerías básicas del lenguaje y comprobar que ejecutan sin errores.</a:t>
            </a:r>
          </a:p>
          <a:p>
            <a:r>
              <a:t>4. Pregunta breve: Si un programa compila pero muestra un resultado equivocado, ¿hemos cumplido RA1 o RA2?</a:t>
            </a:r>
          </a:p>
          <a:p>
            <a:r>
              <a:t>5. Idea esperada: Demuestra que conocemos la estructura (RA1), pero falta probar y corregir la lógica del programa para completar RA2.</a:t>
            </a:r>
          </a:p>
          <a:p>
            <a:r>
              <a:t>6. Error a evitar: Conformarse con que el programa "no dé error rojo" en pantalla; debe cumplir el requisito pedido.</a:t>
            </a:r>
          </a:p>
          <a:p>
            <a:r>
              <a:t>7. Transición: Una vez que sabemos crear un programa básico, necesitamos controlar su flujo y organizar su estructura interna.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Conectar las estructuras de control y la orientación a objetos con su uso real en el software.</a:t>
            </a:r>
          </a:p>
          <a:p>
            <a:r>
              <a:t>2. Tiempo: 3 minutos</a:t>
            </a:r>
          </a:p>
          <a:p>
            <a:r>
              <a:t>3. Explicación oral: RA3 nos permite dotar de inteligencia al código: usar decisiones y bucles, pero también dominar las herramientas de depuración para buscar errores paso a paso. RA4 nos da la arquitectura: dejamos de escribir todo en un único fichero para crear clases con responsabilidades bien delimitadas.</a:t>
            </a:r>
          </a:p>
          <a:p>
            <a:r>
              <a:t>4. Pregunta breve: ¿Por qué es problemático poner todo el código de una aplicación dentro de una sola función o clase?</a:t>
            </a:r>
          </a:p>
          <a:p>
            <a:r>
              <a:t>5. Idea esperada: Porque se vuelve imposible de mantener, probar, entender o ampliar sin romper otras partes del sistema.</a:t>
            </a:r>
          </a:p>
          <a:p>
            <a:r>
              <a:t>6. Error a evitar: Considerar la depuración como un castigo; depurar es la herramienta técnica principal del desarrollador para entender qué hace el código.</a:t>
            </a:r>
          </a:p>
          <a:p>
            <a:r>
              <a:t>7. Transición: Con programas bien organizados, el siguiente paso es aprender a manipular conjuntos de información.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Presentar RA5 y RA6 orientados al tratamiento eficiente de datos e interacción con el usuario o el sistema.</a:t>
            </a:r>
          </a:p>
          <a:p>
            <a:r>
              <a:t>2. Tiempo: 3 minutos</a:t>
            </a:r>
          </a:p>
          <a:p>
            <a:r>
              <a:t>3. Explicación oral: Los programas reales gestionan volúmenes de datos. RA6 nos enseña a seleccionar la mejor estructura para almacenar información en memoria temporal: listas, mapas o conjuntos. RA5 se ocupa de cómo entra y sale esa información: desde la lectura por teclado hasta la interacción con ficheros externos.</a:t>
            </a:r>
          </a:p>
          <a:p>
            <a:r>
              <a:t>4. Pregunta breve: Si queréis guardar un historial de chat donde el orden de los mensajes importa, ¿qué estructura usaríais?</a:t>
            </a:r>
          </a:p>
          <a:p>
            <a:r>
              <a:t>5. Idea esperada: Una lista (ArrayList), porque mantiene el orden de inserción de los elementos.</a:t>
            </a:r>
          </a:p>
          <a:p>
            <a:r>
              <a:t>6. Error a evitar: Almacenar toda la información en variables sueltas o usar siempre la misma estructura sin justificar la elección.</a:t>
            </a:r>
          </a:p>
          <a:p>
            <a:r>
              <a:t>7. Transición: Veamos ahora los Resultados de Aprendizaje centrados en la ampliación y profundización del módulo.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Presentar RA7, RA8 y RA9 aclarando que son evaluables pero con alcance condicionado al progreso del grupo.</a:t>
            </a:r>
          </a:p>
          <a:p>
            <a:r>
              <a:t>2. Tiempo: 3 minutos</a:t>
            </a:r>
          </a:p>
          <a:p>
            <a:r>
              <a:t>3. Explicación oral: Estos tres Resultados de Aprendizaje representan el nivel de profundización del módulo. Nos permitirán trabajar herencia avanzada, patrones de diseño y conexión con bases de datos para guardar la información del programa de forma permanente. Según las fuentes del curso, su profundidad se adaptará al progreso real de la clase, asegurando primero los RA fundamentales.</a:t>
            </a:r>
          </a:p>
          <a:p>
            <a:r>
              <a:t>4. Pregunta breve: ¿Por qué es necesario asegurar bien la base antes de avanzar a la persistencia en bases de datos?</a:t>
            </a:r>
          </a:p>
          <a:p>
            <a:r>
              <a:t>5. Idea esperada: Porque sin un modelo de clases bien estructurado y un control de errores sólido, la integración con bases de datos generará fallos complejos.</a:t>
            </a:r>
          </a:p>
          <a:p>
            <a:r>
              <a:t>6. Error a evitar: Pensar que estos tres RA están eliminados o que no se trabajarán; están integrados en el diseño y su alcance se ajustará al grupo.</a:t>
            </a:r>
          </a:p>
          <a:p>
            <a:r>
              <a:t>7. Transición: ¿Cómo se traducen todos estos RA normativos en nuestro trabajo diario en el aula?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Conectar los Resultados de Aprendizaje formales con la secuencia práctica de hitos del proyecto anual.</a:t>
            </a:r>
          </a:p>
          <a:p>
            <a:r>
              <a:t>2. Tiempo: 4 minutos</a:t>
            </a:r>
          </a:p>
          <a:p>
            <a:r>
              <a:t>3. Explicación oral: No vamos a estudiar el currículo como un listado de temas teóricos aislados. Los RA se organizan en 7 hitos consecutivos de construcción de software. En el H1 creamos el primer asistente; en H2 le añadimos control y depuración; en H3 le damos memoria; en H4 estructuramos su código con objetos; y así sucesivamente hasta la demostración final. Los hitos reorganizan los contenidos para dar sentido a lo que construimos.</a:t>
            </a:r>
          </a:p>
          <a:p>
            <a:r>
              <a:t>4. Pregunta breve: Si en el Hito 3 añadimos memoria al agente, ¿qué RA previos estamos consolidando al mismo tiempo?</a:t>
            </a:r>
          </a:p>
          <a:p>
            <a:r>
              <a:t>5. Idea esperada: Consolidamos RA1, RA2 y RA3, porque la memoria requiere variables, estructuras de control y métodos bien probados.</a:t>
            </a:r>
          </a:p>
          <a:p>
            <a:r>
              <a:t>6. Error a evitar: Creer que al terminar un hito "se olvida" lo anterior; cada hito acumula y exige los conocimientos previos.</a:t>
            </a:r>
          </a:p>
          <a:p>
            <a:r>
              <a:t>7. Transición: Esta forma de trabajar se basa en una metodología concreta: Aprendizaje Basado en Proyectos.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Explicar el modelo ABP y desmentir la falsa idea de que el alumnado debe "aprender todo solo" sin la instrucción explícita del docente.</a:t>
            </a:r>
          </a:p>
          <a:p>
            <a:r>
              <a:t>2. Tiempo: 3 minutos</a:t>
            </a:r>
          </a:p>
          <a:p>
            <a:r>
              <a:t>3. Explicación oral: Trabajar por proyectos no significa que os vayamos a lanzar a programar sin explicación previa. En cada hito habrá explicaciones teóricas directas, ejercicios guiados y ejemplos de código. La diferencia es que la teoría no se queda en el aire: se aplica inmediatamente para resolver un problema real dentro de vuestro programa.</a:t>
            </a:r>
          </a:p>
          <a:p>
            <a:r>
              <a:t>4. Pregunta breve: ¿Por qué resulta más útil aprender a manejar ficheros para guardar el historial del agente que hacer ejercicios abstractos de texto?</a:t>
            </a:r>
          </a:p>
          <a:p>
            <a:r>
              <a:t>5. Idea esperada: Porque se comprende inmediatamente la utilidad práctica, el motivo de los errores y el impacto en el producto real.</a:t>
            </a:r>
          </a:p>
          <a:p>
            <a:r>
              <a:t>6. Error a evitar: Pensar que ABP equivale a autodidactismo sin guía ni contenidos formales.</a:t>
            </a:r>
          </a:p>
          <a:p>
            <a:r>
              <a:t>7. Transición: Para organizar el trabajo en cada hito, aplicaremos un ciclo didáctico llamado HEXA.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Explicar el ciclo HEXA como la secuencia metodológica que ordenará el trabajo de cada hito.</a:t>
            </a:r>
          </a:p>
          <a:p>
            <a:r>
              <a:t>2. Tiempo: 3 minutos</a:t>
            </a:r>
          </a:p>
          <a:p>
            <a:r>
              <a:t>3. Explicación oral: En cada uno de los 7 hitos utilizaremos la misma secuencia. Primero definimos el reto (H) y exploramos las posibles soluciones o fallos (E). Después formalizamos los conceptos teóricos necesarios con explicación docente (X). Finalmente, aplicáis lo aprendido construyendo, documentando y defendiendo vuestra solución (A).</a:t>
            </a:r>
          </a:p>
          <a:p>
            <a:r>
              <a:t>4. Pregunta breve: ¿Qué ocurriría si saltamos la fase de eXplicación e intentamos aplicar el código directamente tras explorar?</a:t>
            </a:r>
          </a:p>
          <a:p>
            <a:r>
              <a:t>5. Idea esperada: Construiríamos código por ensayo y error sin comprender los fundamentos teóricos que garantizan que esté bien hecho.</a:t>
            </a:r>
          </a:p>
          <a:p>
            <a:r>
              <a:t>6. Error a evitar: Creer que HEXA es una investigación sin guía; la fase X garantiza la instrucción docente necesaria.</a:t>
            </a:r>
          </a:p>
          <a:p>
            <a:r>
              <a:t>7. Transición: ¿Cómo organizaremos la dinámica de trabajo en equipo y el apoyo individual en el aula?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Presentar las dinámicas de trabajo ágil adaptadas y el marco DUA para asegurar la accesibilidad y la exigencia individual.</a:t>
            </a:r>
          </a:p>
          <a:p>
            <a:r>
              <a:t>2. Tiempo: 3 minutos</a:t>
            </a:r>
          </a:p>
          <a:p>
            <a:r>
              <a:t>3. Explicación oral: Organizaremos el trabajo con una versión adaptada de Scrum: dividiremos el trabajo en tareas acotadas dentro de un backlog visible y revisaremos el avance periódicamente. Para adaptarnos a la diversidad del aula, aplicamos DUA: tendréis distintos formatos para aprender los conceptos y múltiples vías para expresar lo que sabéis. Pero recordad: el trabajo en equipo no diluye la responsabilidad individual. Cada persona debe ser capaz de explicar y defender su código.</a:t>
            </a:r>
          </a:p>
          <a:p>
            <a:r>
              <a:t>4. Pregunta breve: Si tu equipo completa una tarea pero tú no sabes explicar cómo funciona, ¿has alcanzado la evidencia de aprendizaje?</a:t>
            </a:r>
          </a:p>
          <a:p>
            <a:r>
              <a:t>5. Idea esperada: No, la evidencia exige comprensión e implicación individual comprobable en la defensa.</a:t>
            </a:r>
          </a:p>
          <a:p>
            <a:r>
              <a:t>6. Error a evitar: Confundir el Scrum del aula con una simulación rígida de empresa o pensar que la nota es la misma para todo el equipo sin valoración individual.</a:t>
            </a:r>
          </a:p>
          <a:p>
            <a:r>
              <a:t>7. Transición: Presentemos ahora el proyecto central que vertebrará todo el curso: MiniJarvis.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Clarificar la naturaleza de MiniJarvis como un programa Java evolutivo y definir qué evidencias de aprendizaje se exigirán.</a:t>
            </a:r>
          </a:p>
          <a:p>
            <a:r>
              <a:t>2. Tiempo: 4 minutos</a:t>
            </a:r>
          </a:p>
          <a:p>
            <a:r>
              <a:t>3. Explicación oral: MiniJarvis es el hilo conductor del curso. No es una IA mágica ni un ChatGPT construido desde el primer día. Es un asistente en Java que empezará siendo un programa por consola sencillo y que, semana a semana, irá creciendo en capacidad a medida que adquiramos nuevos conocimientos de programación. Para dar por superado cada hito no basta con tener código: se exige código funcional, pruebas, documentación, explicación oral y capacidad de mejora.</a:t>
            </a:r>
          </a:p>
          <a:p>
            <a:r>
              <a:t>4. Pregunta breve: ¿Por qué es más valioso un programa pequeño que entiendes y puedes defender que un código complejo copiado que no sabes modificar?</a:t>
            </a:r>
          </a:p>
          <a:p>
            <a:r>
              <a:t>5. Idea esperada: Porque el objetivo es adquirir la competencia profesional de programar; el código no comprendido no demuestra ningún aprendizaje real.</a:t>
            </a:r>
          </a:p>
          <a:p>
            <a:r>
              <a:t>6. Error a evitar: Creer que MiniJarvis requiere servicios de pago de IA o algoritmos incomprensibles desde el primer mes.</a:t>
            </a:r>
          </a:p>
          <a:p>
            <a:r>
              <a:t>7. Transición: Antes de empezar a escribir la primera línea de código de MiniJarvis, tenemos un primer reto indispensable.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Presentar la lógica del Hito 0 centrado en la organización del equipo antes de abordar el código.</a:t>
            </a:r>
          </a:p>
          <a:p>
            <a:r>
              <a:t>2. Tiempo: 2 minutos</a:t>
            </a:r>
          </a:p>
          <a:p>
            <a:r>
              <a:t>3. Explicación oral: Antes de abrir el entorno de desarrollo y escribir código en Java, necesitamos asegurar nuestra forma de trabajar. En el Hito 0 realizaremos una dinámica inicial HADA y un reto práctico de construcción con dos ciclos completos. Esto nos permitirá poner a prueba la comunicación, la planificación del backlog, la gestión del tiempo y los acuerdos de equipo que utilizaremos durante todo el curso.</a:t>
            </a:r>
          </a:p>
          <a:p>
            <a:r>
              <a:t>4. Pregunta breve: ¿Por qué probamos las dinámicas de equipo con un reto físico en lugar de empezar directamente con código complejo?</a:t>
            </a:r>
          </a:p>
          <a:p>
            <a:r>
              <a:t>5. Idea esperada: Para aislar la metodología (Scrum, comunicación, tiempos) de la dificultad técnica de la sintaxis de programación.</a:t>
            </a:r>
          </a:p>
          <a:p>
            <a:r>
              <a:t>6. Error a evitar: Considerar HADA como un test de personalidad rígido o la torre como un mero juego sin impacto en la organización del curso.</a:t>
            </a:r>
          </a:p>
          <a:p>
            <a:r>
              <a:t>7. Transición: Estamos listos para dar el paso de cierre y comenzar la primera sesión de trabajo.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Concluir la presentación general del módulo y dar paso directo a la sesión de trabajo S201.</a:t>
            </a:r>
          </a:p>
          <a:p>
            <a:r>
              <a:t>2. Tiempo: 2 minutos</a:t>
            </a:r>
          </a:p>
          <a:p>
            <a:r>
              <a:t>3. Explicación oral: Con esto cerramos la visión general del módulo de Programación. Conocemos los 9 Resultados de Aprendizaje, la estructura de los 7 hitos, la metodología HEXA y la naturaleza del proyecto MiniJarvis. Ahora es momento de ponernos en marcha. Cerramos esta introducción y abrimos la presentación S201 para configurar nuestros equipos de trabajo.</a:t>
            </a:r>
          </a:p>
          <a:p>
            <a:r>
              <a:t>4. Pregunta breve: ¿Estamos listos para empezar a diseñar la forma de trabajar de vuestro equipo?</a:t>
            </a:r>
          </a:p>
          <a:p>
            <a:r>
              <a:t>5. Idea esperada: Sí, con la claridad sobre los objetivos del módulo y las expectativas de trabajo.</a:t>
            </a:r>
          </a:p>
          <a:p>
            <a:r>
              <a:t>6. Error a evitar: Volver a repasar normativas o RA en la siguiente presentación; el marco general ha quedado establecido.</a:t>
            </a:r>
          </a:p>
          <a:p>
            <a:r>
              <a:t>7. Transición: Cambio directo al archivo de presentación S201.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4114800"/>
          </a:xfrm>
          <a:prstGeom prst="rect">
            <a:avLst/>
          </a:prstGeom>
          <a:noFill/>
        </p:spPr>
        <p:txBody>
          <a:bodyPr wrap="square">
            <a:spAutoFit/>
          </a:bodyPr>
          <a:lstStyle/>
          <a:p>
            <a:pPr>
              <a:spcAft>
                <a:spcPts val="2000"/>
              </a:spcAft>
              <a:defRPr sz="1400" b="1">
                <a:solidFill>
                  <a:srgbClr val="009688"/>
                </a:solidFill>
              </a:defRPr>
            </a:pPr>
            <a:r>
              <a:t>1.º DAW — CURSO 2026/2027</a:t>
            </a:r>
          </a:p>
          <a:p>
            <a:pPr>
              <a:spcAft>
                <a:spcPts val="3000"/>
              </a:spcAft>
              <a:defRPr sz="3600" b="1">
                <a:solidFill>
                  <a:srgbClr val="FFFFFF"/>
                </a:solidFill>
              </a:defRPr>
            </a:pPr>
            <a:r>
              <a:t>Programación: construir software que entiendes</a:t>
            </a:r>
          </a:p>
          <a:p>
            <a:pPr>
              <a:spcAft>
                <a:spcPts val="1000"/>
              </a:spcAft>
              <a:defRPr sz="1800">
                <a:solidFill>
                  <a:srgbClr val="F5F7FA"/>
                </a:solidFill>
              </a:defRPr>
            </a:pPr>
            <a:r>
              <a:t>• ¿Cómo pasaremos de no conocer Java a construir, comprobar, explicar y mejorar un programa propio?</a:t>
            </a:r>
          </a:p>
          <a:p>
            <a:pPr>
              <a:defRPr sz="1800">
                <a:solidFill>
                  <a:srgbClr val="F5F7FA"/>
                </a:solidFill>
              </a:defRPr>
            </a:pPr>
            <a:r>
              <a:t>• Una instrucción simple → Un programa estructurado → Tu propio MiniJarvis.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De un problema real a un programa ejecutable</a:t>
            </a:r>
          </a:p>
        </p:txBody>
      </p:sp>
      <p:sp>
        <p:nvSpPr>
          <p:cNvPr id="4" name="TextBox 3"/>
          <p:cNvSpPr txBox="1"/>
          <p:nvPr/>
        </p:nvSpPr>
        <p:spPr>
          <a:xfrm>
            <a:off x="731520" y="1280160"/>
            <a:ext cx="10728655" cy="1645920"/>
          </a:xfrm>
          <a:prstGeom prst="rect">
            <a:avLst/>
          </a:prstGeom>
          <a:noFill/>
        </p:spPr>
        <p:txBody>
          <a:bodyPr wrap="square">
            <a:spAutoFit/>
          </a:bodyPr>
          <a:lstStyle/>
          <a:p/>
          <a:p>
            <a:pPr>
              <a:spcAft>
                <a:spcPts val="800"/>
              </a:spcAft>
              <a:defRPr sz="1600">
                <a:solidFill>
                  <a:srgbClr val="28323C"/>
                </a:solidFill>
              </a:defRPr>
            </a:pPr>
            <a:r>
              <a:t>• Transformar necesidades en instrucciones precisas, datos organizados y programas ejecutables.</a:t>
            </a:r>
          </a:p>
          <a:p>
            <a:pPr>
              <a:spcAft>
                <a:spcPts val="800"/>
              </a:spcAft>
              <a:defRPr sz="1600">
                <a:solidFill>
                  <a:srgbClr val="28323C"/>
                </a:solidFill>
              </a:defRPr>
            </a:pPr>
            <a:r>
              <a:t>• Sin experiencia previa: Avanzamos desde cero y paso a paso.</a:t>
            </a:r>
          </a:p>
          <a:p>
            <a:pPr>
              <a:spcAft>
                <a:spcPts val="800"/>
              </a:spcAft>
              <a:defRPr sz="1600">
                <a:solidFill>
                  <a:srgbClr val="28323C"/>
                </a:solidFill>
              </a:defRPr>
            </a:pPr>
            <a:r>
              <a:t>• Aprender construyendo: Diseñar, escribir, ejecutar y comprobar.</a:t>
            </a:r>
          </a:p>
        </p:txBody>
      </p:sp>
      <p:sp>
        <p:nvSpPr>
          <p:cNvPr id="5" name="Rounded Rectangle 4"/>
          <p:cNvSpPr/>
          <p:nvPr/>
        </p:nvSpPr>
        <p:spPr>
          <a:xfrm>
            <a:off x="731520" y="3840480"/>
            <a:ext cx="1920240" cy="164592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206240"/>
            <a:ext cx="1920240" cy="914400"/>
          </a:xfrm>
          <a:prstGeom prst="rect">
            <a:avLst/>
          </a:prstGeom>
          <a:noFill/>
        </p:spPr>
        <p:txBody>
          <a:bodyPr wrap="square">
            <a:spAutoFit/>
          </a:bodyPr>
          <a:lstStyle/>
          <a:p>
            <a:pPr algn="ctr">
              <a:defRPr sz="1600" b="1">
                <a:solidFill>
                  <a:srgbClr val="FFFFFF"/>
                </a:solidFill>
              </a:defRPr>
            </a:pPr>
            <a:r>
              <a:t>1. Problema</a:t>
            </a:r>
          </a:p>
        </p:txBody>
      </p:sp>
      <p:sp>
        <p:nvSpPr>
          <p:cNvPr id="7" name="Rounded Rectangle 6"/>
          <p:cNvSpPr/>
          <p:nvPr/>
        </p:nvSpPr>
        <p:spPr>
          <a:xfrm>
            <a:off x="2907792" y="3840480"/>
            <a:ext cx="1920240" cy="164592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07792" y="4206240"/>
            <a:ext cx="1920240" cy="914400"/>
          </a:xfrm>
          <a:prstGeom prst="rect">
            <a:avLst/>
          </a:prstGeom>
          <a:noFill/>
        </p:spPr>
        <p:txBody>
          <a:bodyPr wrap="square">
            <a:spAutoFit/>
          </a:bodyPr>
          <a:lstStyle/>
          <a:p>
            <a:pPr algn="ctr">
              <a:defRPr sz="1600" b="1">
                <a:solidFill>
                  <a:srgbClr val="FFFFFF"/>
                </a:solidFill>
              </a:defRPr>
            </a:pPr>
            <a:r>
              <a:t>2. Diseño</a:t>
            </a:r>
          </a:p>
        </p:txBody>
      </p:sp>
      <p:sp>
        <p:nvSpPr>
          <p:cNvPr id="9" name="Rounded Rectangle 8"/>
          <p:cNvSpPr/>
          <p:nvPr/>
        </p:nvSpPr>
        <p:spPr>
          <a:xfrm>
            <a:off x="5084064" y="3840480"/>
            <a:ext cx="1920240" cy="164592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84064" y="4206240"/>
            <a:ext cx="1920240" cy="914400"/>
          </a:xfrm>
          <a:prstGeom prst="rect">
            <a:avLst/>
          </a:prstGeom>
          <a:noFill/>
        </p:spPr>
        <p:txBody>
          <a:bodyPr wrap="square">
            <a:spAutoFit/>
          </a:bodyPr>
          <a:lstStyle/>
          <a:p>
            <a:pPr algn="ctr">
              <a:defRPr sz="1600" b="1">
                <a:solidFill>
                  <a:srgbClr val="FFFFFF"/>
                </a:solidFill>
              </a:defRPr>
            </a:pPr>
            <a:r>
              <a:t>3. Código</a:t>
            </a:r>
          </a:p>
        </p:txBody>
      </p:sp>
      <p:sp>
        <p:nvSpPr>
          <p:cNvPr id="11" name="Rounded Rectangle 10"/>
          <p:cNvSpPr/>
          <p:nvPr/>
        </p:nvSpPr>
        <p:spPr>
          <a:xfrm>
            <a:off x="7260336" y="3840480"/>
            <a:ext cx="1920240" cy="164592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0336" y="4206240"/>
            <a:ext cx="1920240" cy="914400"/>
          </a:xfrm>
          <a:prstGeom prst="rect">
            <a:avLst/>
          </a:prstGeom>
          <a:noFill/>
        </p:spPr>
        <p:txBody>
          <a:bodyPr wrap="square">
            <a:spAutoFit/>
          </a:bodyPr>
          <a:lstStyle/>
          <a:p>
            <a:pPr algn="ctr">
              <a:defRPr sz="1600" b="1">
                <a:solidFill>
                  <a:srgbClr val="FFFFFF"/>
                </a:solidFill>
              </a:defRPr>
            </a:pPr>
            <a:r>
              <a:t>4. Ejecución</a:t>
            </a:r>
          </a:p>
        </p:txBody>
      </p:sp>
      <p:sp>
        <p:nvSpPr>
          <p:cNvPr id="13" name="Rounded Rectangle 12"/>
          <p:cNvSpPr/>
          <p:nvPr/>
        </p:nvSpPr>
        <p:spPr>
          <a:xfrm>
            <a:off x="9436608" y="3840480"/>
            <a:ext cx="1920240" cy="164592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36608" y="4206240"/>
            <a:ext cx="1920240" cy="914400"/>
          </a:xfrm>
          <a:prstGeom prst="rect">
            <a:avLst/>
          </a:prstGeom>
          <a:noFill/>
        </p:spPr>
        <p:txBody>
          <a:bodyPr wrap="square">
            <a:spAutoFit/>
          </a:bodyPr>
          <a:lstStyle/>
          <a:p>
            <a:pPr algn="ctr">
              <a:defRPr sz="1600" b="1">
                <a:solidFill>
                  <a:srgbClr val="FFFFFF"/>
                </a:solidFill>
              </a:defRPr>
            </a:pPr>
            <a:r>
              <a:t>5. Comprobación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La ruta de aprendizaje de Programación</a:t>
            </a:r>
          </a:p>
        </p:txBody>
      </p:sp>
      <p:sp>
        <p:nvSpPr>
          <p:cNvPr id="4" name="Rounded Rectangle 3"/>
          <p:cNvSpPr/>
          <p:nvPr/>
        </p:nvSpPr>
        <p:spPr>
          <a:xfrm>
            <a:off x="731520" y="1280160"/>
            <a:ext cx="5120640" cy="100584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4754880" cy="640080"/>
          </a:xfrm>
          <a:prstGeom prst="rect">
            <a:avLst/>
          </a:prstGeom>
          <a:noFill/>
        </p:spPr>
        <p:txBody>
          <a:bodyPr wrap="square">
            <a:spAutoFit/>
          </a:bodyPr>
          <a:lstStyle/>
          <a:p>
            <a:pPr>
              <a:defRPr sz="1400" b="1">
                <a:solidFill>
                  <a:srgbClr val="28323C"/>
                </a:solidFill>
              </a:defRPr>
            </a:pPr>
            <a:r>
              <a:t>1. Fundamentos: Variables, datos, entrada/salida en Java.</a:t>
            </a:r>
          </a:p>
        </p:txBody>
      </p:sp>
      <p:sp>
        <p:nvSpPr>
          <p:cNvPr id="6" name="Rounded Rectangle 5"/>
          <p:cNvSpPr/>
          <p:nvPr/>
        </p:nvSpPr>
        <p:spPr>
          <a:xfrm>
            <a:off x="6217920" y="1280160"/>
            <a:ext cx="5120640" cy="100584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63040"/>
            <a:ext cx="4754880" cy="640080"/>
          </a:xfrm>
          <a:prstGeom prst="rect">
            <a:avLst/>
          </a:prstGeom>
          <a:noFill/>
        </p:spPr>
        <p:txBody>
          <a:bodyPr wrap="square">
            <a:spAutoFit/>
          </a:bodyPr>
          <a:lstStyle/>
          <a:p>
            <a:pPr>
              <a:defRPr sz="1400" b="1">
                <a:solidFill>
                  <a:srgbClr val="28323C"/>
                </a:solidFill>
              </a:defRPr>
            </a:pPr>
            <a:r>
              <a:t>2. Control: Decisiones, bucles y depuración.</a:t>
            </a:r>
          </a:p>
        </p:txBody>
      </p:sp>
      <p:sp>
        <p:nvSpPr>
          <p:cNvPr id="8" name="Rounded Rectangle 7"/>
          <p:cNvSpPr/>
          <p:nvPr/>
        </p:nvSpPr>
        <p:spPr>
          <a:xfrm>
            <a:off x="731520" y="2468880"/>
            <a:ext cx="5120640" cy="100584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51760"/>
            <a:ext cx="4754880" cy="640080"/>
          </a:xfrm>
          <a:prstGeom prst="rect">
            <a:avLst/>
          </a:prstGeom>
          <a:noFill/>
        </p:spPr>
        <p:txBody>
          <a:bodyPr wrap="square">
            <a:spAutoFit/>
          </a:bodyPr>
          <a:lstStyle/>
          <a:p>
            <a:pPr>
              <a:defRPr sz="1400" b="1">
                <a:solidFill>
                  <a:srgbClr val="28323C"/>
                </a:solidFill>
              </a:defRPr>
            </a:pPr>
            <a:r>
              <a:t>3. Memoria: Arrays, listas, conjuntos y mapas.</a:t>
            </a:r>
          </a:p>
        </p:txBody>
      </p:sp>
      <p:sp>
        <p:nvSpPr>
          <p:cNvPr id="10" name="Rounded Rectangle 9"/>
          <p:cNvSpPr/>
          <p:nvPr/>
        </p:nvSpPr>
        <p:spPr>
          <a:xfrm>
            <a:off x="6217920" y="2468880"/>
            <a:ext cx="5120640" cy="100584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651760"/>
            <a:ext cx="4754880" cy="640080"/>
          </a:xfrm>
          <a:prstGeom prst="rect">
            <a:avLst/>
          </a:prstGeom>
          <a:noFill/>
        </p:spPr>
        <p:txBody>
          <a:bodyPr wrap="square">
            <a:spAutoFit/>
          </a:bodyPr>
          <a:lstStyle/>
          <a:p>
            <a:pPr>
              <a:defRPr sz="1400" b="1">
                <a:solidFill>
                  <a:srgbClr val="28323C"/>
                </a:solidFill>
              </a:defRPr>
            </a:pPr>
            <a:r>
              <a:t>4. Estructura OO: Clases, objetos y encapsulación.</a:t>
            </a:r>
          </a:p>
        </p:txBody>
      </p:sp>
      <p:sp>
        <p:nvSpPr>
          <p:cNvPr id="12" name="Rounded Rectangle 11"/>
          <p:cNvSpPr/>
          <p:nvPr/>
        </p:nvSpPr>
        <p:spPr>
          <a:xfrm>
            <a:off x="731520" y="3657600"/>
            <a:ext cx="5120640" cy="100584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840480"/>
            <a:ext cx="4754880" cy="640080"/>
          </a:xfrm>
          <a:prstGeom prst="rect">
            <a:avLst/>
          </a:prstGeom>
          <a:noFill/>
        </p:spPr>
        <p:txBody>
          <a:bodyPr wrap="square">
            <a:spAutoFit/>
          </a:bodyPr>
          <a:lstStyle/>
          <a:p>
            <a:pPr>
              <a:defRPr sz="1400" b="1">
                <a:solidFill>
                  <a:srgbClr val="28323C"/>
                </a:solidFill>
              </a:defRPr>
            </a:pPr>
            <a:r>
              <a:t>5. Calidad: Interfaces, herencia y código limpio.</a:t>
            </a:r>
          </a:p>
        </p:txBody>
      </p:sp>
      <p:sp>
        <p:nvSpPr>
          <p:cNvPr id="14" name="Rounded Rectangle 13"/>
          <p:cNvSpPr/>
          <p:nvPr/>
        </p:nvSpPr>
        <p:spPr>
          <a:xfrm>
            <a:off x="6217920" y="3657600"/>
            <a:ext cx="5120640" cy="100584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840480"/>
            <a:ext cx="4754880" cy="640080"/>
          </a:xfrm>
          <a:prstGeom prst="rect">
            <a:avLst/>
          </a:prstGeom>
          <a:noFill/>
        </p:spPr>
        <p:txBody>
          <a:bodyPr wrap="square">
            <a:spAutoFit/>
          </a:bodyPr>
          <a:lstStyle/>
          <a:p>
            <a:pPr>
              <a:defRPr sz="1400" b="1">
                <a:solidFill>
                  <a:srgbClr val="28323C"/>
                </a:solidFill>
              </a:defRPr>
            </a:pPr>
            <a:r>
              <a:t>6. Persistencia: Ficheros, almacenamiento y datos.</a:t>
            </a:r>
          </a:p>
        </p:txBody>
      </p:sp>
      <p:sp>
        <p:nvSpPr>
          <p:cNvPr id="16" name="Rounded Rectangle 15"/>
          <p:cNvSpPr/>
          <p:nvPr/>
        </p:nvSpPr>
        <p:spPr>
          <a:xfrm>
            <a:off x="3474720" y="4846320"/>
            <a:ext cx="5120640" cy="100584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5029200"/>
            <a:ext cx="4754880" cy="640080"/>
          </a:xfrm>
          <a:prstGeom prst="rect">
            <a:avLst/>
          </a:prstGeom>
          <a:noFill/>
        </p:spPr>
        <p:txBody>
          <a:bodyPr wrap="square">
            <a:spAutoFit/>
          </a:bodyPr>
          <a:lstStyle/>
          <a:p>
            <a:pPr>
              <a:defRPr sz="1400" b="1">
                <a:solidFill>
                  <a:srgbClr val="28323C"/>
                </a:solidFill>
              </a:defRPr>
            </a:pPr>
            <a:r>
              <a:t>7. Ampliación: Programación funcional, GUI y BD.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Resultados de Aprendizaje (RA): tus metas de evaluación</a:t>
            </a:r>
          </a:p>
        </p:txBody>
      </p:sp>
      <p:sp>
        <p:nvSpPr>
          <p:cNvPr id="4" name="Rounded Rectangle 3"/>
          <p:cNvSpPr/>
          <p:nvPr/>
        </p:nvSpPr>
        <p:spPr>
          <a:xfrm>
            <a:off x="731520" y="1371600"/>
            <a:ext cx="237744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2103120" cy="1463040"/>
          </a:xfrm>
          <a:prstGeom prst="rect">
            <a:avLst/>
          </a:prstGeom>
          <a:noFill/>
        </p:spPr>
        <p:txBody>
          <a:bodyPr wrap="square">
            <a:spAutoFit/>
          </a:bodyPr>
          <a:lstStyle/>
          <a:p>
            <a:pPr algn="ctr">
              <a:spcAft>
                <a:spcPts val="1000"/>
              </a:spcAft>
              <a:defRPr sz="2000" b="1">
                <a:solidFill>
                  <a:srgbClr val="009688"/>
                </a:solidFill>
              </a:defRPr>
            </a:pPr>
            <a:r>
              <a:t>RA1</a:t>
            </a:r>
          </a:p>
          <a:p>
            <a:pPr algn="ctr">
              <a:defRPr sz="1400">
                <a:solidFill>
                  <a:srgbClr val="28323C"/>
                </a:solidFill>
              </a:defRPr>
            </a:pPr>
            <a:r>
              <a:t>Fundamentos</a:t>
            </a:r>
          </a:p>
        </p:txBody>
      </p:sp>
      <p:sp>
        <p:nvSpPr>
          <p:cNvPr id="6" name="Rounded Rectangle 5"/>
          <p:cNvSpPr/>
          <p:nvPr/>
        </p:nvSpPr>
        <p:spPr>
          <a:xfrm>
            <a:off x="3456432" y="1371600"/>
            <a:ext cx="237744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93592" y="1645920"/>
            <a:ext cx="2103120" cy="1463040"/>
          </a:xfrm>
          <a:prstGeom prst="rect">
            <a:avLst/>
          </a:prstGeom>
          <a:noFill/>
        </p:spPr>
        <p:txBody>
          <a:bodyPr wrap="square">
            <a:spAutoFit/>
          </a:bodyPr>
          <a:lstStyle/>
          <a:p>
            <a:pPr algn="ctr">
              <a:spcAft>
                <a:spcPts val="1000"/>
              </a:spcAft>
              <a:defRPr sz="2000" b="1">
                <a:solidFill>
                  <a:srgbClr val="009688"/>
                </a:solidFill>
              </a:defRPr>
            </a:pPr>
            <a:r>
              <a:t>RA2</a:t>
            </a:r>
          </a:p>
          <a:p>
            <a:pPr algn="ctr">
              <a:defRPr sz="1400">
                <a:solidFill>
                  <a:srgbClr val="28323C"/>
                </a:solidFill>
              </a:defRPr>
            </a:pPr>
            <a:r>
              <a:t>Programas sencillos</a:t>
            </a:r>
          </a:p>
        </p:txBody>
      </p:sp>
      <p:sp>
        <p:nvSpPr>
          <p:cNvPr id="8" name="Rounded Rectangle 7"/>
          <p:cNvSpPr/>
          <p:nvPr/>
        </p:nvSpPr>
        <p:spPr>
          <a:xfrm>
            <a:off x="6181344" y="1371600"/>
            <a:ext cx="237744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18504" y="1645920"/>
            <a:ext cx="2103120" cy="1463040"/>
          </a:xfrm>
          <a:prstGeom prst="rect">
            <a:avLst/>
          </a:prstGeom>
          <a:noFill/>
        </p:spPr>
        <p:txBody>
          <a:bodyPr wrap="square">
            <a:spAutoFit/>
          </a:bodyPr>
          <a:lstStyle/>
          <a:p>
            <a:pPr algn="ctr">
              <a:spcAft>
                <a:spcPts val="1000"/>
              </a:spcAft>
              <a:defRPr sz="2000" b="1">
                <a:solidFill>
                  <a:srgbClr val="009688"/>
                </a:solidFill>
              </a:defRPr>
            </a:pPr>
            <a:r>
              <a:t>RA3</a:t>
            </a:r>
          </a:p>
          <a:p>
            <a:pPr algn="ctr">
              <a:defRPr sz="1400">
                <a:solidFill>
                  <a:srgbClr val="28323C"/>
                </a:solidFill>
              </a:defRPr>
            </a:pPr>
            <a:r>
              <a:t>Control y depuración</a:t>
            </a:r>
          </a:p>
        </p:txBody>
      </p:sp>
      <p:sp>
        <p:nvSpPr>
          <p:cNvPr id="10" name="Rounded Rectangle 9"/>
          <p:cNvSpPr/>
          <p:nvPr/>
        </p:nvSpPr>
        <p:spPr>
          <a:xfrm>
            <a:off x="8906256" y="1371600"/>
            <a:ext cx="237744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43416" y="1645920"/>
            <a:ext cx="2103120" cy="1463040"/>
          </a:xfrm>
          <a:prstGeom prst="rect">
            <a:avLst/>
          </a:prstGeom>
          <a:noFill/>
        </p:spPr>
        <p:txBody>
          <a:bodyPr wrap="square">
            <a:spAutoFit/>
          </a:bodyPr>
          <a:lstStyle/>
          <a:p>
            <a:pPr algn="ctr">
              <a:spcAft>
                <a:spcPts val="1000"/>
              </a:spcAft>
              <a:defRPr sz="2000" b="1">
                <a:solidFill>
                  <a:srgbClr val="009688"/>
                </a:solidFill>
              </a:defRPr>
            </a:pPr>
            <a:r>
              <a:t>RA4</a:t>
            </a:r>
          </a:p>
          <a:p>
            <a:pPr algn="ctr">
              <a:defRPr sz="1400">
                <a:solidFill>
                  <a:srgbClr val="28323C"/>
                </a:solidFill>
              </a:defRPr>
            </a:pPr>
            <a:r>
              <a:t>Clases y OO</a:t>
            </a:r>
          </a:p>
        </p:txBody>
      </p:sp>
      <p:sp>
        <p:nvSpPr>
          <p:cNvPr id="12" name="Rounded Rectangle 11"/>
          <p:cNvSpPr/>
          <p:nvPr/>
        </p:nvSpPr>
        <p:spPr>
          <a:xfrm>
            <a:off x="731520" y="3749040"/>
            <a:ext cx="237744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023360"/>
            <a:ext cx="2103120" cy="1463040"/>
          </a:xfrm>
          <a:prstGeom prst="rect">
            <a:avLst/>
          </a:prstGeom>
          <a:noFill/>
        </p:spPr>
        <p:txBody>
          <a:bodyPr wrap="square">
            <a:spAutoFit/>
          </a:bodyPr>
          <a:lstStyle/>
          <a:p>
            <a:pPr algn="ctr">
              <a:spcAft>
                <a:spcPts val="1000"/>
              </a:spcAft>
              <a:defRPr sz="2000" b="1">
                <a:solidFill>
                  <a:srgbClr val="009688"/>
                </a:solidFill>
              </a:defRPr>
            </a:pPr>
            <a:r>
              <a:t>RA5</a:t>
            </a:r>
          </a:p>
          <a:p>
            <a:pPr algn="ctr">
              <a:defRPr sz="1400">
                <a:solidFill>
                  <a:srgbClr val="28323C"/>
                </a:solidFill>
              </a:defRPr>
            </a:pPr>
            <a:r>
              <a:t>Entrada / Salida</a:t>
            </a:r>
          </a:p>
        </p:txBody>
      </p:sp>
      <p:sp>
        <p:nvSpPr>
          <p:cNvPr id="14" name="Rounded Rectangle 13"/>
          <p:cNvSpPr/>
          <p:nvPr/>
        </p:nvSpPr>
        <p:spPr>
          <a:xfrm>
            <a:off x="3456432" y="3749040"/>
            <a:ext cx="237744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3592" y="4023360"/>
            <a:ext cx="2103120" cy="1463040"/>
          </a:xfrm>
          <a:prstGeom prst="rect">
            <a:avLst/>
          </a:prstGeom>
          <a:noFill/>
        </p:spPr>
        <p:txBody>
          <a:bodyPr wrap="square">
            <a:spAutoFit/>
          </a:bodyPr>
          <a:lstStyle/>
          <a:p>
            <a:pPr algn="ctr">
              <a:spcAft>
                <a:spcPts val="1000"/>
              </a:spcAft>
              <a:defRPr sz="2000" b="1">
                <a:solidFill>
                  <a:srgbClr val="009688"/>
                </a:solidFill>
              </a:defRPr>
            </a:pPr>
            <a:r>
              <a:t>RA6</a:t>
            </a:r>
          </a:p>
          <a:p>
            <a:pPr algn="ctr">
              <a:defRPr sz="1400">
                <a:solidFill>
                  <a:srgbClr val="28323C"/>
                </a:solidFill>
              </a:defRPr>
            </a:pPr>
            <a:r>
              <a:t>Datos avanzados</a:t>
            </a:r>
          </a:p>
        </p:txBody>
      </p:sp>
      <p:sp>
        <p:nvSpPr>
          <p:cNvPr id="16" name="Rounded Rectangle 15"/>
          <p:cNvSpPr/>
          <p:nvPr/>
        </p:nvSpPr>
        <p:spPr>
          <a:xfrm>
            <a:off x="6181344" y="3749040"/>
            <a:ext cx="237744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4023360"/>
            <a:ext cx="2103120" cy="1463040"/>
          </a:xfrm>
          <a:prstGeom prst="rect">
            <a:avLst/>
          </a:prstGeom>
          <a:noFill/>
        </p:spPr>
        <p:txBody>
          <a:bodyPr wrap="square">
            <a:spAutoFit/>
          </a:bodyPr>
          <a:lstStyle/>
          <a:p>
            <a:pPr algn="ctr">
              <a:spcAft>
                <a:spcPts val="1000"/>
              </a:spcAft>
              <a:defRPr sz="2000" b="1">
                <a:solidFill>
                  <a:srgbClr val="009688"/>
                </a:solidFill>
              </a:defRPr>
            </a:pPr>
            <a:r>
              <a:t>RA7</a:t>
            </a:r>
          </a:p>
          <a:p>
            <a:pPr algn="ctr">
              <a:defRPr sz="1400">
                <a:solidFill>
                  <a:srgbClr val="28323C"/>
                </a:solidFill>
              </a:defRPr>
            </a:pPr>
            <a:r>
              <a:t>POO avanzada</a:t>
            </a:r>
          </a:p>
        </p:txBody>
      </p:sp>
      <p:sp>
        <p:nvSpPr>
          <p:cNvPr id="18" name="Rounded Rectangle 17"/>
          <p:cNvSpPr/>
          <p:nvPr/>
        </p:nvSpPr>
        <p:spPr>
          <a:xfrm>
            <a:off x="8906256" y="3749040"/>
            <a:ext cx="237744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43416" y="4023360"/>
            <a:ext cx="2103120" cy="1463040"/>
          </a:xfrm>
          <a:prstGeom prst="rect">
            <a:avLst/>
          </a:prstGeom>
          <a:noFill/>
        </p:spPr>
        <p:txBody>
          <a:bodyPr wrap="square">
            <a:spAutoFit/>
          </a:bodyPr>
          <a:lstStyle/>
          <a:p>
            <a:pPr algn="ctr">
              <a:spcAft>
                <a:spcPts val="1000"/>
              </a:spcAft>
              <a:defRPr sz="2000" b="1">
                <a:solidFill>
                  <a:srgbClr val="009688"/>
                </a:solidFill>
              </a:defRPr>
            </a:pPr>
            <a:r>
              <a:t>RA8-9</a:t>
            </a:r>
          </a:p>
          <a:p>
            <a:pPr algn="ctr">
              <a:defRPr sz="1400">
                <a:solidFill>
                  <a:srgbClr val="28323C"/>
                </a:solidFill>
              </a:defRPr>
            </a:pPr>
            <a:r>
              <a:t>Persistencia y BD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RA1 y RA2 — Fundamentos y primeros programas</a:t>
            </a:r>
          </a:p>
        </p:txBody>
      </p:sp>
      <p:sp>
        <p:nvSpPr>
          <p:cNvPr id="4" name="Rounded Rectangle 3"/>
          <p:cNvSpPr/>
          <p:nvPr/>
        </p:nvSpPr>
        <p:spPr>
          <a:xfrm>
            <a:off x="731520" y="1280160"/>
            <a:ext cx="51206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4572000" cy="2926080"/>
          </a:xfrm>
          <a:prstGeom prst="rect">
            <a:avLst/>
          </a:prstGeom>
          <a:noFill/>
        </p:spPr>
        <p:txBody>
          <a:bodyPr wrap="square">
            <a:spAutoFit/>
          </a:bodyPr>
          <a:lstStyle/>
          <a:p>
            <a:pPr>
              <a:spcAft>
                <a:spcPts val="1400"/>
              </a:spcAft>
              <a:defRPr sz="1800" b="1">
                <a:solidFill>
                  <a:srgbClr val="18202A"/>
                </a:solidFill>
              </a:defRPr>
            </a:pPr>
            <a:r>
              <a:t>RA1 — Estructura y Sintaxis</a:t>
            </a:r>
          </a:p>
          <a:p>
            <a:pPr>
              <a:defRPr sz="1400">
                <a:solidFill>
                  <a:srgbClr val="28323C"/>
                </a:solidFill>
              </a:defRPr>
            </a:pPr>
            <a:r>
              <a:t>«Reconoce la estructura de un programa informático, identificando y relacionando los elementos propios del lenguaje de programación utilizado».</a:t>
            </a:r>
          </a:p>
        </p:txBody>
      </p:sp>
      <p:sp>
        <p:nvSpPr>
          <p:cNvPr id="6" name="Rounded Rectangle 5"/>
          <p:cNvSpPr/>
          <p:nvPr/>
        </p:nvSpPr>
        <p:spPr>
          <a:xfrm>
            <a:off x="6217920" y="1280160"/>
            <a:ext cx="51206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54480"/>
            <a:ext cx="4572000" cy="2926080"/>
          </a:xfrm>
          <a:prstGeom prst="rect">
            <a:avLst/>
          </a:prstGeom>
          <a:noFill/>
        </p:spPr>
        <p:txBody>
          <a:bodyPr wrap="square">
            <a:spAutoFit/>
          </a:bodyPr>
          <a:lstStyle/>
          <a:p>
            <a:pPr>
              <a:spcAft>
                <a:spcPts val="1400"/>
              </a:spcAft>
              <a:defRPr sz="1800" b="1">
                <a:solidFill>
                  <a:srgbClr val="18202A"/>
                </a:solidFill>
              </a:defRPr>
            </a:pPr>
            <a:r>
              <a:t>RA2 — Consola Funcional</a:t>
            </a:r>
          </a:p>
          <a:p>
            <a:pPr>
              <a:defRPr sz="1400">
                <a:solidFill>
                  <a:srgbClr val="28323C"/>
                </a:solidFill>
              </a:defRPr>
            </a:pPr>
            <a:r>
              <a:t>«Escribe y prueba programas sencillos, reconociendo y aplicando los fundamentos de la programación orientada a objetos».</a:t>
            </a:r>
          </a:p>
        </p:txBody>
      </p:sp>
      <p:sp>
        <p:nvSpPr>
          <p:cNvPr id="8" name="Rounded Rectangle 7"/>
          <p:cNvSpPr/>
          <p:nvPr/>
        </p:nvSpPr>
        <p:spPr>
          <a:xfrm>
            <a:off x="731520" y="5029200"/>
            <a:ext cx="10728655" cy="100584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66360"/>
            <a:ext cx="10362895" cy="731520"/>
          </a:xfrm>
          <a:prstGeom prst="rect">
            <a:avLst/>
          </a:prstGeom>
          <a:noFill/>
        </p:spPr>
        <p:txBody>
          <a:bodyPr wrap="square">
            <a:spAutoFit/>
          </a:bodyPr>
          <a:lstStyle/>
          <a:p>
            <a:pPr>
              <a:defRPr sz="1600" b="1">
                <a:solidFill>
                  <a:srgbClr val="FFFFFF"/>
                </a:solidFill>
              </a:defRPr>
            </a:pPr>
            <a:r>
              <a:t>Traducción práctica: Reconocer las piezas de un programa Java y crear las primeras versiones ejecutables.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RA3 y RA4 — Estructuras de control y Clases</a:t>
            </a:r>
          </a:p>
        </p:txBody>
      </p:sp>
      <p:sp>
        <p:nvSpPr>
          <p:cNvPr id="4" name="Rounded Rectangle 3"/>
          <p:cNvSpPr/>
          <p:nvPr/>
        </p:nvSpPr>
        <p:spPr>
          <a:xfrm>
            <a:off x="731520" y="1280160"/>
            <a:ext cx="51206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4572000" cy="2926080"/>
          </a:xfrm>
          <a:prstGeom prst="rect">
            <a:avLst/>
          </a:prstGeom>
          <a:noFill/>
        </p:spPr>
        <p:txBody>
          <a:bodyPr wrap="square">
            <a:spAutoFit/>
          </a:bodyPr>
          <a:lstStyle/>
          <a:p>
            <a:pPr>
              <a:spcAft>
                <a:spcPts val="1400"/>
              </a:spcAft>
              <a:defRPr sz="1800" b="1">
                <a:solidFill>
                  <a:srgbClr val="18202A"/>
                </a:solidFill>
              </a:defRPr>
            </a:pPr>
            <a:r>
              <a:t>RA3 — Decisiones, bucles y depurador</a:t>
            </a:r>
          </a:p>
          <a:p>
            <a:pPr>
              <a:defRPr sz="1400">
                <a:solidFill>
                  <a:srgbClr val="28323C"/>
                </a:solidFill>
              </a:defRPr>
            </a:pPr>
            <a:r>
              <a:t>«Escribe y depura código, analizando y utilizando las estructuras de control del lenguaje».</a:t>
            </a:r>
          </a:p>
        </p:txBody>
      </p:sp>
      <p:sp>
        <p:nvSpPr>
          <p:cNvPr id="6" name="Rounded Rectangle 5"/>
          <p:cNvSpPr/>
          <p:nvPr/>
        </p:nvSpPr>
        <p:spPr>
          <a:xfrm>
            <a:off x="6217920" y="1280160"/>
            <a:ext cx="51206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54480"/>
            <a:ext cx="4572000" cy="2926080"/>
          </a:xfrm>
          <a:prstGeom prst="rect">
            <a:avLst/>
          </a:prstGeom>
          <a:noFill/>
        </p:spPr>
        <p:txBody>
          <a:bodyPr wrap="square">
            <a:spAutoFit/>
          </a:bodyPr>
          <a:lstStyle/>
          <a:p>
            <a:pPr>
              <a:spcAft>
                <a:spcPts val="1400"/>
              </a:spcAft>
              <a:defRPr sz="1800" b="1">
                <a:solidFill>
                  <a:srgbClr val="18202A"/>
                </a:solidFill>
              </a:defRPr>
            </a:pPr>
            <a:r>
              <a:t>RA4 — Diseño Orientado a Objetos</a:t>
            </a:r>
          </a:p>
          <a:p>
            <a:pPr>
              <a:defRPr sz="1400">
                <a:solidFill>
                  <a:srgbClr val="28323C"/>
                </a:solidFill>
              </a:defRPr>
            </a:pPr>
            <a:r>
              <a:t>«Desarrolla programas organizados en clases analizando y aplicando los principios de la programación orientada a objetos».</a:t>
            </a:r>
          </a:p>
        </p:txBody>
      </p:sp>
      <p:sp>
        <p:nvSpPr>
          <p:cNvPr id="8" name="Rounded Rectangle 7"/>
          <p:cNvSpPr/>
          <p:nvPr/>
        </p:nvSpPr>
        <p:spPr>
          <a:xfrm>
            <a:off x="731520" y="5029200"/>
            <a:ext cx="10728655" cy="100584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66360"/>
            <a:ext cx="10362895" cy="731520"/>
          </a:xfrm>
          <a:prstGeom prst="rect">
            <a:avLst/>
          </a:prstGeom>
          <a:noFill/>
        </p:spPr>
        <p:txBody>
          <a:bodyPr wrap="square">
            <a:spAutoFit/>
          </a:bodyPr>
          <a:lstStyle/>
          <a:p>
            <a:pPr>
              <a:defRPr sz="1600" b="1">
                <a:solidFill>
                  <a:srgbClr val="FFFFFF"/>
                </a:solidFill>
              </a:defRPr>
            </a:pPr>
            <a:r>
              <a:t>Traducción práctica: Tomar decisiones, repetir acciones, localizar errores y repartir responsabilidades entre clases.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RA5 y RA6 — Datos avanzados y Entrada/Salida</a:t>
            </a:r>
          </a:p>
        </p:txBody>
      </p:sp>
      <p:sp>
        <p:nvSpPr>
          <p:cNvPr id="4" name="Rounded Rectangle 3"/>
          <p:cNvSpPr/>
          <p:nvPr/>
        </p:nvSpPr>
        <p:spPr>
          <a:xfrm>
            <a:off x="731520" y="1280160"/>
            <a:ext cx="51206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4572000" cy="2926080"/>
          </a:xfrm>
          <a:prstGeom prst="rect">
            <a:avLst/>
          </a:prstGeom>
          <a:noFill/>
        </p:spPr>
        <p:txBody>
          <a:bodyPr wrap="square">
            <a:spAutoFit/>
          </a:bodyPr>
          <a:lstStyle/>
          <a:p>
            <a:pPr>
              <a:spcAft>
                <a:spcPts val="1400"/>
              </a:spcAft>
              <a:defRPr sz="1800" b="1">
                <a:solidFill>
                  <a:srgbClr val="18202A"/>
                </a:solidFill>
              </a:defRPr>
            </a:pPr>
            <a:r>
              <a:t>RA5 — Teclado, Consola y Ficheros</a:t>
            </a:r>
          </a:p>
          <a:p>
            <a:pPr>
              <a:defRPr sz="1400">
                <a:solidFill>
                  <a:srgbClr val="28323C"/>
                </a:solidFill>
              </a:defRPr>
            </a:pPr>
            <a:r>
              <a:t>«Realiza operaciones de entrada y salida de información, utilizando procedimientos específicos del lenguaje y librerías de clases».</a:t>
            </a:r>
          </a:p>
        </p:txBody>
      </p:sp>
      <p:sp>
        <p:nvSpPr>
          <p:cNvPr id="6" name="Rounded Rectangle 5"/>
          <p:cNvSpPr/>
          <p:nvPr/>
        </p:nvSpPr>
        <p:spPr>
          <a:xfrm>
            <a:off x="6217920" y="1280160"/>
            <a:ext cx="51206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54480"/>
            <a:ext cx="4572000" cy="2926080"/>
          </a:xfrm>
          <a:prstGeom prst="rect">
            <a:avLst/>
          </a:prstGeom>
          <a:noFill/>
        </p:spPr>
        <p:txBody>
          <a:bodyPr wrap="square">
            <a:spAutoFit/>
          </a:bodyPr>
          <a:lstStyle/>
          <a:p>
            <a:pPr>
              <a:spcAft>
                <a:spcPts val="1400"/>
              </a:spcAft>
              <a:defRPr sz="1800" b="1">
                <a:solidFill>
                  <a:srgbClr val="18202A"/>
                </a:solidFill>
              </a:defRPr>
            </a:pPr>
            <a:r>
              <a:t>RA6 — Estructuras (ArrayList, HashMap)</a:t>
            </a:r>
          </a:p>
          <a:p>
            <a:pPr>
              <a:defRPr sz="1400">
                <a:solidFill>
                  <a:srgbClr val="28323C"/>
                </a:solidFill>
              </a:defRPr>
            </a:pPr>
            <a:r>
              <a:t>«Escribe programas que manipulen información seleccionando y utilizando tipos avanzados de datos».</a:t>
            </a:r>
          </a:p>
        </p:txBody>
      </p:sp>
      <p:sp>
        <p:nvSpPr>
          <p:cNvPr id="8" name="Rounded Rectangle 7"/>
          <p:cNvSpPr/>
          <p:nvPr/>
        </p:nvSpPr>
        <p:spPr>
          <a:xfrm>
            <a:off x="731520" y="5029200"/>
            <a:ext cx="10728655" cy="100584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66360"/>
            <a:ext cx="10362895" cy="731520"/>
          </a:xfrm>
          <a:prstGeom prst="rect">
            <a:avLst/>
          </a:prstGeom>
          <a:noFill/>
        </p:spPr>
        <p:txBody>
          <a:bodyPr wrap="square">
            <a:spAutoFit/>
          </a:bodyPr>
          <a:lstStyle/>
          <a:p>
            <a:pPr>
              <a:defRPr sz="1600" b="1">
                <a:solidFill>
                  <a:srgbClr val="FFFFFF"/>
                </a:solidFill>
              </a:defRPr>
            </a:pPr>
            <a:r>
              <a:t>Traducción práctica: Leer, mostrar, guardar y organizar datos con las estructuras de memoria adecuadas.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RA7, RA8 y RA9 — Diseños avanzados y persistencia</a:t>
            </a:r>
          </a:p>
        </p:txBody>
      </p:sp>
      <p:sp>
        <p:nvSpPr>
          <p:cNvPr id="4" name="Rounded Rectangle 3"/>
          <p:cNvSpPr/>
          <p:nvPr/>
        </p:nvSpPr>
        <p:spPr>
          <a:xfrm>
            <a:off x="731520" y="1280160"/>
            <a:ext cx="32918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2926080" cy="2926080"/>
          </a:xfrm>
          <a:prstGeom prst="rect">
            <a:avLst/>
          </a:prstGeom>
          <a:noFill/>
        </p:spPr>
        <p:txBody>
          <a:bodyPr wrap="square">
            <a:spAutoFit/>
          </a:bodyPr>
          <a:lstStyle/>
          <a:p>
            <a:pPr>
              <a:spcAft>
                <a:spcPts val="800"/>
              </a:spcAft>
              <a:defRPr sz="2000" b="1">
                <a:solidFill>
                  <a:srgbClr val="18202A"/>
                </a:solidFill>
              </a:defRPr>
            </a:pPr>
            <a:r>
              <a:t>RA7</a:t>
            </a:r>
          </a:p>
          <a:p>
            <a:pPr>
              <a:spcAft>
                <a:spcPts val="1200"/>
              </a:spcAft>
              <a:defRPr sz="1300" b="1">
                <a:solidFill>
                  <a:srgbClr val="009688"/>
                </a:solidFill>
              </a:defRPr>
            </a:pPr>
            <a:r>
              <a:t>Herencia e Interfaces</a:t>
            </a:r>
          </a:p>
          <a:p>
            <a:pPr>
              <a:defRPr sz="1200">
                <a:solidFill>
                  <a:srgbClr val="28323C"/>
                </a:solidFill>
              </a:defRPr>
            </a:pPr>
            <a:r>
              <a:t>«Desarrolla programas aplicando características avanzadas...»</a:t>
            </a:r>
          </a:p>
        </p:txBody>
      </p:sp>
      <p:sp>
        <p:nvSpPr>
          <p:cNvPr id="6" name="Rounded Rectangle 5"/>
          <p:cNvSpPr/>
          <p:nvPr/>
        </p:nvSpPr>
        <p:spPr>
          <a:xfrm>
            <a:off x="4443983" y="1280160"/>
            <a:ext cx="32918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26863" y="1554480"/>
            <a:ext cx="2926080" cy="2926080"/>
          </a:xfrm>
          <a:prstGeom prst="rect">
            <a:avLst/>
          </a:prstGeom>
          <a:noFill/>
        </p:spPr>
        <p:txBody>
          <a:bodyPr wrap="square">
            <a:spAutoFit/>
          </a:bodyPr>
          <a:lstStyle/>
          <a:p>
            <a:pPr>
              <a:spcAft>
                <a:spcPts val="800"/>
              </a:spcAft>
              <a:defRPr sz="2000" b="1">
                <a:solidFill>
                  <a:srgbClr val="18202A"/>
                </a:solidFill>
              </a:defRPr>
            </a:pPr>
            <a:r>
              <a:t>RA8</a:t>
            </a:r>
          </a:p>
          <a:p>
            <a:pPr>
              <a:spcAft>
                <a:spcPts val="1200"/>
              </a:spcAft>
              <a:defRPr sz="1300" b="1">
                <a:solidFill>
                  <a:srgbClr val="009688"/>
                </a:solidFill>
              </a:defRPr>
            </a:pPr>
            <a:r>
              <a:t>Persistencia de Objetos</a:t>
            </a:r>
          </a:p>
          <a:p>
            <a:pPr>
              <a:defRPr sz="1200">
                <a:solidFill>
                  <a:srgbClr val="28323C"/>
                </a:solidFill>
              </a:defRPr>
            </a:pPr>
            <a:r>
              <a:t>«Utiliza bases de datos orientadas a objetos...»</a:t>
            </a:r>
          </a:p>
        </p:txBody>
      </p:sp>
      <p:sp>
        <p:nvSpPr>
          <p:cNvPr id="8" name="Rounded Rectangle 7"/>
          <p:cNvSpPr/>
          <p:nvPr/>
        </p:nvSpPr>
        <p:spPr>
          <a:xfrm>
            <a:off x="8156446" y="1280160"/>
            <a:ext cx="32918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39326" y="1554480"/>
            <a:ext cx="2926080" cy="2926080"/>
          </a:xfrm>
          <a:prstGeom prst="rect">
            <a:avLst/>
          </a:prstGeom>
          <a:noFill/>
        </p:spPr>
        <p:txBody>
          <a:bodyPr wrap="square">
            <a:spAutoFit/>
          </a:bodyPr>
          <a:lstStyle/>
          <a:p>
            <a:pPr>
              <a:spcAft>
                <a:spcPts val="800"/>
              </a:spcAft>
              <a:defRPr sz="2000" b="1">
                <a:solidFill>
                  <a:srgbClr val="18202A"/>
                </a:solidFill>
              </a:defRPr>
            </a:pPr>
            <a:r>
              <a:t>RA9</a:t>
            </a:r>
          </a:p>
          <a:p>
            <a:pPr>
              <a:spcAft>
                <a:spcPts val="1200"/>
              </a:spcAft>
              <a:defRPr sz="1300" b="1">
                <a:solidFill>
                  <a:srgbClr val="009688"/>
                </a:solidFill>
              </a:defRPr>
            </a:pPr>
            <a:r>
              <a:t>Bases de Datos e Integridad</a:t>
            </a:r>
          </a:p>
          <a:p>
            <a:pPr>
              <a:defRPr sz="1200">
                <a:solidFill>
                  <a:srgbClr val="28323C"/>
                </a:solidFill>
              </a:defRPr>
            </a:pPr>
            <a:r>
              <a:t>«Gestiona información almacenada en bases de datos...»</a:t>
            </a:r>
          </a:p>
        </p:txBody>
      </p:sp>
      <p:sp>
        <p:nvSpPr>
          <p:cNvPr id="10" name="Rounded Rectangle 9"/>
          <p:cNvSpPr/>
          <p:nvPr/>
        </p:nvSpPr>
        <p:spPr>
          <a:xfrm>
            <a:off x="731520" y="5029200"/>
            <a:ext cx="10728655" cy="100584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166360"/>
            <a:ext cx="10362895" cy="731520"/>
          </a:xfrm>
          <a:prstGeom prst="rect">
            <a:avLst/>
          </a:prstGeom>
          <a:noFill/>
        </p:spPr>
        <p:txBody>
          <a:bodyPr wrap="square">
            <a:spAutoFit/>
          </a:bodyPr>
          <a:lstStyle/>
          <a:p>
            <a:pPr algn="ctr">
              <a:defRPr sz="1600" b="1">
                <a:solidFill>
                  <a:srgbClr val="FFFFFF"/>
                </a:solidFill>
              </a:defRPr>
            </a:pPr>
            <a:r>
              <a:t>Alcance adaptable: Su profundidad se ajustará al ritmo y progreso real del grupo.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Del currículo al producto: los 7 hitos</a:t>
            </a:r>
          </a:p>
        </p:txBody>
      </p:sp>
      <p:sp>
        <p:nvSpPr>
          <p:cNvPr id="4" name="Rounded Rectangle 3"/>
          <p:cNvSpPr/>
          <p:nvPr/>
        </p:nvSpPr>
        <p:spPr>
          <a:xfrm>
            <a:off x="731520" y="1280160"/>
            <a:ext cx="10728655" cy="59436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89888"/>
            <a:ext cx="10362895" cy="594360"/>
          </a:xfrm>
          <a:prstGeom prst="rect">
            <a:avLst/>
          </a:prstGeom>
          <a:noFill/>
        </p:spPr>
        <p:txBody>
          <a:bodyPr wrap="square">
            <a:spAutoFit/>
          </a:bodyPr>
          <a:lstStyle/>
          <a:p>
            <a:pPr>
              <a:defRPr sz="1400" b="1">
                <a:solidFill>
                  <a:srgbClr val="28323C"/>
                </a:solidFill>
              </a:defRPr>
            </a:pPr>
            <a:r>
              <a:t>H1: Fundamentos y primer asistente</a:t>
            </a:r>
          </a:p>
        </p:txBody>
      </p:sp>
      <p:sp>
        <p:nvSpPr>
          <p:cNvPr id="6" name="Rounded Rectangle 5"/>
          <p:cNvSpPr/>
          <p:nvPr/>
        </p:nvSpPr>
        <p:spPr>
          <a:xfrm>
            <a:off x="731520" y="1993392"/>
            <a:ext cx="10728655" cy="59436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03120"/>
            <a:ext cx="10362895" cy="594360"/>
          </a:xfrm>
          <a:prstGeom prst="rect">
            <a:avLst/>
          </a:prstGeom>
          <a:noFill/>
        </p:spPr>
        <p:txBody>
          <a:bodyPr wrap="square">
            <a:spAutoFit/>
          </a:bodyPr>
          <a:lstStyle/>
          <a:p>
            <a:pPr>
              <a:defRPr sz="1400" b="1">
                <a:solidFill>
                  <a:srgbClr val="28323C"/>
                </a:solidFill>
              </a:defRPr>
            </a:pPr>
            <a:r>
              <a:t>H2: Decisiones y depuración</a:t>
            </a:r>
          </a:p>
        </p:txBody>
      </p:sp>
      <p:sp>
        <p:nvSpPr>
          <p:cNvPr id="8" name="Rounded Rectangle 7"/>
          <p:cNvSpPr/>
          <p:nvPr/>
        </p:nvSpPr>
        <p:spPr>
          <a:xfrm>
            <a:off x="731520" y="2706624"/>
            <a:ext cx="10728655" cy="59436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16352"/>
            <a:ext cx="10362895" cy="594360"/>
          </a:xfrm>
          <a:prstGeom prst="rect">
            <a:avLst/>
          </a:prstGeom>
          <a:noFill/>
        </p:spPr>
        <p:txBody>
          <a:bodyPr wrap="square">
            <a:spAutoFit/>
          </a:bodyPr>
          <a:lstStyle/>
          <a:p>
            <a:pPr>
              <a:defRPr sz="1400" b="1">
                <a:solidFill>
                  <a:srgbClr val="28323C"/>
                </a:solidFill>
              </a:defRPr>
            </a:pPr>
            <a:r>
              <a:t>H3: Memoria en colecciones</a:t>
            </a:r>
          </a:p>
        </p:txBody>
      </p:sp>
      <p:sp>
        <p:nvSpPr>
          <p:cNvPr id="10" name="Rounded Rectangle 9"/>
          <p:cNvSpPr/>
          <p:nvPr/>
        </p:nvSpPr>
        <p:spPr>
          <a:xfrm>
            <a:off x="731520" y="3419856"/>
            <a:ext cx="10728655" cy="59436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29584"/>
            <a:ext cx="10362895" cy="594360"/>
          </a:xfrm>
          <a:prstGeom prst="rect">
            <a:avLst/>
          </a:prstGeom>
          <a:noFill/>
        </p:spPr>
        <p:txBody>
          <a:bodyPr wrap="square">
            <a:spAutoFit/>
          </a:bodyPr>
          <a:lstStyle/>
          <a:p>
            <a:pPr>
              <a:defRPr sz="1400" b="1">
                <a:solidFill>
                  <a:srgbClr val="28323C"/>
                </a:solidFill>
              </a:defRPr>
            </a:pPr>
            <a:r>
              <a:t>H4: Orientación a objetos</a:t>
            </a:r>
          </a:p>
        </p:txBody>
      </p:sp>
      <p:sp>
        <p:nvSpPr>
          <p:cNvPr id="12" name="Rounded Rectangle 11"/>
          <p:cNvSpPr/>
          <p:nvPr/>
        </p:nvSpPr>
        <p:spPr>
          <a:xfrm>
            <a:off x="731520" y="4133088"/>
            <a:ext cx="10728655" cy="59436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242816"/>
            <a:ext cx="10362895" cy="594360"/>
          </a:xfrm>
          <a:prstGeom prst="rect">
            <a:avLst/>
          </a:prstGeom>
          <a:noFill/>
        </p:spPr>
        <p:txBody>
          <a:bodyPr wrap="square">
            <a:spAutoFit/>
          </a:bodyPr>
          <a:lstStyle/>
          <a:p>
            <a:pPr>
              <a:defRPr sz="1400" b="1">
                <a:solidFill>
                  <a:srgbClr val="28323C"/>
                </a:solidFill>
              </a:defRPr>
            </a:pPr>
            <a:r>
              <a:t>H5: Extensibilidad</a:t>
            </a:r>
          </a:p>
        </p:txBody>
      </p:sp>
      <p:sp>
        <p:nvSpPr>
          <p:cNvPr id="14" name="Rounded Rectangle 13"/>
          <p:cNvSpPr/>
          <p:nvPr/>
        </p:nvSpPr>
        <p:spPr>
          <a:xfrm>
            <a:off x="731520" y="4846320"/>
            <a:ext cx="10728655" cy="59436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956048"/>
            <a:ext cx="10362895" cy="594360"/>
          </a:xfrm>
          <a:prstGeom prst="rect">
            <a:avLst/>
          </a:prstGeom>
          <a:noFill/>
        </p:spPr>
        <p:txBody>
          <a:bodyPr wrap="square">
            <a:spAutoFit/>
          </a:bodyPr>
          <a:lstStyle/>
          <a:p>
            <a:pPr>
              <a:defRPr sz="1400" b="1">
                <a:solidFill>
                  <a:srgbClr val="28323C"/>
                </a:solidFill>
              </a:defRPr>
            </a:pPr>
            <a:r>
              <a:t>H6: Persistencia</a:t>
            </a:r>
          </a:p>
        </p:txBody>
      </p:sp>
      <p:sp>
        <p:nvSpPr>
          <p:cNvPr id="16" name="Rounded Rectangle 15"/>
          <p:cNvSpPr/>
          <p:nvPr/>
        </p:nvSpPr>
        <p:spPr>
          <a:xfrm>
            <a:off x="731520" y="5559552"/>
            <a:ext cx="10728655" cy="59436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669280"/>
            <a:ext cx="10362895" cy="594360"/>
          </a:xfrm>
          <a:prstGeom prst="rect">
            <a:avLst/>
          </a:prstGeom>
          <a:noFill/>
        </p:spPr>
        <p:txBody>
          <a:bodyPr wrap="square">
            <a:spAutoFit/>
          </a:bodyPr>
          <a:lstStyle/>
          <a:p>
            <a:pPr>
              <a:defRPr sz="1400" b="1">
                <a:solidFill>
                  <a:srgbClr val="28323C"/>
                </a:solidFill>
              </a:defRPr>
            </a:pPr>
            <a:r>
              <a:t>H7/HF: IA responsable y Demo final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Aprendizaje Basado en Proyectos (ABP)</a:t>
            </a:r>
          </a:p>
        </p:txBody>
      </p:sp>
      <p:sp>
        <p:nvSpPr>
          <p:cNvPr id="4" name="TextBox 3"/>
          <p:cNvSpPr txBox="1"/>
          <p:nvPr/>
        </p:nvSpPr>
        <p:spPr>
          <a:xfrm>
            <a:off x="731520" y="1188720"/>
            <a:ext cx="10728655" cy="731520"/>
          </a:xfrm>
          <a:prstGeom prst="rect">
            <a:avLst/>
          </a:prstGeom>
          <a:noFill/>
        </p:spPr>
        <p:txBody>
          <a:bodyPr wrap="square">
            <a:spAutoFit/>
          </a:bodyPr>
          <a:lstStyle/>
          <a:p>
            <a:pPr>
              <a:defRPr sz="1600" b="1">
                <a:solidFill>
                  <a:srgbClr val="009688"/>
                </a:solidFill>
              </a:defRPr>
            </a:pPr>
            <a:r>
              <a:t>«El proyecto da sentido; los Resultados de Aprendizaje indican qué debes demostrar».</a:t>
            </a:r>
          </a:p>
        </p:txBody>
      </p:sp>
      <p:sp>
        <p:nvSpPr>
          <p:cNvPr id="5" name="TextBox 4"/>
          <p:cNvSpPr txBox="1"/>
          <p:nvPr/>
        </p:nvSpPr>
        <p:spPr>
          <a:xfrm>
            <a:off x="731520" y="2011680"/>
            <a:ext cx="5486400" cy="4114800"/>
          </a:xfrm>
          <a:prstGeom prst="rect">
            <a:avLst/>
          </a:prstGeom>
          <a:noFill/>
        </p:spPr>
        <p:txBody>
          <a:bodyPr wrap="square">
            <a:spAutoFit/>
          </a:bodyPr>
          <a:lstStyle/>
          <a:p/>
          <a:p>
            <a:pPr>
              <a:spcAft>
                <a:spcPts val="1400"/>
              </a:spcAft>
              <a:defRPr sz="1600">
                <a:solidFill>
                  <a:srgbClr val="28323C"/>
                </a:solidFill>
              </a:defRPr>
            </a:pPr>
            <a:r>
              <a:t>• Un reto auténtico: Cada concepto de Java responde a una necesidad real del proyecto.</a:t>
            </a:r>
          </a:p>
          <a:p>
            <a:pPr>
              <a:spcAft>
                <a:spcPts val="1400"/>
              </a:spcAft>
              <a:defRPr sz="1600">
                <a:solidFill>
                  <a:srgbClr val="28323C"/>
                </a:solidFill>
              </a:defRPr>
            </a:pPr>
            <a:r>
              <a:t>• Estructura clara: Explicación docente + Práctica guiada + Aplicación en el proyecto.</a:t>
            </a:r>
          </a:p>
        </p:txBody>
      </p:sp>
      <p:sp>
        <p:nvSpPr>
          <p:cNvPr id="6" name="Rounded Rectangle 5"/>
          <p:cNvSpPr/>
          <p:nvPr/>
        </p:nvSpPr>
        <p:spPr>
          <a:xfrm>
            <a:off x="6583680" y="2011680"/>
            <a:ext cx="4876495" cy="100584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2286000"/>
            <a:ext cx="4510735" cy="548640"/>
          </a:xfrm>
          <a:prstGeom prst="rect">
            <a:avLst/>
          </a:prstGeom>
          <a:noFill/>
        </p:spPr>
        <p:txBody>
          <a:bodyPr wrap="square">
            <a:spAutoFit/>
          </a:bodyPr>
          <a:lstStyle/>
          <a:p>
            <a:pPr>
              <a:defRPr sz="1500" b="1">
                <a:solidFill>
                  <a:srgbClr val="FFFFFF"/>
                </a:solidFill>
              </a:defRPr>
            </a:pPr>
            <a:r>
              <a:t>1. Explicación y guía</a:t>
            </a:r>
          </a:p>
        </p:txBody>
      </p:sp>
      <p:sp>
        <p:nvSpPr>
          <p:cNvPr id="8" name="Rounded Rectangle 7"/>
          <p:cNvSpPr/>
          <p:nvPr/>
        </p:nvSpPr>
        <p:spPr>
          <a:xfrm>
            <a:off x="6583680" y="3291840"/>
            <a:ext cx="4876495" cy="100584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3566160"/>
            <a:ext cx="4510735" cy="548640"/>
          </a:xfrm>
          <a:prstGeom prst="rect">
            <a:avLst/>
          </a:prstGeom>
          <a:noFill/>
        </p:spPr>
        <p:txBody>
          <a:bodyPr wrap="square">
            <a:spAutoFit/>
          </a:bodyPr>
          <a:lstStyle/>
          <a:p>
            <a:pPr>
              <a:defRPr sz="1500" b="1">
                <a:solidFill>
                  <a:srgbClr val="FFFFFF"/>
                </a:solidFill>
              </a:defRPr>
            </a:pPr>
            <a:r>
              <a:t>2. Práctica técnica</a:t>
            </a:r>
          </a:p>
        </p:txBody>
      </p:sp>
      <p:sp>
        <p:nvSpPr>
          <p:cNvPr id="10" name="Rounded Rectangle 9"/>
          <p:cNvSpPr/>
          <p:nvPr/>
        </p:nvSpPr>
        <p:spPr>
          <a:xfrm>
            <a:off x="6583680" y="4572000"/>
            <a:ext cx="4876495" cy="100584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4846320"/>
            <a:ext cx="4510735" cy="548640"/>
          </a:xfrm>
          <a:prstGeom prst="rect">
            <a:avLst/>
          </a:prstGeom>
          <a:noFill/>
        </p:spPr>
        <p:txBody>
          <a:bodyPr wrap="square">
            <a:spAutoFit/>
          </a:bodyPr>
          <a:lstStyle/>
          <a:p>
            <a:pPr>
              <a:defRPr sz="1500" b="1">
                <a:solidFill>
                  <a:srgbClr val="FFFFFF"/>
                </a:solidFill>
              </a:defRPr>
            </a:pPr>
            <a:r>
              <a:t>3. Reto del proyecto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El ciclo didáctico HEXA en cada hito</a:t>
            </a:r>
          </a:p>
        </p:txBody>
      </p:sp>
      <p:sp>
        <p:nvSpPr>
          <p:cNvPr id="4" name="Rounded Rectangle 3"/>
          <p:cNvSpPr/>
          <p:nvPr/>
        </p:nvSpPr>
        <p:spPr>
          <a:xfrm>
            <a:off x="731520" y="1371600"/>
            <a:ext cx="5120640" cy="20116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1463040"/>
          </a:xfrm>
          <a:prstGeom prst="rect">
            <a:avLst/>
          </a:prstGeom>
          <a:noFill/>
        </p:spPr>
        <p:txBody>
          <a:bodyPr wrap="square">
            <a:spAutoFit/>
          </a:bodyPr>
          <a:lstStyle/>
          <a:p>
            <a:pPr>
              <a:spcAft>
                <a:spcPts val="1000"/>
              </a:spcAft>
              <a:defRPr sz="1800" b="1">
                <a:solidFill>
                  <a:srgbClr val="18202A"/>
                </a:solidFill>
              </a:defRPr>
            </a:pPr>
            <a:r>
              <a:t>H — Hecho / Reto</a:t>
            </a:r>
          </a:p>
          <a:p>
            <a:pPr>
              <a:defRPr sz="1400">
                <a:solidFill>
                  <a:srgbClr val="28323C"/>
                </a:solidFill>
              </a:defRPr>
            </a:pPr>
            <a:r>
              <a:t>Comprender el problema y los criterios de éxito.</a:t>
            </a:r>
          </a:p>
        </p:txBody>
      </p:sp>
      <p:sp>
        <p:nvSpPr>
          <p:cNvPr id="6" name="Rounded Rectangle 5"/>
          <p:cNvSpPr/>
          <p:nvPr/>
        </p:nvSpPr>
        <p:spPr>
          <a:xfrm>
            <a:off x="6217920" y="1371600"/>
            <a:ext cx="5120640" cy="20116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572000" cy="1463040"/>
          </a:xfrm>
          <a:prstGeom prst="rect">
            <a:avLst/>
          </a:prstGeom>
          <a:noFill/>
        </p:spPr>
        <p:txBody>
          <a:bodyPr wrap="square">
            <a:spAutoFit/>
          </a:bodyPr>
          <a:lstStyle/>
          <a:p>
            <a:pPr>
              <a:spcAft>
                <a:spcPts val="1000"/>
              </a:spcAft>
              <a:defRPr sz="1800" b="1">
                <a:solidFill>
                  <a:srgbClr val="18202A"/>
                </a:solidFill>
              </a:defRPr>
            </a:pPr>
            <a:r>
              <a:t>E — Exploración</a:t>
            </a:r>
          </a:p>
          <a:p>
            <a:pPr>
              <a:defRPr sz="1400">
                <a:solidFill>
                  <a:srgbClr val="28323C"/>
                </a:solidFill>
              </a:defRPr>
            </a:pPr>
            <a:r>
              <a:t>Probar alternativas y formular hipótesis.</a:t>
            </a:r>
          </a:p>
        </p:txBody>
      </p:sp>
      <p:sp>
        <p:nvSpPr>
          <p:cNvPr id="8" name="Rounded Rectangle 7"/>
          <p:cNvSpPr/>
          <p:nvPr/>
        </p:nvSpPr>
        <p:spPr>
          <a:xfrm>
            <a:off x="731520" y="3749039"/>
            <a:ext cx="5120640" cy="20116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23359"/>
            <a:ext cx="4572000" cy="1463040"/>
          </a:xfrm>
          <a:prstGeom prst="rect">
            <a:avLst/>
          </a:prstGeom>
          <a:noFill/>
        </p:spPr>
        <p:txBody>
          <a:bodyPr wrap="square">
            <a:spAutoFit/>
          </a:bodyPr>
          <a:lstStyle/>
          <a:p>
            <a:pPr>
              <a:spcAft>
                <a:spcPts val="1000"/>
              </a:spcAft>
              <a:defRPr sz="1800" b="1">
                <a:solidFill>
                  <a:srgbClr val="18202A"/>
                </a:solidFill>
              </a:defRPr>
            </a:pPr>
            <a:r>
              <a:t>X — eXplicación</a:t>
            </a:r>
          </a:p>
          <a:p>
            <a:pPr>
              <a:defRPr sz="1400">
                <a:solidFill>
                  <a:srgbClr val="28323C"/>
                </a:solidFill>
              </a:defRPr>
            </a:pPr>
            <a:r>
              <a:t>Formalizar los conceptos con la guía docente.</a:t>
            </a:r>
          </a:p>
        </p:txBody>
      </p:sp>
      <p:sp>
        <p:nvSpPr>
          <p:cNvPr id="10" name="Rounded Rectangle 9"/>
          <p:cNvSpPr/>
          <p:nvPr/>
        </p:nvSpPr>
        <p:spPr>
          <a:xfrm>
            <a:off x="6217920" y="3749039"/>
            <a:ext cx="5120640" cy="20116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4023359"/>
            <a:ext cx="4572000" cy="1463040"/>
          </a:xfrm>
          <a:prstGeom prst="rect">
            <a:avLst/>
          </a:prstGeom>
          <a:noFill/>
        </p:spPr>
        <p:txBody>
          <a:bodyPr wrap="square">
            <a:spAutoFit/>
          </a:bodyPr>
          <a:lstStyle/>
          <a:p>
            <a:pPr>
              <a:spcAft>
                <a:spcPts val="1000"/>
              </a:spcAft>
              <a:defRPr sz="1800" b="1">
                <a:solidFill>
                  <a:srgbClr val="18202A"/>
                </a:solidFill>
              </a:defRPr>
            </a:pPr>
            <a:r>
              <a:t>A — Aplicación</a:t>
            </a:r>
          </a:p>
          <a:p>
            <a:pPr>
              <a:defRPr sz="1400">
                <a:solidFill>
                  <a:srgbClr val="28323C"/>
                </a:solidFill>
              </a:defRPr>
            </a:pPr>
            <a:r>
              <a:t>Construir, probar, documentar, defender y mejorar.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Trabajo en equipo y atención a la diversidad</a:t>
            </a:r>
          </a:p>
        </p:txBody>
      </p:sp>
      <p:sp>
        <p:nvSpPr>
          <p:cNvPr id="4" name="Rounded Rectangle 3"/>
          <p:cNvSpPr/>
          <p:nvPr/>
        </p:nvSpPr>
        <p:spPr>
          <a:xfrm>
            <a:off x="731520" y="1280160"/>
            <a:ext cx="5120640" cy="47548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4572000" cy="4206240"/>
          </a:xfrm>
          <a:prstGeom prst="rect">
            <a:avLst/>
          </a:prstGeom>
          <a:noFill/>
        </p:spPr>
        <p:txBody>
          <a:bodyPr wrap="square">
            <a:spAutoFit/>
          </a:bodyPr>
          <a:lstStyle/>
          <a:p>
            <a:pPr>
              <a:spcAft>
                <a:spcPts val="1400"/>
              </a:spcAft>
              <a:defRPr sz="1800" b="1">
                <a:solidFill>
                  <a:srgbClr val="18202A"/>
                </a:solidFill>
              </a:defRPr>
            </a:pPr>
            <a:r>
              <a:t>Scrum Adaptado al Aula</a:t>
            </a:r>
          </a:p>
          <a:p>
            <a:pPr>
              <a:spcAft>
                <a:spcPts val="1000"/>
              </a:spcAft>
              <a:defRPr sz="1400">
                <a:solidFill>
                  <a:srgbClr val="28323C"/>
                </a:solidFill>
              </a:defRPr>
            </a:pPr>
            <a:r>
              <a:t>• Backlog visible y trabajo acotado</a:t>
            </a:r>
          </a:p>
          <a:p>
            <a:pPr>
              <a:spcAft>
                <a:spcPts val="1000"/>
              </a:spcAft>
              <a:defRPr sz="1400">
                <a:solidFill>
                  <a:srgbClr val="28323C"/>
                </a:solidFill>
              </a:defRPr>
            </a:pPr>
            <a:r>
              <a:t>• Control de bloqueos y retrospectivas</a:t>
            </a:r>
          </a:p>
          <a:p>
            <a:pPr>
              <a:spcAft>
                <a:spcPts val="1000"/>
              </a:spcAft>
              <a:defRPr sz="1400">
                <a:solidFill>
                  <a:srgbClr val="28323C"/>
                </a:solidFill>
              </a:defRPr>
            </a:pPr>
            <a:r>
              <a:t>• La responsabilidad de equipo NO elimina la evaluación individual</a:t>
            </a:r>
          </a:p>
        </p:txBody>
      </p:sp>
      <p:sp>
        <p:nvSpPr>
          <p:cNvPr id="6" name="Rounded Rectangle 5"/>
          <p:cNvSpPr/>
          <p:nvPr/>
        </p:nvSpPr>
        <p:spPr>
          <a:xfrm>
            <a:off x="6217920" y="1280160"/>
            <a:ext cx="5120640" cy="47548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54480"/>
            <a:ext cx="4572000" cy="4206240"/>
          </a:xfrm>
          <a:prstGeom prst="rect">
            <a:avLst/>
          </a:prstGeom>
          <a:noFill/>
        </p:spPr>
        <p:txBody>
          <a:bodyPr wrap="square">
            <a:spAutoFit/>
          </a:bodyPr>
          <a:lstStyle/>
          <a:p>
            <a:pPr>
              <a:spcAft>
                <a:spcPts val="1400"/>
              </a:spcAft>
              <a:defRPr sz="1800" b="1">
                <a:solidFill>
                  <a:srgbClr val="18202A"/>
                </a:solidFill>
              </a:defRPr>
            </a:pPr>
            <a:r>
              <a:t>Diseño Universal de Aprendizaje (DUA)</a:t>
            </a:r>
          </a:p>
          <a:p>
            <a:pPr>
              <a:spcAft>
                <a:spcPts val="1000"/>
              </a:spcAft>
              <a:defRPr sz="1400">
                <a:solidFill>
                  <a:srgbClr val="28323C"/>
                </a:solidFill>
              </a:defRPr>
            </a:pPr>
            <a:r>
              <a:t>• Múltiples formas de comprender (código, esquemas, explicaciones)</a:t>
            </a:r>
          </a:p>
          <a:p>
            <a:pPr>
              <a:spcAft>
                <a:spcPts val="1000"/>
              </a:spcAft>
              <a:defRPr sz="1400">
                <a:solidFill>
                  <a:srgbClr val="28323C"/>
                </a:solidFill>
              </a:defRPr>
            </a:pPr>
            <a:r>
              <a:t>• Múltiples formas de demostrar lo aprendido (demos, docs, defensas)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MiniJarvis: tu proyecto de software evolutivo</a:t>
            </a:r>
          </a:p>
        </p:txBody>
      </p:sp>
      <p:sp>
        <p:nvSpPr>
          <p:cNvPr id="4" name="TextBox 3"/>
          <p:cNvSpPr txBox="1"/>
          <p:nvPr/>
        </p:nvSpPr>
        <p:spPr>
          <a:xfrm>
            <a:off x="731520" y="1188720"/>
            <a:ext cx="10728655" cy="731520"/>
          </a:xfrm>
          <a:prstGeom prst="rect">
            <a:avLst/>
          </a:prstGeom>
          <a:noFill/>
        </p:spPr>
        <p:txBody>
          <a:bodyPr wrap="square">
            <a:spAutoFit/>
          </a:bodyPr>
          <a:lstStyle/>
          <a:p>
            <a:pPr>
              <a:defRPr sz="1500" b="1">
                <a:solidFill>
                  <a:srgbClr val="009688"/>
                </a:solidFill>
              </a:defRPr>
            </a:pPr>
            <a:r>
              <a:t>«No empezaremos construyendo una IA completa; empezaremos construyendo software que podamos comprender, probar y mejorar».</a:t>
            </a:r>
          </a:p>
        </p:txBody>
      </p:sp>
      <p:sp>
        <p:nvSpPr>
          <p:cNvPr id="5" name="Rounded Rectangle 4"/>
          <p:cNvSpPr/>
          <p:nvPr/>
        </p:nvSpPr>
        <p:spPr>
          <a:xfrm>
            <a:off x="731520" y="2011680"/>
            <a:ext cx="10728655" cy="91440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94560"/>
            <a:ext cx="10362895" cy="548640"/>
          </a:xfrm>
          <a:prstGeom prst="rect">
            <a:avLst/>
          </a:prstGeom>
          <a:noFill/>
        </p:spPr>
        <p:txBody>
          <a:bodyPr wrap="square">
            <a:spAutoFit/>
          </a:bodyPr>
          <a:lstStyle/>
          <a:p>
            <a:pPr algn="ctr">
              <a:defRPr sz="1500" b="1">
                <a:solidFill>
                  <a:srgbClr val="FFFFFF"/>
                </a:solidFill>
              </a:defRPr>
            </a:pPr>
            <a:r>
              <a:t>Evolución: Saludo → Menú → Memoria → Clases → Herramientas → Persistencia → IA segura</a:t>
            </a:r>
          </a:p>
        </p:txBody>
      </p:sp>
      <p:sp>
        <p:nvSpPr>
          <p:cNvPr id="7" name="TextBox 6"/>
          <p:cNvSpPr txBox="1"/>
          <p:nvPr/>
        </p:nvSpPr>
        <p:spPr>
          <a:xfrm>
            <a:off x="731520" y="3108960"/>
            <a:ext cx="10728655" cy="457200"/>
          </a:xfrm>
          <a:prstGeom prst="rect">
            <a:avLst/>
          </a:prstGeom>
          <a:noFill/>
        </p:spPr>
        <p:txBody>
          <a:bodyPr wrap="none">
            <a:spAutoFit/>
          </a:bodyPr>
          <a:lstStyle/>
          <a:p>
            <a:pPr>
              <a:defRPr sz="1600" b="1">
                <a:solidFill>
                  <a:srgbClr val="18202A"/>
                </a:solidFill>
              </a:defRPr>
            </a:pPr>
            <a:r>
              <a:t>Evidencias exigidas en cada hito:</a:t>
            </a:r>
          </a:p>
        </p:txBody>
      </p:sp>
      <p:sp>
        <p:nvSpPr>
          <p:cNvPr id="8" name="Rounded Rectangle 7"/>
          <p:cNvSpPr/>
          <p:nvPr/>
        </p:nvSpPr>
        <p:spPr>
          <a:xfrm>
            <a:off x="731520" y="3749039"/>
            <a:ext cx="1920240" cy="20116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297679"/>
            <a:ext cx="1737360" cy="914400"/>
          </a:xfrm>
          <a:prstGeom prst="rect">
            <a:avLst/>
          </a:prstGeom>
          <a:noFill/>
        </p:spPr>
        <p:txBody>
          <a:bodyPr wrap="square">
            <a:spAutoFit/>
          </a:bodyPr>
          <a:lstStyle/>
          <a:p>
            <a:pPr algn="ctr">
              <a:defRPr sz="1400" b="1">
                <a:solidFill>
                  <a:srgbClr val="28323C"/>
                </a:solidFill>
              </a:defRPr>
            </a:pPr>
            <a:r>
              <a:t>Código funcional</a:t>
            </a:r>
          </a:p>
        </p:txBody>
      </p:sp>
      <p:sp>
        <p:nvSpPr>
          <p:cNvPr id="10" name="Rounded Rectangle 9"/>
          <p:cNvSpPr/>
          <p:nvPr/>
        </p:nvSpPr>
        <p:spPr>
          <a:xfrm>
            <a:off x="2907792" y="3749039"/>
            <a:ext cx="1920240" cy="20116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99232" y="4297679"/>
            <a:ext cx="1737360" cy="914400"/>
          </a:xfrm>
          <a:prstGeom prst="rect">
            <a:avLst/>
          </a:prstGeom>
          <a:noFill/>
        </p:spPr>
        <p:txBody>
          <a:bodyPr wrap="square">
            <a:spAutoFit/>
          </a:bodyPr>
          <a:lstStyle/>
          <a:p>
            <a:pPr algn="ctr">
              <a:defRPr sz="1400" b="1">
                <a:solidFill>
                  <a:srgbClr val="28323C"/>
                </a:solidFill>
              </a:defRPr>
            </a:pPr>
            <a:r>
              <a:t>Pruebas técnicas</a:t>
            </a:r>
          </a:p>
        </p:txBody>
      </p:sp>
      <p:sp>
        <p:nvSpPr>
          <p:cNvPr id="12" name="Rounded Rectangle 11"/>
          <p:cNvSpPr/>
          <p:nvPr/>
        </p:nvSpPr>
        <p:spPr>
          <a:xfrm>
            <a:off x="5084064" y="3749039"/>
            <a:ext cx="1920240" cy="20116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504" y="4297679"/>
            <a:ext cx="1737360" cy="914400"/>
          </a:xfrm>
          <a:prstGeom prst="rect">
            <a:avLst/>
          </a:prstGeom>
          <a:noFill/>
        </p:spPr>
        <p:txBody>
          <a:bodyPr wrap="square">
            <a:spAutoFit/>
          </a:bodyPr>
          <a:lstStyle/>
          <a:p>
            <a:pPr algn="ctr">
              <a:defRPr sz="1400" b="1">
                <a:solidFill>
                  <a:srgbClr val="28323C"/>
                </a:solidFill>
              </a:defRPr>
            </a:pPr>
            <a:r>
              <a:t>Documentación</a:t>
            </a:r>
          </a:p>
        </p:txBody>
      </p:sp>
      <p:sp>
        <p:nvSpPr>
          <p:cNvPr id="14" name="Rounded Rectangle 13"/>
          <p:cNvSpPr/>
          <p:nvPr/>
        </p:nvSpPr>
        <p:spPr>
          <a:xfrm>
            <a:off x="7260336" y="3749039"/>
            <a:ext cx="1920240" cy="20116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51776" y="4297679"/>
            <a:ext cx="1737360" cy="914400"/>
          </a:xfrm>
          <a:prstGeom prst="rect">
            <a:avLst/>
          </a:prstGeom>
          <a:noFill/>
        </p:spPr>
        <p:txBody>
          <a:bodyPr wrap="square">
            <a:spAutoFit/>
          </a:bodyPr>
          <a:lstStyle/>
          <a:p>
            <a:pPr algn="ctr">
              <a:defRPr sz="1400" b="1">
                <a:solidFill>
                  <a:srgbClr val="28323C"/>
                </a:solidFill>
              </a:defRPr>
            </a:pPr>
            <a:r>
              <a:t>Defensa oral</a:t>
            </a:r>
          </a:p>
        </p:txBody>
      </p:sp>
      <p:sp>
        <p:nvSpPr>
          <p:cNvPr id="16" name="Rounded Rectangle 15"/>
          <p:cNvSpPr/>
          <p:nvPr/>
        </p:nvSpPr>
        <p:spPr>
          <a:xfrm>
            <a:off x="9436608" y="3749039"/>
            <a:ext cx="1920240" cy="20116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28048" y="4297679"/>
            <a:ext cx="1737360" cy="914400"/>
          </a:xfrm>
          <a:prstGeom prst="rect">
            <a:avLst/>
          </a:prstGeom>
          <a:noFill/>
        </p:spPr>
        <p:txBody>
          <a:bodyPr wrap="square">
            <a:spAutoFit/>
          </a:bodyPr>
          <a:lstStyle/>
          <a:p>
            <a:pPr algn="ctr">
              <a:defRPr sz="1400" b="1">
                <a:solidFill>
                  <a:srgbClr val="28323C"/>
                </a:solidFill>
              </a:defRPr>
            </a:pPr>
            <a:r>
              <a:t>Plan de mejora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Hito 0 — Poner a prueba la forma de trabajar</a:t>
            </a:r>
          </a:p>
        </p:txBody>
      </p:sp>
      <p:sp>
        <p:nvSpPr>
          <p:cNvPr id="4" name="Rounded Rectangle 3"/>
          <p:cNvSpPr/>
          <p:nvPr/>
        </p:nvSpPr>
        <p:spPr>
          <a:xfrm>
            <a:off x="731520" y="1645920"/>
            <a:ext cx="2377440" cy="411480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017520"/>
            <a:ext cx="2011680" cy="1828800"/>
          </a:xfrm>
          <a:prstGeom prst="rect">
            <a:avLst/>
          </a:prstGeom>
          <a:noFill/>
        </p:spPr>
        <p:txBody>
          <a:bodyPr wrap="square">
            <a:spAutoFit/>
          </a:bodyPr>
          <a:lstStyle/>
          <a:p>
            <a:pPr algn="ctr">
              <a:defRPr sz="1800" b="1">
                <a:solidFill>
                  <a:srgbClr val="FFFFFF"/>
                </a:solidFill>
              </a:defRPr>
            </a:pPr>
            <a:r>
              <a:t>1. HADA Individual</a:t>
            </a:r>
          </a:p>
        </p:txBody>
      </p:sp>
      <p:sp>
        <p:nvSpPr>
          <p:cNvPr id="6" name="Rounded Rectangle 5"/>
          <p:cNvSpPr/>
          <p:nvPr/>
        </p:nvSpPr>
        <p:spPr>
          <a:xfrm>
            <a:off x="3456432" y="1645920"/>
            <a:ext cx="2377440" cy="411480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39312" y="3017520"/>
            <a:ext cx="2011680" cy="1828800"/>
          </a:xfrm>
          <a:prstGeom prst="rect">
            <a:avLst/>
          </a:prstGeom>
          <a:noFill/>
        </p:spPr>
        <p:txBody>
          <a:bodyPr wrap="square">
            <a:spAutoFit/>
          </a:bodyPr>
          <a:lstStyle/>
          <a:p>
            <a:pPr algn="ctr">
              <a:defRPr sz="1800" b="1">
                <a:solidFill>
                  <a:srgbClr val="FFFFFF"/>
                </a:solidFill>
              </a:defRPr>
            </a:pPr>
            <a:r>
              <a:t>2. Equipos Provisionales</a:t>
            </a:r>
          </a:p>
        </p:txBody>
      </p:sp>
      <p:sp>
        <p:nvSpPr>
          <p:cNvPr id="8" name="Rounded Rectangle 7"/>
          <p:cNvSpPr/>
          <p:nvPr/>
        </p:nvSpPr>
        <p:spPr>
          <a:xfrm>
            <a:off x="6181344" y="1645920"/>
            <a:ext cx="2377440" cy="411480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4224" y="3017520"/>
            <a:ext cx="2011680" cy="1828800"/>
          </a:xfrm>
          <a:prstGeom prst="rect">
            <a:avLst/>
          </a:prstGeom>
          <a:noFill/>
        </p:spPr>
        <p:txBody>
          <a:bodyPr wrap="square">
            <a:spAutoFit/>
          </a:bodyPr>
          <a:lstStyle/>
          <a:p>
            <a:pPr algn="ctr">
              <a:defRPr sz="1800" b="1">
                <a:solidFill>
                  <a:srgbClr val="FFFFFF"/>
                </a:solidFill>
              </a:defRPr>
            </a:pPr>
            <a:r>
              <a:t>3. Reto Torre (2 ciclos)</a:t>
            </a:r>
          </a:p>
        </p:txBody>
      </p:sp>
      <p:sp>
        <p:nvSpPr>
          <p:cNvPr id="10" name="Rounded Rectangle 9"/>
          <p:cNvSpPr/>
          <p:nvPr/>
        </p:nvSpPr>
        <p:spPr>
          <a:xfrm>
            <a:off x="8906256" y="1645920"/>
            <a:ext cx="2377440" cy="411480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89136" y="3017520"/>
            <a:ext cx="2011680" cy="1828800"/>
          </a:xfrm>
          <a:prstGeom prst="rect">
            <a:avLst/>
          </a:prstGeom>
          <a:noFill/>
        </p:spPr>
        <p:txBody>
          <a:bodyPr wrap="square">
            <a:spAutoFit/>
          </a:bodyPr>
          <a:lstStyle/>
          <a:p>
            <a:pPr algn="ctr">
              <a:defRPr sz="1800" b="1">
                <a:solidFill>
                  <a:srgbClr val="FFFFFF"/>
                </a:solidFill>
              </a:defRPr>
            </a:pPr>
            <a:r>
              <a:t>4. Acuerdos MiniJarvis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371600"/>
            <a:ext cx="9448495" cy="4114800"/>
          </a:xfrm>
          <a:prstGeom prst="rect">
            <a:avLst/>
          </a:prstGeom>
          <a:noFill/>
        </p:spPr>
        <p:txBody>
          <a:bodyPr wrap="square">
            <a:spAutoFit/>
          </a:bodyPr>
          <a:lstStyle/>
          <a:p>
            <a:pPr>
              <a:spcAft>
                <a:spcPts val="2000"/>
              </a:spcAft>
              <a:defRPr sz="1400" b="1">
                <a:solidFill>
                  <a:srgbClr val="009688"/>
                </a:solidFill>
              </a:defRPr>
            </a:pPr>
            <a:r>
              <a:t>CONCLUSIÓN DE LA PRESENTACIÓN INICIAL</a:t>
            </a:r>
          </a:p>
          <a:p>
            <a:pPr>
              <a:spcAft>
                <a:spcPts val="2500"/>
              </a:spcAft>
              <a:defRPr sz="3200" b="1">
                <a:solidFill>
                  <a:srgbClr val="FFFFFF"/>
                </a:solidFill>
              </a:defRPr>
            </a:pPr>
            <a:r>
              <a:t>MiniJarvis empieza por el equipo</a:t>
            </a:r>
          </a:p>
          <a:p>
            <a:pPr>
              <a:spcAft>
                <a:spcPts val="1500"/>
              </a:spcAft>
              <a:defRPr sz="1800">
                <a:solidFill>
                  <a:srgbClr val="F5F7FA"/>
                </a:solidFill>
              </a:defRPr>
            </a:pPr>
            <a:r>
              <a:t>Ya sabemos qué aprenderemos en Programación y cómo se organizará el curso.</a:t>
            </a:r>
          </a:p>
          <a:p>
            <a:pPr>
              <a:defRPr sz="1800" b="1">
                <a:solidFill>
                  <a:srgbClr val="009688"/>
                </a:solidFill>
              </a:defRPr>
            </a:pPr>
            <a:r>
              <a:t>Ahora empieza el Hito 0: ¿Cómo diseñamos un equipo capaz de producir, comprobar y mejorar de forma continua?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