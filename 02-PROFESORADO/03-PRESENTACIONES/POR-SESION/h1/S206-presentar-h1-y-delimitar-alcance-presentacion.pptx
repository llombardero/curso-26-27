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0–6 min: duración compartida 360 segundos. Trabajo: Presentar H1 y formular individualmente alcance, exclusión, duda y criterio de comprobación. Función del soporte: apoyo al trabajo.</a:t>
            </a:r>
          </a:p>
          <a:p/>
          <a:p>
            <a:r>
              <a:t>Facilitación docente · Antes de entrar en clase</a:t>
            </a:r>
          </a:p>
          <a:p>
            <a:r>
              <a:t>- [ ] Preparar las tres columnas de clasificación: `entra en H1`, `más adelante` y `fuera del reto`.</a:t>
            </a:r>
          </a:p>
          <a:p>
            <a:r>
              <a:t>- [ ] Tener disponible el ejemplo Java para proyectarlo sin convertirlo en una práctica larga.</a:t>
            </a:r>
          </a:p>
          <a:p>
            <a:r>
              <a:t>- [ ] Localizar el Scrum de los equipos para registrar únicamente decisiones y tareas reales.</a:t>
            </a:r>
          </a:p>
          <a:p>
            <a:r>
              <a:t>- [ ] Recordar que solo se utilizarán datos ficticios: nunca datos personales, contraseñas, tokens, claves API o credenciales.</a:t>
            </a:r>
          </a:p>
          <a:p/>
          <a:p>
            <a:r>
              <a:t>Facilitación docente · Apertura docente</a:t>
            </a:r>
          </a:p>
          <a:p>
            <a:r>
              <a:t>&gt; Hoy empieza H1, el primer MiniJarvis ejecutable. No vamos a construir una IA completa. Vamos a construir una primera versión pequeña, clara, ejecutable y defendible. El éxito no consiste en hacer muchas cosas, sino en hacer las necesarias, entenderlas y poder comprobarlas.</a:t>
            </a:r>
          </a:p>
          <a:p/>
          <a:p>
            <a:r>
              <a:t>Explica brevemente que **Activar** significa comprender el reto antes de construir. Un alcance confuso conduce a implementar funciones que todavía no corresponden o a aceptar resultados que no demuestran nada.</a:t>
            </a:r>
          </a:p>
          <a:p/>
          <a:p>
            <a:r>
              <a:t>Facilitación docente · Persistencia mínima</a:t>
            </a:r>
          </a:p>
          <a:p>
            <a:r>
              <a:t>- **Scrum:** conserva el alcance, backlog, decisión o bloqueo real del equipo.</a:t>
            </a:r>
          </a:p>
          <a:p>
            <a:r>
              <a:t>- **Diario individual:** solo interviene si surge un aprendizaje, duda, bloqueo o cambio de criterio personal significativo; no hay fila S206 obligatoria.</a:t>
            </a:r>
          </a:p>
          <a:p>
            <a:r>
              <a:t>- **GitHub:** solo recibe un artefacto técnico si el equipo lo crea realmente dentro del flujo del proyecto; el ejemplo docente no genera una entrega de código.</a:t>
            </a:r>
          </a:p>
          <a:p>
            <a:r>
              <a:t>- **Moodle:** no hay entrega en S206.</a:t>
            </a:r>
          </a:p>
          <a:p>
            <a:r>
              <a:t>- **Drive y Sites:** no se crean ni actualizan; tampoco se producen capturas o documentos paralelos.</a:t>
            </a:r>
          </a:p>
          <a:p>
            <a:r>
              <a:t>- **IA:** H1 no integra servicios ni API de IA en MiniJarvis y no genera un registro separado por defecto. Nunca se introducen claves, tokens, credenciales ni datos personales reales.</a:t>
            </a:r>
          </a:p>
          <a:p/>
          <a:p>
            <a:r>
              <a:t>Observación · Observación docente</a:t>
            </a:r>
          </a:p>
          <a:p>
            <a:r>
              <a:t>Comprueba específicamente si el alumnado:</a:t>
            </a:r>
          </a:p>
          <a:p/>
          <a:p>
            <a:r>
              <a:t>- formula un criterio propio antes del acuerdo;</a:t>
            </a:r>
          </a:p>
          <a:p>
            <a:r>
              <a:t>- distingue compilar de funcionar correctamente;</a:t>
            </a:r>
          </a:p>
          <a:p>
            <a:r>
              <a:t>- comprende `correcto`, `eficiente` y `mantenible` en el nivel de H1;</a:t>
            </a:r>
          </a:p>
          <a:p>
            <a:r>
              <a:t>- diferencia el núcleo de H1 de ampliaciones posteriores;</a:t>
            </a:r>
          </a:p>
          <a:p>
            <a:r>
              <a:t>- explica por qué una funcionalidad queda fuera;</a:t>
            </a:r>
          </a:p>
          <a:p>
            <a:r>
              <a:t>- entiende que MiniJarvis crecerá progresivamente;</a:t>
            </a:r>
          </a:p>
          <a:p>
            <a:r>
              <a:t>- evita atribuir al incremento capacidades inexistentes;</a:t>
            </a:r>
          </a:p>
          <a:p>
            <a:r>
              <a:t>- propone comportamientos comprobables y defendibles.</a:t>
            </a:r>
          </a:p>
          <a:p/>
          <a:p>
            <a:r>
              <a:t>Andamiaje y recuperación · Andamiaje ante bloqueos</a:t>
            </a:r>
          </a:p>
          <a:p>
            <a:r>
              <a:t>- **Quieren incluir todo:** «¿Qué es imprescindible para demostrar el primer aprendizaje?»</a:t>
            </a:r>
          </a:p>
          <a:p>
            <a:r>
              <a:t>- **Quieren empezar con IA:** «¿Qué fundamentos Java podríais explicar y defender antes?»</a:t>
            </a:r>
          </a:p>
          <a:p>
            <a:r>
              <a:t>- **Confunden compilar con correcto:** «¿Qué comportamiento concreto comprobaríais?»</a:t>
            </a:r>
          </a:p>
          <a:p>
            <a:r>
              <a:t>- **No saben excluir una función:** «¿Es necesaria para cumplir el reto H1?»</a:t>
            </a:r>
          </a:p>
          <a:p>
            <a:r>
              <a:t>- **Una persona domina el acuerdo:** pide primero el criterio individual del resto.</a:t>
            </a:r>
          </a:p>
          <a:p>
            <a:r>
              <a:t>- **Alcance demasiado vago:** pide comportamientos observables.</a:t>
            </a:r>
          </a:p>
          <a:p>
            <a:r>
              <a:t>- **Alcance demasiado grande:** separa núcleo H1 y futuro.</a:t>
            </a:r>
          </a:p>
          <a:p/>
          <a:p>
            <a:r>
              <a:t>No resuelvas la clasificación por el equipo. Devuelve la decisión a los criterios acordados.</a:t>
            </a:r>
          </a:p>
          <a:p/>
          <a:p>
            <a:r>
              <a:t>Ritmo fuente · Temporalización orientativa</a:t>
            </a:r>
          </a:p>
          <a:p>
            <a:r>
              <a:t>0–6 min — Presentar H1 y formular individualmente alcance, exclusión, duda y criterio de comprobación.</a:t>
            </a:r>
          </a:p>
          <a:p/>
          <a:p>
            <a:r>
              <a:t>6–13 min — Explicar el alcance completo y las ideas de correcto, eficiente y mantenible.</a:t>
            </a:r>
          </a:p>
          <a:p/>
          <a:p>
            <a:r>
              <a:t>13–18 min — Analizar brevemente el ejemplo Java histórico.</a:t>
            </a:r>
          </a:p>
          <a:p/>
          <a:p>
            <a:r>
              <a:t>18–30 min — Comparar criterios y clasificar las propuestas en equipo.</a:t>
            </a:r>
          </a:p>
          <a:p/>
          <a:p>
            <a:r>
              <a:t>30–38 min — Acordar frase de alcance, requisitos comprobables y justificaciones.</a:t>
            </a:r>
          </a:p>
          <a:p/>
          <a:p>
            <a:r>
              <a:t>38–42 min — Registrar únicamente alcance, backlog, decisión o bloqueo real en Scrum.</a:t>
            </a:r>
          </a:p>
          <a:p/>
          <a:p>
            <a:r>
              <a:t>42–45 min — Comprobar respuestas finales y conectar con S207.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0–6 min: duración compartida 360 segundos. Trabajo: Presentar H1 y formular individualmente alcance, exclusión, duda y criterio de comprobación. Función del soporte: apoyo al trabajo.</a:t>
            </a:r>
          </a:p>
          <a:p/>
          <a:p>
            <a:r>
              <a:t>Detalle para la explicación oral · Finalidad de la sesión</a:t>
            </a:r>
          </a:p>
          <a:p>
            <a:r>
              <a:t>MiniJarvis se presenta como una primera versión Java pequeña, clara, ejecutable y defendible, no como una IA completa. Hoy se acuerda el alcance; no se realiza todavía una implementación extensa.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0–6 min: duración compartida 360 segundos. Trabajo: Presentar H1 y formular individualmente alcance, exclusión, duda y criterio de comprobación. Función del soporte: actividad.</a:t>
            </a:r>
          </a:p>
          <a:p/>
          <a:p>
            <a:r>
              <a:t>Detalle para la explicación oral · Activación — INDIVIDUAL</a:t>
            </a:r>
          </a:p>
          <a:p>
            <a:r>
              <a:t>Antes de escuchar el acuerdo del equipo, cada persona formula su propio criterio. Puede hacerlo oralmente o en un borrador de trabajo; no se crea una ficha nueva.</a:t>
            </a:r>
          </a:p>
          <a:p/>
          <a:p>
            <a:r>
              <a:t>No se busca acertar una lista memorizada. Esta respuesta inicial permite comparar criterios y evita que una sola persona decida por todo el grupo.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6–13 min: duración compartida 420 segundos. Trabajo: Explicar el alcance completo y las ideas de correcto, eficiente y mantenible. Función del soporte: explicación.</a:t>
            </a:r>
          </a:p>
          <a:p/>
          <a:p>
            <a:r>
              <a:t>Detalle para la explicación oral · Alcance técnico de H1</a:t>
            </a:r>
          </a:p>
          <a:p>
            <a:r>
              <a:t>En el producto H1, el núcleo obligatorio debe aparecer integrado en `Main.java`. Las microprácticas pueden apoyar el aprendizaje, pero no sustituyen el producto obligatorio.</a:t>
            </a:r>
          </a:p>
          <a:p/>
          <a:p>
            <a:r>
              <a:t>Estas exclusiones no significan que nunca se trabajarán. Permiten mantener H1 pequeño y comprensible sin adelantar contenidos posteriores.</a:t>
            </a:r>
          </a:p>
          <a:p/>
          <a:p>
            <a:r>
              <a:t>- entorno, proyecto y ejecución;</a:t>
            </a:r>
          </a:p>
          <a:p>
            <a:r>
              <a:t>- estructura básica de Java;</a:t>
            </a:r>
          </a:p>
          <a:p>
            <a:r>
              <a:t>- salida por consola;</a:t>
            </a:r>
          </a:p>
          <a:p>
            <a:r>
              <a:t>- variables y constantes;</a:t>
            </a:r>
          </a:p>
          <a:p>
            <a:r>
              <a:t>- operaciones sencillas;</a:t>
            </a:r>
          </a:p>
          <a:p>
            <a:r>
              <a:t>- entrada mediante `Scanner`;</a:t>
            </a:r>
          </a:p>
          <a:p>
            <a:r>
              <a:t>- conversiones;</a:t>
            </a:r>
          </a:p>
          <a:p>
            <a:r>
              <a:t>- cálculo;</a:t>
            </a:r>
          </a:p>
          <a:p>
            <a:r>
              <a:t>- comparación sencilla cuyo resultado `boolean` se muestra sin bifurcar el flujo;</a:t>
            </a:r>
          </a:p>
          <a:p>
            <a:r>
              <a:t>- explicación y defensa de lo construido.</a:t>
            </a:r>
          </a:p>
          <a:p/>
          <a:p>
            <a:r>
              <a:t>Quedan fuera del alcance actual:</a:t>
            </a:r>
          </a:p>
          <a:p/>
          <a:p>
            <a:r>
              <a:t>- decisiones con `if`, `if/else` y bifurcaciones;</a:t>
            </a:r>
          </a:p>
          <a:p>
            <a:r>
              <a:t>- menú de comandos, bucle principal y `switch`;</a:t>
            </a:r>
          </a:p>
          <a:p>
            <a:r>
              <a:t>- memoria y colecciones;</a:t>
            </a:r>
          </a:p>
          <a:p>
            <a:r>
              <a:t>- ficheros y persistencia;</a:t>
            </a:r>
          </a:p>
          <a:p>
            <a:r>
              <a:t>- arquitectura o clases complejas;</a:t>
            </a:r>
          </a:p>
          <a:p>
            <a:r>
              <a:t>- integración con una API de IA o una IA real.</a:t>
            </a:r>
          </a:p>
          <a:p/>
          <a:p>
            <a:r>
              <a:t>&gt; ¿Por qué empezar directamente con una API o una IA completa dificultaría explicar y defender los fundamentos Java de esta primera versión?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6–13 min: duración compartida 420 segundos. Trabajo: Explicar el alcance completo y las ideas de correcto, eficiente y mantenible. Función del soporte: explicación.</a:t>
            </a:r>
          </a:p>
          <a:p/>
          <a:p>
            <a:r>
              <a:t>Detalle para la explicación oral · Alcance técnico de H1</a:t>
            </a:r>
          </a:p>
          <a:p>
            <a:r>
              <a:t>En el producto H1, el núcleo obligatorio debe aparecer integrado en `Main.java`. Las microprácticas pueden apoyar el aprendizaje, pero no sustituyen el producto obligatorio.</a:t>
            </a:r>
          </a:p>
          <a:p/>
          <a:p>
            <a:r>
              <a:t>Estas exclusiones no significan que nunca se trabajarán. Permiten mantener H1 pequeño y comprensible sin adelantar contenidos posteriores.</a:t>
            </a:r>
          </a:p>
          <a:p/>
          <a:p>
            <a:r>
              <a:t>Quedan fuera del alcance actual:</a:t>
            </a:r>
          </a:p>
          <a:p/>
          <a:p>
            <a:r>
              <a:t>- decisiones con `if`, `if/else` y bifurcaciones;</a:t>
            </a:r>
          </a:p>
          <a:p>
            <a:r>
              <a:t>- menú de comandos, bucle principal y `switch`;</a:t>
            </a:r>
          </a:p>
          <a:p>
            <a:r>
              <a:t>- memoria y colecciones;</a:t>
            </a:r>
          </a:p>
          <a:p>
            <a:r>
              <a:t>- ficheros y persistencia;</a:t>
            </a:r>
          </a:p>
          <a:p>
            <a:r>
              <a:t>- arquitectura o clases complejas;</a:t>
            </a:r>
          </a:p>
          <a:p>
            <a:r>
              <a:t>- integración con una API de IA o una IA real.</a:t>
            </a:r>
          </a:p>
          <a:p/>
          <a:p>
            <a:r>
              <a:t>&gt; ¿Por qué empezar directamente con una API o una IA completa dificultaría explicar y defender los fundamentos Java de esta primera versión?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6–13 min: duración compartida 420 segundos. Trabajo: Explicar el alcance completo y las ideas de correcto, eficiente y mantenible. Función del soporte: explicación.</a:t>
            </a:r>
          </a:p>
          <a:p/>
          <a:p>
            <a:r>
              <a:t>Detalle para la explicación oral · Alcance técnico de H1</a:t>
            </a:r>
          </a:p>
          <a:p>
            <a:r>
              <a:t>En el producto H1, el núcleo obligatorio debe aparecer integrado en `Main.java`. Las microprácticas pueden apoyar el aprendizaje, pero no sustituyen el producto obligatorio.</a:t>
            </a:r>
          </a:p>
          <a:p/>
          <a:p>
            <a:r>
              <a:t>Estas exclusiones no significan que nunca se trabajarán. Permiten mantener H1 pequeño y comprensible sin adelantar contenidos posteriores.</a:t>
            </a:r>
          </a:p>
          <a:p/>
          <a:p>
            <a:r>
              <a:t>H1 recorre fundamentos suficientes para construir, comprobar y explicar un primer programa:</a:t>
            </a:r>
          </a:p>
          <a:p/>
          <a:p>
            <a:r>
              <a:t>- entorno, proyecto y ejecución;</a:t>
            </a:r>
          </a:p>
          <a:p>
            <a:r>
              <a:t>- estructura básica de Java;</a:t>
            </a:r>
          </a:p>
          <a:p>
            <a:r>
              <a:t>- salida por consola;</a:t>
            </a:r>
          </a:p>
          <a:p>
            <a:r>
              <a:t>- variables y constantes;</a:t>
            </a:r>
          </a:p>
          <a:p>
            <a:r>
              <a:t>- operaciones sencillas;</a:t>
            </a:r>
          </a:p>
          <a:p>
            <a:r>
              <a:t>- entrada mediante `Scanner`;</a:t>
            </a:r>
          </a:p>
          <a:p>
            <a:r>
              <a:t>- conversiones;</a:t>
            </a:r>
          </a:p>
          <a:p>
            <a:r>
              <a:t>- cálculo;</a:t>
            </a:r>
          </a:p>
          <a:p>
            <a:r>
              <a:t>- comparación sencilla cuyo resultado `boolean` se muestra sin bifurcar el flujo;</a:t>
            </a:r>
          </a:p>
          <a:p>
            <a:r>
              <a:t>- explicación y defensa de lo construido.</a:t>
            </a:r>
          </a:p>
          <a:p/>
          <a:p>
            <a:r>
              <a:t>&gt; ¿Por qué empezar directamente con una API o una IA completa dificultaría explicar y defender los fundamentos Java de esta primera versión?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6–13 min: duración compartida 420 segundos. Trabajo: Explicar el alcance completo y las ideas de correcto, eficiente y mantenible. Función del soporte: explicación.</a:t>
            </a:r>
          </a:p>
          <a:p/>
          <a:p>
            <a:r>
              <a:t>Detalle para la explicación oral · Alcance técnico de H1</a:t>
            </a:r>
          </a:p>
          <a:p>
            <a:r>
              <a:t>En el producto H1, el núcleo obligatorio debe aparecer integrado en `Main.java`. Las microprácticas pueden apoyar el aprendizaje, pero no sustituyen el producto obligatorio.</a:t>
            </a:r>
          </a:p>
          <a:p/>
          <a:p>
            <a:r>
              <a:t>H1 recorre fundamentos suficientes para construir, comprobar y explicar un primer programa:</a:t>
            </a:r>
          </a:p>
          <a:p/>
          <a:p>
            <a:r>
              <a:t>- entorno, proyecto y ejecución;</a:t>
            </a:r>
          </a:p>
          <a:p>
            <a:r>
              <a:t>- estructura básica de Java;</a:t>
            </a:r>
          </a:p>
          <a:p>
            <a:r>
              <a:t>- salida por consola;</a:t>
            </a:r>
          </a:p>
          <a:p>
            <a:r>
              <a:t>- variables y constantes;</a:t>
            </a:r>
          </a:p>
          <a:p>
            <a:r>
              <a:t>- operaciones sencillas;</a:t>
            </a:r>
          </a:p>
          <a:p>
            <a:r>
              <a:t>- entrada mediante `Scanner`;</a:t>
            </a:r>
          </a:p>
          <a:p>
            <a:r>
              <a:t>- conversiones;</a:t>
            </a:r>
          </a:p>
          <a:p>
            <a:r>
              <a:t>- cálculo;</a:t>
            </a:r>
          </a:p>
          <a:p>
            <a:r>
              <a:t>- comparación sencilla cuyo resultado `boolean` se muestra sin bifurcar el flujo;</a:t>
            </a:r>
          </a:p>
          <a:p>
            <a:r>
              <a:t>- explicación y defensa de lo construido.</a:t>
            </a:r>
          </a:p>
          <a:p/>
          <a:p>
            <a:r>
              <a:t>Quedan fuera del alcance actual:</a:t>
            </a:r>
          </a:p>
          <a:p/>
          <a:p>
            <a:r>
              <a:t>- decisiones con `if`, `if/else` y bifurcaciones;</a:t>
            </a:r>
          </a:p>
          <a:p>
            <a:r>
              <a:t>- menú de comandos, bucle principal y `switch`;</a:t>
            </a:r>
          </a:p>
          <a:p>
            <a:r>
              <a:t>- memoria y colecciones;</a:t>
            </a:r>
          </a:p>
          <a:p>
            <a:r>
              <a:t>- ficheros y persistencia;</a:t>
            </a:r>
          </a:p>
          <a:p>
            <a:r>
              <a:t>- arquitectura o clases complejas;</a:t>
            </a:r>
          </a:p>
          <a:p>
            <a:r>
              <a:t>- integración con una API de IA o una IA real.</a:t>
            </a:r>
          </a:p>
          <a:p/>
          <a:p>
            <a:r>
              <a:t>&gt; ¿Por qué empezar directamente con una API o una IA completa dificultaría explicar y defender los fundamentos Java de esta primera versión?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6–13 min: duración compartida 420 segundos. Trabajo: Explicar el alcance completo y las ideas de correcto, eficiente y mantenible. Función del soporte: explicación.</a:t>
            </a:r>
          </a:p>
          <a:p/>
          <a:p>
            <a:r>
              <a:t>Detalle para la explicación oral · Alcance técnico de H1</a:t>
            </a:r>
          </a:p>
          <a:p>
            <a:r>
              <a:t>En el producto H1, el núcleo obligatorio debe aparecer integrado en `Main.java`. Las microprácticas pueden apoyar el aprendizaje, pero no sustituyen el producto obligatorio.</a:t>
            </a:r>
          </a:p>
          <a:p/>
          <a:p>
            <a:r>
              <a:t>Estas exclusiones no significan que nunca se trabajarán. Permiten mantener H1 pequeño y comprensible sin adelantar contenidos posteriores.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6–13 min: duración compartida 420 segundos. Trabajo: Explicar el alcance completo y las ideas de correcto, eficiente y mantenible. Función del soporte: apoyo al trabajo.</a:t>
            </a:r>
          </a:p>
          <a:p/>
          <a:p>
            <a:r>
              <a:t>Detalle para la explicación oral · Correcto</a:t>
            </a:r>
          </a:p>
          <a:p>
            <a:r>
              <a:t>El programa realiza el comportamiento esperado y ese comportamiento puede comprobarse. Que no aparezca un error de compilación es necesario, pero no demuestra por sí solo que haga lo pedido.</a:t>
            </a:r>
          </a:p>
          <a:p/>
          <a:p>
            <a:r>
              <a:t>Detalle para la explicación oral · Mantenible</a:t>
            </a:r>
          </a:p>
          <a:p>
            <a:r>
              <a:t>El programa puede entenderse y modificarse sin introducir dificultad innecesaria. Los nombres claros y un alcance pequeño ayudan a conseguirlo.</a:t>
            </a:r>
          </a:p>
          <a:p/>
          <a:p>
            <a:r>
              <a:t>Detalle para la explicación oral · Calidad de un primer programa</a:t>
            </a:r>
          </a:p>
          <a:p>
            <a:r>
              <a:t>Estas tres ideas sirven para juzgar el alcance, no para abrir una clase teórica de calidad de software.</a:t>
            </a:r>
          </a:p>
          <a:p/>
          <a:p>
            <a:r>
              <a:t>Detalle para la explicación oral · Tres criterios para juzgar el alcance de H1</a:t>
            </a:r>
          </a:p>
          <a:p>
            <a:r>
              <a:t>¿Qué entrada y qué resultado permitirían comprobar el comportamiento que afirmáis haber construido?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13–18 min: duración compartida 300 segundos. Trabajo: Analizar brevemente el ejemplo Java histórico. Función del soporte: apoyo al trabajo.</a:t>
            </a:r>
          </a:p>
          <a:p/>
          <a:p>
            <a:r>
              <a:t>Detalle para la explicación oral · Ejemplo Java para analizar</a:t>
            </a:r>
          </a:p>
          <a:p>
            <a:r>
              <a:t>El ejemplo ayuda a razonar sobre alcance, comportamiento y claridad. La estructura y la sintaxis se desarrollan después.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13–18 min: duración compartida 300 segundos. Trabajo: Analizar brevemente el ejemplo Java histórico. Función del soporte: apoyo al trabajo.</a:t>
            </a:r>
          </a:p>
          <a:p/>
          <a:p>
            <a:r>
              <a:t>Detalle para la explicación oral · Ejemplo Java para analizar</a:t>
            </a:r>
          </a:p>
          <a:p>
            <a:r>
              <a:t>El ejemplo ayuda a razonar sobre alcance, comportamiento y claridad. La estructura y la sintaxis se desarrollan después.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18–30 min: duración compartida 720 segundos. Trabajo: Comparar criterios y clasificar las propuestas en equipo. Función del soporte: actividad. Reloj fuente 30–38 min: duración compartida 480 segundos. Trabajo: Acordar frase de alcance, requisitos comprobables y justificaciones. Función del soporte: actividad.</a:t>
            </a:r>
          </a:p>
          <a:p/>
          <a:p>
            <a:r>
              <a:t>Detalle para la explicación oral · Actividad de clasificación — EQUIPO</a:t>
            </a:r>
          </a:p>
          <a:p>
            <a:r>
              <a:t>- saludar;</a:t>
            </a:r>
          </a:p>
          <a:p>
            <a:r>
              <a:t>- pedir un nombre ficticio;</a:t>
            </a:r>
          </a:p>
          <a:p>
            <a:r>
              <a:t>- guardar horas de estudio;</a:t>
            </a:r>
          </a:p>
          <a:p>
            <a:r>
              <a:t>- calcular minutos;</a:t>
            </a:r>
          </a:p>
          <a:p>
            <a:r>
              <a:t>- hacer un menú;</a:t>
            </a:r>
          </a:p>
          <a:p>
            <a:r>
              <a:t>- recordar conversaciones;</a:t>
            </a:r>
          </a:p>
          <a:p>
            <a:r>
              <a:t>- guardar en fichero;</a:t>
            </a:r>
          </a:p>
          <a:p>
            <a:r>
              <a:t>- usar una API de IA;</a:t>
            </a:r>
          </a:p>
          <a:p>
            <a:r>
              <a:t>- mostrar un mensaje final;</a:t>
            </a:r>
          </a:p>
          <a:p>
            <a:r>
              <a:t>- decidir si se ha alcanzado un objetivo.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18–30 min: duración compartida 720 segundos. Trabajo: Comparar criterios y clasificar las propuestas en equipo. Función del soporte: actividad.</a:t>
            </a:r>
          </a:p>
          <a:p/>
          <a:p>
            <a:r>
              <a:t>Detalle para la explicación oral · Actividad de clasificación — EQUIPO</a:t>
            </a:r>
          </a:p>
          <a:p>
            <a:r>
              <a:t>Una clasificación distinta puede ser discutible si está respaldada por los límites del reto. La finalidad es comprender y justificar el alcance.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18–30 min: duración compartida 720 segundos. Trabajo: Comparar criterios y clasificar las propuestas en equipo. Función del soporte: actividad.</a:t>
            </a:r>
          </a:p>
          <a:p/>
          <a:p>
            <a:r>
              <a:t>Detalle para la explicación oral · Actividad de clasificación — EQUIPO</a:t>
            </a:r>
          </a:p>
          <a:p>
            <a:r>
              <a:t>Una clasificación distinta puede ser discutible si está respaldada por los límites del reto. La finalidad es comprender y justificar el alcance.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38–42 min: duración compartida 240 segundos. Trabajo: Registrar únicamente alcance, backlog, decisión o bloqueo real en Scrum. Función del soporte: actividad.</a:t>
            </a:r>
          </a:p>
          <a:p/>
          <a:p>
            <a:r>
              <a:t>Detalle para la explicación oral · Acuerdo y Scrum del equipo</a:t>
            </a:r>
          </a:p>
          <a:p>
            <a:r>
              <a:t>No se añaden tareas ni campos para demostrar que S206 ocurrió. Una frase como `hacer que funcione` no es suficiente: debe indicar un comportamiento comprobable.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38–42 min: duración compartida 240 segundos. Trabajo: Registrar únicamente alcance, backlog, decisión o bloqueo real en Scrum. Función del soporte: actividad.</a:t>
            </a:r>
          </a:p>
          <a:p/>
          <a:p>
            <a:r>
              <a:t>Detalle para la explicación oral · Acuerdo y Scrum del equipo</a:t>
            </a:r>
          </a:p>
          <a:p>
            <a:r>
              <a:t>No se añaden tareas ni campos para demostrar que S206 ocurrió. Una frase como `hacer que funcione` no es suficiente: debe indicar un comportamiento comprobable.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42–45 min: duración compartida 180 segundos. Trabajo: Comprobar respuestas finales y conectar con S207. Función del soporte: cierre.</a:t>
            </a:r>
          </a:p>
          <a:p/>
          <a:p>
            <a:r>
              <a:t>Transición · Al terminar</a:t>
            </a:r>
          </a:p>
          <a:p>
            <a:r>
              <a:t>Anota únicamente información útil para la continuidad docente: alumnado que necesite apoyo en la siguiente sesión, una confusión o error común que convenga retomar, un equipo con alcance inabarcable o un bloqueo real y cualquier ajuste temporal necesario para una futura aplicación.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824"/>
        </a:solidFill>
        <a:effectLst/>
      </p:bgPr>
    </p:bg>
    <p:spTree>
      <p:nvGrpSpPr>
        <p:cNvPr id="1" name=""/>
        <p:cNvGrpSpPr/>
        <p:nvPr/>
      </p:nvGrpSpPr>
      <p:grpSpPr/>
      <p:sp>
        <p:nvSpPr>
          <p:cNvPr id="2" name="Código de sesión" descr="Código de sesión"/>
          <p:cNvSpPr txBox="1"/>
          <p:nvPr/>
        </p:nvSpPr>
        <p:spPr>
          <a:xfrm>
            <a:off x="640080" y="548640"/>
            <a:ext cx="10881360" cy="527812"/>
          </a:xfrm>
          <a:prstGeom prst="rect">
            <a:avLst/>
          </a:prstGeom>
          <a:noFill/>
        </p:spPr>
        <p:txBody>
          <a:bodyPr wrap="square" lIns="109728" rIns="109728" tIns="73152" bIns="73152">
            <a:noAutofit/>
          </a:bodyPr>
          <a:lstStyle/>
          <a:p>
            <a:pPr>
              <a:lnSpc>
                <a:spcPts val="2860"/>
              </a:lnSpc>
              <a:spcAft>
                <a:spcPts val="0"/>
              </a:spcAft>
              <a:defRPr sz="2600" b="1">
                <a:solidFill>
                  <a:srgbClr val="FFFFFF"/>
                </a:solidFill>
                <a:latin typeface="Liberation Sans"/>
              </a:defRPr>
            </a:pPr>
            <a:r>
              <a:t>H1.1 · H1 — Primer asistente ejecutable</a:t>
            </a:r>
          </a:p>
        </p:txBody>
      </p:sp>
      <p:sp>
        <p:nvSpPr>
          <p:cNvPr id="3" name="Título" descr="Título"/>
          <p:cNvSpPr txBox="1"/>
          <p:nvPr/>
        </p:nvSpPr>
        <p:spPr>
          <a:xfrm>
            <a:off x="640080" y="1508760"/>
            <a:ext cx="10881360" cy="1645920"/>
          </a:xfrm>
          <a:prstGeom prst="rect">
            <a:avLst/>
          </a:prstGeom>
          <a:noFill/>
        </p:spPr>
        <p:txBody>
          <a:bodyPr wrap="square" lIns="109728" rIns="109728" tIns="73152" bIns="73152">
            <a:noAutofit/>
          </a:bodyPr>
          <a:lstStyle/>
          <a:p>
            <a:pPr>
              <a:lnSpc>
                <a:spcPts val="4400"/>
              </a:lnSpc>
              <a:spcAft>
                <a:spcPts val="0"/>
              </a:spcAft>
              <a:defRPr sz="4000" b="1">
                <a:solidFill>
                  <a:srgbClr val="FFFFFF"/>
                </a:solidFill>
                <a:latin typeface="Liberation Sans"/>
              </a:defRPr>
            </a:pPr>
            <a:r>
              <a:t>Presentar H1 y delimitar su alcance</a:t>
            </a:r>
          </a:p>
        </p:txBody>
      </p:sp>
      <p:sp>
        <p:nvSpPr>
          <p:cNvPr id="4" name="Fase HEXA" descr="Fase HEXA"/>
          <p:cNvSpPr txBox="1"/>
          <p:nvPr/>
        </p:nvSpPr>
        <p:spPr>
          <a:xfrm>
            <a:off x="640080" y="3657600"/>
            <a:ext cx="10881360" cy="731520"/>
          </a:xfrm>
          <a:prstGeom prst="rect">
            <a:avLst/>
          </a:prstGeom>
          <a:noFill/>
        </p:spPr>
        <p:txBody>
          <a:bodyPr wrap="square" lIns="109728" rIns="109728" tIns="73152" bIns="73152">
            <a:noAutofit/>
          </a:bodyPr>
          <a:lstStyle/>
          <a:p>
            <a:pPr>
              <a:lnSpc>
                <a:spcPts val="3080"/>
              </a:lnSpc>
              <a:spcAft>
                <a:spcPts val="0"/>
              </a:spcAft>
              <a:defRPr sz="2800" b="0">
                <a:solidFill>
                  <a:srgbClr val="FFFFFF"/>
                </a:solidFill>
                <a:latin typeface="Liberation Sans"/>
              </a:defRPr>
            </a:pPr>
            <a:r>
              <a:t>Fase HEXA: Activar — entender el reto</a:t>
            </a:r>
          </a:p>
        </p:txBody>
      </p:sp>
      <p:sp>
        <p:nvSpPr>
          <p:cNvPr id="5" name="Modalidad del alumnado" descr="Modalidad del alumnado"/>
          <p:cNvSpPr txBox="1"/>
          <p:nvPr/>
        </p:nvSpPr>
        <p:spPr>
          <a:xfrm>
            <a:off x="640080" y="4617720"/>
            <a:ext cx="10881360" cy="502920"/>
          </a:xfrm>
          <a:prstGeom prst="rect">
            <a:avLst/>
          </a:prstGeom>
          <a:noFill/>
        </p:spPr>
        <p:txBody>
          <a:bodyPr wrap="square" lIns="109728" rIns="109728" tIns="73152" bIns="73152">
            <a:noAutofit/>
          </a:bodyPr>
          <a:lstStyle/>
          <a:p>
            <a:pPr>
              <a:lnSpc>
                <a:spcPts val="2420"/>
              </a:lnSpc>
              <a:spcAft>
                <a:spcPts val="0"/>
              </a:spcAft>
              <a:defRPr sz="2200" b="1">
                <a:solidFill>
                  <a:srgbClr val="FFFFFF"/>
                </a:solidFill>
                <a:latin typeface="Liberation Sans"/>
              </a:defRPr>
            </a:pPr>
            <a:r>
              <a:t>Modalidad publicada: Individual → puesta en común en equipo</a:t>
            </a:r>
          </a:p>
        </p:txBody>
      </p:sp>
      <p:sp>
        <p:nvSpPr>
          <p:cNvPr id="6" name="Organización docente" descr="Organización docente"/>
          <p:cNvSpPr txBox="1"/>
          <p:nvPr/>
        </p:nvSpPr>
        <p:spPr>
          <a:xfrm>
            <a:off x="640080" y="5230368"/>
            <a:ext cx="10881360" cy="868680"/>
          </a:xfrm>
          <a:prstGeom prst="rect">
            <a:avLst/>
          </a:prstGeom>
          <a:noFill/>
        </p:spPr>
        <p:txBody>
          <a:bodyPr wrap="square" lIns="109728" rIns="109728" tIns="73152" bIns="73152">
            <a:noAutofit/>
          </a:bodyPr>
          <a:lstStyle/>
          <a:p>
            <a:pPr>
              <a:lnSpc>
                <a:spcPts val="2200"/>
              </a:lnSpc>
              <a:spcAft>
                <a:spcPts val="0"/>
              </a:spcAft>
              <a:defRPr sz="2000" b="0">
                <a:solidFill>
                  <a:srgbClr val="FFFFFF"/>
                </a:solidFill>
                <a:latin typeface="Liberation Sans"/>
              </a:defRPr>
            </a:pPr>
            <a:r>
              <a:t>Organización docente: INDIVIDUAL → EQUIPO</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"title", "plan_index": 0, "recognition": false, "unit_ids": ["unit-0", "unit-1", "unit-2", "unit-12", "unit-13", "unit-14", "unit-17", "unit-18", "unit-19", "unit-20", "unit-21", "unit-22", "unit-23"], "roles": {"unit-0": "core", "unit-1": "core", "unit-2": "core", "unit-12": "unknown", "unit-13": "core", "unit-14": "core", "unit-17": "core", "unit-18": "core", "unit-19": "core", "unit-20": "core", "unit-21": "core", "unit-22": "core", "unit-23": "core"}, "source_refs": [{"source": "teacher", "heading": "Finalidad de la sesión", "block_index": 0, "fragment": 0}, {"source": "teacher", "heading": "Antes de entrar en clase", "block_index": 1, "fragment": 0}, {"source": "teacher", "heading": "Apertura docente", "block_index": 2, "fragment": 0}, {"source": "teacher", "heading": "Persistencia mínima", "block_index": 12, "fragment": 0}, {"source": "teacher", "heading": "Observación docente", "block_index": 13, "fragment": 0}, {"source": "teacher", "heading": "Andamiaje ante bloqueos", "block_index": 14, "fragment": 0}, {"source": "teacher", "heading": "Temporalización orientativa", "block_index": 15, "fragment": 0}, {"source": "teacher", "heading": "Temporalización orientativa", "block_index": 15, "fragment": 0}, {"source": "teacher", "heading": "Temporalización orientativa", "block_index": 15, "fragment": 0}, {"source": "teacher", "heading": "Temporalización orientativa", "block_index": 15, "fragment": 0}, {"source": "teacher", "heading": "Temporalización orientativa", "block_index": 15, "fragment": 0}, {"source": "teacher", "heading": "Temporalización orientativa", "block_index": 15, "fragment": 0}, {"source": "teacher", "heading": "Temporalización orientativa", "block_index": 15, "fragment": 0}], "visible_sources": [], "notes_sources": [{"function": "preparation", "heading": "Antes de entrar en clase", "sha256": "ac41d6627fbb9c7d449cc100c3763855f5996bdacfafd3f19a3c958d02d1a45a"}, {"function": "explanations", "heading": "Apertura docente", "sha256": "ae2e17e58e84a2fb4724928ee549f0debf6caf8b496b87d5bc4264dd0c902775"}, {"function": "explanations", "heading": "Apertura docente", "sha256": "a63b276e4665ec4782e61fa1bc7399f7e764dc367fb52fe329ef4f4bcb5e322f"}, {"function": "explanations", "heading": "Apertura docente", "sha256": "961a36ac1093894fee007ef1fca1e4742fada4cd15b2c78a5cc5f7df8caa61e0"}, {"function": "other", "heading": "Persistencia mínima", "sha256": "6ad656f04e867a68b590c9a76e6b15ea87062232e61f5914b072fadc0132706e"}, {"function": "observation", "heading": "Observación docente", "sha256": "69c8d9fb4482996a4e7c788ae3f8777245f2a3f5a0d71f65ea6689060611abb8"}, {"function": "observation", "heading": "Observación docente", "sha256": "1fb224796ee48c12f716ff2d3335c71df361a925052660e8915044553679da9f"}, {"function": "scaffolding", "heading": "Andamiaje ante bloqueos", "sha256": "43ab5e961eefd2b66be810c1094afa659b66d5f2eabbc49e016b277b6e87d894"}, {"function": "scaffolding", "heading": "Andamiaje ante bloqueos", "sha256": "f6c8f64c2efcd982b720e6d97990227a532797475db903d4707d3abe20e51319"}, {"function": "timeline", "heading": "Temporalización orientativa", "sha256": "ceebeed07c17426396462c0ecca4fdd7d3b64ec21f3e0577934b162f6ec927b3"}, {"function": "timeline", "heading": "Temporalización orientativa", "sha256": "cb52e3e5b3b8c0b220aa6cd29eaf0a0a0090c5b61b75248af558c65eeda2552e"}, {"function": "timeline", "heading": "Temporalización orientativa", "sha256": "4122b08ab2fa478b6ecfa610adcdc253be3404b4663db256dea011275aa104c5"}, {"function": "timeline", "heading": "Temporalización orientativa", "sha256": "f6cd3aea213488c94c97fddcadcfffe9c50b2ef3da34ee0b14eea07a163a87f4"}, {"function": "timeline", "heading": "Temporalización orientativa", "sha256": "cb13b303d66a152acd28d698d44de934a20643061705463e1e70b8b93cac9378"}, {"function": "timeline", "heading": "Temporalización orientativa", "sha256": "d4960f5f2608816553db31e9dcbbc64e1024a24f1539c6a29c8c230e9b751ed8"}, {"function": "timeline", "heading": "Temporalización orientativa", "sha256": "b97dfa3535503873c90a1f49193d83278bac83b7fb378da9b3ea23ca8f9c9bab"}, {"function": "facilitation", "heading": "Finalidad de la sesión", "sha256": "d2f1a83b13686e2425293b9a3e834ab6953104d0f37bde32808f4b648c0ce6b2"}], "relations": {"source_supports_enriched": true}, "timeline_refs": [0], "composition": {"origin_slides": [1]}, "timing": {"seconds": 0, "allocations": [{"source_index": 0, "seconds": 0, "decision": "Intervalo compartido íntegro; propietario contable seleccionado por función de actividad y referencia timeline de unidad (identidad semántica en empates). Soporte, sin duplicación contable. Portada limitada a la apertura inicial: las referencias timeline presenter-only no convierten la portada en soporte de todos los tramos.", "source_time": "0–6 min", "source_seconds": 360, "is_owner": false, "function": "explanations"}], "clock_intervals": [0], "presenter_notes": "Reloj fuente 0–6 min: duración compartida 360 segundos. Trabajo: Presentar H1 y formular individualmente alcance, exclusión, duda y criterio de comprobación. Función del soporte: apoyo al trabajo.", "shared_intervals": [{"source_index": 0, "source_time": "0–6 min", "seconds": 360, "is_owner": false, "function": "explanations", "action": "Presentar H1 y formular individualmente alcance, exclusión, duda y criterio de comprobación.", "concurrent": false, "parallel_work": ""}]}, "code_blocks": [], "representation_needs": []}</ns0:renderMetadata>
    </p:ext>
  </p:extLs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Finalidad de la sesión</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Código editable" descr="Código editable"/>
          <p:cNvSpPr txBox="1"/>
          <p:nvPr/>
        </p:nvSpPr>
        <p:spPr>
          <a:xfrm>
            <a:off x="640080" y="1417320"/>
            <a:ext cx="10881360" cy="133807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entender el reto</a:t>
            </a:r>
          </a:p>
          <a:p>
            <a:pPr marL="335280" indent="-335280">
              <a:lnSpc>
                <a:spcPts val="2310"/>
              </a:lnSpc>
              <a:spcAft>
                <a:spcPts val="0"/>
              </a:spcAft>
              <a:defRPr sz="2200" b="0">
                <a:solidFill>
                  <a:srgbClr val="1C2330"/>
                </a:solidFill>
                <a:latin typeface="Liberation Mono"/>
              </a:defRPr>
            </a:pPr>
            <a:r>
              <a:t>→ delimitar qué entra</a:t>
            </a:r>
          </a:p>
          <a:p>
            <a:pPr marL="335280" indent="-335280">
              <a:lnSpc>
                <a:spcPts val="2310"/>
              </a:lnSpc>
              <a:spcAft>
                <a:spcPts val="0"/>
              </a:spcAft>
              <a:defRPr sz="2200" b="0">
                <a:solidFill>
                  <a:srgbClr val="1C2330"/>
                </a:solidFill>
                <a:latin typeface="Liberation Mono"/>
              </a:defRPr>
            </a:pPr>
            <a:r>
              <a:t>→ delimitar qué queda fuera</a:t>
            </a:r>
          </a:p>
          <a:p>
            <a:pPr marL="335280" indent="-335280">
              <a:lnSpc>
                <a:spcPts val="2310"/>
              </a:lnSpc>
              <a:spcAft>
                <a:spcPts val="0"/>
              </a:spcAft>
              <a:defRPr sz="2200" b="0">
                <a:solidFill>
                  <a:srgbClr val="1C2330"/>
                </a:solidFill>
                <a:latin typeface="Liberation Mono"/>
              </a:defRPr>
            </a:pPr>
            <a:r>
              <a:t>→ comprender cómo sabremos que H1 funciona</a:t>
            </a:r>
          </a:p>
        </p:txBody>
      </p:sp>
      <p:sp>
        <p:nvSpPr>
          <p:cNvPr id="6" name="Contenido" descr="Contenido"/>
          <p:cNvSpPr txBox="1"/>
          <p:nvPr/>
        </p:nvSpPr>
        <p:spPr>
          <a:xfrm>
            <a:off x="640080" y="2846832"/>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MiniJarvis se presenta como una primera versión Java pequeña, clara, ejecutable y defendible, no como una IA completa.</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"code", "plan_index": 0, "recognition": false, "unit_ids": ["unit-0"], "roles": {"unit-0": "core"}, "source_refs": [{"source": "teacher", "heading": "Finalidad de la sesión", "block_index": 0, "fragment": 0}], "visible_sources": [{"index": 1, "sha256": "c73cf168d39813681ccc0bab72fe76e1607640065e9d30c6d193ebb8b0a28cc3"}, {"index": 2, "sha256": "e2aa164ce7c1e5d86d305349270c7f6ff5952eb163e451ba95a1fc5479dc454b"}], "notes_sources": [{"function": "visible_detail", "heading": "Finalidad de la sesión", "sha256": "e2aa164ce7c1e5d86d305349270c7f6ff5952eb163e451ba95a1fc5479dc454b"}], "relations": {"unit_relations": {"unit-0": {}}, "schedule": null, "source_supports_enriched": true}, "timeline_refs": [0], "composition": {"origin_slides": [2]}, "timing": {"seconds": 0, "allocations": [{"source_index": 0, "seconds": 0, "decision": "Intervalo compartido íntegro; propietario contable seleccionado por función de actividad y referencia timeline de unidad (identidad semántica en empates). Soporte, sin duplicación contable. ", "source_time": "0–6 min", "source_seconds": 360, "is_owner": false, "function": "explanations"}], "clock_intervals": [0], "presenter_notes": "Reloj fuente 0–6 min: duración compartida 360 segundos. Trabajo: Presentar H1 y formular individualmente alcance, exclusión, duda y criterio de comprobación. Función del soporte: apoyo al trabajo.", "shared_intervals": [{"source_index": 0, "source_time": "0–6 min", "seconds": 360, "is_owner": false, "function": "explanations", "action": "Presentar H1 y formular individualmente alcance, exclusión, duda y criterio de comprobación.", "concurrent": false, "parallel_work": ""}]}, "code_blocks": [], "representation_needs": []}</ns0:renderMetadata>
    </p:ext>
  </p:extLs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INDIVIDUAL</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Activación — INDIVIDUAL</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una frase breve: H1 consiste en...;</a:t>
            </a:r>
          </a:p>
        </p:txBody>
      </p:sp>
      <p:sp>
        <p:nvSpPr>
          <p:cNvPr id="7" name="Acción o criterio 1" descr="Acción o criterio 1"/>
          <p:cNvSpPr txBox="1"/>
          <p:nvPr/>
        </p:nvSpPr>
        <p:spPr>
          <a:xfrm>
            <a:off x="6080760" y="198780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cree que entra en H1;</a:t>
            </a:r>
          </a:p>
        </p:txBody>
      </p:sp>
      <p:sp>
        <p:nvSpPr>
          <p:cNvPr id="8" name="Acción o criterio 2" descr="Acción o criterio 2"/>
          <p:cNvSpPr txBox="1"/>
          <p:nvPr/>
        </p:nvSpPr>
        <p:spPr>
          <a:xfrm>
            <a:off x="640080" y="291439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cree que queda fuera por ahora;</a:t>
            </a:r>
          </a:p>
        </p:txBody>
      </p:sp>
      <p:sp>
        <p:nvSpPr>
          <p:cNvPr id="9" name="Acción o criterio 3" descr="Acción o criterio 3"/>
          <p:cNvSpPr txBox="1"/>
          <p:nvPr/>
        </p:nvSpPr>
        <p:spPr>
          <a:xfrm>
            <a:off x="6080760" y="291439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una duda real de alcance, si la tiene;</a:t>
            </a:r>
          </a:p>
        </p:txBody>
      </p:sp>
      <p:sp>
        <p:nvSpPr>
          <p:cNvPr id="10" name="Acción o criterio 4" descr="Acción o criterio 4"/>
          <p:cNvSpPr txBox="1"/>
          <p:nvPr/>
        </p:nvSpPr>
        <p:spPr>
          <a:xfrm>
            <a:off x="640080" y="3840988"/>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una forma observable de saber que H1 funciona.</a:t>
            </a:r>
          </a:p>
        </p:txBody>
      </p:sp>
      <p:sp>
        <p:nvSpPr>
          <p:cNvPr id="11" name="Acción o criterio 5" descr="Acción o criterio 5"/>
          <p:cNvSpPr txBox="1"/>
          <p:nvPr/>
        </p:nvSpPr>
        <p:spPr>
          <a:xfrm>
            <a:off x="6080760" y="3840988"/>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ADVERTENCIA · No se busca acertar una lista memorizada.</a:t>
            </a:r>
          </a:p>
        </p:txBody>
      </p:sp>
      <p:sp>
        <p:nvSpPr>
          <p:cNvPr id="12" name="Contenido" descr="Contenido"/>
          <p:cNvSpPr txBox="1"/>
          <p:nvPr/>
        </p:nvSpPr>
        <p:spPr>
          <a:xfrm>
            <a:off x="640080" y="5102860"/>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Antes de escuchar el acuerdo del equipo, cada persona formula su propio criterio.</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"activity", "plan_index": 1, "recognition": false, "unit_ids": ["unit-3"], "roles": {"unit-3": "core"}, "source_refs": [{"source": "teacher", "heading": "Activación — INDIVIDUAL", "block_index": 3, "fragment": 0}], "visible_sources": [{"index": 0, "sha256": "3aec0831e7eeacdc31efeefc67c886aba1fb6f15f07e57f27f650d702129d13d"}, {"index": 2, "sha256": "a72efc3256c1aad970bce27af347737330632d367ef8353006dede3e4174dab1"}, {"index": 3, "sha256": "1000690bc45ee0a36ffebd7be21a02b6042a8dffabef7d91374b223d6ac3fef9"}], "notes_sources": [{"function": "visible_detail", "heading": "Activación — INDIVIDUAL", "sha256": "3aec0831e7eeacdc31efeefc67c886aba1fb6f15f07e57f27f650d702129d13d"}, {"function": "facilitation", "heading": "Activación — INDIVIDUAL", "sha256": "dc3c632a2b8d783b74aa18014cc41cce9e2ddfe59025a5b24ca77b46a227c7e1"}, {"function": "visible_detail", "heading": "Activación — INDIVIDUAL", "sha256": "1000690bc45ee0a36ffebd7be21a02b6042a8dffabef7d91374b223d6ac3fef9"}], "relations": {"unit_relations": {"unit-3": {}}, "schedule": null, "source_supports_enriched": true}, "timeline_refs": [0], "composition": {"origin_slides": [3]}, "timing": {"seconds": 360, "allocations": [{"source_index": 0, "seconds": 360, "decision": "Intervalo compartido íntegro; propietario contable seleccionado por función de actividad y referencia timeline de unidad (identidad semántica en empates). Propietario. ", "source_time": "0–6 min", "source_seconds": 360, "is_owner": true, "function": "activity"}], "clock_intervals": [0], "presenter_notes": "Reloj fuente 0–6 min: duración compartida 360 segundos. Trabajo: Presentar H1 y formular individualmente alcance, exclusión, duda y criterio de comprobación. Función del soporte: actividad.", "shared_intervals": [{"source_index": 0, "source_time": "0–6 min", "seconds": 360, "is_owner": true, "function": "activity", "action": "Presentar H1 y formular individualmente alcance, exclusión, duda y criterio de comprobación.", "concurrent": false, "parallel_work": ""}]}, "code_blocks": [], "representation_needs": []}</ns0:renderMetadata>
    </p:ext>
  </p:extLs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Alcance técnico de H1</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Contenido" descr="Contenido"/>
          <p:cNvSpPr txBox="1"/>
          <p:nvPr/>
        </p:nvSpPr>
        <p:spPr>
          <a:xfrm>
            <a:off x="640080" y="1417320"/>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H1 recorre fundamentos suficientes para construir, comprobar y explicar un primer programa:</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"focus", "plan_index": 2, "recognition": false, "unit_ids": ["unit-4"], "roles": {"unit-4": "core"}, "source_refs": [{"source": "teacher", "heading": "Alcance técnico de H1", "block_index": 4, "fragment": 0}], "visible_sources": [], "notes_sources": [{"function": "concepts", "heading": "Alcance técnico de H1", "sha256": "df9acf2e0cc9e2f7147f4ae4b90b1e1f9eeda1377e5dbfd9739ecfa79384031d"}, {"function": "facilitation", "heading": "Alcance técnico de H1", "sha256": "252ef1a5ee75cc2a7f72e7a1b7c18520316768099cad6b670c464ac5567c7c76"}, {"function": "facilitation", "heading": "Alcance técnico de H1", "sha256": "ac162e2c0a8ce95c7a649d935f63f8a2e66a5ed2657c0b5f62f16db076886107"}, {"function": "visible_detail", "heading": "Alcance técnico de H1", "sha256": "a6099b92d243b6e69c77955ae6cd16b589abf9a486be07d09e3427fb77d32bc5"}, {"function": "visible_detail", "heading": "Alcance técnico de H1", "sha256": "e8aea59a9fc6d784043b2ecec23eb0375b3ab6b462d651658028dd78af068303"}, {"function": "visible_detail", "heading": "Alcance técnico de H1", "sha256": "252ef1a5ee75cc2a7f72e7a1b7c18520316768099cad6b670c464ac5567c7c76"}, {"function": "visible_detail", "heading": "Alcance técnico de H1", "sha256": "2ad3a328e4fca342c4dad5e8a5ab50c423ccc164ccab589e3c8f9b3fdb081b12"}, {"function": "visible_detail", "heading": "Alcance técnico de H1", "sha256": "ac162e2c0a8ce95c7a649d935f63f8a2e66a5ed2657c0b5f62f16db076886107"}, {"function": "visible_detail", "heading": "Alcance técnico de H1", "sha256": "c5c2516a7c2b427ca4c182c1a8a11ba31611c3c6dba06ccf32bde0e710f51a2a"}, {"function": "visible_detail", "heading": "Alcance técnico de H1", "sha256": "df9acf2e0cc9e2f7147f4ae4b90b1e1f9eeda1377e5dbfd9739ecfa79384031d"}, {"function": "visible_detail", "heading": "Alcance técnico de H1", "sha256": "967fcf0360e0f02a911e8b9168243b59fc22a1bbc2310d23f79cd995ca2c819f"}], "relations": {"unit_relations": {"unit-4": {"question_context": ["context", "question"]}}, "schedule": null, "source_supports_enriched": true}, "timeline_refs": [1], "composition": {"origin_slides": [4, 5, 6]}, "timing": {"seconds": 0, "allocations": [{"source_index": 1, "seconds": 0, "decision": "Intervalo compartido íntegro; propietario contable seleccionado por función de actividad y referencia timeline de unidad (identidad semántica en empates). Soporte, sin duplicación contable. ", "source_time": "6–13 min", "source_seconds": 420, "is_owner": false, "function": "concepts"}], "clock_intervals": [1], "presenter_notes": "Reloj fuente 6–13 min: duración compartida 420 segundos. Trabajo: Explicar el alcance completo y las ideas de correcto, eficiente y mantenible. Función del soporte: explicación.", "shared_intervals": [{"source_index": 1, "source_time": "6–13 min", "seconds": 420, "is_owner": false, "function": "concepts", "action": "Explicar el alcance completo y las ideas de correcto, eficiente y mantenible.", "concurrent": false, "parallel_work": ""}]}, "code_blocks": [], "representation_needs": []}</ns0:renderMetadata>
    </p:ext>
  </p:extLs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Alcance técnico de H1</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Acción o criterio 0" descr="Acción o criterio 0"/>
          <p:cNvSpPr txBox="1"/>
          <p:nvPr/>
        </p:nvSpPr>
        <p:spPr>
          <a:xfrm>
            <a:off x="640080" y="1417320"/>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entorno, proyecto y ejecución;</a:t>
            </a:r>
          </a:p>
        </p:txBody>
      </p:sp>
      <p:sp>
        <p:nvSpPr>
          <p:cNvPr id="6" name="Acción o criterio 1" descr="Acción o criterio 1"/>
          <p:cNvSpPr txBox="1"/>
          <p:nvPr/>
        </p:nvSpPr>
        <p:spPr>
          <a:xfrm>
            <a:off x="6080760" y="1417320"/>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estructura básica de Java;</a:t>
            </a:r>
          </a:p>
        </p:txBody>
      </p:sp>
      <p:sp>
        <p:nvSpPr>
          <p:cNvPr id="7" name="Acción o criterio 2" descr="Acción o criterio 2"/>
          <p:cNvSpPr txBox="1"/>
          <p:nvPr/>
        </p:nvSpPr>
        <p:spPr>
          <a:xfrm>
            <a:off x="640080" y="2343912"/>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salida por consola;</a:t>
            </a:r>
          </a:p>
        </p:txBody>
      </p:sp>
      <p:sp>
        <p:nvSpPr>
          <p:cNvPr id="8" name="Acción o criterio 3" descr="Acción o criterio 3"/>
          <p:cNvSpPr txBox="1"/>
          <p:nvPr/>
        </p:nvSpPr>
        <p:spPr>
          <a:xfrm>
            <a:off x="6080760" y="2343912"/>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variables y constantes;</a:t>
            </a:r>
          </a:p>
        </p:txBody>
      </p:sp>
      <p:sp>
        <p:nvSpPr>
          <p:cNvPr id="9" name="Acción o criterio 4" descr="Acción o criterio 4"/>
          <p:cNvSpPr txBox="1"/>
          <p:nvPr/>
        </p:nvSpPr>
        <p:spPr>
          <a:xfrm>
            <a:off x="640080" y="293522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operaciones sencillas;</a:t>
            </a:r>
          </a:p>
        </p:txBody>
      </p:sp>
      <p:sp>
        <p:nvSpPr>
          <p:cNvPr id="10" name="Acción o criterio 5" descr="Acción o criterio 5"/>
          <p:cNvSpPr txBox="1"/>
          <p:nvPr/>
        </p:nvSpPr>
        <p:spPr>
          <a:xfrm>
            <a:off x="6080760" y="293522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entrada mediante Scanner;</a:t>
            </a:r>
          </a:p>
        </p:txBody>
      </p:sp>
      <p:sp>
        <p:nvSpPr>
          <p:cNvPr id="11" name="Acción o criterio 6" descr="Acción o criterio 6"/>
          <p:cNvSpPr txBox="1"/>
          <p:nvPr/>
        </p:nvSpPr>
        <p:spPr>
          <a:xfrm>
            <a:off x="640080" y="3526536"/>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conversiones;</a:t>
            </a:r>
          </a:p>
        </p:txBody>
      </p:sp>
      <p:sp>
        <p:nvSpPr>
          <p:cNvPr id="12" name="Acción o criterio 7" descr="Acción o criterio 7"/>
          <p:cNvSpPr txBox="1"/>
          <p:nvPr/>
        </p:nvSpPr>
        <p:spPr>
          <a:xfrm>
            <a:off x="6080760" y="3526536"/>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cálculo;</a:t>
            </a:r>
          </a:p>
        </p:txBody>
      </p:sp>
      <p:sp>
        <p:nvSpPr>
          <p:cNvPr id="13" name="Acción o criterio 8" descr="Acción o criterio 8"/>
          <p:cNvSpPr txBox="1"/>
          <p:nvPr/>
        </p:nvSpPr>
        <p:spPr>
          <a:xfrm>
            <a:off x="640080" y="4117847"/>
            <a:ext cx="5257800" cy="15057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comparación sencilla cuyo resultado boolean se muestra sin bifurcar el flujo;</a:t>
            </a:r>
          </a:p>
        </p:txBody>
      </p:sp>
      <p:sp>
        <p:nvSpPr>
          <p:cNvPr id="14" name="Acción o criterio 9" descr="Acción o criterio 9"/>
          <p:cNvSpPr txBox="1"/>
          <p:nvPr/>
        </p:nvSpPr>
        <p:spPr>
          <a:xfrm>
            <a:off x="6080760" y="4117847"/>
            <a:ext cx="5257800" cy="15057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explicación y defensa de lo construido.</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"focus", "plan_index": 2, "recognition": false, "unit_ids": ["unit-4"], "roles": {"unit-4": "core"}, "source_refs": [{"source": "teacher", "heading": "Alcance técnico de H1", "block_index": 4, "fragment": 0}], "visible_sources": [{"index": 1, "sha256": "2ad3a328e4fca342c4dad5e8a5ab50c423ccc164ccab589e3c8f9b3fdb081b12"}], "notes_sources": [{"function": "concepts", "heading": "Alcance técnico de H1", "sha256": "df9acf2e0cc9e2f7147f4ae4b90b1e1f9eeda1377e5dbfd9739ecfa79384031d"}, {"function": "facilitation", "heading": "Alcance técnico de H1", "sha256": "252ef1a5ee75cc2a7f72e7a1b7c18520316768099cad6b670c464ac5567c7c76"}, {"function": "facilitation", "heading": "Alcance técnico de H1", "sha256": "ac162e2c0a8ce95c7a649d935f63f8a2e66a5ed2657c0b5f62f16db076886107"}, {"function": "visible_detail", "heading": "Alcance técnico de H1", "sha256": "a6099b92d243b6e69c77955ae6cd16b589abf9a486be07d09e3427fb77d32bc5"}, {"function": "visible_detail", "heading": "Alcance técnico de H1", "sha256": "e8aea59a9fc6d784043b2ecec23eb0375b3ab6b462d651658028dd78af068303"}, {"function": "visible_detail", "heading": "Alcance técnico de H1", "sha256": "252ef1a5ee75cc2a7f72e7a1b7c18520316768099cad6b670c464ac5567c7c76"}, {"function": "visible_detail", "heading": "Alcance técnico de H1", "sha256": "2ad3a328e4fca342c4dad5e8a5ab50c423ccc164ccab589e3c8f9b3fdb081b12"}, {"function": "visible_detail", "heading": "Alcance técnico de H1", "sha256": "ac162e2c0a8ce95c7a649d935f63f8a2e66a5ed2657c0b5f62f16db076886107"}, {"function": "visible_detail", "heading": "Alcance técnico de H1", "sha256": "c5c2516a7c2b427ca4c182c1a8a11ba31611c3c6dba06ccf32bde0e710f51a2a"}, {"function": "visible_detail", "heading": "Alcance técnico de H1", "sha256": "df9acf2e0cc9e2f7147f4ae4b90b1e1f9eeda1377e5dbfd9739ecfa79384031d"}, {"function": "visible_detail", "heading": "Alcance técnico de H1", "sha256": "967fcf0360e0f02a911e8b9168243b59fc22a1bbc2310d23f79cd995ca2c819f"}], "relations": {"unit_relations": {"unit-4": {"question_context": ["context", "question"]}}, "schedule": null, "source_supports_enriched": true}, "timeline_refs": [1], "composition": {"origin_slides": [4, 5, 6]}, "timing": {"seconds": 0, "allocations": [{"source_index": 1, "seconds": 0, "decision": "Intervalo compartido íntegro; propietario contable seleccionado por función de actividad y referencia timeline de unidad (identidad semántica en empates). Soporte, sin duplicación contable. ", "source_time": "6–13 min", "source_seconds": 420, "is_owner": false, "function": "concepts"}], "clock_intervals": [1], "presenter_notes": "Reloj fuente 6–13 min: duración compartida 420 segundos. Trabajo: Explicar el alcance completo y las ideas de correcto, eficiente y mantenible. Función del soporte: explicación.", "shared_intervals": [{"source_index": 1, "source_time": "6–13 min", "seconds": 420, "is_owner": false, "function": "concepts", "action": "Explicar el alcance completo y las ideas de correcto, eficiente y mantenible.", "concurrent": false, "parallel_work": ""}]}, "code_blocks": [], "representation_needs": []}</ns0:renderMetadata>
    </p:ext>
  </p:extLs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Alcance técnico de H1</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Soporte fuente" descr="Soporte fuente"/>
          <p:cNvSpPr txBox="1"/>
          <p:nvPr/>
        </p:nvSpPr>
        <p:spPr>
          <a:xfrm>
            <a:off x="640080" y="1417320"/>
            <a:ext cx="10881360" cy="499871"/>
          </a:xfrm>
          <a:prstGeom prst="rect">
            <a:avLst/>
          </a:prstGeom>
          <a:noFill/>
        </p:spPr>
        <p:txBody>
          <a:bodyPr wrap="square" lIns="109728" rIns="109728" tIns="73152" bIns="73152">
            <a:noAutofit/>
          </a:bodyPr>
          <a:lstStyle/>
          <a:p>
            <a:pPr>
              <a:lnSpc>
                <a:spcPts val="2640"/>
              </a:lnSpc>
              <a:spcAft>
                <a:spcPts val="0"/>
              </a:spcAft>
              <a:defRPr sz="2400" b="1">
                <a:solidFill>
                  <a:srgbClr val="2F5BA8"/>
                </a:solidFill>
                <a:latin typeface="Liberation Sans"/>
              </a:defRPr>
            </a:pPr>
            <a:r>
              <a:t>Quedan fuera del alcance actual:</a:t>
            </a:r>
          </a:p>
        </p:txBody>
      </p:sp>
      <p:sp>
        <p:nvSpPr>
          <p:cNvPr id="6" name="Acción o criterio 0" descr="Acción o criterio 0"/>
          <p:cNvSpPr txBox="1"/>
          <p:nvPr/>
        </p:nvSpPr>
        <p:spPr>
          <a:xfrm>
            <a:off x="640080" y="2008632"/>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decisiones con if, if/else y bifurcaciones;</a:t>
            </a:r>
          </a:p>
        </p:txBody>
      </p:sp>
      <p:sp>
        <p:nvSpPr>
          <p:cNvPr id="7" name="Acción o criterio 1" descr="Acción o criterio 1"/>
          <p:cNvSpPr txBox="1"/>
          <p:nvPr/>
        </p:nvSpPr>
        <p:spPr>
          <a:xfrm>
            <a:off x="6080760" y="2008632"/>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menú de comandos, bucle principal y switch;</a:t>
            </a:r>
          </a:p>
        </p:txBody>
      </p:sp>
      <p:sp>
        <p:nvSpPr>
          <p:cNvPr id="8" name="Acción o criterio 2" descr="Acción o criterio 2"/>
          <p:cNvSpPr txBox="1"/>
          <p:nvPr/>
        </p:nvSpPr>
        <p:spPr>
          <a:xfrm>
            <a:off x="640080" y="293522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memoria y colecciones;</a:t>
            </a:r>
          </a:p>
        </p:txBody>
      </p:sp>
      <p:sp>
        <p:nvSpPr>
          <p:cNvPr id="9" name="Acción o criterio 3" descr="Acción o criterio 3"/>
          <p:cNvSpPr txBox="1"/>
          <p:nvPr/>
        </p:nvSpPr>
        <p:spPr>
          <a:xfrm>
            <a:off x="6080760" y="293522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ficheros y persistencia;</a:t>
            </a:r>
          </a:p>
        </p:txBody>
      </p:sp>
      <p:sp>
        <p:nvSpPr>
          <p:cNvPr id="10" name="Acción o criterio 4" descr="Acción o criterio 4"/>
          <p:cNvSpPr txBox="1"/>
          <p:nvPr/>
        </p:nvSpPr>
        <p:spPr>
          <a:xfrm>
            <a:off x="640080" y="352653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arquitectura o clases complejas;</a:t>
            </a:r>
          </a:p>
        </p:txBody>
      </p:sp>
      <p:sp>
        <p:nvSpPr>
          <p:cNvPr id="11" name="Acción o criterio 5" descr="Acción o criterio 5"/>
          <p:cNvSpPr txBox="1"/>
          <p:nvPr/>
        </p:nvSpPr>
        <p:spPr>
          <a:xfrm>
            <a:off x="6080760" y="352653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integración con una API de IA o una IA real.</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"source_support", "plan_index": 2, "recognition": false, "unit_ids": ["unit-4"], "roles": {"unit-4": "core"}, "source_refs": [{"source": "teacher", "heading": "Alcance técnico de H1", "block_index": 4, "fragment": 0}], "visible_sources": [{"index": 4, "sha256": "c5c2516a7c2b427ca4c182c1a8a11ba31611c3c6dba06ccf32bde0e710f51a2a"}], "notes_sources": [{"function": "concepts", "heading": "Alcance técnico de H1", "sha256": "df9acf2e0cc9e2f7147f4ae4b90b1e1f9eeda1377e5dbfd9739ecfa79384031d"}, {"function": "facilitation", "heading": "Alcance técnico de H1", "sha256": "252ef1a5ee75cc2a7f72e7a1b7c18520316768099cad6b670c464ac5567c7c76"}, {"function": "facilitation", "heading": "Alcance técnico de H1", "sha256": "ac162e2c0a8ce95c7a649d935f63f8a2e66a5ed2657c0b5f62f16db076886107"}, {"function": "visible_detail", "heading": "Alcance técnico de H1", "sha256": "a6099b92d243b6e69c77955ae6cd16b589abf9a486be07d09e3427fb77d32bc5"}, {"function": "visible_detail", "heading": "Alcance técnico de H1", "sha256": "e8aea59a9fc6d784043b2ecec23eb0375b3ab6b462d651658028dd78af068303"}, {"function": "visible_detail", "heading": "Alcance técnico de H1", "sha256": "252ef1a5ee75cc2a7f72e7a1b7c18520316768099cad6b670c464ac5567c7c76"}, {"function": "visible_detail", "heading": "Alcance técnico de H1", "sha256": "2ad3a328e4fca342c4dad5e8a5ab50c423ccc164ccab589e3c8f9b3fdb081b12"}, {"function": "visible_detail", "heading": "Alcance técnico de H1", "sha256": "ac162e2c0a8ce95c7a649d935f63f8a2e66a5ed2657c0b5f62f16db076886107"}, {"function": "visible_detail", "heading": "Alcance técnico de H1", "sha256": "c5c2516a7c2b427ca4c182c1a8a11ba31611c3c6dba06ccf32bde0e710f51a2a"}, {"function": "visible_detail", "heading": "Alcance técnico de H1", "sha256": "df9acf2e0cc9e2f7147f4ae4b90b1e1f9eeda1377e5dbfd9739ecfa79384031d"}, {"function": "visible_detail", "heading": "Alcance técnico de H1", "sha256": "967fcf0360e0f02a911e8b9168243b59fc22a1bbc2310d23f79cd995ca2c819f"}], "relations": {"unit_relations": {"unit-4": {"question_context": ["context", "question"]}}, "schedule": null, "source_supports_enriched": true}, "timeline_refs": [1], "composition": {"origin_slides": [4, 5, 6]}, "timing": {"seconds": 0, "allocations": [{"source_index": 1, "seconds": 0, "decision": "Intervalo compartido íntegro; propietario contable seleccionado por función de actividad y referencia timeline de unidad (identidad semántica en empates). Soporte, sin duplicación contable. ", "source_time": "6–13 min", "source_seconds": 420, "is_owner": false, "function": "concepts"}], "clock_intervals": [1], "presenter_notes": "Reloj fuente 6–13 min: duración compartida 420 segundos. Trabajo: Explicar el alcance completo y las ideas de correcto, eficiente y mantenible. Función del soporte: explicación.", "shared_intervals": [{"source_index": 1, "source_time": "6–13 min", "seconds": 420, "is_owner": false, "function": "concepts", "action": "Explicar el alcance completo y las ideas de correcto, eficiente y mantenible.", "concurrent": false, "parallel_work": ""}]}, "code_blocks": [], "representation_needs": []}</ns0:renderMetadata>
    </p:ext>
  </p:extLs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Alcance técnico de H1</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Soporte fuente" descr="Soporte fuente"/>
          <p:cNvSpPr txBox="1"/>
          <p:nvPr/>
        </p:nvSpPr>
        <p:spPr>
          <a:xfrm>
            <a:off x="640080" y="1417320"/>
            <a:ext cx="10881360" cy="83515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En el producto H1, el núcleo obligatorio debe aparecer integrado en Main.java.</a:t>
            </a:r>
          </a:p>
        </p:txBody>
      </p:sp>
      <p:sp>
        <p:nvSpPr>
          <p:cNvPr id="6" name="Soporte fuente" descr="Soporte fuente"/>
          <p:cNvSpPr txBox="1"/>
          <p:nvPr/>
        </p:nvSpPr>
        <p:spPr>
          <a:xfrm>
            <a:off x="640080" y="2343912"/>
            <a:ext cx="10881360" cy="117043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Estas exclusiones no significan que nunca se trabajarán. Permiten mantener H1 pequeño y comprensible sin adelantar contenidos posteriores.</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"source_support", "plan_index": 2, "recognition": false, "unit_ids": ["unit-4"], "roles": {"unit-4": "core"}, "source_refs": [{"source": "teacher", "heading": "Alcance técnico de H1", "block_index": 4, "fragment": 0}], "visible_sources": [{"index": 2, "sha256": "a6099b92d243b6e69c77955ae6cd16b589abf9a486be07d09e3427fb77d32bc5"}, {"index": 5, "sha256": "e8aea59a9fc6d784043b2ecec23eb0375b3ab6b462d651658028dd78af068303"}], "notes_sources": [{"function": "concepts", "heading": "Alcance técnico de H1", "sha256": "df9acf2e0cc9e2f7147f4ae4b90b1e1f9eeda1377e5dbfd9739ecfa79384031d"}, {"function": "facilitation", "heading": "Alcance técnico de H1", "sha256": "252ef1a5ee75cc2a7f72e7a1b7c18520316768099cad6b670c464ac5567c7c76"}, {"function": "facilitation", "heading": "Alcance técnico de H1", "sha256": "ac162e2c0a8ce95c7a649d935f63f8a2e66a5ed2657c0b5f62f16db076886107"}, {"function": "visible_detail", "heading": "Alcance técnico de H1", "sha256": "a6099b92d243b6e69c77955ae6cd16b589abf9a486be07d09e3427fb77d32bc5"}, {"function": "visible_detail", "heading": "Alcance técnico de H1", "sha256": "e8aea59a9fc6d784043b2ecec23eb0375b3ab6b462d651658028dd78af068303"}, {"function": "visible_detail", "heading": "Alcance técnico de H1", "sha256": "252ef1a5ee75cc2a7f72e7a1b7c18520316768099cad6b670c464ac5567c7c76"}, {"function": "visible_detail", "heading": "Alcance técnico de H1", "sha256": "2ad3a328e4fca342c4dad5e8a5ab50c423ccc164ccab589e3c8f9b3fdb081b12"}, {"function": "visible_detail", "heading": "Alcance técnico de H1", "sha256": "ac162e2c0a8ce95c7a649d935f63f8a2e66a5ed2657c0b5f62f16db076886107"}, {"function": "visible_detail", "heading": "Alcance técnico de H1", "sha256": "c5c2516a7c2b427ca4c182c1a8a11ba31611c3c6dba06ccf32bde0e710f51a2a"}, {"function": "visible_detail", "heading": "Alcance técnico de H1", "sha256": "df9acf2e0cc9e2f7147f4ae4b90b1e1f9eeda1377e5dbfd9739ecfa79384031d"}, {"function": "visible_detail", "heading": "Alcance técnico de H1", "sha256": "967fcf0360e0f02a911e8b9168243b59fc22a1bbc2310d23f79cd995ca2c819f"}], "relations": {"unit_relations": {"unit-4": {"question_context": ["context", "question"]}}, "schedule": null, "source_supports_enriched": true}, "timeline_refs": [1], "composition": {"origin_slides": [4, 5, 6]}, "timing": {"seconds": 0, "allocations": [{"source_index": 1, "seconds": 0, "decision": "Intervalo compartido íntegro; propietario contable seleccionado por función de actividad y referencia timeline de unidad (identidad semántica en empates). Soporte, sin duplicación contable. ", "source_time": "6–13 min", "source_seconds": 420, "is_owner": false, "function": "concepts"}], "clock_intervals": [1], "presenter_notes": "Reloj fuente 6–13 min: duración compartida 420 segundos. Trabajo: Explicar el alcance completo y las ideas de correcto, eficiente y mantenible. Función del soporte: explicación.", "shared_intervals": [{"source_index": 1, "source_time": "6–13 min", "seconds": 420, "is_owner": false, "function": "concepts", "action": "Explicar el alcance completo y las ideas de correcto, eficiente y mantenible.", "concurrent": false, "parallel_work": ""}]}, "code_blocks": [], "representation_needs": []}</ns0:renderMetadata>
    </p:ext>
  </p:extLs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Alcance técnico de H1</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Contenido" descr="Contenido"/>
          <p:cNvSpPr txBox="1"/>
          <p:nvPr/>
        </p:nvSpPr>
        <p:spPr>
          <a:xfrm>
            <a:off x="640080" y="1417320"/>
            <a:ext cx="10881360" cy="1338072"/>
          </a:xfrm>
          <a:prstGeom prst="rect">
            <a:avLst/>
          </a:prstGeom>
          <a:solidFill>
            <a:srgbClr val="2F5BA8"/>
          </a:solidFill>
        </p:spPr>
        <p:txBody>
          <a:bodyPr wrap="square" lIns="109728" rIns="109728" tIns="73152" bIns="73152">
            <a:noAutofit/>
          </a:bodyPr>
          <a:lstStyle/>
          <a:p>
            <a:pPr>
              <a:lnSpc>
                <a:spcPts val="3080"/>
              </a:lnSpc>
              <a:spcAft>
                <a:spcPts val="0"/>
              </a:spcAft>
              <a:defRPr sz="2800" b="1">
                <a:solidFill>
                  <a:srgbClr val="FFFFFF"/>
                </a:solidFill>
                <a:latin typeface="Liberation Sans"/>
              </a:defRPr>
            </a:pPr>
            <a:r>
              <a:t>¿Por qué empezar directamente con una API o una IA completa dificultaría explicar y defender los fundamentos Java de esta primera versión?</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"concept", "plan_index": 2, "recognition": false, "unit_ids": ["unit-4"], "roles": {"unit-4": "core"}, "source_refs": [{"source": "teacher", "heading": "Alcance técnico de H1", "block_index": 4, "fragment": 0}], "visible_sources": [{"index": 6, "sha256": "967fcf0360e0f02a911e8b9168243b59fc22a1bbc2310d23f79cd995ca2c819f"}], "notes_sources": [{"function": "concepts", "heading": "Alcance técnico de H1", "sha256": "df9acf2e0cc9e2f7147f4ae4b90b1e1f9eeda1377e5dbfd9739ecfa79384031d"}, {"function": "facilitation", "heading": "Alcance técnico de H1", "sha256": "252ef1a5ee75cc2a7f72e7a1b7c18520316768099cad6b670c464ac5567c7c76"}, {"function": "facilitation", "heading": "Alcance técnico de H1", "sha256": "ac162e2c0a8ce95c7a649d935f63f8a2e66a5ed2657c0b5f62f16db076886107"}, {"function": "visible_detail", "heading": "Alcance técnico de H1", "sha256": "a6099b92d243b6e69c77955ae6cd16b589abf9a486be07d09e3427fb77d32bc5"}, {"function": "visible_detail", "heading": "Alcance técnico de H1", "sha256": "e8aea59a9fc6d784043b2ecec23eb0375b3ab6b462d651658028dd78af068303"}], "relations": {"unit_relations": {"unit-4": {"question_context": ["context", "question"]}}, "schedule": null, "source_supports_enriched": true}, "timeline_refs": [1], "composition": {"origin_slides": [4, 5, 6]}, "timing": {"seconds": 420, "allocations": [{"source_index": 1, "seconds": 420, "decision": "Intervalo compartido íntegro; propietario contable seleccionado por función de actividad y referencia timeline de unidad (identidad semántica en empates). Propietario. ", "source_time": "6–13 min", "source_seconds": 420, "is_owner": true, "function": "concepts"}], "clock_intervals": [1], "presenter_notes": "Reloj fuente 6–13 min: duración compartida 420 segundos. Trabajo: Explicar el alcance completo y las ideas de correcto, eficiente y mantenible. Función del soporte: explicación.", "shared_intervals": [{"source_index": 1, "source_time": "6–13 min", "seconds": 420, "is_owner": true, "function": "concepts", "action": "Explicar el alcance completo y las ideas de correcto, eficiente y mantenible.", "concurrent": false, "parallel_work": ""}]}, "code_blocks": [], "representation_needs": []}</ns0:renderMetadata>
    </p:ext>
  </p:extLs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Tres criterios para juzgar el alcance de H1</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Criterio" descr="Criterio"/>
          <p:cNvSpPr txBox="1"/>
          <p:nvPr/>
        </p:nvSpPr>
        <p:spPr>
          <a:xfrm>
            <a:off x="640080" y="1417320"/>
            <a:ext cx="3017520" cy="499871"/>
          </a:xfrm>
          <a:prstGeom prst="rect">
            <a:avLst/>
          </a:prstGeom>
          <a:noFill/>
        </p:spPr>
        <p:txBody>
          <a:bodyPr wrap="square" lIns="109728" rIns="109728" tIns="73152" bIns="73152">
            <a:noAutofit/>
          </a:bodyPr>
          <a:lstStyle/>
          <a:p>
            <a:pPr>
              <a:lnSpc>
                <a:spcPts val="2640"/>
              </a:lnSpc>
              <a:spcAft>
                <a:spcPts val="0"/>
              </a:spcAft>
              <a:defRPr sz="2400" b="1">
                <a:solidFill>
                  <a:srgbClr val="2F5BA8"/>
                </a:solidFill>
                <a:latin typeface="Liberation Sans"/>
              </a:defRPr>
            </a:pPr>
            <a:r>
              <a:t>Correcto</a:t>
            </a:r>
          </a:p>
        </p:txBody>
      </p:sp>
      <p:sp>
        <p:nvSpPr>
          <p:cNvPr id="6" name="Definición fuente" descr="Definición fuente"/>
          <p:cNvSpPr txBox="1"/>
          <p:nvPr/>
        </p:nvSpPr>
        <p:spPr>
          <a:xfrm>
            <a:off x="640080" y="1965960"/>
            <a:ext cx="3017520" cy="251155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El programa realiza el comportamiento esperado y ese comportamiento puede comprobarse.</a:t>
            </a:r>
          </a:p>
        </p:txBody>
      </p:sp>
      <p:sp>
        <p:nvSpPr>
          <p:cNvPr id="7" name="Criterio" descr="Criterio"/>
          <p:cNvSpPr txBox="1"/>
          <p:nvPr/>
        </p:nvSpPr>
        <p:spPr>
          <a:xfrm>
            <a:off x="3840480" y="1417320"/>
            <a:ext cx="4114800" cy="499871"/>
          </a:xfrm>
          <a:prstGeom prst="rect">
            <a:avLst/>
          </a:prstGeom>
          <a:noFill/>
        </p:spPr>
        <p:txBody>
          <a:bodyPr wrap="square" lIns="109728" rIns="109728" tIns="73152" bIns="73152">
            <a:noAutofit/>
          </a:bodyPr>
          <a:lstStyle/>
          <a:p>
            <a:pPr>
              <a:lnSpc>
                <a:spcPts val="2640"/>
              </a:lnSpc>
              <a:spcAft>
                <a:spcPts val="0"/>
              </a:spcAft>
              <a:defRPr sz="2400" b="1">
                <a:solidFill>
                  <a:srgbClr val="2F5BA8"/>
                </a:solidFill>
                <a:latin typeface="Liberation Sans"/>
              </a:defRPr>
            </a:pPr>
            <a:r>
              <a:t>Eficiente</a:t>
            </a:r>
          </a:p>
        </p:txBody>
      </p:sp>
      <p:sp>
        <p:nvSpPr>
          <p:cNvPr id="8" name="Definición fuente" descr="Definición fuente"/>
          <p:cNvSpPr txBox="1"/>
          <p:nvPr/>
        </p:nvSpPr>
        <p:spPr>
          <a:xfrm>
            <a:off x="3840480" y="1965960"/>
            <a:ext cx="4114800" cy="251155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En H1 no significa optimización avanzada ni máxima velocidad. Significa resolver el reto sin añadir complejidad innecesaria.</a:t>
            </a:r>
          </a:p>
        </p:txBody>
      </p:sp>
      <p:sp>
        <p:nvSpPr>
          <p:cNvPr id="9" name="Criterio" descr="Criterio"/>
          <p:cNvSpPr txBox="1"/>
          <p:nvPr/>
        </p:nvSpPr>
        <p:spPr>
          <a:xfrm>
            <a:off x="8138160" y="1417320"/>
            <a:ext cx="3383279" cy="499871"/>
          </a:xfrm>
          <a:prstGeom prst="rect">
            <a:avLst/>
          </a:prstGeom>
          <a:noFill/>
        </p:spPr>
        <p:txBody>
          <a:bodyPr wrap="square" lIns="109728" rIns="109728" tIns="73152" bIns="73152">
            <a:noAutofit/>
          </a:bodyPr>
          <a:lstStyle/>
          <a:p>
            <a:pPr>
              <a:lnSpc>
                <a:spcPts val="2640"/>
              </a:lnSpc>
              <a:spcAft>
                <a:spcPts val="0"/>
              </a:spcAft>
              <a:defRPr sz="2400" b="1">
                <a:solidFill>
                  <a:srgbClr val="2F5BA8"/>
                </a:solidFill>
                <a:latin typeface="Liberation Sans"/>
              </a:defRPr>
            </a:pPr>
            <a:r>
              <a:t>Mantenible</a:t>
            </a:r>
          </a:p>
        </p:txBody>
      </p:sp>
      <p:sp>
        <p:nvSpPr>
          <p:cNvPr id="10" name="Definición fuente" descr="Definición fuente"/>
          <p:cNvSpPr txBox="1"/>
          <p:nvPr/>
        </p:nvSpPr>
        <p:spPr>
          <a:xfrm>
            <a:off x="8138160" y="1965960"/>
            <a:ext cx="3383279" cy="251155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El programa puede entenderse y modificarse sin introducir dificultad innecesaria.</a:t>
            </a:r>
          </a:p>
        </p:txBody>
      </p:sp>
      <p:sp>
        <p:nvSpPr>
          <p:cNvPr id="11" name="Comprobación del criterio" descr="Comprobación del criterio"/>
          <p:cNvSpPr txBox="1"/>
          <p:nvPr/>
        </p:nvSpPr>
        <p:spPr>
          <a:xfrm>
            <a:off x="640080" y="4568951"/>
            <a:ext cx="4663440" cy="150571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Compilar no basta para decir que es correcto. Falta comprobar comportamiento.</a:t>
            </a:r>
          </a:p>
        </p:txBody>
      </p:sp>
      <p:sp>
        <p:nvSpPr>
          <p:cNvPr id="12" name="Comprobación del criterio" descr="Comprobación del criterio"/>
          <p:cNvSpPr txBox="1"/>
          <p:nvPr/>
        </p:nvSpPr>
        <p:spPr>
          <a:xfrm>
            <a:off x="5486400" y="4568951"/>
            <a:ext cx="6035040" cy="150571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entrada y qué resultado permitirían comprobar el comportamiento esperado de vuestro H1?</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"criteria", "plan_index": 3, "recognition": false, "unit_ids": ["unit-5", "unit-6", "unit-7", "unit-8"], "roles": {"unit-5": "core", "unit-6": "unknown", "unit-7": "unknown", "unit-8": "unknown"}, "source_refs": [{"source": "teacher", "heading": "Calidad de un primer programa", "block_index": 5, "fragment": 0}, {"source": "teacher", "heading": "Correcto", "block_index": 6, "fragment": 0}, {"source": "teacher", "heading": "Calidad de un primer programa", "block_index": 5, "fragment": 0}, {"source": "teacher", "heading": "Eficiente", "block_index": 7, "fragment": 0}, {"source": "teacher", "heading": "Calidad de un primer programa", "block_index": 5, "fragment": 0}, {"source": "teacher", "heading": "Mantenible", "block_index": 8, "fragment": 0}, {"source": "teacher", "heading": "Calidad de un primer programa", "block_index": 5, "fragment": 0}], "visible_sources": [{"index": 1, "sha256": "27043cbb65e05cce26f7522669b6ae9c6015eb5829c04e14bf41b549f66aa4ad"}, {"index": 3, "sha256": "df8bb1123e944b4ac27bc6bd780457911c5e15b7e7958847f8e3513dbda4f10f"}, {"index": 4, "sha256": "c252a6e86f43a0b75ef5a67969f54927a3ae7854189e7719a4efd04c08084c25"}, {"index": 5, "sha256": "2d2f46bd821ac429aa36d03eb7e576861b985e29314c2ee3704bad42d18d12d3"}], "notes_sources": [{"function": "other", "heading": "Correcto", "sha256": "df9acf2e0cc9e2f7147f4ae4b90b1e1f9eeda1377e5dbfd9739ecfa79384031d"}, {"function": "visible_detail", "heading": "Correcto", "sha256": "27043cbb65e05cce26f7522669b6ae9c6015eb5829c04e14bf41b549f66aa4ad"}, {"function": "visible_detail", "heading": "Correcto", "sha256": "bc116d7bd19cd4346169b7c5889958918110ca1991ffd7f47e6cc71b90bbf209"}, {"function": "visible_detail", "heading": "Eficiente", "sha256": "c252a6e86f43a0b75ef5a67969f54927a3ae7854189e7719a4efd04c08084c25"}, {"function": "visible_detail", "heading": "Mantenible", "sha256": "2d2f46bd821ac429aa36d03eb7e576861b985e29314c2ee3704bad42d18d12d3"}, {"function": "visible_detail", "heading": "Calidad de un primer programa", "sha256": "ec445dcf15ba3174a7f96e6f396e84b0a3a03bcca74a57bd75096a2939271d6e"}, {"function": "visible_detail", "heading": "Tres criterios para juzgar el alcance de H1", "sha256": "1cfa7ca12e28c9f44e73f2c68174e15481e6bd9873a8d3e8b473cedf9b6c655b"}], "relations": {"unit_relations": {"unit-8": {}}, "schedule": null, "source_supports_enriched": true}, "timeline_refs": [1], "composition": {"origin_slides": [7, 8, 9, 10]}, "timing": {"seconds": 0, "allocations": [{"source_index": 1, "seconds": 0, "decision": "Intervalo compartido íntegro; propietario contable seleccionado por función de actividad y referencia timeline de unidad (identidad semántica en empates). Soporte, sin duplicación contable. ", "source_time": "6–13 min", "source_seconds": 420, "is_owner": false, "function": "other"}], "clock_intervals": [1], "presenter_notes": "Reloj fuente 6–13 min: duración compartida 420 segundos. Trabajo: Explicar el alcance completo y las ideas de correcto, eficiente y mantenible. Función del soporte: apoyo al trabajo.", "shared_intervals": [{"source_index": 1, "source_time": "6–13 min", "seconds": 420, "is_owner": false, "function": "other", "action": "Explicar el alcance completo y las ideas de correcto, eficiente y mantenible.", "concurrent": false, "parallel_work": ""}]}, "code_blocks": [], "representation_needs": []}</ns0:renderMetadata>
    </p:ext>
  </p:extLs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Ejemplo Java para analizar</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Código editable" descr="Código editable"/>
          <p:cNvSpPr txBox="1"/>
          <p:nvPr/>
        </p:nvSpPr>
        <p:spPr>
          <a:xfrm>
            <a:off x="640080" y="1417320"/>
            <a:ext cx="10881360" cy="133807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final String NOMBRE_ASISTENTE = "MiniJarvis";</a:t>
            </a:r>
          </a:p>
          <a:p>
            <a:pPr marL="335280" indent="-335280">
              <a:lnSpc>
                <a:spcPts val="2310"/>
              </a:lnSpc>
              <a:spcAft>
                <a:spcPts val="0"/>
              </a:spcAft>
              <a:defRPr sz="2200" b="0">
                <a:solidFill>
                  <a:srgbClr val="1C2330"/>
                </a:solidFill>
                <a:latin typeface="Liberation Mono"/>
              </a:defRPr>
            </a:pPr>
            <a:r>
              <a:t>String nombreUsuario = "Laura";</a:t>
            </a:r>
          </a:p>
          <a:p>
            <a:pPr marL="335280" indent="-335280">
              <a:lnSpc>
                <a:spcPts val="2310"/>
              </a:lnSpc>
              <a:spcAft>
                <a:spcPts val="0"/>
              </a:spcAft>
              <a:defRPr sz="2200" b="0">
                <a:solidFill>
                  <a:srgbClr val="1C2330"/>
                </a:solidFill>
                <a:latin typeface="Liberation Mono"/>
              </a:defRPr>
            </a:pPr>
            <a:r>
              <a:t>System.out.println("Hola, soy " + NOMBRE_ASISTENTE + ".");</a:t>
            </a:r>
          </a:p>
          <a:p>
            <a:pPr marL="335280" indent="-335280">
              <a:lnSpc>
                <a:spcPts val="2310"/>
              </a:lnSpc>
              <a:spcAft>
                <a:spcPts val="0"/>
              </a:spcAft>
              <a:defRPr sz="2200" b="0">
                <a:solidFill>
                  <a:srgbClr val="1C2330"/>
                </a:solidFill>
                <a:latin typeface="Liberation Mono"/>
              </a:defRPr>
            </a:pPr>
            <a:r>
              <a:t>System.out.println("Encantado, " + nombreUsuario + ".");</a:t>
            </a:r>
          </a:p>
        </p:txBody>
      </p:sp>
      <p:sp>
        <p:nvSpPr>
          <p:cNvPr id="6" name="Acción o criterio 0" descr="Acción o criterio 0"/>
          <p:cNvSpPr txBox="1"/>
          <p:nvPr/>
        </p:nvSpPr>
        <p:spPr>
          <a:xfrm>
            <a:off x="640080" y="2846832"/>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prepara cada línea, qué efecto tiene y cuál produce salida?</a:t>
            </a:r>
          </a:p>
        </p:txBody>
      </p:sp>
      <p:sp>
        <p:nvSpPr>
          <p:cNvPr id="7" name="Acción o criterio 1" descr="Acción o criterio 1"/>
          <p:cNvSpPr txBox="1"/>
          <p:nvPr/>
        </p:nvSpPr>
        <p:spPr>
          <a:xfrm>
            <a:off x="6080760" y="2846832"/>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requisito permite comprobar?</a:t>
            </a:r>
          </a:p>
        </p:txBody>
      </p:sp>
      <p:sp>
        <p:nvSpPr>
          <p:cNvPr id="8" name="Acción o criterio 2" descr="Acción o criterio 2"/>
          <p:cNvSpPr txBox="1"/>
          <p:nvPr/>
        </p:nvSpPr>
        <p:spPr>
          <a:xfrm>
            <a:off x="640080" y="41087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elementos ayudan a comprender el programa?</a:t>
            </a:r>
          </a:p>
        </p:txBody>
      </p:sp>
      <p:sp>
        <p:nvSpPr>
          <p:cNvPr id="9" name="Acción o criterio 3" descr="Acción o criterio 3"/>
          <p:cNvSpPr txBox="1"/>
          <p:nvPr/>
        </p:nvSpPr>
        <p:spPr>
          <a:xfrm>
            <a:off x="6080760" y="41087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parte sería innecesaria si excediera el alcance de H1?</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"code", "plan_index": 4, "recognition": false, "unit_ids": ["unit-9"], "roles": {"unit-9": "core"}, "source_refs": [{"source": "teacher", "heading": "Ejemplo Java para analizar", "block_index": 9, "fragment": 0}], "visible_sources": [{"index": 0, "sha256": "be316a16353bf7d444b13bf66868cfc2a6862ee6480e37eb07b46242c21f419d"}, {"index": 1, "sha256": "ebbafadb14371f0e86aa378a74ac30ded48553c0d8aa381e53316c4344560a16"}], "notes_sources": [{"function": "examples", "heading": "Ejemplo Java para analizar", "sha256": "52e7550fb287e2f91b3d9f762c1e63d2106630313dd8e26e4ea0bf8aa45d5768"}, {"function": "examples", "heading": "Ejemplo Java para analizar", "sha256": "468264fec92bc39f01ae4f93901927d28b4cfb4fe1b8208a5c3cde23ba53660c"}, {"function": "visible_detail", "heading": "Ejemplo Java para analizar", "sha256": "7e7f9932c636a5c5c04aa95786657b88024e308294e5aa45c4fbc74211cbfb82"}], "relations": {"unit_relations": {"unit-9": {"question_context": ["context", "question"]}}, "schedule": null, "presentation_normalizations": {"¿qué comportamiento visible aporta cada línea?;": "¿qué prepara cada línea, qué efecto tiene y cuál produce salida?", "¿qué requisito permite comprobar?;": "¿qué requisito permite comprobar?", "¿qué elementos ayudan a comprender el programa?;": "¿qué elementos ayudan a comprender el programa?"}, "source_supports_enriched": true}, "timeline_refs": [2], "composition": {"origin_slides": [11]}, "timing": {"seconds": 300, "allocations": [{"source_index": 2, "seconds": 300, "decision": "Intervalo compartido íntegro; propietario contable seleccionado por función de actividad y referencia timeline de unidad (identidad semántica en empates). Propietario. ", "source_time": "13–18 min", "source_seconds": 300, "is_owner": true, "function": "examples"}], "clock_intervals": [2], "presenter_notes": "Reloj fuente 13–18 min: duración compartida 300 segundos. Trabajo: Analizar brevemente el ejemplo Java histórico. Función del soporte: apoyo al trabajo.", "shared_intervals": [{"source_index": 2, "source_time": "13–18 min", "seconds": 300, "is_owner": true, "function": "examples", "action": "Analizar brevemente el ejemplo Java histórico.", "concurrent": false, "parallel_work": ""}]}, "code_blocks": ["final String NOMBRE_ASISTENTE = \"MiniJarvis\";\nString nombreUsuario = \"Laura\";\nSystem.out.println(\"Hola, soy \" + NOMBRE_ASISTENTE + \".\");\nSystem.out.println(\"Encantado, \" + nombreUsuario + \".\");"], "representation_needs": []}</ns0:renderMetadata>
    </p:ext>
  </p:extLs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Ejemplo Java para analizar</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Contenido" descr="Contenido"/>
          <p:cNvSpPr txBox="1"/>
          <p:nvPr/>
        </p:nvSpPr>
        <p:spPr>
          <a:xfrm>
            <a:off x="640080" y="1417320"/>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El ejemplo ayuda a razonar sobre alcance, comportamiento y claridad.</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"code", "plan_index": 4, "recognition": false, "unit_ids": ["unit-9"], "roles": {"unit-9": "core"}, "source_refs": [{"source": "teacher", "heading": "Ejemplo Java para analizar", "block_index": 9, "fragment": 0}], "visible_sources": [{"index": 2, "sha256": "7e7f9932c636a5c5c04aa95786657b88024e308294e5aa45c4fbc74211cbfb82"}], "notes_sources": [{"function": "examples", "heading": "Ejemplo Java para analizar", "sha256": "52e7550fb287e2f91b3d9f762c1e63d2106630313dd8e26e4ea0bf8aa45d5768"}, {"function": "examples", "heading": "Ejemplo Java para analizar", "sha256": "468264fec92bc39f01ae4f93901927d28b4cfb4fe1b8208a5c3cde23ba53660c"}, {"function": "visible_detail", "heading": "Ejemplo Java para analizar", "sha256": "7e7f9932c636a5c5c04aa95786657b88024e308294e5aa45c4fbc74211cbfb82"}], "relations": {"unit_relations": {"unit-9": {"question_context": ["context", "question"]}}, "schedule": null, "source_supports_enriched": true}, "timeline_refs": [2], "composition": {"origin_slides": [11]}, "timing": {"seconds": 0, "allocations": [{"source_index": 2, "seconds": 0, "decision": "Intervalo compartido íntegro; propietario contable seleccionado por función de actividad y referencia timeline de unidad (identidad semántica en empates). Soporte, sin duplicación contable. ", "source_time": "13–18 min", "source_seconds": 300, "is_owner": false, "function": "examples"}], "clock_intervals": [2], "presenter_notes": "Reloj fuente 13–18 min: duración compartida 300 segundos. Trabajo: Analizar brevemente el ejemplo Java histórico. Función del soporte: apoyo al trabajo.", "shared_intervals": [{"source_index": 2, "source_time": "13–18 min", "seconds": 300, "is_owner": false, "function": "examples", "action": "Analizar brevemente el ejemplo Java histórico.", "concurrent": false, "parallel_work": ""}]}, "code_blocks": [], "representation_needs": []}</ns0:renderMetadata>
    </p:ext>
  </p:extLs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EQUIPO</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Actividad de clasificación — EQUIPO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Acción de clasificación" descr="Acción de clasificación"/>
          <p:cNvSpPr txBox="1"/>
          <p:nvPr/>
        </p:nvSpPr>
        <p:spPr>
          <a:xfrm>
            <a:off x="640080" y="1463040"/>
            <a:ext cx="5577840" cy="499871"/>
          </a:xfrm>
          <a:prstGeom prst="rect">
            <a:avLst/>
          </a:prstGeom>
          <a:noFill/>
        </p:spPr>
        <p:txBody>
          <a:bodyPr wrap="square" lIns="109728" rIns="109728" tIns="73152" bIns="73152">
            <a:noAutofit/>
          </a:bodyPr>
          <a:lstStyle/>
          <a:p>
            <a:pPr>
              <a:lnSpc>
                <a:spcPts val="2640"/>
              </a:lnSpc>
              <a:spcAft>
                <a:spcPts val="0"/>
              </a:spcAft>
              <a:defRPr sz="2400" b="1">
                <a:solidFill>
                  <a:srgbClr val="1C2330"/>
                </a:solidFill>
                <a:latin typeface="Liberation Sans"/>
              </a:defRPr>
            </a:pPr>
            <a:r>
              <a:t>PROPUESTAS · sin asignar</a:t>
            </a:r>
          </a:p>
        </p:txBody>
      </p:sp>
      <p:sp>
        <p:nvSpPr>
          <p:cNvPr id="6" name="Propuesta editable" descr="Propuesta editable"/>
          <p:cNvSpPr txBox="1"/>
          <p:nvPr/>
        </p:nvSpPr>
        <p:spPr>
          <a:xfrm>
            <a:off x="640080" y="2103120"/>
            <a:ext cx="5577840" cy="393192"/>
          </a:xfrm>
          <a:prstGeom prst="rect">
            <a:avLst/>
          </a:prstGeom>
          <a:noFill/>
        </p:spPr>
        <p:txBody>
          <a:bodyPr wrap="square" lIns="27432" rIns="27432" tIns="18288" bIns="18288">
            <a:noAutofit/>
          </a:bodyPr>
          <a:lstStyle/>
          <a:p>
            <a:pPr>
              <a:lnSpc>
                <a:spcPts val="2640"/>
              </a:lnSpc>
              <a:spcAft>
                <a:spcPts val="0"/>
              </a:spcAft>
              <a:defRPr sz="2400" b="0">
                <a:solidFill>
                  <a:srgbClr val="1C2330"/>
                </a:solidFill>
                <a:latin typeface="Liberation Sans"/>
              </a:defRPr>
            </a:pPr>
            <a:r>
              <a:t>saludar</a:t>
            </a:r>
          </a:p>
        </p:txBody>
      </p:sp>
      <p:sp>
        <p:nvSpPr>
          <p:cNvPr id="7" name="Propuesta editable" descr="Propuesta editable"/>
          <p:cNvSpPr txBox="1"/>
          <p:nvPr/>
        </p:nvSpPr>
        <p:spPr>
          <a:xfrm>
            <a:off x="640080" y="2505456"/>
            <a:ext cx="5577840" cy="393192"/>
          </a:xfrm>
          <a:prstGeom prst="rect">
            <a:avLst/>
          </a:prstGeom>
          <a:noFill/>
        </p:spPr>
        <p:txBody>
          <a:bodyPr wrap="square" lIns="27432" rIns="27432" tIns="18288" bIns="18288">
            <a:noAutofit/>
          </a:bodyPr>
          <a:lstStyle/>
          <a:p>
            <a:pPr>
              <a:lnSpc>
                <a:spcPts val="2640"/>
              </a:lnSpc>
              <a:spcAft>
                <a:spcPts val="0"/>
              </a:spcAft>
              <a:defRPr sz="2400" b="0">
                <a:solidFill>
                  <a:srgbClr val="1C2330"/>
                </a:solidFill>
                <a:latin typeface="Liberation Sans"/>
              </a:defRPr>
            </a:pPr>
            <a:r>
              <a:t>pedir un nombre ficticio</a:t>
            </a:r>
          </a:p>
        </p:txBody>
      </p:sp>
      <p:sp>
        <p:nvSpPr>
          <p:cNvPr id="8" name="Propuesta editable" descr="Propuesta editable"/>
          <p:cNvSpPr txBox="1"/>
          <p:nvPr/>
        </p:nvSpPr>
        <p:spPr>
          <a:xfrm>
            <a:off x="640080" y="2907791"/>
            <a:ext cx="5577840" cy="393192"/>
          </a:xfrm>
          <a:prstGeom prst="rect">
            <a:avLst/>
          </a:prstGeom>
          <a:noFill/>
        </p:spPr>
        <p:txBody>
          <a:bodyPr wrap="square" lIns="27432" rIns="27432" tIns="18288" bIns="18288">
            <a:noAutofit/>
          </a:bodyPr>
          <a:lstStyle/>
          <a:p>
            <a:pPr>
              <a:lnSpc>
                <a:spcPts val="2640"/>
              </a:lnSpc>
              <a:spcAft>
                <a:spcPts val="0"/>
              </a:spcAft>
              <a:defRPr sz="2400" b="0">
                <a:solidFill>
                  <a:srgbClr val="1C2330"/>
                </a:solidFill>
                <a:latin typeface="Liberation Sans"/>
              </a:defRPr>
            </a:pPr>
            <a:r>
              <a:t>guardar horas de estudio</a:t>
            </a:r>
          </a:p>
        </p:txBody>
      </p:sp>
      <p:sp>
        <p:nvSpPr>
          <p:cNvPr id="9" name="Propuesta editable" descr="Propuesta editable"/>
          <p:cNvSpPr txBox="1"/>
          <p:nvPr/>
        </p:nvSpPr>
        <p:spPr>
          <a:xfrm>
            <a:off x="640080" y="3310128"/>
            <a:ext cx="5577840" cy="393192"/>
          </a:xfrm>
          <a:prstGeom prst="rect">
            <a:avLst/>
          </a:prstGeom>
          <a:noFill/>
        </p:spPr>
        <p:txBody>
          <a:bodyPr wrap="square" lIns="27432" rIns="27432" tIns="18288" bIns="18288">
            <a:noAutofit/>
          </a:bodyPr>
          <a:lstStyle/>
          <a:p>
            <a:pPr>
              <a:lnSpc>
                <a:spcPts val="2640"/>
              </a:lnSpc>
              <a:spcAft>
                <a:spcPts val="0"/>
              </a:spcAft>
              <a:defRPr sz="2400" b="0">
                <a:solidFill>
                  <a:srgbClr val="1C2330"/>
                </a:solidFill>
                <a:latin typeface="Liberation Sans"/>
              </a:defRPr>
            </a:pPr>
            <a:r>
              <a:t>calcular minutos</a:t>
            </a:r>
          </a:p>
        </p:txBody>
      </p:sp>
      <p:sp>
        <p:nvSpPr>
          <p:cNvPr id="10" name="Propuesta editable" descr="Propuesta editable"/>
          <p:cNvSpPr txBox="1"/>
          <p:nvPr/>
        </p:nvSpPr>
        <p:spPr>
          <a:xfrm>
            <a:off x="640080" y="3712463"/>
            <a:ext cx="5577840" cy="393192"/>
          </a:xfrm>
          <a:prstGeom prst="rect">
            <a:avLst/>
          </a:prstGeom>
          <a:noFill/>
        </p:spPr>
        <p:txBody>
          <a:bodyPr wrap="square" lIns="27432" rIns="27432" tIns="18288" bIns="18288">
            <a:noAutofit/>
          </a:bodyPr>
          <a:lstStyle/>
          <a:p>
            <a:pPr>
              <a:lnSpc>
                <a:spcPts val="2640"/>
              </a:lnSpc>
              <a:spcAft>
                <a:spcPts val="0"/>
              </a:spcAft>
              <a:defRPr sz="2400" b="0">
                <a:solidFill>
                  <a:srgbClr val="1C2330"/>
                </a:solidFill>
                <a:latin typeface="Liberation Sans"/>
              </a:defRPr>
            </a:pPr>
            <a:r>
              <a:t>hacer un menú</a:t>
            </a:r>
          </a:p>
        </p:txBody>
      </p:sp>
      <p:sp>
        <p:nvSpPr>
          <p:cNvPr id="11" name="Propuesta editable" descr="Propuesta editable"/>
          <p:cNvSpPr txBox="1"/>
          <p:nvPr/>
        </p:nvSpPr>
        <p:spPr>
          <a:xfrm>
            <a:off x="640080" y="4114800"/>
            <a:ext cx="5577840" cy="393192"/>
          </a:xfrm>
          <a:prstGeom prst="rect">
            <a:avLst/>
          </a:prstGeom>
          <a:noFill/>
        </p:spPr>
        <p:txBody>
          <a:bodyPr wrap="square" lIns="27432" rIns="27432" tIns="18288" bIns="18288">
            <a:noAutofit/>
          </a:bodyPr>
          <a:lstStyle/>
          <a:p>
            <a:pPr>
              <a:lnSpc>
                <a:spcPts val="2640"/>
              </a:lnSpc>
              <a:spcAft>
                <a:spcPts val="0"/>
              </a:spcAft>
              <a:defRPr sz="2400" b="0">
                <a:solidFill>
                  <a:srgbClr val="1C2330"/>
                </a:solidFill>
                <a:latin typeface="Liberation Sans"/>
              </a:defRPr>
            </a:pPr>
            <a:r>
              <a:t>recordar conversaciones</a:t>
            </a:r>
          </a:p>
        </p:txBody>
      </p:sp>
      <p:sp>
        <p:nvSpPr>
          <p:cNvPr id="12" name="Propuesta editable" descr="Propuesta editable"/>
          <p:cNvSpPr txBox="1"/>
          <p:nvPr/>
        </p:nvSpPr>
        <p:spPr>
          <a:xfrm>
            <a:off x="640080" y="4517136"/>
            <a:ext cx="5577840" cy="393192"/>
          </a:xfrm>
          <a:prstGeom prst="rect">
            <a:avLst/>
          </a:prstGeom>
          <a:noFill/>
        </p:spPr>
        <p:txBody>
          <a:bodyPr wrap="square" lIns="27432" rIns="27432" tIns="18288" bIns="18288">
            <a:noAutofit/>
          </a:bodyPr>
          <a:lstStyle/>
          <a:p>
            <a:pPr>
              <a:lnSpc>
                <a:spcPts val="2640"/>
              </a:lnSpc>
              <a:spcAft>
                <a:spcPts val="0"/>
              </a:spcAft>
              <a:defRPr sz="2400" b="0">
                <a:solidFill>
                  <a:srgbClr val="1C2330"/>
                </a:solidFill>
                <a:latin typeface="Liberation Sans"/>
              </a:defRPr>
            </a:pPr>
            <a:r>
              <a:t>guardar en fichero</a:t>
            </a:r>
          </a:p>
        </p:txBody>
      </p:sp>
      <p:sp>
        <p:nvSpPr>
          <p:cNvPr id="13" name="Propuesta editable" descr="Propuesta editable"/>
          <p:cNvSpPr txBox="1"/>
          <p:nvPr/>
        </p:nvSpPr>
        <p:spPr>
          <a:xfrm>
            <a:off x="640080" y="4919472"/>
            <a:ext cx="5577840" cy="393192"/>
          </a:xfrm>
          <a:prstGeom prst="rect">
            <a:avLst/>
          </a:prstGeom>
          <a:noFill/>
        </p:spPr>
        <p:txBody>
          <a:bodyPr wrap="square" lIns="27432" rIns="27432" tIns="18288" bIns="18288">
            <a:noAutofit/>
          </a:bodyPr>
          <a:lstStyle/>
          <a:p>
            <a:pPr>
              <a:lnSpc>
                <a:spcPts val="2640"/>
              </a:lnSpc>
              <a:spcAft>
                <a:spcPts val="0"/>
              </a:spcAft>
              <a:defRPr sz="2400" b="0">
                <a:solidFill>
                  <a:srgbClr val="1C2330"/>
                </a:solidFill>
                <a:latin typeface="Liberation Sans"/>
              </a:defRPr>
            </a:pPr>
            <a:r>
              <a:t>usar una API de IA</a:t>
            </a:r>
          </a:p>
        </p:txBody>
      </p:sp>
      <p:sp>
        <p:nvSpPr>
          <p:cNvPr id="14" name="Propuesta editable" descr="Propuesta editable"/>
          <p:cNvSpPr txBox="1"/>
          <p:nvPr/>
        </p:nvSpPr>
        <p:spPr>
          <a:xfrm>
            <a:off x="640080" y="5321808"/>
            <a:ext cx="5577840" cy="393192"/>
          </a:xfrm>
          <a:prstGeom prst="rect">
            <a:avLst/>
          </a:prstGeom>
          <a:noFill/>
        </p:spPr>
        <p:txBody>
          <a:bodyPr wrap="square" lIns="27432" rIns="27432" tIns="18288" bIns="18288">
            <a:noAutofit/>
          </a:bodyPr>
          <a:lstStyle/>
          <a:p>
            <a:pPr>
              <a:lnSpc>
                <a:spcPts val="2640"/>
              </a:lnSpc>
              <a:spcAft>
                <a:spcPts val="0"/>
              </a:spcAft>
              <a:defRPr sz="2400" b="0">
                <a:solidFill>
                  <a:srgbClr val="1C2330"/>
                </a:solidFill>
                <a:latin typeface="Liberation Sans"/>
              </a:defRPr>
            </a:pPr>
            <a:r>
              <a:t>mostrar un mensaje final</a:t>
            </a:r>
          </a:p>
        </p:txBody>
      </p:sp>
      <p:sp>
        <p:nvSpPr>
          <p:cNvPr id="15" name="Propuesta editable" descr="Propuesta editable"/>
          <p:cNvSpPr txBox="1"/>
          <p:nvPr/>
        </p:nvSpPr>
        <p:spPr>
          <a:xfrm>
            <a:off x="640080" y="5724144"/>
            <a:ext cx="5577840" cy="393192"/>
          </a:xfrm>
          <a:prstGeom prst="rect">
            <a:avLst/>
          </a:prstGeom>
          <a:noFill/>
        </p:spPr>
        <p:txBody>
          <a:bodyPr wrap="square" lIns="27432" rIns="27432" tIns="18288" bIns="18288">
            <a:noAutofit/>
          </a:bodyPr>
          <a:lstStyle/>
          <a:p>
            <a:pPr>
              <a:lnSpc>
                <a:spcPts val="2640"/>
              </a:lnSpc>
              <a:spcAft>
                <a:spcPts val="0"/>
              </a:spcAft>
              <a:defRPr sz="2400" b="0">
                <a:solidFill>
                  <a:srgbClr val="1C2330"/>
                </a:solidFill>
                <a:latin typeface="Liberation Sans"/>
              </a:defRPr>
            </a:pPr>
            <a:r>
              <a:t>decidir si se ha alcanzado un objetivo</a:t>
            </a:r>
          </a:p>
        </p:txBody>
      </p:sp>
      <p:sp>
        <p:nvSpPr>
          <p:cNvPr id="16" name="Destino de clasificación" descr="Destino de clasificación"/>
          <p:cNvSpPr txBox="1"/>
          <p:nvPr/>
        </p:nvSpPr>
        <p:spPr>
          <a:xfrm>
            <a:off x="6446520" y="2011680"/>
            <a:ext cx="1508760" cy="3931920"/>
          </a:xfrm>
          <a:prstGeom prst="rect">
            <a:avLst/>
          </a:prstGeom>
          <a:noFill/>
          <a:ln>
            <a:solidFill>
              <a:srgbClr val="2F5BA8"/>
            </a:solidFill>
          </a:ln>
        </p:spPr>
        <p:txBody>
          <a:bodyPr wrap="square" lIns="109728" rIns="109728" tIns="73152" bIns="73152">
            <a:noAutofit/>
          </a:bodyPr>
          <a:lstStyle/>
          <a:p>
            <a:pPr>
              <a:lnSpc>
                <a:spcPts val="2640"/>
              </a:lnSpc>
              <a:spcAft>
                <a:spcPts val="0"/>
              </a:spcAft>
              <a:defRPr sz="2400" b="1">
                <a:solidFill>
                  <a:srgbClr val="1C2330"/>
                </a:solidFill>
                <a:latin typeface="Liberation Sans"/>
              </a:defRPr>
            </a:pPr>
            <a:r>
              <a:t>entra en H1</a:t>
            </a:r>
          </a:p>
        </p:txBody>
      </p:sp>
      <p:sp>
        <p:nvSpPr>
          <p:cNvPr id="17" name="Destino de clasificación" descr="Destino de clasificación"/>
          <p:cNvSpPr txBox="1"/>
          <p:nvPr/>
        </p:nvSpPr>
        <p:spPr>
          <a:xfrm>
            <a:off x="8138160" y="2011680"/>
            <a:ext cx="1508760" cy="3931920"/>
          </a:xfrm>
          <a:prstGeom prst="rect">
            <a:avLst/>
          </a:prstGeom>
          <a:noFill/>
          <a:ln>
            <a:solidFill>
              <a:srgbClr val="2F5BA8"/>
            </a:solidFill>
          </a:ln>
        </p:spPr>
        <p:txBody>
          <a:bodyPr wrap="square" lIns="109728" rIns="109728" tIns="73152" bIns="73152">
            <a:noAutofit/>
          </a:bodyPr>
          <a:lstStyle/>
          <a:p>
            <a:pPr>
              <a:lnSpc>
                <a:spcPts val="2640"/>
              </a:lnSpc>
              <a:spcAft>
                <a:spcPts val="0"/>
              </a:spcAft>
              <a:defRPr sz="2400" b="1">
                <a:solidFill>
                  <a:srgbClr val="1C2330"/>
                </a:solidFill>
                <a:latin typeface="Liberation Sans"/>
              </a:defRPr>
            </a:pPr>
            <a:r>
              <a:t>más adelante</a:t>
            </a:r>
          </a:p>
        </p:txBody>
      </p:sp>
      <p:sp>
        <p:nvSpPr>
          <p:cNvPr id="18" name="Destino de clasificación" descr="Destino de clasificación"/>
          <p:cNvSpPr txBox="1"/>
          <p:nvPr/>
        </p:nvSpPr>
        <p:spPr>
          <a:xfrm>
            <a:off x="9829800" y="2011680"/>
            <a:ext cx="1508760" cy="3931920"/>
          </a:xfrm>
          <a:prstGeom prst="rect">
            <a:avLst/>
          </a:prstGeom>
          <a:noFill/>
          <a:ln>
            <a:solidFill>
              <a:srgbClr val="2F5BA8"/>
            </a:solidFill>
          </a:ln>
        </p:spPr>
        <p:txBody>
          <a:bodyPr wrap="square" lIns="109728" rIns="109728" tIns="73152" bIns="73152">
            <a:noAutofit/>
          </a:bodyPr>
          <a:lstStyle/>
          <a:p>
            <a:pPr>
              <a:lnSpc>
                <a:spcPts val="2640"/>
              </a:lnSpc>
              <a:spcAft>
                <a:spcPts val="0"/>
              </a:spcAft>
              <a:defRPr sz="2400" b="1">
                <a:solidFill>
                  <a:srgbClr val="1C2330"/>
                </a:solidFill>
                <a:latin typeface="Liberation Sans"/>
              </a:defRPr>
            </a:pPr>
            <a:r>
              <a:t>fuera del reto</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"classification", "plan_index": 5, "recognition": false, "unit_ids": ["unit-10"], "roles": {"unit-10": "core"}, "source_refs": [{"source": "teacher", "heading": "Actividad de clasificación — EQUIPO", "block_index": 10, "fragment": 0}], "visible_sources": [{"index": 1, "sha256": "d482b403fd47d77e7dd2d0a533f40c0cba9ba585d7f6e87e120fa0d075e7ff2c"}, {"index": 3, "sha256": "af5a710a25f8d331e48a5f9781282dbcc36adbbcaad2797f437d48f818a731bf"}], "notes_sources": [{"function": "facilitation", "heading": "Actividad de clasificación — EQUIPO", "sha256": "35da3fbf3dbf7c5ca8441465d5a35f31e4a49f2a16bb3d83e1331297d1ba00db"}, {"function": "visible_detail", "heading": "Actividad de clasificación — EQUIPO", "sha256": "d482b403fd47d77e7dd2d0a533f40c0cba9ba585d7f6e87e120fa0d075e7ff2c"}, {"function": "facilitation", "heading": "Actividad de clasificación — EQUIPO", "sha256": "7940300956421d253a0e5a195652081646712724b25f9aac18ad0bd9d6ad1ebc"}, {"function": "facilitation", "heading": "Actividad de clasificación — EQUIPO", "sha256": "779f72160a66d895fb2b58bdf6c7ae9a781da28699eb367fa60e9b8276fdcff8"}], "relations": {"classification": {"targets": ["entra en H1", "más adelante", "fuera del reto"], "proposals": ["saludar", "pedir un nombre ficticio", "guardar horas de estudio", "calcular minutos", "hacer un menú", "recordar conversaciones", "guardar en fichero", "usar una API de IA", "mostrar un mensaje final", "decidir si se ha alcanzado un objetivo"]}, "schedule": null, "source_supports_enriched": true}, "timeline_refs": [3], "composition": {"origin_slides": [12]}, "timing": {"seconds": 480, "allocations": [{"source_index": 3, "seconds": 0, "decision": "Intervalo compartido íntegro; propietario contable seleccionado por función de actividad y referencia timeline de unidad (identidad semántica en empates). Soporte, sin duplicación contable. ", "source_time": "18–30 min", "source_seconds": 720, "is_owner": false, "function": "activity"}, {"source_index": 4, "seconds": 480, "decision": "Intervalo compartido íntegro; propietario contable seleccionado por función de actividad y referencia timeline de unidad (identidad semántica en empates). Propietario. Intervalo sin ancla: se integra en el soporte con referencia fuente más cercana (desempate por orden del plan).", "source_time": "30–38 min", "source_seconds": 480, "is_owner": true, "function": "activity"}], "clock_intervals": [3, 4], "presenter_notes": "Reloj fuente 18–30 min: duración compartida 720 segundos. Trabajo: Comparar criterios y clasificar las propuestas en equipo. Función del soporte: actividad. Reloj fuente 30–38 min: duración compartida 480 segundos. Trabajo: Acordar frase de alcance, requisitos comprobables y justificaciones. Función del soporte: actividad.", "shared_intervals": [{"source_index": 3, "source_time": "18–30 min", "seconds": 720, "is_owner": false, "function": "activity", "action": "Comparar criterios y clasificar las propuestas en equipo.", "concurrent": false, "parallel_work": ""}, {"source_index": 4, "source_time": "30–38 min", "seconds": 480, "is_owner": true, "function": "activity", "action": "Acordar frase de alcance, requisitos comprobables y justificaciones.", "concurrent": false, "parallel_work": ""}]}, "code_blocks": [], "representation_needs": []}</ns0:renderMetadata>
    </p:ext>
  </p:extLs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EQUIPO</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Actividad de clasificación — EQUIPO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escuchar primero los criterios individuales;</a:t>
            </a:r>
          </a:p>
        </p:txBody>
      </p:sp>
      <p:sp>
        <p:nvSpPr>
          <p:cNvPr id="7" name="Acción o criterio 1" descr="Acción o criterio 1"/>
          <p:cNvSpPr txBox="1"/>
          <p:nvPr/>
        </p:nvSpPr>
        <p:spPr>
          <a:xfrm>
            <a:off x="6080760" y="19878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clasificar cada propuesta usando el alcance, no el gusto personal;</a:t>
            </a:r>
          </a:p>
        </p:txBody>
      </p:sp>
      <p:sp>
        <p:nvSpPr>
          <p:cNvPr id="8" name="Acción o criterio 2" descr="Acción o criterio 2"/>
          <p:cNvSpPr txBox="1"/>
          <p:nvPr/>
        </p:nvSpPr>
        <p:spPr>
          <a:xfrm>
            <a:off x="640080" y="3249676"/>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justificar al menos dos decisiones significativas, incluida una exclusión;</a:t>
            </a:r>
          </a:p>
        </p:txBody>
      </p:sp>
      <p:sp>
        <p:nvSpPr>
          <p:cNvPr id="9" name="Acción o criterio 3" descr="Acción o criterio 3"/>
          <p:cNvSpPr txBox="1"/>
          <p:nvPr/>
        </p:nvSpPr>
        <p:spPr>
          <a:xfrm>
            <a:off x="6080760" y="3249676"/>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acordar una frase común H1 consiste en...;</a:t>
            </a:r>
          </a:p>
        </p:txBody>
      </p:sp>
      <p:sp>
        <p:nvSpPr>
          <p:cNvPr id="10" name="Acción o criterio 4" descr="Acción o criterio 4"/>
          <p:cNvSpPr txBox="1"/>
          <p:nvPr/>
        </p:nvSpPr>
        <p:spPr>
          <a:xfrm>
            <a:off x="640080" y="4511548"/>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concretar cómo podrá comprobarse el resultado;</a:t>
            </a:r>
          </a:p>
        </p:txBody>
      </p:sp>
      <p:sp>
        <p:nvSpPr>
          <p:cNvPr id="11" name="Acción o criterio 5" descr="Acción o criterio 5"/>
          <p:cNvSpPr txBox="1"/>
          <p:nvPr/>
        </p:nvSpPr>
        <p:spPr>
          <a:xfrm>
            <a:off x="6080760" y="4511548"/>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separar el núcleo de H1 de posibles ampliaciones futuras.</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"activity", "plan_index": 5, "recognition": false, "unit_ids": ["unit-10"], "roles": {"unit-10": "core"}, "source_refs": [{"source": "teacher", "heading": "Actividad de clasificación — EQUIPO", "block_index": 10, "fragment": 0}], "visible_sources": [{"index": 5, "sha256": "5c3ae83ffc8fb3ec08ef742fda83c9cabe807de9bebc76991a62c614eca2207d"}], "notes_sources": [{"function": "visible_detail", "heading": "Actividad de clasificación — EQUIPO", "sha256": "96ef43e29eda5f54f16693783108f9fdda81c894e0cb29dd6b6f837de79e7666"}], "relations": {"unit_relations": {"unit-10": {}}, "schedule": null, "source_supports_enriched": true}, "timeline_refs": [3], "composition": {"origin_slides": [13, 14]}, "timing": {"seconds": 720, "allocations": [{"source_index": 3, "seconds": 720, "decision": "Intervalo compartido íntegro; propietario contable seleccionado por función de actividad y referencia timeline de unidad (identidad semántica en empates). Propietario. ", "source_time": "18–30 min", "source_seconds": 720, "is_owner": true, "function": "activity"}], "clock_intervals": [3], "presenter_notes": "Reloj fuente 18–30 min: duración compartida 720 segundos. Trabajo: Comparar criterios y clasificar las propuestas en equipo. Función del soporte: actividad.", "shared_intervals": [{"source_index": 3, "source_time": "18–30 min", "seconds": 720, "is_owner": true, "function": "activity", "action": "Comparar criterios y clasificar las propuestas en equipo.", "concurrent": false, "parallel_work": ""}]}, "code_blocks": [], "representation_needs": []}</ns0:renderMetadata>
    </p:ext>
  </p:extLs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EQUIPO</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Actividad de clasificación — EQUIPO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Contenido" descr="Contenido"/>
          <p:cNvSpPr txBox="1"/>
          <p:nvPr/>
        </p:nvSpPr>
        <p:spPr>
          <a:xfrm>
            <a:off x="640080" y="1987804"/>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Una clasificación distinta puede ser discutible si está respaldada por los límites del reto.</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"activity", "plan_index": 5, "recognition": false, "unit_ids": ["unit-10"], "roles": {"unit-10": "core"}, "source_refs": [{"source": "teacher", "heading": "Actividad de clasificación — EQUIPO", "block_index": 10, "fragment": 0}], "visible_sources": [{"index": 6, "sha256": "96ef43e29eda5f54f16693783108f9fdda81c894e0cb29dd6b6f837de79e7666"}], "notes_sources": [{"function": "visible_detail", "heading": "Actividad de clasificación — EQUIPO", "sha256": "96ef43e29eda5f54f16693783108f9fdda81c894e0cb29dd6b6f837de79e7666"}], "relations": {"unit_relations": {"unit-10": {}}, "schedule": null, "source_supports_enriched": true}, "timeline_refs": [3], "composition": {"origin_slides": [13, 14]}, "timing": {"seconds": 0, "allocations": [{"source_index": 3, "seconds": 0, "decision": "Intervalo compartido íntegro; propietario contable seleccionado por función de actividad y referencia timeline de unidad (identidad semántica en empates). Soporte, sin duplicación contable. ", "source_time": "18–30 min", "source_seconds": 720, "is_owner": false, "function": "activity"}], "clock_intervals": [3], "presenter_notes": "Reloj fuente 18–30 min: duración compartida 720 segundos. Trabajo: Comparar criterios y clasificar las propuestas en equipo. Función del soporte: actividad.", "shared_intervals": [{"source_index": 3, "source_time": "18–30 min", "seconds": 720, "is_owner": false, "function": "activity", "action": "Comparar criterios y clasificar las propuestas en equipo.", "concurrent": false, "parallel_work": ""}]}, "code_blocks": [], "representation_needs": []}</ns0:renderMetadata>
    </p:ext>
  </p:extLs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EQUIPO</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Acuerdo y Scrum del equipo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frase común de alcance;</a:t>
            </a:r>
          </a:p>
        </p:txBody>
      </p:sp>
      <p:sp>
        <p:nvSpPr>
          <p:cNvPr id="7" name="Acción o criterio 1" descr="Acción o criterio 1"/>
          <p:cNvSpPr txBox="1"/>
          <p:nvPr/>
        </p:nvSpPr>
        <p:spPr>
          <a:xfrm>
            <a:off x="6080760" y="198780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requisitos comprobables;</a:t>
            </a:r>
          </a:p>
        </p:txBody>
      </p:sp>
      <p:sp>
        <p:nvSpPr>
          <p:cNvPr id="8" name="Acción o criterio 2" descr="Acción o criterio 2"/>
          <p:cNvSpPr txBox="1"/>
          <p:nvPr/>
        </p:nvSpPr>
        <p:spPr>
          <a:xfrm>
            <a:off x="640080" y="257911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elementos incluidos y excluidos;</a:t>
            </a:r>
          </a:p>
        </p:txBody>
      </p:sp>
      <p:sp>
        <p:nvSpPr>
          <p:cNvPr id="9" name="Acción o criterio 3" descr="Acción o criterio 3"/>
          <p:cNvSpPr txBox="1"/>
          <p:nvPr/>
        </p:nvSpPr>
        <p:spPr>
          <a:xfrm>
            <a:off x="6080760" y="257911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justificación de una decisión relevante;</a:t>
            </a:r>
          </a:p>
        </p:txBody>
      </p:sp>
      <p:sp>
        <p:nvSpPr>
          <p:cNvPr id="10" name="Acción o criterio 4" descr="Acción o criterio 4"/>
          <p:cNvSpPr txBox="1"/>
          <p:nvPr/>
        </p:nvSpPr>
        <p:spPr>
          <a:xfrm>
            <a:off x="640080" y="3505708"/>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tareas iniciales reales;</a:t>
            </a:r>
          </a:p>
        </p:txBody>
      </p:sp>
      <p:sp>
        <p:nvSpPr>
          <p:cNvPr id="11" name="Acción o criterio 5" descr="Acción o criterio 5"/>
          <p:cNvSpPr txBox="1"/>
          <p:nvPr/>
        </p:nvSpPr>
        <p:spPr>
          <a:xfrm>
            <a:off x="6080760" y="3505708"/>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bloqueo real, si aparece.</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"activity", "plan_index": 5, "recognition": false, "unit_ids": ["unit-11"], "roles": {"unit-11": "core"}, "source_refs": [{"source": "teacher", "heading": "Acuerdo y Scrum del equipo", "block_index": 11, "fragment": 0}], "visible_sources": [{"index": 8, "sha256": "60b74e263d258d844cec2bf8fd067316331eae8ed1b15be650e8866c52720cd8"}], "notes_sources": [{"function": "facilitation", "heading": "Acuerdo y Scrum del equipo", "sha256": "59c3de72d1e8f197108e65b7307f20091796da2635fded734fe2bf1c14ac7d4d"}, {"function": "facilitation", "heading": "Acuerdo y Scrum del equipo", "sha256": "0c6ce36a481d648031910d1be8fb7d9545e9b945cb4b98d876aa5945561c4374"}, {"function": "visible_detail", "heading": "Acuerdo y Scrum del equipo", "sha256": "00852670e9ce9c5d9fd08fd2d43e5525f59d2af8c5fccfa3623e2eb17856f16b"}], "relations": {"unit_relations": {"unit-11": {}}, "schedule": null, "source_supports_enriched": true}, "timeline_refs": [5], "composition": {"origin_slides": [15, 16, 17]}, "timing": {"seconds": 240, "allocations": [{"source_index": 5, "seconds": 240, "decision": "Intervalo compartido íntegro; propietario contable seleccionado por función de actividad y referencia timeline de unidad (identidad semántica en empates). Propietario. ", "source_time": "38–42 min", "source_seconds": 240, "is_owner": true, "function": "activity"}], "clock_intervals": [5], "presenter_notes": "Reloj fuente 38–42 min: duración compartida 240 segundos. Trabajo: Registrar únicamente alcance, backlog, decisión o bloqueo real en Scrum. Función del soporte: actividad.", "shared_intervals": [{"source_index": 5, "source_time": "38–42 min", "seconds": 240, "is_owner": true, "function": "activity", "action": "Registrar únicamente alcance, backlog, decisión o bloqueo real en Scrum.", "concurrent": false, "parallel_work": ""}]}, "code_blocks": [], "representation_needs": []}</ns0:renderMetadata>
    </p:ext>
  </p:extLs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EQUIPO</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Acuerdo y Scrum del equipo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Código editable" descr="Código editable"/>
          <p:cNvSpPr txBox="1"/>
          <p:nvPr/>
        </p:nvSpPr>
        <p:spPr>
          <a:xfrm>
            <a:off x="640080" y="1874519"/>
            <a:ext cx="6629400" cy="427177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Alcance H1:</a:t>
            </a:r>
          </a:p>
          <a:p>
            <a:pPr marL="335280" indent="-335280">
              <a:lnSpc>
                <a:spcPts val="2310"/>
              </a:lnSpc>
              <a:spcAft>
                <a:spcPts val="0"/>
              </a:spcAft>
              <a:defRPr sz="2200" b="0">
                <a:solidFill>
                  <a:srgbClr val="1C2330"/>
                </a:solidFill>
                <a:latin typeface="Liberation Mono"/>
              </a:defRPr>
            </a:pPr>
            <a:r>
              <a:t>H1 es una primera versión de MiniJarvis en consola para practicar y demostrar fundamentos de Java.</a:t>
            </a:r>
          </a:p>
          <a:p>
            <a:pPr marL="335280" indent="-335280">
              <a:lnSpc>
                <a:spcPts val="2310"/>
              </a:lnSpc>
              <a:spcAft>
                <a:spcPts val="0"/>
              </a:spcAft>
              <a:defRPr sz="2200" b="0">
                <a:solidFill>
                  <a:srgbClr val="1C2330"/>
                </a:solidFill>
                <a:latin typeface="Liberation Mono"/>
              </a:defRPr>
            </a:pPr>
            <a:r>
              <a:t>Incluye:</a:t>
            </a:r>
          </a:p>
          <a:p>
            <a:pPr marL="335280" indent="-335280">
              <a:lnSpc>
                <a:spcPts val="2310"/>
              </a:lnSpc>
              <a:spcAft>
                <a:spcPts val="0"/>
              </a:spcAft>
              <a:defRPr sz="2200" b="0">
                <a:solidFill>
                  <a:srgbClr val="1C2330"/>
                </a:solidFill>
                <a:latin typeface="Liberation Mono"/>
              </a:defRPr>
            </a:pPr>
            <a:r>
              <a:t>Comportamientos y conceptos que el equipo podrá comprobar y explicar.</a:t>
            </a:r>
          </a:p>
          <a:p>
            <a:pPr marL="335280" indent="-335280">
              <a:lnSpc>
                <a:spcPts val="2310"/>
              </a:lnSpc>
              <a:spcAft>
                <a:spcPts val="0"/>
              </a:spcAft>
              <a:defRPr sz="2200" b="0">
                <a:solidFill>
                  <a:srgbClr val="1C2330"/>
                </a:solidFill>
                <a:latin typeface="Liberation Mono"/>
              </a:defRPr>
            </a:pPr>
            <a:r>
              <a:t>Queda fuera por ahora:</a:t>
            </a:r>
          </a:p>
          <a:p>
            <a:pPr marL="335280" indent="-335280">
              <a:lnSpc>
                <a:spcPts val="2310"/>
              </a:lnSpc>
              <a:spcAft>
                <a:spcPts val="0"/>
              </a:spcAft>
              <a:defRPr sz="2200" b="0">
                <a:solidFill>
                  <a:srgbClr val="1C2330"/>
                </a:solidFill>
                <a:latin typeface="Liberation Mono"/>
              </a:defRPr>
            </a:pPr>
            <a:r>
              <a:t>Funciones que ampliarían el reto más allá de H1.</a:t>
            </a:r>
          </a:p>
          <a:p>
            <a:pPr marL="335280" indent="-335280">
              <a:lnSpc>
                <a:spcPts val="2310"/>
              </a:lnSpc>
              <a:spcAft>
                <a:spcPts val="0"/>
              </a:spcAft>
              <a:defRPr sz="2200" b="0">
                <a:solidFill>
                  <a:srgbClr val="1C2330"/>
                </a:solidFill>
                <a:latin typeface="Liberation Mono"/>
              </a:defRPr>
            </a:pPr>
            <a:r>
              <a:t>Decisión y motivo:</a:t>
            </a:r>
          </a:p>
          <a:p>
            <a:pPr marL="335280" indent="-335280">
              <a:lnSpc>
                <a:spcPts val="2310"/>
              </a:lnSpc>
              <a:spcAft>
                <a:spcPts val="0"/>
              </a:spcAft>
              <a:defRPr sz="2200" b="0">
                <a:solidFill>
                  <a:srgbClr val="1C2330"/>
                </a:solidFill>
                <a:latin typeface="Liberation Mono"/>
              </a:defRPr>
            </a:pPr>
            <a:r>
              <a:t>...</a:t>
            </a:r>
          </a:p>
          <a:p>
            <a:pPr marL="335280" indent="-335280">
              <a:lnSpc>
                <a:spcPts val="2310"/>
              </a:lnSpc>
              <a:spcAft>
                <a:spcPts val="0"/>
              </a:spcAft>
              <a:defRPr sz="2200" b="0">
                <a:solidFill>
                  <a:srgbClr val="1C2330"/>
                </a:solidFill>
                <a:latin typeface="Liberation Mono"/>
              </a:defRPr>
            </a:pPr>
            <a:r>
              <a:t>Primeras tareas reales:</a:t>
            </a:r>
          </a:p>
          <a:p>
            <a:pPr marL="335280" indent="-335280">
              <a:lnSpc>
                <a:spcPts val="2310"/>
              </a:lnSpc>
              <a:spcAft>
                <a:spcPts val="0"/>
              </a:spcAft>
              <a:defRPr sz="2200" b="0">
                <a:solidFill>
                  <a:srgbClr val="1C2330"/>
                </a:solidFill>
                <a:latin typeface="Liberation Mono"/>
              </a:defRPr>
            </a:pPr>
            <a:r>
              <a:t>...</a:t>
            </a:r>
          </a:p>
        </p:txBody>
      </p:sp>
      <p:sp>
        <p:nvSpPr>
          <p:cNvPr id="6" name="Referente o acción" descr="Referente o acción"/>
          <p:cNvSpPr txBox="1"/>
          <p:nvPr/>
        </p:nvSpPr>
        <p:spPr>
          <a:xfrm>
            <a:off x="7680960" y="1874519"/>
            <a:ext cx="3840480" cy="1505712"/>
          </a:xfrm>
          <a:prstGeom prst="rect">
            <a:avLst/>
          </a:prstGeom>
          <a:solidFill>
            <a:srgbClr val="FFFFFF"/>
          </a:solid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No se añaden tareas ni campos para demostrar que H1.1 ocurrió.</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"study", "plan_index": 5, "recognition": false, "unit_ids": ["unit-11"], "roles": {"unit-11": "core"}, "source_refs": [{"source": "teacher", "heading": "Acuerdo y Scrum del equipo", "block_index": 11, "fragment": 0}], "visible_sources": [{"index": 10, "sha256": "e68bf2a1557e6b3c5a26d1d8e1a6b605fad9616fb7b3938296ac237ab5704d8c"}, {"index": 11, "sha256": "00852670e9ce9c5d9fd08fd2d43e5525f59d2af8c5fccfa3623e2eb17856f16b"}], "notes_sources": [{"function": "facilitation", "heading": "Acuerdo y Scrum del equipo", "sha256": "59c3de72d1e8f197108e65b7307f20091796da2635fded734fe2bf1c14ac7d4d"}, {"function": "facilitation", "heading": "Acuerdo y Scrum del equipo", "sha256": "0c6ce36a481d648031910d1be8fb7d9545e9b945cb4b98d876aa5945561c4374"}, {"function": "visible_detail", "heading": "Acuerdo y Scrum del equipo", "sha256": "00852670e9ce9c5d9fd08fd2d43e5525f59d2af8c5fccfa3623e2eb17856f16b"}], "relations": {"unit_relations": {"unit-11": {}}, "schedule": null, "source_supports_enriched": true}, "timeline_refs": [5], "composition": {"origin_slides": [15, 16, 17]}, "timing": {"seconds": 0, "allocations": [{"source_index": 5, "seconds": 0, "decision": "Intervalo compartido íntegro; propietario contable seleccionado por función de actividad y referencia timeline de unidad (identidad semántica en empates). Soporte, sin duplicación contable. ", "source_time": "38–42 min", "source_seconds": 240, "is_owner": false, "function": "activity"}], "clock_intervals": [5], "presenter_notes": "Reloj fuente 38–42 min: duración compartida 240 segundos. Trabajo: Registrar únicamente alcance, backlog, decisión o bloqueo real en Scrum. Función del soporte: actividad.", "shared_intervals": [{"source_index": 5, "source_time": "38–42 min", "seconds": 240, "is_owner": false, "function": "activity", "action": "Registrar únicamente alcance, backlog, decisión o bloqueo real en Scrum.", "concurrent": false, "parallel_work": ""}]}, "code_blocks": [], "representation_needs": []}</ns0:renderMetadata>
    </p:ext>
  </p:extLs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Cierre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H1.1 · H1 — Primer asistente ejecutable</a:t>
            </a:r>
          </a:p>
        </p:txBody>
      </p:sp>
      <p:sp>
        <p:nvSpPr>
          <p:cNvPr id="5" name="Código editable" descr="Código editable"/>
          <p:cNvSpPr txBox="1"/>
          <p:nvPr/>
        </p:nvSpPr>
        <p:spPr>
          <a:xfrm>
            <a:off x="640080" y="1417320"/>
            <a:ext cx="10881360" cy="1044701"/>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qué vamos a construir</a:t>
            </a:r>
          </a:p>
          <a:p>
            <a:pPr marL="335280" indent="-335280">
              <a:lnSpc>
                <a:spcPts val="2310"/>
              </a:lnSpc>
              <a:spcAft>
                <a:spcPts val="0"/>
              </a:spcAft>
              <a:defRPr sz="2200" b="0">
                <a:solidFill>
                  <a:srgbClr val="1C2330"/>
                </a:solidFill>
                <a:latin typeface="Liberation Mono"/>
              </a:defRPr>
            </a:pPr>
            <a:r>
              <a:t>qué no vamos a construir todavía</a:t>
            </a:r>
          </a:p>
          <a:p>
            <a:pPr marL="335280" indent="-335280">
              <a:lnSpc>
                <a:spcPts val="2310"/>
              </a:lnSpc>
              <a:spcAft>
                <a:spcPts val="0"/>
              </a:spcAft>
              <a:defRPr sz="2200" b="0">
                <a:solidFill>
                  <a:srgbClr val="1C2330"/>
                </a:solidFill>
                <a:latin typeface="Liberation Mono"/>
              </a:defRPr>
            </a:pPr>
            <a:r>
              <a:t>cómo sabremos si H1 cumple su objetivo</a:t>
            </a:r>
          </a:p>
        </p:txBody>
      </p:sp>
      <p:sp>
        <p:nvSpPr>
          <p:cNvPr id="6" name="Contenido" descr="Contenido"/>
          <p:cNvSpPr txBox="1"/>
          <p:nvPr/>
        </p:nvSpPr>
        <p:spPr>
          <a:xfrm>
            <a:off x="640080" y="2553462"/>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Después de entender el reto, investigaremos cómo se pasa del código fuente a la compilación, la ejecución y la consola.</a:t>
            </a:r>
          </a:p>
        </p:txBody>
      </p:sp>
    </p:spTree>
  </p:cSld>
  <p:clrMapOvr>
    <a:masterClrMapping/>
  </p:clrMapOvr>
  <p:extLst>
    <p:ext uri="urn:minijarvis:semantic-render:v1">
      <ns0:renderMetadata xmlns:ns0="urn:minijarvis:semantic-render:v1">{"session": "206", "source_files": {"teacher": "/mnt/compartido/Programación-26-27/Minijarvis/02-PROFESORADO/02-SESIONES/h1/S206-presentar-h1-y-delimitar-alcance-docente.md", "student_fallback": "/mnt/compartido/Programación-26-27/Minijarvis/01-ALUMNADO/03-SESIONES/h1/S206-presentar-h1-y-delimitar-alcance-alumnado.md"}, "layout": "closure", "plan_index": 6, "recognition": false, "unit_ids": ["unit-15", "unit-16"], "roles": {"unit-15": "core", "unit-16": "core"}, "source_refs": [{"source": "teacher", "heading": "Cierre", "block_index": 16, "fragment": 0}, {"source": "teacher", "heading": "Al terminar", "block_index": 17, "fragment": 0}], "visible_sources": [{"index": 1, "sha256": "2222522401e896876d6af1defbab7e4ecf367cf670cd1ad818ce2d6e29e6902a"}, {"index": 3, "sha256": "8a4c0cb09134a4367bbf5bf0d9a00db72280cdd8c6aae5e5cc716bd9a182c54c"}], "notes_sources": [{"function": "continuity", "heading": "Al terminar", "sha256": "1468bc20cdf021823e3f02a4a92c5ab433d3e942878e5b48d12b3771e7eb2691"}, {"function": "facilitation", "heading": "Cierre", "sha256": "9b9be5253b7acc7fdef7a79a76e4661a694f87c5af4825b5dad669fd268620ea"}, {"function": "facilitation", "heading": "Cierre", "sha256": "c6c94936ba109842638e9aed3c5bdfeacb1beaf19687973688706dc7a983be10"}], "relations": {"unit_relations": {"unit-15": {}}, "schedule": null, "source_supports_enriched": true}, "timeline_refs": [6], "composition": {"origin_slides": [18]}, "timing": {"seconds": 180, "allocations": [{"source_index": 6, "seconds": 180, "decision": "Intervalo compartido íntegro; propietario contable seleccionado por función de actividad y referencia timeline de unidad (identidad semántica en empates). Propietario. ", "source_time": "42–45 min", "source_seconds": 180, "is_owner": true, "function": "closure"}], "clock_intervals": [6], "presenter_notes": "Reloj fuente 42–45 min: duración compartida 180 segundos. Trabajo: Comprobar respuestas finales y conectar con S207. Función del soporte: cierre.", "shared_intervals": [{"source_index": 6, "source_time": "42–45 min", "seconds": 180, "is_owner": true, "function": "closure", "action": "Comprobar respuestas finales y conectar con S207.", "concurrent": false, "parallel_work": ""}]}, "code_blocks": [], "representation_needs": []}</ns0:renderMetadata>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