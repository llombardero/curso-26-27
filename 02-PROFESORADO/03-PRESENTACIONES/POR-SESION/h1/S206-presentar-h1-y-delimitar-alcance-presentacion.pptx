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218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6858000"/>
          </a:xfrm>
          <a:prstGeom prst="rect">
            <a:avLst/>
          </a:prstGeom>
          <a:solidFill>
            <a:srgbClr val="2F5B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658368" y="566928"/>
            <a:ext cx="1874519" cy="566928"/>
          </a:xfrm>
          <a:prstGeom prst="roundRect">
            <a:avLst/>
          </a:prstGeom>
          <a:solidFill>
            <a:srgbClr val="2F5BA8"/>
          </a:solidFill>
          <a:ln>
            <a:solidFill>
              <a:srgbClr val="2F5BA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31520" y="685800"/>
            <a:ext cx="1719072" cy="22860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ctr">
              <a:defRPr sz="1400" b="1">
                <a:solidFill>
                  <a:srgbClr val="FFFFFF"/>
                </a:solidFill>
                <a:latin typeface="Aptos"/>
              </a:defRPr>
            </a:pPr>
            <a:r>
              <a:t>SESIÓN 206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1481328"/>
            <a:ext cx="10789920" cy="169164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3800" b="1">
                <a:solidFill>
                  <a:srgbClr val="FFFFFF"/>
                </a:solidFill>
                <a:latin typeface="Aptos"/>
              </a:defRPr>
            </a:pPr>
            <a:r>
              <a:t>Presentar H1 y delimitar alcance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13232" y="3703320"/>
            <a:ext cx="10424160" cy="41148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900" b="1">
                <a:solidFill>
                  <a:srgbClr val="BEC8D6"/>
                </a:solidFill>
                <a:latin typeface="Aptos"/>
              </a:defRPr>
            </a:pPr>
            <a:r>
              <a:t>H1 · 45 minutos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13232" y="4315968"/>
            <a:ext cx="10241280" cy="50292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900" b="0">
                <a:solidFill>
                  <a:srgbClr val="FFFFFF"/>
                </a:solidFill>
                <a:latin typeface="Aptos"/>
              </a:defRPr>
            </a:pPr>
            <a:r>
              <a:t>Fase HEXA: Activar — entender el reto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13232" y="4965192"/>
            <a:ext cx="10241280" cy="59436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700" b="0">
                <a:solidFill>
                  <a:srgbClr val="D2D9E4"/>
                </a:solidFill>
                <a:latin typeface="Aptos"/>
              </a:defRPr>
            </a:pPr>
            <a:r>
              <a:t>Individual → puesta en común en equipo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13232" y="6272784"/>
            <a:ext cx="10607040" cy="20116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000" b="1">
                <a:solidFill>
                  <a:srgbClr val="A0AAB9"/>
                </a:solidFill>
                <a:latin typeface="Aptos"/>
              </a:defRPr>
            </a:pPr>
            <a:r>
              <a:t>MINIJARVIS · PROGRAMACIÓN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9F7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2F5B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274320"/>
            <a:ext cx="5486400" cy="25603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000" b="1">
                <a:solidFill>
                  <a:srgbClr val="2F5BA8"/>
                </a:solidFill>
                <a:latin typeface="Aptos"/>
              </a:defRPr>
            </a:pPr>
            <a:r>
              <a:t>PUNTO DE PARTIDA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03504"/>
            <a:ext cx="11064240" cy="53035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2800" b="1">
                <a:solidFill>
                  <a:srgbClr val="1C2330"/>
                </a:solidFill>
                <a:latin typeface="Aptos"/>
              </a:defRPr>
            </a:pPr>
            <a:r>
              <a:t>Qué debe conseguirse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601968"/>
            <a:ext cx="12191695" cy="256032"/>
          </a:xfrm>
          <a:prstGeom prst="rect">
            <a:avLst/>
          </a:prstGeom>
          <a:solidFill>
            <a:srgbClr val="2F5B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11480" y="6629400"/>
            <a:ext cx="11247120" cy="16459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900" b="0">
                <a:solidFill>
                  <a:srgbClr val="FFFFFF"/>
                </a:solidFill>
                <a:latin typeface="Aptos"/>
              </a:defRPr>
            </a:pPr>
            <a:r>
              <a:t>MiniJarvis · 1.º DAW · Sesión 206 · H1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94360" y="1389888"/>
            <a:ext cx="5184648" cy="4297680"/>
          </a:xfrm>
          <a:prstGeom prst="roundRect">
            <a:avLst/>
          </a:prstGeom>
          <a:solidFill>
            <a:srgbClr val="FFFFFF"/>
          </a:solidFill>
          <a:ln>
            <a:solidFill>
              <a:srgbClr val="E5E9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22960" y="1618488"/>
            <a:ext cx="4727448" cy="384048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2100" b="1">
                <a:solidFill>
                  <a:srgbClr val="1C2330"/>
                </a:solidFill>
                <a:latin typeface="Aptos"/>
              </a:defRPr>
            </a:pPr>
            <a:r>
              <a:t>Objetivo: Comprender el producto mínimo H1.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035040" y="1389888"/>
            <a:ext cx="5184648" cy="4297680"/>
          </a:xfrm>
          <a:prstGeom prst="roundRect">
            <a:avLst/>
          </a:prstGeom>
          <a:solidFill>
            <a:srgbClr val="FFFFFF"/>
          </a:solidFill>
          <a:ln>
            <a:solidFill>
              <a:srgbClr val="E5E9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263640" y="1618488"/>
            <a:ext cx="4727448" cy="384048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2100" b="1">
                <a:solidFill>
                  <a:srgbClr val="1C2330"/>
                </a:solidFill>
                <a:latin typeface="Aptos"/>
              </a:defRPr>
            </a:pPr>
            <a:r>
              <a:t>Evidencia: Lista de requisitos H1 y lista de restricciones.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9F7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2F5B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274320"/>
            <a:ext cx="5486400" cy="25603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000" b="1">
                <a:solidFill>
                  <a:srgbClr val="2F5BA8"/>
                </a:solidFill>
                <a:latin typeface="Aptos"/>
              </a:defRPr>
            </a:pPr>
            <a:r>
              <a:t>RITMO DE LA SESIÓN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03504"/>
            <a:ext cx="11064240" cy="53035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2800" b="1">
                <a:solidFill>
                  <a:srgbClr val="1C2330"/>
                </a:solidFill>
                <a:latin typeface="Aptos"/>
              </a:defRPr>
            </a:pPr>
            <a:r>
              <a:t>Secuencia de aula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601968"/>
            <a:ext cx="12191695" cy="256032"/>
          </a:xfrm>
          <a:prstGeom prst="rect">
            <a:avLst/>
          </a:prstGeom>
          <a:solidFill>
            <a:srgbClr val="2F5B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11480" y="6629400"/>
            <a:ext cx="11247120" cy="16459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900" b="0">
                <a:solidFill>
                  <a:srgbClr val="FFFFFF"/>
                </a:solidFill>
                <a:latin typeface="Aptos"/>
              </a:defRPr>
            </a:pPr>
            <a:r>
              <a:t>MiniJarvis · 1.º DAW · Sesión 206 · H1</a:t>
            </a:r>
          </a:p>
        </p:txBody>
      </p:sp>
      <p:sp>
        <p:nvSpPr>
          <p:cNvPr id="8" name="Oval 7"/>
          <p:cNvSpPr/>
          <p:nvPr/>
        </p:nvSpPr>
        <p:spPr>
          <a:xfrm>
            <a:off x="658368" y="1280160"/>
            <a:ext cx="475488" cy="475488"/>
          </a:xfrm>
          <a:prstGeom prst="ellipse">
            <a:avLst/>
          </a:prstGeom>
          <a:solidFill>
            <a:srgbClr val="2F5B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58368" y="1380744"/>
            <a:ext cx="475488" cy="20116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ctr">
              <a:defRPr sz="1300" b="1">
                <a:solidFill>
                  <a:srgbClr val="FFFFFF"/>
                </a:solidFill>
                <a:latin typeface="Aptos"/>
              </a:defRPr>
            </a:pPr>
            <a: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389888" y="1261872"/>
            <a:ext cx="10058400" cy="77266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600" b="0">
                <a:solidFill>
                  <a:srgbClr val="1C2330"/>
                </a:solidFill>
                <a:latin typeface="Aptos"/>
              </a:defRPr>
            </a:pPr>
            <a:r>
              <a:t>0–5 min — Presentar objetivo, producto y evidencia de hoy.</a:t>
            </a:r>
          </a:p>
        </p:txBody>
      </p:sp>
      <p:sp>
        <p:nvSpPr>
          <p:cNvPr id="11" name="Oval 10"/>
          <p:cNvSpPr/>
          <p:nvPr/>
        </p:nvSpPr>
        <p:spPr>
          <a:xfrm>
            <a:off x="658368" y="2125979"/>
            <a:ext cx="475488" cy="475488"/>
          </a:xfrm>
          <a:prstGeom prst="ellipse">
            <a:avLst/>
          </a:prstGeom>
          <a:solidFill>
            <a:srgbClr val="2F5B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58368" y="2226563"/>
            <a:ext cx="475488" cy="20116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ctr">
              <a:defRPr sz="1300" b="1">
                <a:solidFill>
                  <a:srgbClr val="FFFFFF"/>
                </a:solidFill>
                <a:latin typeface="Aptos"/>
              </a:defRPr>
            </a:pPr>
            <a:r>
              <a:t>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389888" y="2107691"/>
            <a:ext cx="10058400" cy="77266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600" b="0">
                <a:solidFill>
                  <a:srgbClr val="1C2330"/>
                </a:solidFill>
                <a:latin typeface="Aptos"/>
              </a:defRPr>
            </a:pPr>
            <a:r>
              <a:t>5–13 min — Explicación breve: H1 busca base sólida, no espectacularidad.</a:t>
            </a:r>
          </a:p>
        </p:txBody>
      </p:sp>
      <p:sp>
        <p:nvSpPr>
          <p:cNvPr id="14" name="Oval 13"/>
          <p:cNvSpPr/>
          <p:nvPr/>
        </p:nvSpPr>
        <p:spPr>
          <a:xfrm>
            <a:off x="658368" y="2971799"/>
            <a:ext cx="475488" cy="475488"/>
          </a:xfrm>
          <a:prstGeom prst="ellipse">
            <a:avLst/>
          </a:prstGeom>
          <a:solidFill>
            <a:srgbClr val="2F5B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58368" y="3072383"/>
            <a:ext cx="475488" cy="20116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ctr">
              <a:defRPr sz="1300" b="1">
                <a:solidFill>
                  <a:srgbClr val="FFFFFF"/>
                </a:solidFill>
                <a:latin typeface="Aptos"/>
              </a:defRPr>
            </a:pPr>
            <a:r>
              <a:t>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389888" y="2953511"/>
            <a:ext cx="10058400" cy="77266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600" b="0">
                <a:solidFill>
                  <a:srgbClr val="1C2330"/>
                </a:solidFill>
                <a:latin typeface="Aptos"/>
              </a:defRPr>
            </a:pPr>
            <a:r>
              <a:t>13–18 min — Demostración o ejemplo: Enseña una salida esperada de H1 en consola.</a:t>
            </a:r>
          </a:p>
        </p:txBody>
      </p:sp>
      <p:sp>
        <p:nvSpPr>
          <p:cNvPr id="17" name="Oval 16"/>
          <p:cNvSpPr/>
          <p:nvPr/>
        </p:nvSpPr>
        <p:spPr>
          <a:xfrm>
            <a:off x="658368" y="3817620"/>
            <a:ext cx="475488" cy="475488"/>
          </a:xfrm>
          <a:prstGeom prst="ellipse">
            <a:avLst/>
          </a:prstGeom>
          <a:solidFill>
            <a:srgbClr val="2F5B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58368" y="3918204"/>
            <a:ext cx="475488" cy="20116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ctr">
              <a:defRPr sz="1300" b="1">
                <a:solidFill>
                  <a:srgbClr val="FFFFFF"/>
                </a:solidFill>
                <a:latin typeface="Aptos"/>
              </a:defRPr>
            </a:pPr>
            <a:r>
              <a:t>4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89888" y="3799332"/>
            <a:ext cx="10058400" cy="77266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600" b="0">
                <a:solidFill>
                  <a:srgbClr val="1C2330"/>
                </a:solidFill>
                <a:latin typeface="Aptos"/>
              </a:defRPr>
            </a:pPr>
            <a:r>
              <a:t>18–35 min — Trabajo del alumnado: Clasificar ideas en tres columnas: H1, más adelante, no adecuado.</a:t>
            </a:r>
          </a:p>
        </p:txBody>
      </p:sp>
      <p:sp>
        <p:nvSpPr>
          <p:cNvPr id="20" name="Oval 19"/>
          <p:cNvSpPr/>
          <p:nvPr/>
        </p:nvSpPr>
        <p:spPr>
          <a:xfrm>
            <a:off x="658368" y="4663440"/>
            <a:ext cx="475488" cy="475488"/>
          </a:xfrm>
          <a:prstGeom prst="ellipse">
            <a:avLst/>
          </a:prstGeom>
          <a:solidFill>
            <a:srgbClr val="2F5B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58368" y="4764024"/>
            <a:ext cx="475488" cy="20116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ctr">
              <a:defRPr sz="1300" b="1">
                <a:solidFill>
                  <a:srgbClr val="FFFFFF"/>
                </a:solidFill>
                <a:latin typeface="Aptos"/>
              </a:defRPr>
            </a:pPr>
            <a:r>
              <a:t>5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389888" y="4645152"/>
            <a:ext cx="10058400" cy="77266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600" b="0">
                <a:solidFill>
                  <a:srgbClr val="1C2330"/>
                </a:solidFill>
                <a:latin typeface="Aptos"/>
              </a:defRPr>
            </a:pPr>
            <a:r>
              <a:t>35–40 min — Comprobar la evidencia con una explicación o prueba breve.</a:t>
            </a:r>
          </a:p>
        </p:txBody>
      </p:sp>
      <p:sp>
        <p:nvSpPr>
          <p:cNvPr id="23" name="Oval 22"/>
          <p:cNvSpPr/>
          <p:nvPr/>
        </p:nvSpPr>
        <p:spPr>
          <a:xfrm>
            <a:off x="658368" y="5509259"/>
            <a:ext cx="475488" cy="475488"/>
          </a:xfrm>
          <a:prstGeom prst="ellipse">
            <a:avLst/>
          </a:prstGeom>
          <a:solidFill>
            <a:srgbClr val="2F5B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58368" y="5609844"/>
            <a:ext cx="475488" cy="20116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ctr">
              <a:defRPr sz="1300" b="1">
                <a:solidFill>
                  <a:srgbClr val="FFFFFF"/>
                </a:solidFill>
                <a:latin typeface="Aptos"/>
              </a:defRPr>
            </a:pPr>
            <a:r>
              <a:t>6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389888" y="5490972"/>
            <a:ext cx="10058400" cy="77266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600" b="0">
                <a:solidFill>
                  <a:srgbClr val="1C2330"/>
                </a:solidFill>
                <a:latin typeface="Aptos"/>
              </a:defRPr>
            </a:pPr>
            <a:r>
              <a:t>40–45 min — Cierre: ¿por qué no conviene empezar con IA real?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9F7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2F5B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274320"/>
            <a:ext cx="5486400" cy="25603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000" b="1">
                <a:solidFill>
                  <a:srgbClr val="2F5BA8"/>
                </a:solidFill>
                <a:latin typeface="Aptos"/>
              </a:defRPr>
            </a:pPr>
            <a:r>
              <a:t>COMPRENDER Y TRANSFERIR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03504"/>
            <a:ext cx="11064240" cy="53035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2800" b="1">
                <a:solidFill>
                  <a:srgbClr val="1C2330"/>
                </a:solidFill>
                <a:latin typeface="Aptos"/>
              </a:defRPr>
            </a:pPr>
            <a:r>
              <a:t>Idea clave y puesta en práctica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601968"/>
            <a:ext cx="12191695" cy="256032"/>
          </a:xfrm>
          <a:prstGeom prst="rect">
            <a:avLst/>
          </a:prstGeom>
          <a:solidFill>
            <a:srgbClr val="2F5B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11480" y="6629400"/>
            <a:ext cx="11247120" cy="16459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900" b="0">
                <a:solidFill>
                  <a:srgbClr val="FFFFFF"/>
                </a:solidFill>
                <a:latin typeface="Aptos"/>
              </a:defRPr>
            </a:pPr>
            <a:r>
              <a:t>MiniJarvis · 1.º DAW · Sesión 206 · H1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1792" y="1325880"/>
            <a:ext cx="5285232" cy="4736592"/>
          </a:xfrm>
          <a:prstGeom prst="roundRect">
            <a:avLst/>
          </a:prstGeom>
          <a:solidFill>
            <a:srgbClr val="FFFFFF"/>
          </a:solidFill>
          <a:ln>
            <a:solidFill>
              <a:srgbClr val="E5E9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32688" y="1627632"/>
            <a:ext cx="2011680" cy="329184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300" b="1">
                <a:solidFill>
                  <a:srgbClr val="2F5BA8"/>
                </a:solidFill>
                <a:latin typeface="Aptos"/>
              </a:defRPr>
            </a:pPr>
            <a:r>
              <a:t>IDEA CLAVE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32688" y="2176272"/>
            <a:ext cx="4617720" cy="3429000"/>
          </a:xfrm>
          <a:prstGeom prst="rect">
            <a:avLst/>
          </a:prstGeom>
          <a:noFill/>
        </p:spPr>
        <p:txBody>
          <a:bodyPr wrap="square" lIns="73152" rIns="45720" tIns="36576">
            <a:spAutoFit/>
          </a:bodyPr>
          <a:lstStyle/>
          <a:p>
            <a:pPr>
              <a:spcAft>
                <a:spcPts val="900"/>
              </a:spcAft>
              <a:defRPr sz="2300">
                <a:solidFill>
                  <a:srgbClr val="1C2330"/>
                </a:solidFill>
                <a:latin typeface="Aptos"/>
              </a:defRPr>
            </a:pPr>
            <a:r>
              <a:t>•  H1 será lineal: saludo, nombre, mensajes y constantes. No habrá menú ni bucles.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172200" y="1325880"/>
            <a:ext cx="5394960" cy="4736592"/>
          </a:xfrm>
          <a:prstGeom prst="roundRect">
            <a:avLst/>
          </a:prstGeom>
          <a:solidFill>
            <a:srgbClr val="1218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92240" y="1627632"/>
            <a:ext cx="2194560" cy="329184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300" b="1">
                <a:solidFill>
                  <a:srgbClr val="2F5BA8"/>
                </a:solidFill>
                <a:latin typeface="Aptos"/>
              </a:defRPr>
            </a:pPr>
            <a:r>
              <a:t>EN PRÁCTICA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92240" y="2176272"/>
            <a:ext cx="4617720" cy="3429000"/>
          </a:xfrm>
          <a:prstGeom prst="rect">
            <a:avLst/>
          </a:prstGeom>
          <a:noFill/>
        </p:spPr>
        <p:txBody>
          <a:bodyPr wrap="square" lIns="73152" rIns="45720" tIns="36576">
            <a:spAutoFit/>
          </a:bodyPr>
          <a:lstStyle/>
          <a:p>
            <a:pPr>
              <a:spcAft>
                <a:spcPts val="900"/>
              </a:spcAft>
              <a:defRPr sz="2300">
                <a:solidFill>
                  <a:srgbClr val="FFFFFF"/>
                </a:solidFill>
                <a:latin typeface="Aptos"/>
              </a:defRPr>
            </a:pPr>
            <a:r>
              <a:t>•  Enseña una salida esperada de H1 en consola.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9F7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2F5B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274320"/>
            <a:ext cx="5486400" cy="25603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000" b="1">
                <a:solidFill>
                  <a:srgbClr val="2F5BA8"/>
                </a:solidFill>
                <a:latin typeface="Aptos"/>
              </a:defRPr>
            </a:pPr>
            <a:r>
              <a:t>APLICAR Y DECIDIR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03504"/>
            <a:ext cx="11064240" cy="53035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2800" b="1">
                <a:solidFill>
                  <a:srgbClr val="1C2330"/>
                </a:solidFill>
                <a:latin typeface="Aptos"/>
              </a:defRPr>
            </a:pPr>
            <a:r>
              <a:t>Actividad central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601968"/>
            <a:ext cx="12191695" cy="256032"/>
          </a:xfrm>
          <a:prstGeom prst="rect">
            <a:avLst/>
          </a:prstGeom>
          <a:solidFill>
            <a:srgbClr val="2F5B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11480" y="6629400"/>
            <a:ext cx="11247120" cy="16459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900" b="0">
                <a:solidFill>
                  <a:srgbClr val="FFFFFF"/>
                </a:solidFill>
                <a:latin typeface="Aptos"/>
              </a:defRPr>
            </a:pPr>
            <a:r>
              <a:t>MiniJarvis · 1.º DAW · Sesión 206 · H1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58368" y="1307592"/>
            <a:ext cx="10835640" cy="2226564"/>
          </a:xfrm>
          <a:prstGeom prst="roundRect">
            <a:avLst/>
          </a:prstGeom>
          <a:solidFill>
            <a:srgbClr val="FFFFFF"/>
          </a:solidFill>
          <a:ln>
            <a:solidFill>
              <a:srgbClr val="E5E9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50392" y="1453895"/>
            <a:ext cx="685800" cy="38404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200" b="1">
                <a:solidFill>
                  <a:srgbClr val="2F5BA8"/>
                </a:solidFill>
                <a:latin typeface="Aptos"/>
              </a:defRPr>
            </a:pPr>
            <a:r>
              <a:t>PASO 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664208" y="1417319"/>
            <a:ext cx="9464040" cy="200710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2000" b="0">
                <a:solidFill>
                  <a:srgbClr val="1C2330"/>
                </a:solidFill>
                <a:latin typeface="Aptos"/>
              </a:defRPr>
            </a:pPr>
            <a:r>
              <a:t>Clasificar funcionalidades en “H1”, “más adelante” y “no adecuado”.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58368" y="3776472"/>
            <a:ext cx="10835640" cy="2226564"/>
          </a:xfrm>
          <a:prstGeom prst="roundRect">
            <a:avLst/>
          </a:prstGeom>
          <a:solidFill>
            <a:srgbClr val="FFFFFF"/>
          </a:solidFill>
          <a:ln>
            <a:solidFill>
              <a:srgbClr val="E5E9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50392" y="3922776"/>
            <a:ext cx="685800" cy="38404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200" b="1">
                <a:solidFill>
                  <a:srgbClr val="2F5BA8"/>
                </a:solidFill>
                <a:latin typeface="Aptos"/>
              </a:defRPr>
            </a:pPr>
            <a:r>
              <a:t>PASO 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664208" y="3886200"/>
            <a:ext cx="9464040" cy="200710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2000" b="0">
                <a:solidFill>
                  <a:srgbClr val="1C2330"/>
                </a:solidFill>
                <a:latin typeface="Aptos"/>
              </a:defRPr>
            </a:pPr>
            <a:r>
              <a:t>Comprueba y registra la evidencia: Lista de requisitos H1 y lista de restricciones.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9F7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2F5B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274320"/>
            <a:ext cx="5486400" cy="25603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000" b="1">
                <a:solidFill>
                  <a:srgbClr val="2F5BA8"/>
                </a:solidFill>
                <a:latin typeface="Aptos"/>
              </a:defRPr>
            </a:pPr>
            <a:r>
              <a:t>COMPROBAR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03504"/>
            <a:ext cx="11064240" cy="53035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2800" b="1">
                <a:solidFill>
                  <a:srgbClr val="1C2330"/>
                </a:solidFill>
                <a:latin typeface="Aptos"/>
              </a:defRPr>
            </a:pPr>
            <a:r>
              <a:t>Evidencia y comprobación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601968"/>
            <a:ext cx="12191695" cy="256032"/>
          </a:xfrm>
          <a:prstGeom prst="rect">
            <a:avLst/>
          </a:prstGeom>
          <a:solidFill>
            <a:srgbClr val="2F5B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11480" y="6629400"/>
            <a:ext cx="11247120" cy="16459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900" b="0">
                <a:solidFill>
                  <a:srgbClr val="FFFFFF"/>
                </a:solidFill>
                <a:latin typeface="Aptos"/>
              </a:defRPr>
            </a:pPr>
            <a:r>
              <a:t>MiniJarvis · 1.º DAW · Sesión 206 · H1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13232" y="1298448"/>
            <a:ext cx="420624" cy="420624"/>
          </a:xfrm>
          <a:prstGeom prst="roundRect">
            <a:avLst/>
          </a:prstGeom>
          <a:solidFill>
            <a:srgbClr val="FFFFFF"/>
          </a:solidFill>
          <a:ln>
            <a:solidFill>
              <a:srgbClr val="2F5BA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389888" y="1280160"/>
            <a:ext cx="9829800" cy="96012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900" b="0">
                <a:solidFill>
                  <a:srgbClr val="1C2330"/>
                </a:solidFill>
                <a:latin typeface="Aptos"/>
              </a:defRPr>
            </a:pPr>
            <a:r>
              <a:t>Pueden explicar qué están intentando conseguir.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13232" y="2295144"/>
            <a:ext cx="420624" cy="420624"/>
          </a:xfrm>
          <a:prstGeom prst="roundRect">
            <a:avLst/>
          </a:prstGeom>
          <a:solidFill>
            <a:srgbClr val="FFFFFF"/>
          </a:solidFill>
          <a:ln>
            <a:solidFill>
              <a:srgbClr val="2F5BA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389888" y="2276856"/>
            <a:ext cx="9829800" cy="96012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900" b="0">
                <a:solidFill>
                  <a:srgbClr val="1C2330"/>
                </a:solidFill>
                <a:latin typeface="Aptos"/>
              </a:defRPr>
            </a:pPr>
            <a:r>
              <a:t>Registran una decisión, prueba o bloqueo; no muestran solo el resultado final.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13232" y="3291839"/>
            <a:ext cx="420624" cy="420624"/>
          </a:xfrm>
          <a:prstGeom prst="roundRect">
            <a:avLst/>
          </a:prstGeom>
          <a:solidFill>
            <a:srgbClr val="FFFFFF"/>
          </a:solidFill>
          <a:ln>
            <a:solidFill>
              <a:srgbClr val="2F5BA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389888" y="3273551"/>
            <a:ext cx="9829800" cy="96012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900" b="0">
                <a:solidFill>
                  <a:srgbClr val="1C2330"/>
                </a:solidFill>
                <a:latin typeface="Aptos"/>
              </a:defRPr>
            </a:pPr>
            <a:r>
              <a:t>Todas las personas pueden describir su aportación.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13232" y="4288536"/>
            <a:ext cx="420624" cy="420624"/>
          </a:xfrm>
          <a:prstGeom prst="roundRect">
            <a:avLst/>
          </a:prstGeom>
          <a:solidFill>
            <a:srgbClr val="FFFFFF"/>
          </a:solidFill>
          <a:ln>
            <a:solidFill>
              <a:srgbClr val="2F5BA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389888" y="4270248"/>
            <a:ext cx="9829800" cy="96012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900" b="0">
                <a:solidFill>
                  <a:srgbClr val="1C2330"/>
                </a:solidFill>
                <a:latin typeface="Aptos"/>
              </a:defRPr>
            </a:pPr>
            <a:r>
              <a:t>Comprueban el producto con un criterio observable.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713232" y="5285231"/>
            <a:ext cx="420624" cy="420624"/>
          </a:xfrm>
          <a:prstGeom prst="roundRect">
            <a:avLst/>
          </a:prstGeom>
          <a:solidFill>
            <a:srgbClr val="FFFFFF"/>
          </a:solidFill>
          <a:ln>
            <a:solidFill>
              <a:srgbClr val="2F5BA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389888" y="5266944"/>
            <a:ext cx="9829800" cy="96012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900" b="0">
                <a:solidFill>
                  <a:srgbClr val="1C2330"/>
                </a:solidFill>
                <a:latin typeface="Aptos"/>
              </a:defRPr>
            </a:pPr>
            <a:r>
              <a:t>No usan datos personales, credenciales ni respuestas de ejemplo antes del intento propio.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9F7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2F5B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274320"/>
            <a:ext cx="5486400" cy="25603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000" b="1">
                <a:solidFill>
                  <a:srgbClr val="2F5BA8"/>
                </a:solidFill>
                <a:latin typeface="Aptos"/>
              </a:defRPr>
            </a:pPr>
            <a:r>
              <a:t>LÍMITES QUE PROTEGEN EL APRENDIZAJE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03504"/>
            <a:ext cx="11064240" cy="53035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2800" b="1">
                <a:solidFill>
                  <a:srgbClr val="1C2330"/>
                </a:solidFill>
                <a:latin typeface="Aptos"/>
              </a:defRPr>
            </a:pPr>
            <a:r>
              <a:t>Seguridad y uso responsable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601968"/>
            <a:ext cx="12191695" cy="256032"/>
          </a:xfrm>
          <a:prstGeom prst="rect">
            <a:avLst/>
          </a:prstGeom>
          <a:solidFill>
            <a:srgbClr val="2F5B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11480" y="6629400"/>
            <a:ext cx="11247120" cy="16459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900" b="0">
                <a:solidFill>
                  <a:srgbClr val="FFFFFF"/>
                </a:solidFill>
                <a:latin typeface="Aptos"/>
              </a:defRPr>
            </a:pPr>
            <a:r>
              <a:t>MiniJarvis · 1.º DAW · Sesión 206 · H1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1792" y="1298448"/>
            <a:ext cx="5230368" cy="2176272"/>
          </a:xfrm>
          <a:prstGeom prst="roundRect">
            <a:avLst/>
          </a:prstGeom>
          <a:solidFill>
            <a:srgbClr val="FFFFFF"/>
          </a:solidFill>
          <a:ln>
            <a:solidFill>
              <a:srgbClr val="E5E9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841248" y="1527048"/>
            <a:ext cx="237744" cy="1719072"/>
          </a:xfrm>
          <a:prstGeom prst="roundRect">
            <a:avLst/>
          </a:prstGeom>
          <a:solidFill>
            <a:srgbClr val="247E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280160" y="1527048"/>
            <a:ext cx="4224528" cy="178308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900" b="0">
                <a:solidFill>
                  <a:srgbClr val="1C2330"/>
                </a:solidFill>
                <a:latin typeface="Aptos"/>
              </a:defRPr>
            </a:pPr>
            <a:r>
              <a:t>Trabaja únicamente con datos ficticios.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126479" y="1298448"/>
            <a:ext cx="5230368" cy="2176272"/>
          </a:xfrm>
          <a:prstGeom prst="roundRect">
            <a:avLst/>
          </a:prstGeom>
          <a:solidFill>
            <a:srgbClr val="FFFFFF"/>
          </a:solidFill>
          <a:ln>
            <a:solidFill>
              <a:srgbClr val="E5E9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6345936" y="1527048"/>
            <a:ext cx="237744" cy="1719072"/>
          </a:xfrm>
          <a:prstGeom prst="roundRect">
            <a:avLst/>
          </a:prstGeom>
          <a:solidFill>
            <a:srgbClr val="C070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784847" y="1527048"/>
            <a:ext cx="4224528" cy="178308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900" b="0">
                <a:solidFill>
                  <a:srgbClr val="1C2330"/>
                </a:solidFill>
                <a:latin typeface="Aptos"/>
              </a:defRPr>
            </a:pPr>
            <a:r>
              <a:t>No escribas contraseñas, tokens, claves API ni datos personales.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21792" y="3675887"/>
            <a:ext cx="5230368" cy="2176272"/>
          </a:xfrm>
          <a:prstGeom prst="roundRect">
            <a:avLst/>
          </a:prstGeom>
          <a:solidFill>
            <a:srgbClr val="FFFFFF"/>
          </a:solidFill>
          <a:ln>
            <a:solidFill>
              <a:srgbClr val="E5E9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841248" y="3904487"/>
            <a:ext cx="237744" cy="1719072"/>
          </a:xfrm>
          <a:prstGeom prst="roundRect">
            <a:avLst/>
          </a:prstGeom>
          <a:solidFill>
            <a:srgbClr val="B13A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280160" y="3904487"/>
            <a:ext cx="4224528" cy="178308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900" b="0">
                <a:solidFill>
                  <a:srgbClr val="1C2330"/>
                </a:solidFill>
                <a:latin typeface="Aptos"/>
              </a:defRPr>
            </a:pPr>
            <a:r>
              <a:t>Si utilizas IA en un uso permitido, registra qué pediste, qué recibiste, qué cambiaste y cómo lo comprobaste.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126479" y="3675887"/>
            <a:ext cx="5230368" cy="2176272"/>
          </a:xfrm>
          <a:prstGeom prst="roundRect">
            <a:avLst/>
          </a:prstGeom>
          <a:solidFill>
            <a:srgbClr val="FFFFFF"/>
          </a:solidFill>
          <a:ln>
            <a:solidFill>
              <a:srgbClr val="E5E9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6345936" y="3904487"/>
            <a:ext cx="237744" cy="1719072"/>
          </a:xfrm>
          <a:prstGeom prst="roundRect">
            <a:avLst/>
          </a:prstGeom>
          <a:solidFill>
            <a:srgbClr val="2F5B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784847" y="3904487"/>
            <a:ext cx="4224528" cy="178308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900" b="0">
                <a:solidFill>
                  <a:srgbClr val="1C2330"/>
                </a:solidFill>
                <a:latin typeface="Aptos"/>
              </a:defRPr>
            </a:pPr>
            <a:r>
              <a:t>Los ejemplos de Laura solo se consultan después del intento propio.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9F7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2F5B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274320"/>
            <a:ext cx="5486400" cy="25603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000" b="1">
                <a:solidFill>
                  <a:srgbClr val="2F5BA8"/>
                </a:solidFill>
                <a:latin typeface="Aptos"/>
              </a:defRPr>
            </a:pPr>
            <a:r>
              <a:t>EXPLICAR Y DEFENDER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03504"/>
            <a:ext cx="11064240" cy="53035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2800" b="1">
                <a:solidFill>
                  <a:srgbClr val="1C2330"/>
                </a:solidFill>
                <a:latin typeface="Aptos"/>
              </a:defRPr>
            </a:pPr>
            <a:r>
              <a:t>Cierre y defensa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601968"/>
            <a:ext cx="12191695" cy="256032"/>
          </a:xfrm>
          <a:prstGeom prst="rect">
            <a:avLst/>
          </a:prstGeom>
          <a:solidFill>
            <a:srgbClr val="2F5B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11480" y="6629400"/>
            <a:ext cx="11247120" cy="16459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900" b="0">
                <a:solidFill>
                  <a:srgbClr val="FFFFFF"/>
                </a:solidFill>
                <a:latin typeface="Aptos"/>
              </a:defRPr>
            </a:pPr>
            <a:r>
              <a:t>MiniJarvis · 1.º DAW · Sesión 206 · H1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1792" y="1298448"/>
            <a:ext cx="10927080" cy="1828800"/>
          </a:xfrm>
          <a:prstGeom prst="roundRect">
            <a:avLst/>
          </a:prstGeom>
          <a:solidFill>
            <a:srgbClr val="2F5BA8"/>
          </a:solidFill>
          <a:ln>
            <a:solidFill>
              <a:srgbClr val="2F5BA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32688" y="1591056"/>
            <a:ext cx="10241280" cy="25603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300" b="1">
                <a:solidFill>
                  <a:srgbClr val="FFFFFF"/>
                </a:solidFill>
                <a:latin typeface="Aptos"/>
              </a:defRPr>
            </a:pPr>
            <a:r>
              <a:t>PREGUNTA O DECISIÓN DE SALIDA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32688" y="1975104"/>
            <a:ext cx="10058400" cy="82296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2500" b="1">
                <a:solidFill>
                  <a:srgbClr val="FFFFFF"/>
                </a:solidFill>
                <a:latin typeface="Aptos"/>
              </a:defRPr>
            </a:pPr>
            <a:r>
              <a:t>¿por qué no conviene empezar con IA real?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49808" y="3886200"/>
            <a:ext cx="10607040" cy="1280160"/>
          </a:xfrm>
          <a:prstGeom prst="rect">
            <a:avLst/>
          </a:prstGeom>
          <a:noFill/>
        </p:spPr>
        <p:txBody>
          <a:bodyPr wrap="square" lIns="45720" rIns="45720" tIns="36576" bIns="36576" anchor="ctr">
            <a:spAutoFit/>
          </a:bodyPr>
          <a:lstStyle/>
          <a:p>
            <a:pPr algn="ctr">
              <a:defRPr sz="2300" b="1">
                <a:solidFill>
                  <a:srgbClr val="247E5C"/>
                </a:solidFill>
                <a:latin typeface="Aptos"/>
              </a:defRPr>
            </a:pPr>
            <a:r>
              <a:t>La sesión termina cuando la evidencia existe, está comprobada y puede defenderse.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