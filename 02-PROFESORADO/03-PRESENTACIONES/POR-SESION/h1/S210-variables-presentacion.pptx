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Presentar la finalidad: planificar datos antes de código. Función del soporte: explicación.</a:t>
            </a:r>
          </a:p>
          <a:p/>
          <a:p>
            <a:r>
              <a:t>Andamiaje y recuperación · Andamiaje ante bloqueos</a:t>
            </a:r>
          </a:p>
          <a:p>
            <a:r>
              <a:t>No reemplaces el razonamiento del alumnado por una solución completa. Utiliza la ayuda mínima que corresponda:</a:t>
            </a:r>
          </a:p>
          <a:p/>
          <a:p>
            <a:r>
              <a:t>- **Confusión entre variable y valor:** vuelve al ejemplo de dos variables con el mismo valor y pregunta qué permanece y qué podría cambiar por separado.</a:t>
            </a:r>
          </a:p>
          <a:p>
            <a:r>
              <a:t>- **Duda sobre el tipo:** pregunta qué representa el dato y qué operaciones se harán con él.</a:t>
            </a:r>
          </a:p>
          <a:p>
            <a:r>
              <a:t>- **Nombres pobres:** pregunta qué esperaría encontrar otra persona al leer el nombre sin ver el valor.</a:t>
            </a:r>
          </a:p>
          <a:p>
            <a:r>
              <a:t>- **Repetición del tipo al reasignar:** vuelve al contraste entre declaración y asignación posterior.</a:t>
            </a:r>
          </a:p>
          <a:p>
            <a:r>
              <a:t>- **Ejecución sin razonamiento:** pide una predicción concreta antes de permitir la ejecución y contrástala después con el resultado.</a:t>
            </a:r>
          </a:p>
          <a:p/>
          <a:p>
            <a:r>
              <a:t>Ritmo fuente · Temporalización orientativa</a:t>
            </a:r>
          </a:p>
          <a:p>
            <a:r>
              <a:t>0–5 min — Presentar la finalidad: planificar datos antes de código.</a:t>
            </a:r>
          </a:p>
          <a:p/>
          <a:p>
            <a:r>
              <a:t>5–15 min — Explicar variable frente a valor, tipos de uso y renombrado.</a:t>
            </a:r>
          </a:p>
          <a:p/>
          <a:p>
            <a:r>
              <a:t>15–23 min — Declarar, inicializar y asignar; vocabulario imprescindible.</a:t>
            </a:r>
          </a:p>
          <a:p/>
          <a:p>
            <a:r>
              <a:t>23–31 min — Actividad individual: comprender, predecir y practicar variables.</a:t>
            </a:r>
          </a:p>
          <a:p/>
          <a:p>
            <a:r>
              <a:t>31–37 min — Contrastar y planificar en equipo: tabla de datos acordada.</a:t>
            </a:r>
          </a:p>
          <a:p/>
          <a:p>
            <a:r>
              <a:t>37–41 min — Integrar variables en MiniJarvis y ejecutar con reasignación.</a:t>
            </a:r>
          </a:p>
          <a:p/>
          <a:p>
            <a:r>
              <a:t>41–45 min — Comprobar comprensión individual y cerrar.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Presentar la finalidad: planificar datos antes de código. Función del soporte: explicación.</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Presentar la finalidad: planificar datos antes de código. Función del soporte: apoyo al trabajo.</a:t>
            </a:r>
          </a:p>
          <a:p/>
          <a:p>
            <a:r>
              <a:t>Detalle para la explicación oral · Ideas y ejemplos</a:t>
            </a:r>
          </a:p>
          <a:p>
            <a:r>
              <a:t>Una variable es una zona de memoria identificada por un nombre. El tipo indica qué clase de dato puede guardar. El valor puede cambiar. La variable no es lo mismo que su valor actual.</a:t>
            </a:r>
          </a:p>
          <a:p/>
          <a:p>
            <a:r>
              <a:t>La variable permanece; lo que cambia es el valor guardado. Primero `horasEstudio` vale 4 y después vale 5.</a:t>
            </a:r>
          </a:p>
          <a:p/>
          <a:p>
            <a:r>
              <a:t>Hay una variable o dos. Qué pasaría si después cambia solo `horasEstudio`.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Presentar la finalidad: planificar datos antes de código. Función del soporte: apoyo al trabajo.</a:t>
            </a:r>
          </a:p>
          <a:p/>
          <a:p>
            <a:r>
              <a:t>Detalle para la explicación oral · Ideas y ejemplos</a:t>
            </a:r>
          </a:p>
          <a:p>
            <a:r>
              <a:t>Una variable es una zona de memoria identificada por un nombre. El tipo indica qué clase de dato puede guardar. El valor puede cambiar. La variable no es lo mismo que su valor actual.</a:t>
            </a:r>
          </a:p>
          <a:p/>
          <a:p>
            <a:r>
              <a:t>La variable permanece; lo que cambia es el valor guardado. Primero `horasEstudio` vale 4 y después vale 5.</a:t>
            </a:r>
          </a:p>
          <a:p/>
          <a:p>
            <a:r>
              <a:t>Hay una variable o dos. Qué pasaría si después cambia solo `horasEstudio`.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Presentar la finalidad: planificar datos antes de código. Función del soporte: apoyo al trabajo.</a:t>
            </a:r>
          </a:p>
          <a:p/>
          <a:p>
            <a:r>
              <a:t>Detalle para la explicación oral · Ideas y ejemplos</a:t>
            </a:r>
          </a:p>
          <a:p>
            <a:r>
              <a:t>Una variable es una zona de memoria identificada por un nombre. El tipo indica qué clase de dato puede guardar. El valor puede cambiar. La variable no es lo mismo que su valor actual.</a:t>
            </a:r>
          </a:p>
          <a:p/>
          <a:p>
            <a:r>
              <a:t>La variable permanece; lo que cambia es el valor guardado. Primero `horasEstudio` vale 4 y después vale 5.</a:t>
            </a:r>
          </a:p>
          <a:p/>
          <a:p>
            <a:r>
              <a:t>Hay una variable o dos. Qué pasaría si después cambia solo `horasEstudio`.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Explicar variable frente a valor, tipos de uso y renombrado. Función del soporte: apoyo al trabajo. Reloj fuente 15–23 min: duración compartida 480 segundos. Trabajo: Declarar, inicializar y asignar; vocabulario imprescindible. Función del soporte: apoyo al trabajo.</a:t>
            </a:r>
          </a:p>
          <a:p/>
          <a:p>
            <a:r>
              <a:t>Detalle para la explicación oral · Mapa mínimo de tipos de Java</a:t>
            </a:r>
          </a:p>
          <a:p>
            <a:r>
              <a:t>En H1 utilizaremos principalmente `int`, `double`, `char` y `boolean`. No es necesario memorizar todavía sus rangos; sí reconocer qué familia representa cada dato y elegir un tipo compatible con las operaciones previstas.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Explicar variable frente a valor, tipos de uso y renombrado. Función del soporte: apoyo al trabajo.</a:t>
            </a:r>
          </a:p>
          <a:p/>
          <a:p>
            <a:r>
              <a:t>Detalle para la explicación oral · Tipos primitivos y tipo de referencia</a:t>
            </a:r>
          </a:p>
          <a:p>
            <a:r>
              <a:t>En H1 basta con esta distinción inicial. No necesitamos adelantar memoria, identidad de objetos ni constructores para usar correctamente texto, `String` y `Scanner`.</a:t>
            </a:r>
          </a:p>
          <a:p/>
          <a:p>
            <a:r>
              <a:t>Un número de teléfono contiene dígitos. Lo guardarías como número si no vas a hacer cálculos matemáticos con él.</a:t>
            </a:r>
          </a:p>
          <a:p/>
          <a:p>
            <a:r>
              <a:t>Muestro solo el nombre de la variable. Decid qué dato esperáis encontrar. Si nadie puede responder, el nombre debe mejorar.</a:t>
            </a:r>
          </a:p>
          <a:p/>
          <a:p>
            <a:r>
              <a:t>Esto no significa que 2 sea igual a 5. Significa: guarda ahora 5 en `tareas`.</a:t>
            </a:r>
          </a:p>
          <a:p/>
          <a:p>
            <a:r>
              <a:t>`String` no sirve para todo. Elegimos el tipo según lo que necesitamos representar y hacer con el dato.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Explicar variable frente a valor, tipos de uso y renombrado. Función del soporte: apoyo al trabajo.</a:t>
            </a:r>
          </a:p>
          <a:p/>
          <a:p>
            <a:r>
              <a:t>Detalle para la explicación oral · Tipos primitivos y tipo de referencia</a:t>
            </a:r>
          </a:p>
          <a:p>
            <a:r>
              <a:t>En H1 basta con esta distinción inicial. No necesitamos adelantar memoria, identidad de objetos ni constructores para usar correctamente texto, `String` y `Scanner`.</a:t>
            </a:r>
          </a:p>
          <a:p/>
          <a:p>
            <a:r>
              <a:t>Un número de teléfono contiene dígitos. Lo guardarías como número si no vas a hacer cálculos matemáticos con él.</a:t>
            </a:r>
          </a:p>
          <a:p/>
          <a:p>
            <a:r>
              <a:t>Muestro solo el nombre de la variable. Decid qué dato esperáis encontrar. Si nadie puede responder, el nombre debe mejorar.</a:t>
            </a:r>
          </a:p>
          <a:p/>
          <a:p>
            <a:r>
              <a:t>Esto no significa que 2 sea igual a 5. Significa: guarda ahora 5 en `tareas`.</a:t>
            </a:r>
          </a:p>
          <a:p/>
          <a:p>
            <a:r>
              <a:t>`String` no sirve para todo. Elegimos el tipo según lo que necesitamos representar y hacer con el dato.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Explicar variable frente a valor, tipos de uso y renombrado. Función del soporte: apoyo al trabajo.</a:t>
            </a:r>
          </a:p>
          <a:p/>
          <a:p>
            <a:r>
              <a:t>Detalle para la explicación oral · Tipos primitivos y tipo de referencia</a:t>
            </a:r>
          </a:p>
          <a:p>
            <a:r>
              <a:t>En H1 basta con esta distinción inicial. No necesitamos adelantar memoria, identidad de objetos ni constructores para usar correctamente texto, `String` y `Scanner`.</a:t>
            </a:r>
          </a:p>
          <a:p/>
          <a:p>
            <a:r>
              <a:t>Un número de teléfono contiene dígitos. Lo guardarías como número si no vas a hacer cálculos matemáticos con él.</a:t>
            </a:r>
          </a:p>
          <a:p/>
          <a:p>
            <a:r>
              <a:t>Muestro solo el nombre de la variable. Decid qué dato esperáis encontrar. Si nadie puede responder, el nombre debe mejorar.</a:t>
            </a:r>
          </a:p>
          <a:p/>
          <a:p>
            <a:r>
              <a:t>Esto no significa que 2 sea igual a 5. Significa: guarda ahora 5 en `tareas`.</a:t>
            </a:r>
          </a:p>
          <a:p/>
          <a:p>
            <a:r>
              <a:t>`String` no sirve para todo. Elegimos el tipo según lo que necesitamos representar y hacer con el dato.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Explicar variable frente a valor, tipos de uso y renombrado. Función del soporte: apoyo al trabajo.</a:t>
            </a:r>
          </a:p>
          <a:p/>
          <a:p>
            <a:r>
              <a:t>Detalle para la explicación oral · Tipos primitivos y tipo de referencia</a:t>
            </a:r>
          </a:p>
          <a:p>
            <a:r>
              <a:t>En H1 basta con esta distinción inicial. No necesitamos adelantar memoria, identidad de objetos ni constructores para usar correctamente texto, `String` y `Scanner`.</a:t>
            </a:r>
          </a:p>
          <a:p/>
          <a:p>
            <a:r>
              <a:t>Un número de teléfono contiene dígitos. Lo guardarías como número si no vas a hacer cálculos matemáticos con él.</a:t>
            </a:r>
          </a:p>
          <a:p/>
          <a:p>
            <a:r>
              <a:t>Muestro solo el nombre de la variable. Decid qué dato esperáis encontrar. Si nadie puede responder, el nombre debe mejorar.</a:t>
            </a:r>
          </a:p>
          <a:p/>
          <a:p>
            <a:r>
              <a:t>Esto no significa que 2 sea igual a 5. Significa: guarda ahora 5 en `tareas`.</a:t>
            </a:r>
          </a:p>
          <a:p/>
          <a:p>
            <a:r>
              <a:t>`String` no sirve para todo. Elegimos el tipo según lo que necesitamos representar y hacer con el dato.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Explicar variable frente a valor, tipos de uso y renombrado. Función del soporte: apoyo al trabajo.</a:t>
            </a:r>
          </a:p>
          <a:p/>
          <a:p>
            <a:r>
              <a:t>Detalle para la explicación oral · Tipos primitivos y tipo de referencia</a:t>
            </a:r>
          </a:p>
          <a:p>
            <a:r>
              <a:t>En H1 basta con esta distinción inicial. No necesitamos adelantar memoria, identidad de objetos ni constructores para usar correctamente texto, `String` y `Scanner`.</a:t>
            </a:r>
          </a:p>
          <a:p/>
          <a:p>
            <a:r>
              <a:t>Un número de teléfono contiene dígitos. Lo guardarías como número si no vas a hacer cálculos matemáticos con él.</a:t>
            </a:r>
          </a:p>
          <a:p/>
          <a:p>
            <a:r>
              <a:t>Muestro solo el nombre de la variable. Decid qué dato esperáis encontrar. Si nadie puede responder, el nombre debe mejorar.</a:t>
            </a:r>
          </a:p>
          <a:p/>
          <a:p>
            <a:r>
              <a:t>Esto no significa que 2 sea igual a 5. Significa: guarda ahora 5 en `tareas`.</a:t>
            </a:r>
          </a:p>
          <a:p/>
          <a:p>
            <a:r>
              <a:t>`String` no sirve para todo. Elegimos el tipo según lo que necesitamos representar y hacer con el dato.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23–31 min: duración compartida 480 segundos. Trabajo: Actividad individual: comprender, predecir y practicar variables. Función del soporte: actividad.</a:t>
            </a:r>
          </a:p>
          <a:p/>
          <a:p>
            <a:r>
              <a:t>Detalle para la explicación oral · Comprender, predecir y practicar — INDIVIDUAL</a:t>
            </a:r>
          </a:p>
          <a:p>
            <a:r>
              <a:t>Esta micropráctica garantiza práctica individual antes de integrar en equipo. No es un nuevo entregable, no se sube a Moodle, Drive o Site y no obliga a crear una fila de diario.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23–31 min: duración compartida 480 segundos. Trabajo: Actividad individual: comprender, predecir y practicar variables. Función del soporte: actividad.</a:t>
            </a:r>
          </a:p>
          <a:p/>
          <a:p>
            <a:r>
              <a:t>Detalle para la explicación oral · Comprender, predecir y practicar — INDIVIDUAL</a:t>
            </a:r>
          </a:p>
          <a:p>
            <a:r>
              <a:t>Esta micropráctica garantiza práctica individual antes de integrar en equipo. No es un nuevo entregable, no se sube a Moodle, Drive o Site y no obliga a crear una fila de diario.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31–37 min: duración compartida 360 segundos. Trabajo: Contrastar y planificar en equipo: tabla de datos acordada. Función del soporte: actividad.</a:t>
            </a:r>
          </a:p>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37–41 min: duración compartida 240 segundos. Trabajo: Integrar variables en MiniJarvis y ejecutar con reasignación. Función del soporte: actividad.</a:t>
            </a:r>
          </a:p>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37–41 min: duración compartida 240 segundos. Trabajo: Integrar variables en MiniJarvis y ejecutar con reasignación. Función del soporte: actividad.</a:t>
            </a:r>
          </a:p>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31–37 min: duración compartida 360 segundos. Trabajo: Contrastar y planificar en equipo: tabla de datos acordada. Función del soporte: apoyo al trabajo. Reloj fuente 37–41 min: duración compartida 240 segundos. Trabajo: Integrar variables en MiniJarvis y ejecutar con reasignación. Función del soporte: apoyo al trabajo.</a:t>
            </a:r>
          </a:p>
          <a:p/>
          <a:p>
            <a:r>
              <a:t>Observación · Observación docente</a:t>
            </a:r>
          </a:p>
          <a:p>
            <a:r>
              <a:t>Durante la actividad y la comprobación individual, revisa de forma observable:</a:t>
            </a:r>
          </a:p>
          <a:p/>
          <a:p>
            <a:r>
              <a:t>- que el alumnado distingue la variable de su valor actual, incluso cuando dos variables contienen el mismo valor;</a:t>
            </a:r>
          </a:p>
          <a:p>
            <a:r>
              <a:t>- que selecciona el tipo según el dato que representa y el uso u operaciones previstos;</a:t>
            </a:r>
          </a:p>
          <a:p>
            <a:r>
              <a:t>- que emplea nombres significativos y puede justificar qué esperaría encontrar otra persona al leerlos;</a:t>
            </a:r>
          </a:p>
          <a:p>
            <a:r>
              <a:t>- que distingue declaración, inicialización y asignación posterior;</a:t>
            </a:r>
          </a:p>
          <a:p>
            <a:r>
              <a:t>- que comprende la reasignación como cambio del valor guardado, sin confundirla con una igualdad matemática;</a:t>
            </a:r>
          </a:p>
          <a:p>
            <a:r>
              <a:t>- que predice las salidas antes de ejecutar;</a:t>
            </a:r>
          </a:p>
          <a:p>
            <a:r>
              <a:t>- que ejecuta y comprueba el resultado frente a su predicción;</a:t>
            </a:r>
          </a:p>
          <a:p>
            <a:r>
              <a:t>- que cualquier integrante puede explicar individualmente las decisiones tomadas por el equipo.</a:t>
            </a:r>
          </a:p>
          <a:p/>
          <a:p>
            <a:r>
              <a:t>Comprueba además que no usen `x`, `dato1` o nombres sin significado y que no repitan valores fijos por todas partes.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41–45 min: duración compartida 240 segundos. Trabajo: Comprobar comprensión individual y cerrar. Función del soporte: comprobación individual.</a:t>
            </a:r>
          </a:p>
          <a:p/>
          <a:p>
            <a:r>
              <a:t>Detalle para la explicación oral · Comprobar comprensión — INDIVIDUAL</a:t>
            </a:r>
          </a:p>
          <a:p>
            <a:r>
              <a:t>Estos momentos organizan el trabajo de la sesión. No se convierten en documentos ni formularios adicionales.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41–45 min: duración compartida 240 segundos. Trabajo: Comprobar comprensión individual y cerrar. Función del soporte: comprobación individual.</a:t>
            </a:r>
          </a:p>
          <a:p/>
          <a:p>
            <a:r>
              <a:t>Detalle para la explicación oral · Comprobar comprensión — INDIVIDUAL</a:t>
            </a:r>
          </a:p>
          <a:p>
            <a:r>
              <a:t>Estos momentos organizan el trabajo de la sesión. No se convierten en documentos ni formularios adicionales.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41–45 min: duración compartida 240 segundos. Trabajo: Comprobar comprensión individual y cerrar.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41–45 min: duración compartida 240 segundos. Trabajo: Comprobar comprensión individual y cerrar.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41–45 min: duración compartida 240 segundos. Trabajo: Comprobar comprensión individual y cerrar. Función del soporte: apoyo al trabajo.</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41–45 min: duración compartida 240 segundos. Trabajo: Comprobar comprensión individual y cerrar. Función del soporte: comprobación individual.</a:t>
            </a:r>
          </a:p>
          <a:p/>
          <a:p>
            <a:r>
              <a:t>Detalle para la explicación oral · Comprueba lo aprendido</a:t>
            </a:r>
          </a:p>
          <a:p>
            <a:r>
              <a:t>Cerramos Planificar con un plan de datos. La próxima sesión entraremos más fuerte en Ejecutar: constantes, literales y operaciones.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824"/>
        </a:solidFill>
        <a:effectLst/>
      </p:bgPr>
    </p:bg>
    <p:spTree>
      <p:nvGrpSpPr>
        <p:cNvPr id="1" name=""/>
        <p:cNvGrpSpPr/>
        <p:nvPr/>
      </p:nvGrpSpPr>
      <p:grpSpPr/>
      <p:sp>
        <p:nvSpPr>
          <p:cNvPr id="2" name="Código de sesión" descr="Código de sesión"/>
          <p:cNvSpPr txBox="1"/>
          <p:nvPr/>
        </p:nvSpPr>
        <p:spPr>
          <a:xfrm>
            <a:off x="640080" y="548640"/>
            <a:ext cx="10881360" cy="527812"/>
          </a:xfrm>
          <a:prstGeom prst="rect">
            <a:avLst/>
          </a:prstGeom>
          <a:noFill/>
        </p:spPr>
        <p:txBody>
          <a:bodyPr wrap="square" lIns="109728" rIns="109728" tIns="73152" bIns="73152">
            <a:noAutofit/>
          </a:bodyPr>
          <a:lstStyle/>
          <a:p>
            <a:pPr>
              <a:lnSpc>
                <a:spcPts val="2860"/>
              </a:lnSpc>
              <a:spcAft>
                <a:spcPts val="0"/>
              </a:spcAft>
              <a:defRPr sz="2600" b="1">
                <a:solidFill>
                  <a:srgbClr val="FFFFFF"/>
                </a:solidFill>
                <a:latin typeface="Liberation Sans"/>
              </a:defRPr>
            </a:pPr>
            <a:r>
              <a:t>H1.5 · H1 — Primer asistente ejecutable</a:t>
            </a:r>
          </a:p>
        </p:txBody>
      </p:sp>
      <p:sp>
        <p:nvSpPr>
          <p:cNvPr id="3" name="Título" descr="Título"/>
          <p:cNvSpPr txBox="1"/>
          <p:nvPr/>
        </p:nvSpPr>
        <p:spPr>
          <a:xfrm>
            <a:off x="640080" y="1508760"/>
            <a:ext cx="10881360" cy="1645920"/>
          </a:xfrm>
          <a:prstGeom prst="rect">
            <a:avLst/>
          </a:prstGeom>
          <a:noFill/>
        </p:spPr>
        <p:txBody>
          <a:bodyPr wrap="square" lIns="109728" rIns="109728" tIns="73152" bIns="73152">
            <a:noAutofit/>
          </a:bodyPr>
          <a:lstStyle/>
          <a:p>
            <a:pPr>
              <a:lnSpc>
                <a:spcPts val="4400"/>
              </a:lnSpc>
              <a:spcAft>
                <a:spcPts val="0"/>
              </a:spcAft>
              <a:defRPr sz="4000" b="1">
                <a:solidFill>
                  <a:srgbClr val="FFFFFF"/>
                </a:solidFill>
                <a:latin typeface="Liberation Sans"/>
              </a:defRPr>
            </a:pPr>
            <a:r>
              <a:t>Planificar - Variables</a:t>
            </a:r>
          </a:p>
        </p:txBody>
      </p:sp>
      <p:sp>
        <p:nvSpPr>
          <p:cNvPr id="4" name="Fase HEXA" descr="Fase HEXA"/>
          <p:cNvSpPr txBox="1"/>
          <p:nvPr/>
        </p:nvSpPr>
        <p:spPr>
          <a:xfrm>
            <a:off x="640080" y="3657600"/>
            <a:ext cx="10881360" cy="731520"/>
          </a:xfrm>
          <a:prstGeom prst="rect">
            <a:avLst/>
          </a:prstGeom>
          <a:noFill/>
        </p:spPr>
        <p:txBody>
          <a:bodyPr wrap="square" lIns="109728" rIns="109728" tIns="73152" bIns="73152">
            <a:noAutofit/>
          </a:bodyPr>
          <a:lstStyle/>
          <a:p>
            <a:pPr>
              <a:lnSpc>
                <a:spcPts val="3080"/>
              </a:lnSpc>
              <a:spcAft>
                <a:spcPts val="0"/>
              </a:spcAft>
              <a:defRPr sz="2800" b="0">
                <a:solidFill>
                  <a:srgbClr val="FFFFFF"/>
                </a:solidFill>
                <a:latin typeface="Liberation Sans"/>
              </a:defRPr>
            </a:pPr>
            <a:r>
              <a:t>Fase HEXA: Planificar — organizar el trabajo</a:t>
            </a:r>
          </a:p>
        </p:txBody>
      </p:sp>
      <p:sp>
        <p:nvSpPr>
          <p:cNvPr id="5" name="Modalidad del alumnado" descr="Modalidad del alumnado"/>
          <p:cNvSpPr txBox="1"/>
          <p:nvPr/>
        </p:nvSpPr>
        <p:spPr>
          <a:xfrm>
            <a:off x="640080" y="4617720"/>
            <a:ext cx="10881360" cy="502920"/>
          </a:xfrm>
          <a:prstGeom prst="rect">
            <a:avLst/>
          </a:prstGeom>
          <a:noFill/>
        </p:spPr>
        <p:txBody>
          <a:bodyPr wrap="square" lIns="109728" rIns="109728" tIns="73152" bIns="73152">
            <a:noAutofit/>
          </a:bodyPr>
          <a:lstStyle/>
          <a:p>
            <a:pPr>
              <a:lnSpc>
                <a:spcPts val="2420"/>
              </a:lnSpc>
              <a:spcAft>
                <a:spcPts val="0"/>
              </a:spcAft>
              <a:defRPr sz="2200" b="1">
                <a:solidFill>
                  <a:srgbClr val="FFFFFF"/>
                </a:solidFill>
                <a:latin typeface="Liberation Sans"/>
              </a:defRPr>
            </a:pPr>
            <a:r>
              <a:t>Modalidad publicada: Individual</a:t>
            </a:r>
          </a:p>
        </p:txBody>
      </p:sp>
      <p:sp>
        <p:nvSpPr>
          <p:cNvPr id="6" name="Organización docente" descr="Organización docente"/>
          <p:cNvSpPr txBox="1"/>
          <p:nvPr/>
        </p:nvSpPr>
        <p:spPr>
          <a:xfrm>
            <a:off x="640080" y="5230368"/>
            <a:ext cx="10881360" cy="868680"/>
          </a:xfrm>
          <a:prstGeom prst="rect">
            <a:avLst/>
          </a:prstGeom>
          <a:noFill/>
        </p:spPr>
        <p:txBody>
          <a:bodyPr wrap="square" lIns="109728" rIns="109728" tIns="73152" bIns="73152">
            <a:noAutofit/>
          </a:bodyPr>
          <a:lstStyle/>
          <a:p>
            <a:pPr>
              <a:lnSpc>
                <a:spcPts val="2200"/>
              </a:lnSpc>
              <a:spcAft>
                <a:spcPts val="0"/>
              </a:spcAft>
              <a:defRPr sz="2000" b="0">
                <a:solidFill>
                  <a:srgbClr val="FFFFFF"/>
                </a:solidFill>
                <a:latin typeface="Liberation Sans"/>
              </a:defRPr>
            </a:pPr>
            <a:r>
              <a:t>Organización docente: INDIVIDUAL → EQUIPO → comprobación INDIVIDUAL</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"title", "plan_index": 0, "recognition": false, "unit_ids": ["unit-0", "unit-10", "unit-13", "unit-14", "unit-15", "unit-16", "unit-17", "unit-18", "unit-19"], "roles": {"unit-0": "core", "unit-10": "core", "unit-13": "core", "unit-14": "core", "unit-15": "core", "unit-16": "core", "unit-17": "core", "unit-18": "core", "unit-19": "core"}, "source_refs": [{"source": "teacher", "heading": "Qué vas a aprender", "block_index": 1, "fragment": 0}, {"source": "teacher", "heading": "Andamiaje ante bloqueos", "block_index": 12, "fragment": 0}, {"source": "teacher", "heading": "Temporalización orientativa", "block_index": 0, "fragment": 0}, {"source": "teacher", "heading": "Temporalización orientativa", "block_index": 0, "fragment": 0}, {"source": "teacher", "heading": "Temporalización orientativa", "block_index": 0, "fragment": 0}, {"source": "teacher", "heading": "Temporalización orientativa", "block_index": 0, "fragment": 0}, {"source": "teacher", "heading": "Temporalización orientativa", "block_index": 0, "fragment": 0}, {"source": "teacher", "heading": "Temporalización orientativa", "block_index": 0, "fragment": 0}, {"source": "teacher", "heading": "Temporalización orientativa", "block_index": 0, "fragment": 0}], "visible_sources": [], "notes_sources": [{"function": "scaffolding", "heading": "Andamiaje ante bloqueos", "sha256": "cddd7871ad4eaa0797014a4f8ea291d3cb34c5f5e3bee484d814659c6257afb3"}, {"function": "scaffolding", "heading": "Andamiaje ante bloqueos", "sha256": "0b45e5fc42bf43905b3c3b197ea8143fa7904a1c1d9b965ce594f8c3ecd8643e"}, {"function": "timeline", "heading": "Temporalización orientativa", "sha256": "f8a9eb6c3bfc2443138b0bd4917df99c437c49b662d541e7a7d9c4d4629862c7"}, {"function": "timeline", "heading": "Temporalización orientativa", "sha256": "fb05cbac718dfbf74c867f2fa64dde198eb7ee45a0592960a850615526df4d5f"}, {"function": "timeline", "heading": "Temporalización orientativa", "sha256": "ec441d7c3f5329de25c8f6c6eac6aeaf21daa9c4311176b6f83aaee37ff18f67"}, {"function": "timeline", "heading": "Temporalización orientativa", "sha256": "be0c19141e2f3e395de639a66a1e665e06b7074b1bfe208f825104a9151886df"}, {"function": "timeline", "heading": "Temporalización orientativa", "sha256": "e81e68b99383b9a05c5733efdbb82ef6053d752bb02c3d2809e71751a7098a41"}, {"function": "timeline", "heading": "Temporalización orientativa", "sha256": "5864c87c88f3c491876ff7770023fd40de26640f7b444c8f9afa431b5aed6896"}, {"function": "timeline", "heading": "Temporalización orientativa", "sha256": "0138d7c236e8dbac9417afb78c419dbcede71fef7f95a776593d9e9c08f3c3b9"}], "relations": {"source_supports_enriched": true}, "timeline_refs": [0], "composition": {"origin_slides": [1]}, "timing": {"seconds": 0, "allocations": [{"source_index": 0, "seconds": 0, "decision": "Intervalo compartido íntegro; propietario contable seleccionado por función de actividad y referencia timeline de unidad (identidad semántica en empates). Soporte, sin duplicación contable. Portada limitada a la apertura inicial: las referencias timeline presenter-only no convierten la portada en soporte de todos los tramos.", "source_time": "0–5 min", "source_seconds": 300, "is_owner": false, "function": "concepts"}], "clock_intervals": [0], "presenter_notes": "Reloj fuente 0–5 min: duración compartida 300 segundos. Trabajo: Presentar la finalidad: planificar datos antes de código. Función del soporte: explicación.", "shared_intervals": [{"source_index": 0, "source_time": "0–5 min", "seconds": 300, "is_owner": false, "function": "concepts", "action": "Presentar la finalidad: planificar datos antes de código.", "concurrent": false, "parallel_work": ""}]}, "code_blocks": [], "representation_needs": []}</ns0:renderMetadata>
    </p:ext>
  </p:extLs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Qué vas a aprender</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ontenido" descr="Contenido"/>
          <p:cNvSpPr txBox="1"/>
          <p:nvPr/>
        </p:nvSpPr>
        <p:spPr>
          <a:xfrm>
            <a:off x="640080" y="1417320"/>
            <a:ext cx="10881360" cy="133807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t>Al terminar, debes planificar datos: qué se guarda, con qué tipo, con qué nombre y dónde se usa.</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"concept", "plan_index": 0, "recognition": false, "unit_ids": ["unit-0"], "roles": {"unit-0": "core"}, "source_refs": [{"source": "teacher", "heading": "Qué vas a aprender", "block_index": 1, "fragment": 0}], "visible_sources": [{"index": 0, "sha256": "6671121a7438c92a3d19b85a7bc4f670732fd2e98fc6068cd8226d22b5fc86fc"}], "notes_sources": [], "relations": {"unit_relations": {"unit-0": {}}, "schedule": null, "source_supports_enriched": true}, "timeline_refs": [0], "composition": {"origin_slides": [2]}, "timing": {"seconds": 300, "allocations": [{"source_index": 0, "seconds": 300, "decision": "Intervalo compartido íntegro; propietario contable seleccionado por función de actividad y referencia timeline de unidad (identidad semántica en empates). Propietario. ", "source_time": "0–5 min", "source_seconds": 300, "is_owner": true, "function": "concepts"}], "clock_intervals": [0], "presenter_notes": "Reloj fuente 0–5 min: duración compartida 300 segundos. Trabajo: Presentar la finalidad: planificar datos antes de código. Función del soporte: explicación.", "shared_intervals": [{"source_index": 0, "source_time": "0–5 min", "seconds": 300, "is_owner": true, "function": "concepts", "action": "Presentar la finalidad: planificar datos antes de código.", "concurrent": false, "parallel_work": ""}]}, "code_blocks": [], "representation_needs": []}</ns0:renderMetadata>
    </p:ext>
  </p:extLs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Ideas y ejemplos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ontenido" descr="Contenido"/>
          <p:cNvSpPr txBox="1"/>
          <p:nvPr/>
        </p:nvSpPr>
        <p:spPr>
          <a:xfrm>
            <a:off x="640080" y="1417320"/>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Úsala antes de la tabla de datos y antes de implementar variables.</a:t>
            </a:r>
          </a:p>
        </p:txBody>
      </p:sp>
      <p:sp>
        <p:nvSpPr>
          <p:cNvPr id="6" name="Contenido" descr="Contenido"/>
          <p:cNvSpPr txBox="1"/>
          <p:nvPr/>
        </p:nvSpPr>
        <p:spPr>
          <a:xfrm>
            <a:off x="640080" y="2455672"/>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Una variable es una zona de memoria identificada por un nombre.</a:t>
            </a:r>
          </a:p>
        </p:txBody>
      </p:sp>
      <p:sp>
        <p:nvSpPr>
          <p:cNvPr id="7" name="Código editable" descr="Código editable"/>
          <p:cNvSpPr txBox="1"/>
          <p:nvPr/>
        </p:nvSpPr>
        <p:spPr>
          <a:xfrm>
            <a:off x="640080" y="3494024"/>
            <a:ext cx="10881360" cy="75133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horasEstudio = 4;</a:t>
            </a:r>
          </a:p>
          <a:p>
            <a:pPr marL="335280" indent="-335280">
              <a:lnSpc>
                <a:spcPts val="2310"/>
              </a:lnSpc>
              <a:spcAft>
                <a:spcPts val="0"/>
              </a:spcAft>
              <a:defRPr sz="2200" b="0">
                <a:solidFill>
                  <a:srgbClr val="1C2330"/>
                </a:solidFill>
                <a:latin typeface="Liberation Mono"/>
              </a:defRPr>
            </a:pPr>
            <a:r>
              <a:t>horasEstudio = 5;</a:t>
            </a:r>
          </a:p>
        </p:txBody>
      </p:sp>
      <p:sp>
        <p:nvSpPr>
          <p:cNvPr id="8" name="Contenido" descr="Contenido"/>
          <p:cNvSpPr txBox="1"/>
          <p:nvPr/>
        </p:nvSpPr>
        <p:spPr>
          <a:xfrm>
            <a:off x="640080" y="4336796"/>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La variable permanece; lo que cambia es el valor guardado.</a:t>
            </a:r>
          </a:p>
        </p:txBody>
      </p:sp>
      <p:sp>
        <p:nvSpPr>
          <p:cNvPr id="9" name="Código editable" descr="Código editable"/>
          <p:cNvSpPr txBox="1"/>
          <p:nvPr/>
        </p:nvSpPr>
        <p:spPr>
          <a:xfrm>
            <a:off x="640080" y="5375148"/>
            <a:ext cx="1088136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String nombreUsuario = "Laura";</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1, "recognition": false, "unit_ids": ["unit-1"], "roles": {"unit-1": "core"}, "source_refs": [{"source": "teacher", "heading": "Ideas y ejemplos", "block_index": 2, "fragment": 0}], "visible_sources": [{"index": 0, "sha256": "2150e1e57f3497a67b4c6d5cfd53960006d1da6054eec3fb9a96ca4ddd8bc4c1"}, {"index": 1, "sha256": "7dbbf1a868e7053884019bb62368b1a875b94c60d78823ef85505f42554934c6"}, {"index": 3, "sha256": "e4820a6fb209fe088439bf5aabb8db1cbe962f47f19088484ce5099c8e6e60f8"}, {"index": 5, "sha256": "97737518419eb31fb9c5578ed53cd867a0974739dca9fa109d9e2a3223a4d893"}, {"index": 7, "sha256": "b460179b2b1a930c526e895f8081eec2e209cfd23850733a0eb7e310d29e7f83"}], "notes_sources": [{"function": "examples", "heading": "Ideas y ejemplos", "sha256": "35496b600143ccb8b188f85fe690ee77e5c14c34433a7da6c092d47399140439"}, {"function": "visible_detail", "heading": "Ideas y ejemplos", "sha256": "7dbbf1a868e7053884019bb62368b1a875b94c60d78823ef85505f42554934c6"}, {"function": "facilitation", "heading": "Ideas y ejemplos", "sha256": "f643abf8a17964394b4a29e250d01cb2ad41e2c03ab3da973ce5a128b461a604"}, {"function": "facilitation", "heading": "Ideas y ejemplos", "sha256": "5a31956c2f0282e24bb743ec777728429fdda35d8f0f14c7e04f98174bacf111"}, {"function": "facilitation", "heading": "Ideas y ejemplos", "sha256": "beed1eaff11b3bc2d5b3125a9aee3fc7dd1f689940160ecb0ba8b9f6a499f5aa"}, {"function": "facilitation", "heading": "Ideas y ejemplos", "sha256": "df9acf2e0cc9e2f7147f4ae4b90b1e1f9eeda1377e5dbfd9739ecfa79384031d"}, {"function": "facilitation", "heading": "Ideas y ejemplos", "sha256": "b5b0dfe5c9331915e5d70cde4111610eaf64d389219267831cfd0a344fd332b1"}, {"function": "facilitation", "heading": "Ideas y ejemplos", "sha256": "98544eaa75f9fbd440b52f8e821e6ab8991866e8ee8bfd1f2e08769dd21b6a19"}, {"function": "visible_detail", "heading": "Ideas y ejemplos", "sha256": "97737518419eb31fb9c5578ed53cd867a0974739dca9fa109d9e2a3223a4d893"}, {"function": "visible_detail", "heading": "Ideas y ejemplos", "sha256": "29e8101f6b45f02ad7fd8ebefab6af48a3559c2352b69e74a6260a75f0186974"}], "relations": {"unit_relations": {"unit-1": {}}, "schedule": null, "source_supports_enriched": true}, "timeline_refs": [], "composition": {"origin_slides": [3, 4, 5, 6]}, "timing": {"seconds": 0, "allocations": [{"source_index": 0, "seconds": 0, "decision": "Intervalo compartido íntegro; propietario contable seleccionado por función de actividad y referencia timeline de unidad (identidad semántica en empates). Soporte, sin duplicación contable. Diapositiva sin ancla: comparte el intervalo de la diapositiva anclada más cercana (desempate por orden); sin anclas, apertura fuente.", "source_time": "0–5 min", "source_seconds": 300, "is_owner": false, "function": "examples"}], "clock_intervals": [0], "presenter_notes": "Reloj fuente 0–5 min: duración compartida 300 segundos. Trabajo: Presentar la finalidad: planificar datos antes de código. Función del soporte: apoyo al trabajo.", "shared_intervals": [{"source_index": 0, "source_time": "0–5 min", "seconds": 300, "is_owner": false, "function": "examples", "action": "Presentar la finalidad: planificar datos antes de código.", "concurrent": false, "parallel_work": ""}]}, "code_blocks": ["int horasEstudio = 4;\nhorasEstudio = 5;", "String nombreUsuario = \"Laura\";"], "representation_needs": []}</ns0:renderMetadata>
    </p:ext>
  </p:extLs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Ideas y ejemplos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ódigo editable" descr="Código editable"/>
          <p:cNvSpPr txBox="1"/>
          <p:nvPr/>
        </p:nvSpPr>
        <p:spPr>
          <a:xfrm>
            <a:off x="640080" y="1874519"/>
            <a:ext cx="6629400" cy="75133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horasEstudio = 4;</a:t>
            </a:r>
          </a:p>
          <a:p>
            <a:pPr marL="335280" indent="-335280">
              <a:lnSpc>
                <a:spcPts val="2310"/>
              </a:lnSpc>
              <a:spcAft>
                <a:spcPts val="0"/>
              </a:spcAft>
              <a:defRPr sz="2200" b="0">
                <a:solidFill>
                  <a:srgbClr val="1C2330"/>
                </a:solidFill>
                <a:latin typeface="Liberation Mono"/>
              </a:defRPr>
            </a:pPr>
            <a:r>
              <a:t>int horasPractica = 4;</a:t>
            </a:r>
          </a:p>
        </p:txBody>
      </p:sp>
      <p:sp>
        <p:nvSpPr>
          <p:cNvPr id="6" name="Código editable" descr="Código editable"/>
          <p:cNvSpPr txBox="1"/>
          <p:nvPr/>
        </p:nvSpPr>
        <p:spPr>
          <a:xfrm>
            <a:off x="640080" y="2717292"/>
            <a:ext cx="6629400" cy="133807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tareas = 2;</a:t>
            </a:r>
          </a:p>
          <a:p>
            <a:pPr marL="335280" indent="-335280">
              <a:lnSpc>
                <a:spcPts val="2310"/>
              </a:lnSpc>
              <a:spcAft>
                <a:spcPts val="0"/>
              </a:spcAft>
              <a:defRPr sz="2200" b="0">
                <a:solidFill>
                  <a:srgbClr val="1C2330"/>
                </a:solidFill>
                <a:latin typeface="Liberation Mono"/>
              </a:defRPr>
            </a:pPr>
            <a:r>
              <a:t>System.out.println(tareas);</a:t>
            </a:r>
          </a:p>
          <a:p>
            <a:pPr marL="335280" indent="-335280">
              <a:lnSpc>
                <a:spcPts val="2310"/>
              </a:lnSpc>
              <a:spcAft>
                <a:spcPts val="0"/>
              </a:spcAft>
              <a:defRPr sz="2200" b="0">
                <a:solidFill>
                  <a:srgbClr val="1C2330"/>
                </a:solidFill>
                <a:latin typeface="Liberation Mono"/>
              </a:defRPr>
            </a:pPr>
            <a:r>
              <a:t>tareas = 3;</a:t>
            </a:r>
          </a:p>
          <a:p>
            <a:pPr marL="335280" indent="-335280">
              <a:lnSpc>
                <a:spcPts val="2310"/>
              </a:lnSpc>
              <a:spcAft>
                <a:spcPts val="0"/>
              </a:spcAft>
              <a:defRPr sz="2200" b="0">
                <a:solidFill>
                  <a:srgbClr val="1C2330"/>
                </a:solidFill>
                <a:latin typeface="Liberation Mono"/>
              </a:defRPr>
            </a:pPr>
            <a:r>
              <a:t>System.out.println(tareas);</a:t>
            </a:r>
          </a:p>
        </p:txBody>
      </p:sp>
      <p:sp>
        <p:nvSpPr>
          <p:cNvPr id="7" name="Código editable" descr="Código editable"/>
          <p:cNvSpPr txBox="1"/>
          <p:nvPr/>
        </p:nvSpPr>
        <p:spPr>
          <a:xfrm>
            <a:off x="640080" y="4146804"/>
            <a:ext cx="6629400" cy="163144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String nombreUsuario = "Laura";</a:t>
            </a:r>
          </a:p>
          <a:p>
            <a:pPr marL="335280" indent="-335280">
              <a:lnSpc>
                <a:spcPts val="2310"/>
              </a:lnSpc>
              <a:spcAft>
                <a:spcPts val="0"/>
              </a:spcAft>
              <a:defRPr sz="2200" b="0">
                <a:solidFill>
                  <a:srgbClr val="1C2330"/>
                </a:solidFill>
                <a:latin typeface="Liberation Mono"/>
              </a:defRPr>
            </a:pPr>
            <a:r>
              <a:t>int horasEstudio = 4;</a:t>
            </a:r>
          </a:p>
          <a:p>
            <a:pPr marL="335280" indent="-335280">
              <a:lnSpc>
                <a:spcPts val="2310"/>
              </a:lnSpc>
              <a:spcAft>
                <a:spcPts val="0"/>
              </a:spcAft>
              <a:defRPr sz="2200" b="0">
                <a:solidFill>
                  <a:srgbClr val="1C2330"/>
                </a:solidFill>
                <a:latin typeface="Liberation Mono"/>
              </a:defRPr>
            </a:pPr>
            <a:r>
              <a:t>double notaMedia = 7.5;</a:t>
            </a:r>
          </a:p>
          <a:p>
            <a:pPr marL="335280" indent="-335280">
              <a:lnSpc>
                <a:spcPts val="2310"/>
              </a:lnSpc>
              <a:spcAft>
                <a:spcPts val="0"/>
              </a:spcAft>
              <a:defRPr sz="2200" b="0">
                <a:solidFill>
                  <a:srgbClr val="1C2330"/>
                </a:solidFill>
                <a:latin typeface="Liberation Mono"/>
              </a:defRPr>
            </a:pPr>
            <a:r>
              <a:t>boolean objetivoAlcanzado = true;</a:t>
            </a:r>
          </a:p>
          <a:p>
            <a:pPr marL="335280" indent="-335280">
              <a:lnSpc>
                <a:spcPts val="2310"/>
              </a:lnSpc>
              <a:spcAft>
                <a:spcPts val="0"/>
              </a:spcAft>
              <a:defRPr sz="2200" b="0">
                <a:solidFill>
                  <a:srgbClr val="1C2330"/>
                </a:solidFill>
                <a:latin typeface="Liberation Mono"/>
              </a:defRPr>
            </a:pPr>
            <a:r>
              <a:t>char inicial = 'L';</a:t>
            </a:r>
          </a:p>
        </p:txBody>
      </p:sp>
      <p:sp>
        <p:nvSpPr>
          <p:cNvPr id="8" name="Referente o acción" descr="Referente o acción"/>
          <p:cNvSpPr txBox="1"/>
          <p:nvPr/>
        </p:nvSpPr>
        <p:spPr>
          <a:xfrm>
            <a:off x="7680960" y="1874519"/>
            <a:ext cx="3840480" cy="117043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es nombreUsuario y qué es "Laura".</a:t>
            </a:r>
          </a:p>
        </p:txBody>
      </p:sp>
      <p:sp>
        <p:nvSpPr>
          <p:cNvPr id="9" name="Referente o acción" descr="Referente o acción"/>
          <p:cNvSpPr txBox="1"/>
          <p:nvPr/>
        </p:nvSpPr>
        <p:spPr>
          <a:xfrm>
            <a:off x="7680960" y="3136391"/>
            <a:ext cx="3840480" cy="83515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Hay una variable o dos.</a:t>
            </a:r>
          </a:p>
        </p:txBody>
      </p:sp>
      <p:sp>
        <p:nvSpPr>
          <p:cNvPr id="10" name="Referente o acción" descr="Referente o acción"/>
          <p:cNvSpPr txBox="1"/>
          <p:nvPr/>
        </p:nvSpPr>
        <p:spPr>
          <a:xfrm>
            <a:off x="7680960" y="4062984"/>
            <a:ext cx="3840480" cy="117043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Predice la primera y la segunda salida.</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"study", "plan_index": 1, "recognition": false, "unit_ids": ["unit-1"], "roles": {"unit-1": "core"}, "source_refs": [{"source": "teacher", "heading": "Ideas y ejemplos", "block_index": 2, "fragment": 0}], "visible_sources": [{"index": 9, "sha256": "f4127fd7186cc7586c4b406cf6d12b117d29b3e2abc24a1cab40c0fd3cb96f56"}, {"index": 10, "sha256": "5421d43afd53fd5b94ad92a0219e059afac2c33608c95c2a02a117268fcde6fc"}, {"index": 11, "sha256": "29e8101f6b45f02ad7fd8ebefab6af48a3559c2352b69e74a6260a75f0186974"}, {"index": 13, "sha256": "2037ac7e0d08b18db6b2de081fbe1a3f666cc6039eb4650e962fe72a71a9015a"}, {"index": 14, "sha256": "1b1a6deaeb56cda36f79ee6a6d9240b937f2482d715740524a9ac6a4fbc22a43"}, {"index": 16, "sha256": "0f9728f8a9d3176367314b3993ee8096c063963bdff994a4e7eef130a8c23fb6"}], "notes_sources": [{"function": "examples", "heading": "Ideas y ejemplos", "sha256": "35496b600143ccb8b188f85fe690ee77e5c14c34433a7da6c092d47399140439"}, {"function": "visible_detail", "heading": "Ideas y ejemplos", "sha256": "7dbbf1a868e7053884019bb62368b1a875b94c60d78823ef85505f42554934c6"}, {"function": "facilitation", "heading": "Ideas y ejemplos", "sha256": "f643abf8a17964394b4a29e250d01cb2ad41e2c03ab3da973ce5a128b461a604"}, {"function": "facilitation", "heading": "Ideas y ejemplos", "sha256": "5a31956c2f0282e24bb743ec777728429fdda35d8f0f14c7e04f98174bacf111"}, {"function": "facilitation", "heading": "Ideas y ejemplos", "sha256": "beed1eaff11b3bc2d5b3125a9aee3fc7dd1f689940160ecb0ba8b9f6a499f5aa"}, {"function": "facilitation", "heading": "Ideas y ejemplos", "sha256": "df9acf2e0cc9e2f7147f4ae4b90b1e1f9eeda1377e5dbfd9739ecfa79384031d"}, {"function": "facilitation", "heading": "Ideas y ejemplos", "sha256": "b5b0dfe5c9331915e5d70cde4111610eaf64d389219267831cfd0a344fd332b1"}, {"function": "facilitation", "heading": "Ideas y ejemplos", "sha256": "98544eaa75f9fbd440b52f8e821e6ab8991866e8ee8bfd1f2e08769dd21b6a19"}, {"function": "visible_detail", "heading": "Ideas y ejemplos", "sha256": "97737518419eb31fb9c5578ed53cd867a0974739dca9fa109d9e2a3223a4d893"}, {"function": "visible_detail", "heading": "Ideas y ejemplos", "sha256": "29e8101f6b45f02ad7fd8ebefab6af48a3559c2352b69e74a6260a75f0186974"}], "relations": {"unit_relations": {"unit-1": {}}, "schedule": null, "source_supports_enriched": true}, "timeline_refs": [], "composition": {"origin_slides": [3, 4, 5, 6]}, "timing": {"seconds": 0, "allocations": [{"source_index": 0, "seconds": 0, "decision": "Intervalo compartido íntegro; propietario contable seleccionado por función de actividad y referencia timeline de unidad (identidad semántica en empates). Soporte, sin duplicación contable. Diapositiva sin ancla: comparte el intervalo de la diapositiva anclada más cercana (desempate por orden); sin anclas, apertura fuente.", "source_time": "0–5 min", "source_seconds": 300, "is_owner": false, "function": "examples"}], "clock_intervals": [0], "presenter_notes": "Reloj fuente 0–5 min: duración compartida 300 segundos. Trabajo: Presentar la finalidad: planificar datos antes de código. Función del soporte: apoyo al trabajo.", "shared_intervals": [{"source_index": 0, "source_time": "0–5 min", "seconds": 300, "is_owner": false, "function": "examples", "action": "Presentar la finalidad: planificar datos antes de código.", "concurrent": false, "parallel_work": ""}]}, "code_blocks": ["int horasEstudio = 4;\nint horasPractica = 4;", "int tareas = 2;\nSystem.out.println(tareas);\ntareas = 3;\nSystem.out.println(tareas);", "String nombreUsuario = \"Laura\";\nint horasEstudio = 4;\ndouble notaMedia = 7.5;\nboolean objetivoAlcanzado = true;\nchar inicial = 'L';"], "representation_needs": []}</ns0:renderMetadata>
    </p:ext>
  </p:extLs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Ideas y ejemplos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ontenido" descr="Contenido"/>
          <p:cNvSpPr txBox="1"/>
          <p:nvPr/>
        </p:nvSpPr>
        <p:spPr>
          <a:xfrm>
            <a:off x="640080" y="1417320"/>
            <a:ext cx="10881360" cy="212039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Nombre → String</a:t>
            </a:r>
          </a:p>
          <a:p>
            <a:pPr>
              <a:lnSpc>
                <a:spcPts val="3080"/>
              </a:lnSpc>
              <a:spcAft>
                <a:spcPts val="0"/>
              </a:spcAft>
              <a:defRPr sz="2800" b="0">
                <a:solidFill>
                  <a:srgbClr val="1C2330"/>
                </a:solidFill>
                <a:latin typeface="Liberation Sans"/>
              </a:defRPr>
            </a:pPr>
            <a:r>
              <a:t>Horas de estudio → int</a:t>
            </a:r>
          </a:p>
          <a:p>
            <a:pPr>
              <a:lnSpc>
                <a:spcPts val="3080"/>
              </a:lnSpc>
              <a:spcAft>
                <a:spcPts val="0"/>
              </a:spcAft>
              <a:defRPr sz="2800" b="0">
                <a:solidFill>
                  <a:srgbClr val="1C2330"/>
                </a:solidFill>
                <a:latin typeface="Liberation Sans"/>
              </a:defRPr>
            </a:pPr>
            <a:r>
              <a:t>Nota media → double</a:t>
            </a:r>
          </a:p>
          <a:p>
            <a:pPr>
              <a:lnSpc>
                <a:spcPts val="3080"/>
              </a:lnSpc>
              <a:spcAft>
                <a:spcPts val="0"/>
              </a:spcAft>
              <a:defRPr sz="2800" b="0">
                <a:solidFill>
                  <a:srgbClr val="1C2330"/>
                </a:solidFill>
                <a:latin typeface="Liberation Sans"/>
              </a:defRPr>
            </a:pPr>
            <a:r>
              <a:t>Objetivo alcanzado → boolean</a:t>
            </a:r>
          </a:p>
          <a:p>
            <a:pPr>
              <a:lnSpc>
                <a:spcPts val="3080"/>
              </a:lnSpc>
              <a:spcAft>
                <a:spcPts val="0"/>
              </a:spcAft>
              <a:defRPr sz="2800" b="0">
                <a:solidFill>
                  <a:srgbClr val="1C2330"/>
                </a:solidFill>
                <a:latin typeface="Liberation Sans"/>
              </a:defRPr>
            </a:pPr>
            <a:r>
              <a:t>Inicial → char</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1, "recognition": false, "unit_ids": ["unit-1"], "roles": {"unit-1": "core"}, "source_refs": [{"source": "teacher", "heading": "Ideas y ejemplos", "block_index": 2, "fragment": 0}], "visible_sources": [{"index": 17, "sha256": "2469bb306210df2a5e8b7255298bbee50c294ef80042fadf8cd1c4ae0975999b"}], "notes_sources": [{"function": "examples", "heading": "Ideas y ejemplos", "sha256": "35496b600143ccb8b188f85fe690ee77e5c14c34433a7da6c092d47399140439"}, {"function": "visible_detail", "heading": "Ideas y ejemplos", "sha256": "7dbbf1a868e7053884019bb62368b1a875b94c60d78823ef85505f42554934c6"}, {"function": "facilitation", "heading": "Ideas y ejemplos", "sha256": "f643abf8a17964394b4a29e250d01cb2ad41e2c03ab3da973ce5a128b461a604"}, {"function": "facilitation", "heading": "Ideas y ejemplos", "sha256": "5a31956c2f0282e24bb743ec777728429fdda35d8f0f14c7e04f98174bacf111"}, {"function": "facilitation", "heading": "Ideas y ejemplos", "sha256": "beed1eaff11b3bc2d5b3125a9aee3fc7dd1f689940160ecb0ba8b9f6a499f5aa"}, {"function": "facilitation", "heading": "Ideas y ejemplos", "sha256": "df9acf2e0cc9e2f7147f4ae4b90b1e1f9eeda1377e5dbfd9739ecfa79384031d"}, {"function": "facilitation", "heading": "Ideas y ejemplos", "sha256": "b5b0dfe5c9331915e5d70cde4111610eaf64d389219267831cfd0a344fd332b1"}, {"function": "facilitation", "heading": "Ideas y ejemplos", "sha256": "98544eaa75f9fbd440b52f8e821e6ab8991866e8ee8bfd1f2e08769dd21b6a19"}, {"function": "visible_detail", "heading": "Ideas y ejemplos", "sha256": "97737518419eb31fb9c5578ed53cd867a0974739dca9fa109d9e2a3223a4d893"}, {"function": "visible_detail", "heading": "Ideas y ejemplos", "sha256": "29e8101f6b45f02ad7fd8ebefab6af48a3559c2352b69e74a6260a75f0186974"}], "relations": {"unit_relations": {"unit-1": {}}, "schedule": null, "presentation_normalizations": {"Nombre -&gt; String\nHoras de estudio -&gt; int\nNota media -&gt; double\nObjetivo alcanzado -&gt; boolean\nInicial -&gt; char": "Nombre → String\nHoras de estudio → int\nNota media → double\nObjetivo alcanzado → boolean\nInicial → char"}, "source_supports_enriched": true}, "timeline_refs": [], "composition": {"origin_slides": [3, 4, 5, 6]}, "timing": {"seconds": 0, "allocations": [{"source_index": 0, "seconds": 0, "decision": "Intervalo compartido íntegro; propietario contable seleccionado por función de actividad y referencia timeline de unidad (identidad semántica en empates). Soporte, sin duplicación contable. Diapositiva sin ancla: comparte el intervalo de la diapositiva anclada más cercana (desempate por orden); sin anclas, apertura fuente.", "source_time": "0–5 min", "source_seconds": 300, "is_owner": false, "function": "examples"}], "clock_intervals": [0], "presenter_notes": "Reloj fuente 0–5 min: duración compartida 300 segundos. Trabajo: Presentar la finalidad: planificar datos antes de código. Función del soporte: apoyo al trabajo.", "shared_intervals": [{"source_index": 0, "source_time": "0–5 min", "seconds": 300, "is_owner": false, "function": "examples", "action": "Presentar la finalidad: planificar datos antes de código.", "concurrent": false, "parallel_work": ""}]}, "code_blocks": [], "representation_needs": []}</ns0:renderMetadata>
    </p:ext>
  </p:extLs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Mapa mínimo de tipos de Java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ontenido" descr="Contenido"/>
          <p:cNvSpPr txBox="1"/>
          <p:nvPr/>
        </p:nvSpPr>
        <p:spPr>
          <a:xfrm>
            <a:off x="640080" y="1417320"/>
            <a:ext cx="10881360" cy="172923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Enteros   → byte, short, int, long</a:t>
            </a:r>
          </a:p>
          <a:p>
            <a:pPr>
              <a:lnSpc>
                <a:spcPts val="3080"/>
              </a:lnSpc>
              <a:spcAft>
                <a:spcPts val="0"/>
              </a:spcAft>
              <a:defRPr sz="2800" b="0">
                <a:solidFill>
                  <a:srgbClr val="1C2330"/>
                </a:solidFill>
                <a:latin typeface="Liberation Sans"/>
              </a:defRPr>
            </a:pPr>
            <a:r>
              <a:t>Decimales → float, double</a:t>
            </a:r>
          </a:p>
          <a:p>
            <a:pPr>
              <a:lnSpc>
                <a:spcPts val="3080"/>
              </a:lnSpc>
              <a:spcAft>
                <a:spcPts val="0"/>
              </a:spcAft>
              <a:defRPr sz="2800" b="0">
                <a:solidFill>
                  <a:srgbClr val="1C2330"/>
                </a:solidFill>
                <a:latin typeface="Liberation Sans"/>
              </a:defRPr>
            </a:pPr>
            <a:r>
              <a:t>Carácter  → char</a:t>
            </a:r>
          </a:p>
          <a:p>
            <a:pPr>
              <a:lnSpc>
                <a:spcPts val="3080"/>
              </a:lnSpc>
              <a:spcAft>
                <a:spcPts val="0"/>
              </a:spcAft>
              <a:defRPr sz="2800" b="0">
                <a:solidFill>
                  <a:srgbClr val="1C2330"/>
                </a:solidFill>
                <a:latin typeface="Liberation Sans"/>
              </a:defRPr>
            </a:pPr>
            <a:r>
              <a:t>Lógico    → boolean</a:t>
            </a:r>
          </a:p>
        </p:txBody>
      </p:sp>
      <p:sp>
        <p:nvSpPr>
          <p:cNvPr id="6" name="Contenido" descr="Contenido"/>
          <p:cNvSpPr txBox="1"/>
          <p:nvPr/>
        </p:nvSpPr>
        <p:spPr>
          <a:xfrm>
            <a:off x="640080" y="3237992"/>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En H1 utilizaremos principalmente int, double, char y boolean.</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2, "recognition": false, "unit_ids": ["unit-2"], "roles": {"unit-2": "unknown"}, "source_refs": [{"source": "teacher", "heading": "Mapa mínimo de tipos de Java", "block_index": 3, "fragment": 0}, {"source": "teacher", "heading": "Ideas y ejemplos", "block_index": 2, "fragment": 0}], "visible_sources": [{"index": 1, "sha256": "7c2aee1f02d46598d83fa8f512cd1431b8208df49923b5883ca096f924791ad9"}, {"index": 2, "sha256": "c6a5096747e7ab065b655e2df45d51600831802a96a57e126993293624135473"}], "notes_sources": [{"function": "facilitation", "heading": "Mapa mínimo de tipos de Java", "sha256": "905f030ab03559cfc28be80166391e94c05867de62db71f181570e81a033f075"}, {"function": "visible_detail", "heading": "Mapa mínimo de tipos de Java", "sha256": "c6a5096747e7ab065b655e2df45d51600831802a96a57e126993293624135473"}], "relations": {"unit_relations": {"unit-2": {}}, "schedule": null, "presentation_normalizations": {"Enteros   -&gt; byte, short, int, long\nDecimales -&gt; float, double\nCarácter  -&gt; char\nLógico    -&gt; boolean": "Enteros   → byte, short, int, long\nDecimales → float, double\nCarácter  → char\nLógico    → boolean"}, "source_supports_enriched": true}, "timeline_refs": [1], "composition": {"origin_slides": [7]}, "timing": {"seconds": 1080, "allocations": [{"source_index": 1, "seconds": 600, "decision": "Intervalo compartido íntegro; propietario contable seleccionado por función de actividad y referencia timeline de unidad (identidad semántica en empates). Propietario. ", "source_time": "5–15 min", "source_seconds": 600, "is_owner": true, "function": "other"}, {"source_index": 2, "seconds": 480, "decision": "Intervalo compartido íntegro; propietario contable seleccionado por función de actividad y referencia timeline de unidad (identidad semántica en empates). Propietario. Intervalo sin ancla: se integra en el soporte con referencia fuente más cercana (desempate por orden del plan).", "source_time": "15–23 min", "source_seconds": 480, "is_owner": true, "function": "other"}], "clock_intervals": [1, 2], "presenter_notes": "Reloj fuente 5–15 min: duración compartida 600 segundos. Trabajo: Explicar variable frente a valor, tipos de uso y renombrado. Función del soporte: apoyo al trabajo. Reloj fuente 15–23 min: duración compartida 480 segundos. Trabajo: Declarar, inicializar y asignar; vocabulario imprescindible. Función del soporte: apoyo al trabajo.", "shared_intervals": [{"source_index": 1, "source_time": "5–15 min", "seconds": 600, "is_owner": true, "function": "other", "action": "Explicar variable frente a valor, tipos de uso y renombrado.", "concurrent": false, "parallel_work": ""}, {"source_index": 2, "source_time": "15–23 min", "seconds": 480, "is_owner": true, "function": "other", "action": "Declarar, inicializar y asignar; vocabulario imprescindible.", "concurrent": false, "parallel_work": ""}]}, "code_blocks": [], "representation_needs": []}</ns0:renderMetadata>
    </p:ext>
  </p:extLs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Tipos primitivos y tipo de referencia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ontenido" descr="Contenido"/>
          <p:cNvSpPr txBox="1"/>
          <p:nvPr/>
        </p:nvSpPr>
        <p:spPr>
          <a:xfrm>
            <a:off x="640080" y="1417320"/>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int, double, char, boolean → tipos primitivos</a:t>
            </a:r>
          </a:p>
          <a:p>
            <a:pPr>
              <a:lnSpc>
                <a:spcPts val="3080"/>
              </a:lnSpc>
              <a:spcAft>
                <a:spcPts val="0"/>
              </a:spcAft>
              <a:defRPr sz="2800" b="0">
                <a:solidFill>
                  <a:srgbClr val="1C2330"/>
                </a:solidFill>
                <a:latin typeface="Liberation Sans"/>
              </a:defRPr>
            </a:pPr>
            <a:r>
              <a:t>String                     → tipo de referencia; String es una clase</a:t>
            </a:r>
          </a:p>
        </p:txBody>
      </p:sp>
      <p:sp>
        <p:nvSpPr>
          <p:cNvPr id="6" name="Contenido" descr="Contenido"/>
          <p:cNvSpPr txBox="1"/>
          <p:nvPr/>
        </p:nvSpPr>
        <p:spPr>
          <a:xfrm>
            <a:off x="640080" y="2846832"/>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En H1 basta con esta distinción inicial.</a:t>
            </a:r>
          </a:p>
        </p:txBody>
      </p:sp>
      <p:sp>
        <p:nvSpPr>
          <p:cNvPr id="7" name="Contenido" descr="Contenido"/>
          <p:cNvSpPr txBox="1"/>
          <p:nvPr/>
        </p:nvSpPr>
        <p:spPr>
          <a:xfrm>
            <a:off x="640080" y="3494024"/>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Un número de teléfono contiene dígitos.</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3, "recognition": false, "unit_ids": ["unit-3"], "roles": {"unit-3": "unknown"}, "source_refs": [{"source": "teacher", "heading": "Tipos primitivos y tipo de referencia", "block_index": 4, "fragment": 0}, {"source": "teacher", "heading": "Ideas y ejemplos", "block_index": 2, "fragment": 0}], "visible_sources": [{"index": 0, "sha256": "d3f3256279e44af9b5185fca46fed0f425112723b7c213381c7c7ce7dc4ec217"}, {"index": 1, "sha256": "ba68317b0b94e7febf5b0e5d7d14abe7ff971a61766254c8bd7e016a8a88973e"}, {"index": 3, "sha256": "f8d2cc311a230da18378e51f9a786426ab755848bd9ef6d6e4dd3418ca398085"}], "notes_sources": [{"function": "other", "heading": "Tipos primitivos y tipo de referencia", "sha256": "819b87aa316f5ddfe074f1e9f4faecfd4fcc7c828601a030073b2334ee9b125e"}, {"function": "visible_detail", "heading": "Tipos primitivos y tipo de referencia", "sha256": "ba68317b0b94e7febf5b0e5d7d14abe7ff971a61766254c8bd7e016a8a88973e"}, {"function": "facilitation", "heading": "Tipos primitivos y tipo de referencia", "sha256": "9f52aae580cd23a3c56441aa4fec1a484e6dbec69719df82edfae217320e8afb"}, {"function": "visible_detail", "heading": "Tipos primitivos y tipo de referencia", "sha256": "f8d2cc311a230da18378e51f9a786426ab755848bd9ef6d6e4dd3418ca398085"}, {"function": "facilitation", "heading": "Tipos primitivos y tipo de referencia", "sha256": "959af27bea50160a84b720535f219e275e23741399107c45c8606509b7575191"}, {"function": "facilitation", "heading": "Tipos primitivos y tipo de referencia", "sha256": "eefd23d7f1ba8c8d6dd001ccece6fdc73d88b6144bcfc33df3623b390e3fef03"}, {"function": "facilitation", "heading": "Tipos primitivos y tipo de referencia", "sha256": "b0bbac4866d894931e79224f73c1fe485b6e61559665904f96fcfad4a19d610b"}, {"function": "facilitation", "heading": "Tipos primitivos y tipo de referencia", "sha256": "62bb3780055a38dc268cb20a6c2008b9dc11115a443d46b129308f58dc967b82"}, {"function": "facilitation", "heading": "Tipos primitivos y tipo de referencia", "sha256": "5a31956c2f0282e24bb743ec777728429fdda35d8f0f14c7e04f98174bacf111"}, {"function": "facilitation", "heading": "Tipos primitivos y tipo de referencia", "sha256": "c39910adf1b6f74a85fbfa928be740042f9e2843c3ca4db5610f4c2ca255d8ca"}, {"function": "facilitation", "heading": "Tipos primitivos y tipo de referencia", "sha256": "55f25b5d6bba20a12483131c9f1b61a8520dc7c06918685a7d0dce106f6aba3e"}, {"function": "visible_detail", "heading": "Tipos primitivos y tipo de referencia", "sha256": "dcf59b83f33a8570004e1db5d7aa3466d842ae91dbb8ababb72306ccbb1bdaff"}, {"function": "visible_detail", "heading": "Tipos primitivos y tipo de referencia", "sha256": "45c28b697e8ccddad8ab9d71b19eb5616653a584adc1c3a57f54460efb2225b2"}, {"function": "visible_detail", "heading": "Tipos primitivos y tipo de referencia", "sha256": "e9a9adbed5093e7e4683ceca86dbd6e1117d79e8fc0712edc071193f96a4d47d"}], "relations": {"unit_relations": {"unit-3": {}}, "schedule": null, "presentation_normalizations": {"int, double, char, boolean -&gt; tipos primitivos\nString                     -&gt; tipo de referencia; String es una clase": "int, double, char, boolean → tipos primitivos\nString                     → tipo de referencia; String es una clase"}, "source_supports_enriched": true}, "timeline_refs": [1], "composition": {"origin_slides": [8, 9, 10, 11, 12, 13]}, "timing": {"seconds": 0, "allocations": [{"source_index": 1, "seconds": 0, "decision": "Intervalo compartido íntegro; propietario contable seleccionado por función de actividad y referencia timeline de unidad (identidad semántica en empates). Soporte, sin duplicación contable. ", "source_time": "5–15 min", "source_seconds": 600, "is_owner": false, "function": "other"}], "clock_intervals": [1], "presenter_notes": "Reloj fuente 5–15 min: duración compartida 600 segundos. Trabajo: Explicar variable frente a valor, tipos de uso y renombrado. Función del soporte: apoyo al trabajo.", "shared_intervals": [{"source_index": 1, "source_time": "5–15 min", "seconds": 600, "is_owner": false, "function": "other", "action": "Explicar variable frente a valor, tipos de uso y renombrado.", "concurrent": false, "parallel_work": ""}]}, "code_blocks": [], "representation_needs": []}</ns0:renderMetadata>
    </p:ext>
  </p:extLs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Tipos primitivos y tipo de referencia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ódigo editable" descr="Código editable"/>
          <p:cNvSpPr txBox="1"/>
          <p:nvPr/>
        </p:nvSpPr>
        <p:spPr>
          <a:xfrm>
            <a:off x="640080" y="1417320"/>
            <a:ext cx="10881360" cy="456514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x = 4;</a:t>
            </a:r>
          </a:p>
          <a:p>
            <a:pPr marL="335280" indent="-335280">
              <a:lnSpc>
                <a:spcPts val="2310"/>
              </a:lnSpc>
              <a:spcAft>
                <a:spcPts val="0"/>
              </a:spcAft>
              <a:defRPr sz="2200" b="0">
                <a:solidFill>
                  <a:srgbClr val="1C2330"/>
                </a:solidFill>
                <a:latin typeface="Liberation Mono"/>
              </a:defRPr>
            </a:pPr>
            <a:r>
              <a:t>// mejor:</a:t>
            </a:r>
          </a:p>
          <a:p>
            <a:pPr marL="335280" indent="-335280">
              <a:lnSpc>
                <a:spcPts val="2310"/>
              </a:lnSpc>
              <a:spcAft>
                <a:spcPts val="0"/>
              </a:spcAft>
              <a:defRPr sz="2200" b="0">
                <a:solidFill>
                  <a:srgbClr val="1C2330"/>
                </a:solidFill>
                <a:latin typeface="Liberation Mono"/>
              </a:defRPr>
            </a:pPr>
            <a:r>
              <a:t>int horasEstudio = 4;</a:t>
            </a:r>
          </a:p>
          <a:p>
            <a:pPr marL="335280" indent="-335280">
              <a:lnSpc>
                <a:spcPts val="2310"/>
              </a:lnSpc>
              <a:spcAft>
                <a:spcPts val="0"/>
              </a:spcAft>
              <a:defRPr sz="2200" b="0">
                <a:solidFill>
                  <a:srgbClr val="1C2330"/>
                </a:solidFill>
                <a:latin typeface="Liberation Mono"/>
              </a:defRPr>
            </a:pPr>
          </a:p>
          <a:p>
            <a:pPr marL="335280" indent="-335280">
              <a:lnSpc>
                <a:spcPts val="2310"/>
              </a:lnSpc>
              <a:spcAft>
                <a:spcPts val="0"/>
              </a:spcAft>
              <a:defRPr sz="2200" b="0">
                <a:solidFill>
                  <a:srgbClr val="1C2330"/>
                </a:solidFill>
                <a:latin typeface="Liberation Mono"/>
              </a:defRPr>
            </a:pPr>
            <a:r>
              <a:t>String s = "MiniJarvis";</a:t>
            </a:r>
          </a:p>
          <a:p>
            <a:pPr marL="335280" indent="-335280">
              <a:lnSpc>
                <a:spcPts val="2310"/>
              </a:lnSpc>
              <a:spcAft>
                <a:spcPts val="0"/>
              </a:spcAft>
              <a:defRPr sz="2200" b="0">
                <a:solidFill>
                  <a:srgbClr val="1C2330"/>
                </a:solidFill>
                <a:latin typeface="Liberation Mono"/>
              </a:defRPr>
            </a:pPr>
            <a:r>
              <a:t>// mejor:</a:t>
            </a:r>
          </a:p>
          <a:p>
            <a:pPr marL="335280" indent="-335280">
              <a:lnSpc>
                <a:spcPts val="2310"/>
              </a:lnSpc>
              <a:spcAft>
                <a:spcPts val="0"/>
              </a:spcAft>
              <a:defRPr sz="2200" b="0">
                <a:solidFill>
                  <a:srgbClr val="1C2330"/>
                </a:solidFill>
                <a:latin typeface="Liberation Mono"/>
              </a:defRPr>
            </a:pPr>
            <a:r>
              <a:t>String nombreAsistente = "MiniJarvis";</a:t>
            </a:r>
          </a:p>
          <a:p>
            <a:pPr marL="335280" indent="-335280">
              <a:lnSpc>
                <a:spcPts val="2310"/>
              </a:lnSpc>
              <a:spcAft>
                <a:spcPts val="0"/>
              </a:spcAft>
              <a:defRPr sz="2200" b="0">
                <a:solidFill>
                  <a:srgbClr val="1C2330"/>
                </a:solidFill>
                <a:latin typeface="Liberation Mono"/>
              </a:defRPr>
            </a:pPr>
          </a:p>
          <a:p>
            <a:pPr marL="335280" indent="-335280">
              <a:lnSpc>
                <a:spcPts val="2310"/>
              </a:lnSpc>
              <a:spcAft>
                <a:spcPts val="0"/>
              </a:spcAft>
              <a:defRPr sz="2200" b="0">
                <a:solidFill>
                  <a:srgbClr val="1C2330"/>
                </a:solidFill>
                <a:latin typeface="Liberation Mono"/>
              </a:defRPr>
            </a:pPr>
            <a:r>
              <a:t>boolean b = true;</a:t>
            </a:r>
          </a:p>
          <a:p>
            <a:pPr marL="335280" indent="-335280">
              <a:lnSpc>
                <a:spcPts val="2310"/>
              </a:lnSpc>
              <a:spcAft>
                <a:spcPts val="0"/>
              </a:spcAft>
              <a:defRPr sz="2200" b="0">
                <a:solidFill>
                  <a:srgbClr val="1C2330"/>
                </a:solidFill>
                <a:latin typeface="Liberation Mono"/>
              </a:defRPr>
            </a:pPr>
            <a:r>
              <a:t>// mejor:</a:t>
            </a:r>
          </a:p>
          <a:p>
            <a:pPr marL="335280" indent="-335280">
              <a:lnSpc>
                <a:spcPts val="2310"/>
              </a:lnSpc>
              <a:spcAft>
                <a:spcPts val="0"/>
              </a:spcAft>
              <a:defRPr sz="2200" b="0">
                <a:solidFill>
                  <a:srgbClr val="1C2330"/>
                </a:solidFill>
                <a:latin typeface="Liberation Mono"/>
              </a:defRPr>
            </a:pPr>
            <a:r>
              <a:t>boolean objetivoAlcanzado = true;</a:t>
            </a:r>
          </a:p>
          <a:p>
            <a:pPr marL="335280" indent="-335280">
              <a:lnSpc>
                <a:spcPts val="2310"/>
              </a:lnSpc>
              <a:spcAft>
                <a:spcPts val="0"/>
              </a:spcAft>
              <a:defRPr sz="2200" b="0">
                <a:solidFill>
                  <a:srgbClr val="1C2330"/>
                </a:solidFill>
                <a:latin typeface="Liberation Mono"/>
              </a:defRPr>
            </a:pPr>
          </a:p>
          <a:p>
            <a:pPr marL="335280" indent="-335280">
              <a:lnSpc>
                <a:spcPts val="2310"/>
              </a:lnSpc>
              <a:spcAft>
                <a:spcPts val="0"/>
              </a:spcAft>
              <a:defRPr sz="2200" b="0">
                <a:solidFill>
                  <a:srgbClr val="1C2330"/>
                </a:solidFill>
                <a:latin typeface="Liberation Mono"/>
              </a:defRPr>
            </a:pPr>
            <a:r>
              <a:t>double n = 7.5;</a:t>
            </a:r>
          </a:p>
          <a:p>
            <a:pPr marL="335280" indent="-335280">
              <a:lnSpc>
                <a:spcPts val="2310"/>
              </a:lnSpc>
              <a:spcAft>
                <a:spcPts val="0"/>
              </a:spcAft>
              <a:defRPr sz="2200" b="0">
                <a:solidFill>
                  <a:srgbClr val="1C2330"/>
                </a:solidFill>
                <a:latin typeface="Liberation Mono"/>
              </a:defRPr>
            </a:pPr>
            <a:r>
              <a:t>// mejor:</a:t>
            </a:r>
          </a:p>
          <a:p>
            <a:pPr marL="335280" indent="-335280">
              <a:lnSpc>
                <a:spcPts val="2310"/>
              </a:lnSpc>
              <a:spcAft>
                <a:spcPts val="0"/>
              </a:spcAft>
              <a:defRPr sz="2200" b="0">
                <a:solidFill>
                  <a:srgbClr val="1C2330"/>
                </a:solidFill>
                <a:latin typeface="Liberation Mono"/>
              </a:defRPr>
            </a:pPr>
            <a:r>
              <a:t>double notaMedia = 7.5;</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3, "recognition": false, "unit_ids": ["unit-3"], "roles": {"unit-3": "unknown"}, "source_refs": [{"source": "teacher", "heading": "Tipos primitivos y tipo de referencia", "block_index": 4, "fragment": 0}, {"source": "teacher", "heading": "Ideas y ejemplos", "block_index": 2, "fragment": 0}], "visible_sources": [{"index": 5, "sha256": "b200d3f9248307aab17a9e73972fe8819c1b4088e9bb5f6bcfe6b2c126eae1ad"}], "notes_sources": [{"function": "other", "heading": "Tipos primitivos y tipo de referencia", "sha256": "819b87aa316f5ddfe074f1e9f4faecfd4fcc7c828601a030073b2334ee9b125e"}, {"function": "visible_detail", "heading": "Tipos primitivos y tipo de referencia", "sha256": "ba68317b0b94e7febf5b0e5d7d14abe7ff971a61766254c8bd7e016a8a88973e"}, {"function": "facilitation", "heading": "Tipos primitivos y tipo de referencia", "sha256": "9f52aae580cd23a3c56441aa4fec1a484e6dbec69719df82edfae217320e8afb"}, {"function": "visible_detail", "heading": "Tipos primitivos y tipo de referencia", "sha256": "f8d2cc311a230da18378e51f9a786426ab755848bd9ef6d6e4dd3418ca398085"}, {"function": "facilitation", "heading": "Tipos primitivos y tipo de referencia", "sha256": "959af27bea50160a84b720535f219e275e23741399107c45c8606509b7575191"}, {"function": "facilitation", "heading": "Tipos primitivos y tipo de referencia", "sha256": "eefd23d7f1ba8c8d6dd001ccece6fdc73d88b6144bcfc33df3623b390e3fef03"}, {"function": "facilitation", "heading": "Tipos primitivos y tipo de referencia", "sha256": "b0bbac4866d894931e79224f73c1fe485b6e61559665904f96fcfad4a19d610b"}, {"function": "facilitation", "heading": "Tipos primitivos y tipo de referencia", "sha256": "62bb3780055a38dc268cb20a6c2008b9dc11115a443d46b129308f58dc967b82"}, {"function": "facilitation", "heading": "Tipos primitivos y tipo de referencia", "sha256": "5a31956c2f0282e24bb743ec777728429fdda35d8f0f14c7e04f98174bacf111"}, {"function": "facilitation", "heading": "Tipos primitivos y tipo de referencia", "sha256": "c39910adf1b6f74a85fbfa928be740042f9e2843c3ca4db5610f4c2ca255d8ca"}, {"function": "facilitation", "heading": "Tipos primitivos y tipo de referencia", "sha256": "55f25b5d6bba20a12483131c9f1b61a8520dc7c06918685a7d0dce106f6aba3e"}, {"function": "visible_detail", "heading": "Tipos primitivos y tipo de referencia", "sha256": "dcf59b83f33a8570004e1db5d7aa3466d842ae91dbb8ababb72306ccbb1bdaff"}, {"function": "visible_detail", "heading": "Tipos primitivos y tipo de referencia", "sha256": "45c28b697e8ccddad8ab9d71b19eb5616653a584adc1c3a57f54460efb2225b2"}, {"function": "visible_detail", "heading": "Tipos primitivos y tipo de referencia", "sha256": "e9a9adbed5093e7e4683ceca86dbd6e1117d79e8fc0712edc071193f96a4d47d"}], "relations": {"unit_relations": {"unit-3": {}}, "schedule": null, "source_supports_enriched": true}, "timeline_refs": [1], "composition": {"origin_slides": [8, 9, 10, 11, 12, 13]}, "timing": {"seconds": 0, "allocations": [{"source_index": 1, "seconds": 0, "decision": "Intervalo compartido íntegro; propietario contable seleccionado por función de actividad y referencia timeline de unidad (identidad semántica en empates). Soporte, sin duplicación contable. ", "source_time": "5–15 min", "source_seconds": 600, "is_owner": false, "function": "other"}], "clock_intervals": [1], "presenter_notes": "Reloj fuente 5–15 min: duración compartida 600 segundos. Trabajo: Explicar variable frente a valor, tipos de uso y renombrado. Función del soporte: apoyo al trabajo.", "shared_intervals": [{"source_index": 1, "source_time": "5–15 min", "seconds": 600, "is_owner": false, "function": "other", "action": "Explicar variable frente a valor, tipos de uso y renombrado.", "concurrent": false, "parallel_work": ""}]}, "code_blocks": ["int x = 4;\n// mejor:\nint horasEstudio = 4;\n\nString s = \"MiniJarvis\";\n// mejor:\nString nombreAsistente = \"MiniJarvis\";\n\nboolean b = true;\n// mejor:\nboolean objetivoAlcanzado = true;\n\ndouble n = 7.5;\n// mejor:\ndouble notaMedia = 7.5;"], "representation_needs": []}</ns0:renderMetadata>
    </p:ext>
  </p:extLs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Tipos primitivos y tipo de referencia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ódigo editable" descr="Código editable"/>
          <p:cNvSpPr txBox="1"/>
          <p:nvPr/>
        </p:nvSpPr>
        <p:spPr>
          <a:xfrm>
            <a:off x="640080" y="1874519"/>
            <a:ext cx="662940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horasEstudio;</a:t>
            </a:r>
          </a:p>
        </p:txBody>
      </p:sp>
      <p:sp>
        <p:nvSpPr>
          <p:cNvPr id="6" name="Código editable" descr="Código editable"/>
          <p:cNvSpPr txBox="1"/>
          <p:nvPr/>
        </p:nvSpPr>
        <p:spPr>
          <a:xfrm>
            <a:off x="640080" y="2423921"/>
            <a:ext cx="662940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horasEstudio = 4;</a:t>
            </a:r>
          </a:p>
        </p:txBody>
      </p:sp>
      <p:sp>
        <p:nvSpPr>
          <p:cNvPr id="7" name="Código editable" descr="Código editable"/>
          <p:cNvSpPr txBox="1"/>
          <p:nvPr/>
        </p:nvSpPr>
        <p:spPr>
          <a:xfrm>
            <a:off x="640080" y="2973323"/>
            <a:ext cx="6629400" cy="75133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horasEstudio = 4</a:t>
            </a:r>
          </a:p>
          <a:p>
            <a:pPr marL="335280" indent="-335280">
              <a:lnSpc>
                <a:spcPts val="2310"/>
              </a:lnSpc>
              <a:spcAft>
                <a:spcPts val="0"/>
              </a:spcAft>
              <a:defRPr sz="2200" b="0">
                <a:solidFill>
                  <a:srgbClr val="1C2330"/>
                </a:solidFill>
                <a:latin typeface="Liberation Mono"/>
              </a:defRPr>
            </a:pPr>
            <a:r>
              <a:t>tipo nombre valor inicial</a:t>
            </a:r>
          </a:p>
        </p:txBody>
      </p:sp>
      <p:sp>
        <p:nvSpPr>
          <p:cNvPr id="8" name="Código editable" descr="Código editable"/>
          <p:cNvSpPr txBox="1"/>
          <p:nvPr/>
        </p:nvSpPr>
        <p:spPr>
          <a:xfrm>
            <a:off x="640080" y="3816095"/>
            <a:ext cx="662940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horasEstudio = 5;</a:t>
            </a:r>
          </a:p>
        </p:txBody>
      </p:sp>
      <p:sp>
        <p:nvSpPr>
          <p:cNvPr id="9" name="Código editable" descr="Código editable"/>
          <p:cNvSpPr txBox="1"/>
          <p:nvPr/>
        </p:nvSpPr>
        <p:spPr>
          <a:xfrm>
            <a:off x="640080" y="4365497"/>
            <a:ext cx="6629400" cy="163144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horasEstudio;</a:t>
            </a:r>
          </a:p>
          <a:p>
            <a:pPr marL="335280" indent="-335280">
              <a:lnSpc>
                <a:spcPts val="2310"/>
              </a:lnSpc>
              <a:spcAft>
                <a:spcPts val="0"/>
              </a:spcAft>
              <a:defRPr sz="2200" b="0">
                <a:solidFill>
                  <a:srgbClr val="1C2330"/>
                </a:solidFill>
                <a:latin typeface="Liberation Mono"/>
              </a:defRPr>
            </a:pPr>
            <a:r>
              <a:t>horasEstudio = 4;</a:t>
            </a:r>
          </a:p>
          <a:p>
            <a:pPr marL="335280" indent="-335280">
              <a:lnSpc>
                <a:spcPts val="2310"/>
              </a:lnSpc>
              <a:spcAft>
                <a:spcPts val="0"/>
              </a:spcAft>
              <a:defRPr sz="2200" b="0">
                <a:solidFill>
                  <a:srgbClr val="1C2330"/>
                </a:solidFill>
                <a:latin typeface="Liberation Mono"/>
              </a:defRPr>
            </a:pPr>
            <a:r>
              <a:t>System.out.println(horasEstudio);</a:t>
            </a:r>
          </a:p>
          <a:p>
            <a:pPr marL="335280" indent="-335280">
              <a:lnSpc>
                <a:spcPts val="2310"/>
              </a:lnSpc>
              <a:spcAft>
                <a:spcPts val="0"/>
              </a:spcAft>
              <a:defRPr sz="2200" b="0">
                <a:solidFill>
                  <a:srgbClr val="1C2330"/>
                </a:solidFill>
                <a:latin typeface="Liberation Mono"/>
              </a:defRPr>
            </a:pPr>
            <a:r>
              <a:t>horasEstudio = 5;</a:t>
            </a:r>
          </a:p>
          <a:p>
            <a:pPr marL="335280" indent="-335280">
              <a:lnSpc>
                <a:spcPts val="2310"/>
              </a:lnSpc>
              <a:spcAft>
                <a:spcPts val="0"/>
              </a:spcAft>
              <a:defRPr sz="2200" b="0">
                <a:solidFill>
                  <a:srgbClr val="1C2330"/>
                </a:solidFill>
                <a:latin typeface="Liberation Mono"/>
              </a:defRPr>
            </a:pPr>
            <a:r>
              <a:t>System.out.println(horasEstudio);</a:t>
            </a:r>
          </a:p>
        </p:txBody>
      </p:sp>
      <p:sp>
        <p:nvSpPr>
          <p:cNvPr id="10" name="Referente o acción" descr="Referente o acción"/>
          <p:cNvSpPr txBox="1"/>
          <p:nvPr/>
        </p:nvSpPr>
        <p:spPr>
          <a:xfrm>
            <a:off x="7680960" y="1874519"/>
            <a:ext cx="3840480" cy="117043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Muestro solo el nombre de la variable.</a:t>
            </a:r>
          </a:p>
        </p:txBody>
      </p:sp>
      <p:sp>
        <p:nvSpPr>
          <p:cNvPr id="11" name="Referente o acción" descr="Referente o acción"/>
          <p:cNvSpPr txBox="1"/>
          <p:nvPr/>
        </p:nvSpPr>
        <p:spPr>
          <a:xfrm>
            <a:off x="7680960" y="3136391"/>
            <a:ext cx="3840480" cy="150571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No se vuelve a escribir el tipo si se modifica la variable existente.</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"study", "plan_index": 3, "recognition": false, "unit_ids": ["unit-3"], "roles": {"unit-3": "unknown"}, "source_refs": [{"source": "teacher", "heading": "Tipos primitivos y tipo de referencia", "block_index": 4, "fragment": 0}, {"source": "teacher", "heading": "Ideas y ejemplos", "block_index": 2, "fragment": 0}], "visible_sources": [{"index": 7, "sha256": "dcf59b83f33a8570004e1db5d7aa3466d842ae91dbb8ababb72306ccbb1bdaff"}, {"index": 9, "sha256": "1d9977a99a22b754bdeff60b6e5fb9e889fdb8f9ed0c5e1beddd49e24508a52d"}, {"index": 10, "sha256": "215a5427374cba1a1b381cedb2ea7ffe0c2303c65de7116320af0d67def76a87"}, {"index": 11, "sha256": "2cbd519c2bb4e9d4bc7e1432aaa35bff21bf0f36639020117ed50cd18f56cd2d"}, {"index": 12, "sha256": "cc26b0caaa3e1315cab2e5dedc1ce793f73c8ad3b4eeff226a9ac93ba411af04"}, {"index": 13, "sha256": "0de9bce4ef33c6985bc3954f0e53b55a68e5caf22a18e3c8f20b25a1e2d8954f"}, {"index": 14, "sha256": "6d9e1987335da1913492a1c7c6d5972f99b0667c8470c267fa9ce7b82bbc8840"}], "notes_sources": [{"function": "other", "heading": "Tipos primitivos y tipo de referencia", "sha256": "819b87aa316f5ddfe074f1e9f4faecfd4fcc7c828601a030073b2334ee9b125e"}, {"function": "visible_detail", "heading": "Tipos primitivos y tipo de referencia", "sha256": "ba68317b0b94e7febf5b0e5d7d14abe7ff971a61766254c8bd7e016a8a88973e"}, {"function": "facilitation", "heading": "Tipos primitivos y tipo de referencia", "sha256": "9f52aae580cd23a3c56441aa4fec1a484e6dbec69719df82edfae217320e8afb"}, {"function": "visible_detail", "heading": "Tipos primitivos y tipo de referencia", "sha256": "f8d2cc311a230da18378e51f9a786426ab755848bd9ef6d6e4dd3418ca398085"}, {"function": "facilitation", "heading": "Tipos primitivos y tipo de referencia", "sha256": "959af27bea50160a84b720535f219e275e23741399107c45c8606509b7575191"}, {"function": "facilitation", "heading": "Tipos primitivos y tipo de referencia", "sha256": "eefd23d7f1ba8c8d6dd001ccece6fdc73d88b6144bcfc33df3623b390e3fef03"}, {"function": "facilitation", "heading": "Tipos primitivos y tipo de referencia", "sha256": "b0bbac4866d894931e79224f73c1fe485b6e61559665904f96fcfad4a19d610b"}, {"function": "facilitation", "heading": "Tipos primitivos y tipo de referencia", "sha256": "62bb3780055a38dc268cb20a6c2008b9dc11115a443d46b129308f58dc967b82"}, {"function": "facilitation", "heading": "Tipos primitivos y tipo de referencia", "sha256": "5a31956c2f0282e24bb743ec777728429fdda35d8f0f14c7e04f98174bacf111"}, {"function": "facilitation", "heading": "Tipos primitivos y tipo de referencia", "sha256": "c39910adf1b6f74a85fbfa928be740042f9e2843c3ca4db5610f4c2ca255d8ca"}, {"function": "facilitation", "heading": "Tipos primitivos y tipo de referencia", "sha256": "55f25b5d6bba20a12483131c9f1b61a8520dc7c06918685a7d0dce106f6aba3e"}, {"function": "visible_detail", "heading": "Tipos primitivos y tipo de referencia", "sha256": "dcf59b83f33a8570004e1db5d7aa3466d842ae91dbb8ababb72306ccbb1bdaff"}, {"function": "visible_detail", "heading": "Tipos primitivos y tipo de referencia", "sha256": "45c28b697e8ccddad8ab9d71b19eb5616653a584adc1c3a57f54460efb2225b2"}, {"function": "visible_detail", "heading": "Tipos primitivos y tipo de referencia", "sha256": "e9a9adbed5093e7e4683ceca86dbd6e1117d79e8fc0712edc071193f96a4d47d"}], "relations": {"unit_relations": {"unit-3": {}}, "schedule": null, "source_supports_enriched": true}, "timeline_refs": [1], "composition": {"origin_slides": [8, 9, 10, 11, 12, 13]}, "timing": {"seconds": 0, "allocations": [{"source_index": 1, "seconds": 0, "decision": "Intervalo compartido íntegro; propietario contable seleccionado por función de actividad y referencia timeline de unidad (identidad semántica en empates). Soporte, sin duplicación contable. ", "source_time": "5–15 min", "source_seconds": 600, "is_owner": false, "function": "other"}], "clock_intervals": [1], "presenter_notes": "Reloj fuente 5–15 min: duración compartida 600 segundos. Trabajo: Explicar variable frente a valor, tipos de uso y renombrado. Función del soporte: apoyo al trabajo.", "shared_intervals": [{"source_index": 1, "source_time": "5–15 min", "seconds": 600, "is_owner": false, "function": "other", "action": "Explicar variable frente a valor, tipos de uso y renombrado.", "concurrent": false, "parallel_work": ""}]}, "code_blocks": ["int horasEstudio;", "int horasEstudio = 4;", "horasEstudio = 5;", "int horasEstudio;\nhorasEstudio = 4;\nSystem.out.println(horasEstudio);\nhorasEstudio = 5;\nSystem.out.println(horasEstudio);"], "representation_needs": []}</ns0:renderMetadata>
    </p:ext>
  </p:extLs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Tipos primitivos y tipo de referencia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ódigo editable" descr="Código editable"/>
          <p:cNvSpPr txBox="1"/>
          <p:nvPr/>
        </p:nvSpPr>
        <p:spPr>
          <a:xfrm>
            <a:off x="640080" y="1417320"/>
            <a:ext cx="10881360" cy="75133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int tareas = 2;</a:t>
            </a:r>
          </a:p>
          <a:p>
            <a:pPr marL="335280" indent="-335280">
              <a:lnSpc>
                <a:spcPts val="2310"/>
              </a:lnSpc>
              <a:spcAft>
                <a:spcPts val="0"/>
              </a:spcAft>
              <a:defRPr sz="2200" b="0">
                <a:solidFill>
                  <a:srgbClr val="1C2330"/>
                </a:solidFill>
                <a:latin typeface="Liberation Mono"/>
              </a:defRPr>
            </a:pPr>
            <a:r>
              <a:t>tareas = 5;</a:t>
            </a:r>
          </a:p>
        </p:txBody>
      </p:sp>
      <p:sp>
        <p:nvSpPr>
          <p:cNvPr id="6" name="Contenido" descr="Contenido"/>
          <p:cNvSpPr txBox="1"/>
          <p:nvPr/>
        </p:nvSpPr>
        <p:spPr>
          <a:xfrm>
            <a:off x="640080" y="2260092"/>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Esto no significa que 2 sea igual a 5.</a:t>
            </a:r>
          </a:p>
        </p:txBody>
      </p:sp>
      <p:sp>
        <p:nvSpPr>
          <p:cNvPr id="7" name="Contenido" descr="Contenido"/>
          <p:cNvSpPr txBox="1"/>
          <p:nvPr/>
        </p:nvSpPr>
        <p:spPr>
          <a:xfrm>
            <a:off x="640080" y="2907284"/>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String no sirve para todo.</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3, "recognition": false, "unit_ids": ["unit-3"], "roles": {"unit-3": "unknown"}, "source_refs": [{"source": "teacher", "heading": "Tipos primitivos y tipo de referencia", "block_index": 4, "fragment": 0}, {"source": "teacher", "heading": "Ideas y ejemplos", "block_index": 2, "fragment": 0}], "visible_sources": [{"index": 16, "sha256": "3291593df0180156e8e6565f1eb739d6bfca2c56166539d08f202891599142f9"}, {"index": 18, "sha256": "45c28b697e8ccddad8ab9d71b19eb5616653a584adc1c3a57f54460efb2225b2"}, {"index": 20, "sha256": "e9a9adbed5093e7e4683ceca86dbd6e1117d79e8fc0712edc071193f96a4d47d"}], "notes_sources": [{"function": "other", "heading": "Tipos primitivos y tipo de referencia", "sha256": "819b87aa316f5ddfe074f1e9f4faecfd4fcc7c828601a030073b2334ee9b125e"}, {"function": "visible_detail", "heading": "Tipos primitivos y tipo de referencia", "sha256": "ba68317b0b94e7febf5b0e5d7d14abe7ff971a61766254c8bd7e016a8a88973e"}, {"function": "facilitation", "heading": "Tipos primitivos y tipo de referencia", "sha256": "9f52aae580cd23a3c56441aa4fec1a484e6dbec69719df82edfae217320e8afb"}, {"function": "visible_detail", "heading": "Tipos primitivos y tipo de referencia", "sha256": "f8d2cc311a230da18378e51f9a786426ab755848bd9ef6d6e4dd3418ca398085"}, {"function": "facilitation", "heading": "Tipos primitivos y tipo de referencia", "sha256": "959af27bea50160a84b720535f219e275e23741399107c45c8606509b7575191"}, {"function": "facilitation", "heading": "Tipos primitivos y tipo de referencia", "sha256": "eefd23d7f1ba8c8d6dd001ccece6fdc73d88b6144bcfc33df3623b390e3fef03"}, {"function": "facilitation", "heading": "Tipos primitivos y tipo de referencia", "sha256": "b0bbac4866d894931e79224f73c1fe485b6e61559665904f96fcfad4a19d610b"}, {"function": "facilitation", "heading": "Tipos primitivos y tipo de referencia", "sha256": "62bb3780055a38dc268cb20a6c2008b9dc11115a443d46b129308f58dc967b82"}, {"function": "facilitation", "heading": "Tipos primitivos y tipo de referencia", "sha256": "5a31956c2f0282e24bb743ec777728429fdda35d8f0f14c7e04f98174bacf111"}, {"function": "facilitation", "heading": "Tipos primitivos y tipo de referencia", "sha256": "c39910adf1b6f74a85fbfa928be740042f9e2843c3ca4db5610f4c2ca255d8ca"}, {"function": "facilitation", "heading": "Tipos primitivos y tipo de referencia", "sha256": "55f25b5d6bba20a12483131c9f1b61a8520dc7c06918685a7d0dce106f6aba3e"}, {"function": "visible_detail", "heading": "Tipos primitivos y tipo de referencia", "sha256": "dcf59b83f33a8570004e1db5d7aa3466d842ae91dbb8ababb72306ccbb1bdaff"}, {"function": "visible_detail", "heading": "Tipos primitivos y tipo de referencia", "sha256": "45c28b697e8ccddad8ab9d71b19eb5616653a584adc1c3a57f54460efb2225b2"}, {"function": "visible_detail", "heading": "Tipos primitivos y tipo de referencia", "sha256": "e9a9adbed5093e7e4683ceca86dbd6e1117d79e8fc0712edc071193f96a4d47d"}], "relations": {"unit_relations": {"unit-3": {}}, "schedule": null, "source_supports_enriched": true}, "timeline_refs": [1], "composition": {"origin_slides": [8, 9, 10, 11, 12, 13]}, "timing": {"seconds": 0, "allocations": [{"source_index": 1, "seconds": 0, "decision": "Intervalo compartido íntegro; propietario contable seleccionado por función de actividad y referencia timeline de unidad (identidad semántica en empates). Soporte, sin duplicación contable. ", "source_time": "5–15 min", "source_seconds": 600, "is_owner": false, "function": "other"}], "clock_intervals": [1], "presenter_notes": "Reloj fuente 5–15 min: duración compartida 600 segundos. Trabajo: Explicar variable frente a valor, tipos de uso y renombrado. Función del soporte: apoyo al trabajo.", "shared_intervals": [{"source_index": 1, "source_time": "5–15 min", "seconds": 600, "is_owner": false, "function": "other", "action": "Explicar variable frente a valor, tipos de uso y renombrado.", "concurrent": false, "parallel_work": ""}]}, "code_blocks": ["int tareas = 2;\ntareas = 5;"], "representation_needs": []}</ns0:renderMetadata>
    </p:ext>
  </p:extLs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Tipos primitivos y tipo de referencia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o criterio 0" descr="Acción o criterio 0"/>
          <p:cNvSpPr txBox="1"/>
          <p:nvPr/>
        </p:nvSpPr>
        <p:spPr>
          <a:xfrm>
            <a:off x="640080" y="1417320"/>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Declaración: introduce el tipo y el nombre, por ejemplo int horasEstudio;.</a:t>
            </a:r>
          </a:p>
        </p:txBody>
      </p:sp>
      <p:sp>
        <p:nvSpPr>
          <p:cNvPr id="6" name="Acción o criterio 1" descr="Acción o criterio 1"/>
          <p:cNvSpPr txBox="1"/>
          <p:nvPr/>
        </p:nvSpPr>
        <p:spPr>
          <a:xfrm>
            <a:off x="6080760" y="1417320"/>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Inicialización: declara y proporciona el primer valor, por ejemplo int horasEstudio = 4;.</a:t>
            </a:r>
          </a:p>
        </p:txBody>
      </p:sp>
      <p:sp>
        <p:nvSpPr>
          <p:cNvPr id="7" name="Acción o criterio 2" descr="Acción o criterio 2"/>
          <p:cNvSpPr txBox="1"/>
          <p:nvPr/>
        </p:nvSpPr>
        <p:spPr>
          <a:xfrm>
            <a:off x="640080" y="3014472"/>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Asignación posterior: cambia el valor sin repetir el tipo, por ejemplo horasEstudio = 5;.</a:t>
            </a:r>
          </a:p>
        </p:txBody>
      </p:sp>
      <p:sp>
        <p:nvSpPr>
          <p:cNvPr id="8" name="Acción o criterio 3" descr="Acción o criterio 3"/>
          <p:cNvSpPr txBox="1"/>
          <p:nvPr/>
        </p:nvSpPr>
        <p:spPr>
          <a:xfrm>
            <a:off x="6080760" y="3014472"/>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lowerCamelCase: convención para nombres como nombreUsuario o horasEstudio.</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3, "recognition": false, "unit_ids": ["unit-3"], "roles": {"unit-3": "unknown"}, "source_refs": [{"source": "teacher", "heading": "Tipos primitivos y tipo de referencia", "block_index": 4, "fragment": 0}, {"source": "teacher", "heading": "Ideas y ejemplos", "block_index": 2, "fragment": 0}], "visible_sources": [{"index": 22, "sha256": "0a181012faaee4035750e3e3eadbce25f0795050782b9e45ebe1189bd989a6e3"}], "notes_sources": [{"function": "other", "heading": "Tipos primitivos y tipo de referencia", "sha256": "819b87aa316f5ddfe074f1e9f4faecfd4fcc7c828601a030073b2334ee9b125e"}, {"function": "visible_detail", "heading": "Tipos primitivos y tipo de referencia", "sha256": "ba68317b0b94e7febf5b0e5d7d14abe7ff971a61766254c8bd7e016a8a88973e"}, {"function": "facilitation", "heading": "Tipos primitivos y tipo de referencia", "sha256": "9f52aae580cd23a3c56441aa4fec1a484e6dbec69719df82edfae217320e8afb"}, {"function": "visible_detail", "heading": "Tipos primitivos y tipo de referencia", "sha256": "f8d2cc311a230da18378e51f9a786426ab755848bd9ef6d6e4dd3418ca398085"}, {"function": "facilitation", "heading": "Tipos primitivos y tipo de referencia", "sha256": "959af27bea50160a84b720535f219e275e23741399107c45c8606509b7575191"}, {"function": "facilitation", "heading": "Tipos primitivos y tipo de referencia", "sha256": "eefd23d7f1ba8c8d6dd001ccece6fdc73d88b6144bcfc33df3623b390e3fef03"}, {"function": "facilitation", "heading": "Tipos primitivos y tipo de referencia", "sha256": "b0bbac4866d894931e79224f73c1fe485b6e61559665904f96fcfad4a19d610b"}, {"function": "facilitation", "heading": "Tipos primitivos y tipo de referencia", "sha256": "62bb3780055a38dc268cb20a6c2008b9dc11115a443d46b129308f58dc967b82"}, {"function": "facilitation", "heading": "Tipos primitivos y tipo de referencia", "sha256": "5a31956c2f0282e24bb743ec777728429fdda35d8f0f14c7e04f98174bacf111"}, {"function": "facilitation", "heading": "Tipos primitivos y tipo de referencia", "sha256": "c39910adf1b6f74a85fbfa928be740042f9e2843c3ca4db5610f4c2ca255d8ca"}, {"function": "facilitation", "heading": "Tipos primitivos y tipo de referencia", "sha256": "55f25b5d6bba20a12483131c9f1b61a8520dc7c06918685a7d0dce106f6aba3e"}, {"function": "visible_detail", "heading": "Tipos primitivos y tipo de referencia", "sha256": "dcf59b83f33a8570004e1db5d7aa3466d842ae91dbb8ababb72306ccbb1bdaff"}, {"function": "visible_detail", "heading": "Tipos primitivos y tipo de referencia", "sha256": "45c28b697e8ccddad8ab9d71b19eb5616653a584adc1c3a57f54460efb2225b2"}, {"function": "visible_detail", "heading": "Tipos primitivos y tipo de referencia", "sha256": "e9a9adbed5093e7e4683ceca86dbd6e1117d79e8fc0712edc071193f96a4d47d"}], "relations": {"unit_relations": {"unit-3": {}}, "schedule": null, "source_supports_enriched": true}, "timeline_refs": [1], "composition": {"origin_slides": [8, 9, 10, 11, 12, 13]}, "timing": {"seconds": 0, "allocations": [{"source_index": 1, "seconds": 0, "decision": "Intervalo compartido íntegro; propietario contable seleccionado por función de actividad y referencia timeline de unidad (identidad semántica en empates). Soporte, sin duplicación contable. ", "source_time": "5–15 min", "source_seconds": 600, "is_owner": false, "function": "other"}], "clock_intervals": [1], "presenter_notes": "Reloj fuente 5–15 min: duración compartida 600 segundos. Trabajo: Explicar variable frente a valor, tipos de uso y renombrado. Función del soporte: apoyo al trabajo.", "shared_intervals": [{"source_index": 1, "source_time": "5–15 min", "seconds": 600, "is_owner": false, "function": "other", "action": "Explicar variable frente a valor, tipos de uso y renombrado.", "concurrent": false, "parallel_work": ""}]}, "code_blocks": [], "representation_needs": []}</ns0:renderMetadata>
    </p:ext>
  </p:extLs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Comprender, predecir y practicar —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representa;</a:t>
            </a:r>
          </a:p>
        </p:txBody>
      </p:sp>
      <p:sp>
        <p:nvSpPr>
          <p:cNvPr id="7" name="Acción o criterio 1" descr="Acción o criterio 1"/>
          <p:cNvSpPr txBox="1"/>
          <p:nvPr/>
        </p:nvSpPr>
        <p:spPr>
          <a:xfrm>
            <a:off x="608076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tipo usaría;</a:t>
            </a:r>
          </a:p>
        </p:txBody>
      </p:sp>
      <p:sp>
        <p:nvSpPr>
          <p:cNvPr id="8" name="Acción o criterio 2" descr="Acción o criterio 2"/>
          <p:cNvSpPr txBox="1"/>
          <p:nvPr/>
        </p:nvSpPr>
        <p:spPr>
          <a:xfrm>
            <a:off x="640080" y="257911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nombre significativo tendría;</a:t>
            </a:r>
          </a:p>
        </p:txBody>
      </p:sp>
      <p:sp>
        <p:nvSpPr>
          <p:cNvPr id="9" name="Acción o criterio 3" descr="Acción o criterio 3"/>
          <p:cNvSpPr txBox="1"/>
          <p:nvPr/>
        </p:nvSpPr>
        <p:spPr>
          <a:xfrm>
            <a:off x="6080760" y="257911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valor inicial podría tener.</a:t>
            </a:r>
          </a:p>
        </p:txBody>
      </p:sp>
      <p:sp>
        <p:nvSpPr>
          <p:cNvPr id="10" name="Contenido" descr="Contenido"/>
          <p:cNvSpPr txBox="1"/>
          <p:nvPr/>
        </p:nvSpPr>
        <p:spPr>
          <a:xfrm>
            <a:off x="640080" y="3505708"/>
            <a:ext cx="10881360" cy="212039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Debe aplicar los conceptos trabajados previamente en la sesión: variable frente a valor, elección del tipo según el dato y su uso, nombres significativos, declaración, inicialización y asignación posterior.</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4, "recognition": false, "unit_ids": ["unit-4"], "roles": {"unit-4": "core"}, "source_refs": [{"source": "teacher", "heading": "Comprender, predecir y practicar — INDIVIDUAL", "block_index": 6, "fragment": 0}, {"source": "teacher", "heading": "Actividad de la sesión", "block_index": 5, "fragment": 0}], "visible_sources": [{"index": 1, "sha256": "922f5daa3b5a55824ecfca3b9f4ad93cfc0d26e082cf0171145fdfd71e25bcf0"}, {"index": 2, "sha256": "5edc547851cfaa7dac52df8faf8a4cbeff990a3cf8ccac6d754e5b89ce5756a1"}], "notes_sources": [{"function": "facilitation", "heading": "Comprender, predecir y practicar — INDIVIDUAL", "sha256": "c3435a85de577197309cd58e7602c731c85c25c5233f674d2b3dff5e583c89f7"}, {"function": "visible_detail", "heading": "Comprender, predecir y practicar — INDIVIDUAL", "sha256": "6f80ff8c7d2482832f9dda19a709a65ac158293499a1d8e12de1181b74627dd5"}], "relations": {"unit_relations": {"unit-4": {}}, "schedule": null, "source_supports_enriched": true}, "timeline_refs": [3], "composition": {"origin_slides": [14, 15]}, "timing": {"seconds": 480, "allocations": [{"source_index": 3, "seconds": 480, "decision": "Intervalo compartido íntegro; propietario contable seleccionado por función de actividad y referencia timeline de unidad (identidad semántica en empates). Propietario. ", "source_time": "23–31 min", "source_seconds": 480, "is_owner": true, "function": "activity"}], "clock_intervals": [3], "presenter_notes": "Reloj fuente 23–31 min: duración compartida 480 segundos. Trabajo: Actividad individual: comprender, predecir y practicar variables. Función del soporte: actividad.", "shared_intervals": [{"source_index": 3, "source_time": "23–31 min", "seconds": 480, "is_owner": true, "function": "activity", "action": "Actividad individual: comprender, predecir y practicar variables.", "concurrent": false, "parallel_work": ""}]}, "code_blocks": [], "representation_needs": []}</ns0:renderMetadata>
    </p:ext>
  </p:extLs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Comprender, predecir y practicar —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Contenido" descr="Contenido"/>
          <p:cNvSpPr txBox="1"/>
          <p:nvPr/>
        </p:nvSpPr>
        <p:spPr>
          <a:xfrm>
            <a:off x="640080" y="1987804"/>
            <a:ext cx="10881360" cy="212039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Después realiza una micropráctica propia: declara e inicializa al menos una variable, predice qué ocurrirá al reasignarla, modifica su valor, ejecuta y comprueba el resultado frente a su predicción.</a:t>
            </a:r>
          </a:p>
        </p:txBody>
      </p:sp>
      <p:sp>
        <p:nvSpPr>
          <p:cNvPr id="7" name="Contenido" descr="Contenido"/>
          <p:cNvSpPr txBox="1"/>
          <p:nvPr/>
        </p:nvSpPr>
        <p:spPr>
          <a:xfrm>
            <a:off x="640080" y="4199636"/>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Esta micropráctica garantiza práctica individual antes de integrar en equipo.</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4, "recognition": false, "unit_ids": ["unit-4"], "roles": {"unit-4": "core"}, "source_refs": [{"source": "teacher", "heading": "Comprender, predecir y practicar — INDIVIDUAL", "block_index": 6, "fragment": 0}, {"source": "teacher", "heading": "Actividad de la sesión", "block_index": 5, "fragment": 0}], "visible_sources": [{"index": 3, "sha256": "f0444c7401d6c23869d262a6ad4b62ec0a96c02dea70a7ad7085f120b3f4b4f5"}, {"index": 4, "sha256": "6f80ff8c7d2482832f9dda19a709a65ac158293499a1d8e12de1181b74627dd5"}], "notes_sources": [{"function": "facilitation", "heading": "Comprender, predecir y practicar — INDIVIDUAL", "sha256": "c3435a85de577197309cd58e7602c731c85c25c5233f674d2b3dff5e583c89f7"}, {"function": "visible_detail", "heading": "Comprender, predecir y practicar — INDIVIDUAL", "sha256": "6f80ff8c7d2482832f9dda19a709a65ac158293499a1d8e12de1181b74627dd5"}], "relations": {"unit_relations": {"unit-4": {}}, "schedule": null, "source_supports_enriched": true}, "timeline_refs": [3], "composition": {"origin_slides": [14, 15]}, "timing": {"seconds": 0, "allocations": [{"source_index": 3, "seconds": 0, "decision": "Intervalo compartido íntegro; propietario contable seleccionado por función de actividad y referencia timeline de unidad (identidad semántica en empates). Soporte, sin duplicación contable. ", "source_time": "23–31 min", "source_seconds": 480, "is_owner": false, "function": "activity"}], "clock_intervals": [3], "presenter_notes": "Reloj fuente 23–31 min: duración compartida 480 segundos. Trabajo: Actividad individual: comprender, predecir y practicar variables. Función del soporte: actividad.", "shared_intervals": [{"source_index": 3, "source_time": "23–31 min", "seconds": 480, "is_owner": false, "function": "activity", "action": "Actividad individual: comprender, predecir y practicar variables.", "concurrent": false, "parallel_work": ""}]}, "code_blocks": [], "representation_needs": []}</ns0:renderMetadata>
    </p:ext>
  </p:extLs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Contrastar y planificar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344424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datos necesarios;</a:t>
            </a:r>
          </a:p>
        </p:txBody>
      </p:sp>
      <p:sp>
        <p:nvSpPr>
          <p:cNvPr id="7" name="Acción o criterio 1" descr="Acción o criterio 1"/>
          <p:cNvSpPr txBox="1"/>
          <p:nvPr/>
        </p:nvSpPr>
        <p:spPr>
          <a:xfrm>
            <a:off x="4267200" y="1987804"/>
            <a:ext cx="344424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tipos;</a:t>
            </a:r>
          </a:p>
        </p:txBody>
      </p:sp>
      <p:sp>
        <p:nvSpPr>
          <p:cNvPr id="8" name="Acción o criterio 2" descr="Acción o criterio 2"/>
          <p:cNvSpPr txBox="1"/>
          <p:nvPr/>
        </p:nvSpPr>
        <p:spPr>
          <a:xfrm>
            <a:off x="7894320" y="1987804"/>
            <a:ext cx="344424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nombres;</a:t>
            </a:r>
          </a:p>
        </p:txBody>
      </p:sp>
      <p:sp>
        <p:nvSpPr>
          <p:cNvPr id="9" name="Acción o criterio 3" descr="Acción o criterio 3"/>
          <p:cNvSpPr txBox="1"/>
          <p:nvPr/>
        </p:nvSpPr>
        <p:spPr>
          <a:xfrm>
            <a:off x="640080" y="2579116"/>
            <a:ext cx="344424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valores iniciales;</a:t>
            </a:r>
          </a:p>
        </p:txBody>
      </p:sp>
      <p:sp>
        <p:nvSpPr>
          <p:cNvPr id="10" name="Acción o criterio 4" descr="Acción o criterio 4"/>
          <p:cNvSpPr txBox="1"/>
          <p:nvPr/>
        </p:nvSpPr>
        <p:spPr>
          <a:xfrm>
            <a:off x="4267200" y="2579116"/>
            <a:ext cx="344424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uso previsto.</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5, "recognition": false, "unit_ids": ["unit-5"], "roles": {"unit-5": "core"}, "source_refs": [{"source": "teacher", "heading": "Contrastar y planificar — EQUIPO", "block_index": 7, "fragment": 0}, {"source": "teacher", "heading": "Actividad de la sesión", "block_index": 5, "fragment": 0}], "visible_sources": [{"index": 1, "sha256": "68cdc236f1f349d2efd52170c0e414f6db8b228863cbbf6f5e4c60b6f5e8a9dc"}], "notes_sources": [{"function": "facilitation", "heading": "Contrastar y planificar — EQUIPO", "sha256": "a37297be9da8fa809a656342b1efa5846bd6802995686c7eb7cc51814803c9f6"}], "relations": {"unit_relations": {"unit-5": {}}, "schedule": null, "source_supports_enriched": true}, "timeline_refs": [4], "composition": {"origin_slides": [16]}, "timing": {"seconds": 360, "allocations": [{"source_index": 4, "seconds": 360, "decision": "Intervalo compartido íntegro; propietario contable seleccionado por función de actividad y referencia timeline de unidad (identidad semántica en empates). Propietario. ", "source_time": "31–37 min", "source_seconds": 360, "is_owner": true, "function": "activity"}], "clock_intervals": [4], "presenter_notes": "Reloj fuente 31–37 min: duración compartida 360 segundos. Trabajo: Contrastar y planificar en equipo: tabla de datos acordada. Función del soporte: actividad.", "shared_intervals": [{"source_index": 4, "source_time": "31–37 min", "seconds": 360, "is_owner": true, "function": "activity", "action": "Contrastar y planificar en equipo: tabla de datos acordada.", "concurrent": false, "parallel_work": ""}]}, "code_blocks": [], "representation_needs": []}</ns0:renderMetadata>
    </p:ext>
  </p:extLs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Integrar en MiniJarvis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incorpora al menos tres variables acordadas;</a:t>
            </a:r>
          </a:p>
        </p:txBody>
      </p:sp>
      <p:sp>
        <p:nvSpPr>
          <p:cNvPr id="7" name="Acción o criterio 1" descr="Acción o criterio 1"/>
          <p:cNvSpPr txBox="1"/>
          <p:nvPr/>
        </p:nvSpPr>
        <p:spPr>
          <a:xfrm>
            <a:off x="6080760" y="198780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las utiliza realmente;</a:t>
            </a:r>
          </a:p>
        </p:txBody>
      </p:sp>
      <p:sp>
        <p:nvSpPr>
          <p:cNvPr id="8" name="Acción o criterio 2" descr="Acción o criterio 2"/>
          <p:cNvSpPr txBox="1"/>
          <p:nvPr/>
        </p:nvSpPr>
        <p:spPr>
          <a:xfrm>
            <a:off x="640080" y="291439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muestra sus valores por consola cuando procede;</a:t>
            </a:r>
          </a:p>
        </p:txBody>
      </p:sp>
      <p:sp>
        <p:nvSpPr>
          <p:cNvPr id="9" name="Acción o criterio 3" descr="Acción o criterio 3"/>
          <p:cNvSpPr txBox="1"/>
          <p:nvPr/>
        </p:nvSpPr>
        <p:spPr>
          <a:xfrm>
            <a:off x="6080760" y="291439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modifica posteriormente al menos una;</a:t>
            </a:r>
          </a:p>
        </p:txBody>
      </p:sp>
      <p:sp>
        <p:nvSpPr>
          <p:cNvPr id="10" name="Acción o criterio 4" descr="Acción o criterio 4"/>
          <p:cNvSpPr txBox="1"/>
          <p:nvPr/>
        </p:nvSpPr>
        <p:spPr>
          <a:xfrm>
            <a:off x="640080" y="3840988"/>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predice el resultado antes de ejecutar y después lo comprueba.</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5, "recognition": false, "unit_ids": ["unit-6"], "roles": {"unit-6": "core"}, "source_refs": [{"source": "teacher", "heading": "Integrar en MiniJarvis — EQUIPO", "block_index": 8, "fragment": 0}, {"source": "teacher", "heading": "Actividad de la sesión", "block_index": 5, "fragment": 0}], "visible_sources": [{"index": 3, "sha256": "8876001e7c7799aa866dcbb89ce181bb59b81f541eb713099806057a02e8365d"}], "notes_sources": [{"function": "facilitation", "heading": "Integrar en MiniJarvis — EQUIPO", "sha256": "3c7e3c55de96f797cec2f9da31de08a6b96e8e828a7050fad6f57c7d5a6101a4"}], "relations": {"unit_relations": {"unit-6": {}}, "schedule": null, "source_supports_enriched": true}, "timeline_refs": [5], "composition": {"origin_slides": [17, 18]}, "timing": {"seconds": 240, "allocations": [{"source_index": 5, "seconds": 240, "decision": "Intervalo compartido íntegro; propietario contable seleccionado por función de actividad y referencia timeline de unidad (identidad semántica en empates). Propietario. ", "source_time": "37–41 min", "source_seconds": 240, "is_owner": true, "function": "activity"}], "clock_intervals": [5], "presenter_notes": "Reloj fuente 37–41 min: duración compartida 240 segundos. Trabajo: Integrar variables en MiniJarvis y ejecutar con reasignación. Función del soporte: actividad.", "shared_intervals": [{"source_index": 5, "source_time": "37–41 min", "seconds": 240, "is_owner": true, "function": "activity", "action": "Integrar variables en MiniJarvis y ejecutar con reasignación.", "concurrent": false, "parallel_work": ""}]}, "code_blocks": [], "representation_needs": []}</ns0:renderMetadata>
    </p:ext>
  </p:extLs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Integrar en MiniJarvis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Contenido" descr="Contenido"/>
          <p:cNvSpPr txBox="1"/>
          <p:nvPr/>
        </p:nvSpPr>
        <p:spPr>
          <a:xfrm>
            <a:off x="640080" y="1987804"/>
            <a:ext cx="10881360" cy="172923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Así se conserva la secuencia de la actividad: implementar al menos tres variables, mostrarlas por consola, cambiar una y volver a mostrarla para comprobar que se entiende la asignación.</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5, "recognition": false, "unit_ids": ["unit-6"], "roles": {"unit-6": "core"}, "source_refs": [{"source": "teacher", "heading": "Integrar en MiniJarvis — EQUIPO", "block_index": 8, "fragment": 0}, {"source": "teacher", "heading": "Actividad de la sesión", "block_index": 5, "fragment": 0}], "visible_sources": [{"index": 4, "sha256": "08bb95bc7b6e45aadb9ea16316d6bc418cd2a1f41f20fa11cd7738a6ee5ad119"}], "notes_sources": [{"function": "facilitation", "heading": "Integrar en MiniJarvis — EQUIPO", "sha256": "3c7e3c55de96f797cec2f9da31de08a6b96e8e828a7050fad6f57c7d5a6101a4"}], "relations": {"unit_relations": {"unit-6": {}}, "schedule": null, "source_supports_enriched": true}, "timeline_refs": [5], "composition": {"origin_slides": [17, 18]}, "timing": {"seconds": 0, "allocations": [{"source_index": 5, "seconds": 0, "decision": "Intervalo compartido íntegro; propietario contable seleccionado por función de actividad y referencia timeline de unidad (identidad semántica en empates). Soporte, sin duplicación contable. ", "source_time": "37–41 min", "source_seconds": 240, "is_owner": false, "function": "activity"}], "clock_intervals": [5], "presenter_notes": "Reloj fuente 37–41 min: duración compartida 240 segundos. Trabajo: Integrar variables en MiniJarvis y ejecutar con reasignación. Función del soporte: actividad.", "shared_intervals": [{"source_index": 5, "source_time": "37–41 min", "seconds": 240, "is_owner": false, "function": "activity", "action": "Integrar variables en MiniJarvis y ejecutar con reasignación.", "concurrent": false, "parallel_work": ""}]}, "code_blocks": [], "representation_needs": []}</ns0:renderMetadata>
    </p:ext>
  </p:extLs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Observación docente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ódigo editable" descr="Código editable"/>
          <p:cNvSpPr txBox="1"/>
          <p:nvPr/>
        </p:nvSpPr>
        <p:spPr>
          <a:xfrm>
            <a:off x="640080" y="1417320"/>
            <a:ext cx="10881360" cy="309829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Dato: nombre ficticio</a:t>
            </a:r>
          </a:p>
          <a:p>
            <a:pPr marL="335280" indent="-335280">
              <a:lnSpc>
                <a:spcPts val="2310"/>
              </a:lnSpc>
              <a:spcAft>
                <a:spcPts val="0"/>
              </a:spcAft>
              <a:defRPr sz="2200" b="0">
                <a:solidFill>
                  <a:srgbClr val="1C2330"/>
                </a:solidFill>
                <a:latin typeface="Liberation Mono"/>
              </a:defRPr>
            </a:pPr>
            <a:r>
              <a:t>Tipo: String</a:t>
            </a:r>
          </a:p>
          <a:p>
            <a:pPr marL="335280" indent="-335280">
              <a:lnSpc>
                <a:spcPts val="2310"/>
              </a:lnSpc>
              <a:spcAft>
                <a:spcPts val="0"/>
              </a:spcAft>
              <a:defRPr sz="2200" b="0">
                <a:solidFill>
                  <a:srgbClr val="1C2330"/>
                </a:solidFill>
                <a:latin typeface="Liberation Mono"/>
              </a:defRPr>
            </a:pPr>
            <a:r>
              <a:t>Nombre: nombreUsuario</a:t>
            </a:r>
          </a:p>
          <a:p>
            <a:pPr marL="335280" indent="-335280">
              <a:lnSpc>
                <a:spcPts val="2310"/>
              </a:lnSpc>
              <a:spcAft>
                <a:spcPts val="0"/>
              </a:spcAft>
              <a:defRPr sz="2200" b="0">
                <a:solidFill>
                  <a:srgbClr val="1C2330"/>
                </a:solidFill>
                <a:latin typeface="Liberation Mono"/>
              </a:defRPr>
            </a:pPr>
            <a:r>
              <a:t>Cambia: sí, lo escribe la persona usuaria</a:t>
            </a:r>
          </a:p>
          <a:p>
            <a:pPr marL="335280" indent="-335280">
              <a:lnSpc>
                <a:spcPts val="2310"/>
              </a:lnSpc>
              <a:spcAft>
                <a:spcPts val="0"/>
              </a:spcAft>
              <a:defRPr sz="2200" b="0">
                <a:solidFill>
                  <a:srgbClr val="1C2330"/>
                </a:solidFill>
                <a:latin typeface="Liberation Mono"/>
              </a:defRPr>
            </a:pPr>
            <a:r>
              <a:t>Uso: personalizar el saludo</a:t>
            </a:r>
          </a:p>
          <a:p>
            <a:pPr marL="335280" indent="-335280">
              <a:lnSpc>
                <a:spcPts val="2310"/>
              </a:lnSpc>
              <a:spcAft>
                <a:spcPts val="0"/>
              </a:spcAft>
              <a:defRPr sz="2200" b="0">
                <a:solidFill>
                  <a:srgbClr val="1C2330"/>
                </a:solidFill>
                <a:latin typeface="Liberation Mono"/>
              </a:defRPr>
            </a:pPr>
            <a:r>
              <a:t>Dato: horas de estudio</a:t>
            </a:r>
          </a:p>
          <a:p>
            <a:pPr marL="335280" indent="-335280">
              <a:lnSpc>
                <a:spcPts val="2310"/>
              </a:lnSpc>
              <a:spcAft>
                <a:spcPts val="0"/>
              </a:spcAft>
              <a:defRPr sz="2200" b="0">
                <a:solidFill>
                  <a:srgbClr val="1C2330"/>
                </a:solidFill>
                <a:latin typeface="Liberation Mono"/>
              </a:defRPr>
            </a:pPr>
            <a:r>
              <a:t>Tipo: int</a:t>
            </a:r>
          </a:p>
          <a:p>
            <a:pPr marL="335280" indent="-335280">
              <a:lnSpc>
                <a:spcPts val="2310"/>
              </a:lnSpc>
              <a:spcAft>
                <a:spcPts val="0"/>
              </a:spcAft>
              <a:defRPr sz="2200" b="0">
                <a:solidFill>
                  <a:srgbClr val="1C2330"/>
                </a:solidFill>
                <a:latin typeface="Liberation Mono"/>
              </a:defRPr>
            </a:pPr>
            <a:r>
              <a:t>Nombre: horasEstudio</a:t>
            </a:r>
          </a:p>
          <a:p>
            <a:pPr marL="335280" indent="-335280">
              <a:lnSpc>
                <a:spcPts val="2310"/>
              </a:lnSpc>
              <a:spcAft>
                <a:spcPts val="0"/>
              </a:spcAft>
              <a:defRPr sz="2200" b="0">
                <a:solidFill>
                  <a:srgbClr val="1C2330"/>
                </a:solidFill>
                <a:latin typeface="Liberation Mono"/>
              </a:defRPr>
            </a:pPr>
            <a:r>
              <a:t>Cambia: sí</a:t>
            </a:r>
          </a:p>
          <a:p>
            <a:pPr marL="335280" indent="-335280">
              <a:lnSpc>
                <a:spcPts val="2310"/>
              </a:lnSpc>
              <a:spcAft>
                <a:spcPts val="0"/>
              </a:spcAft>
              <a:defRPr sz="2200" b="0">
                <a:solidFill>
                  <a:srgbClr val="1C2330"/>
                </a:solidFill>
                <a:latin typeface="Liberation Mono"/>
              </a:defRPr>
            </a:pPr>
            <a:r>
              <a:t>Uso: calcular minutos y decidir si alcanza el objetivo</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"code", "plan_index": 5, "recognition": false, "unit_ids": ["unit-9"], "roles": {"unit-9": "core"}, "source_refs": [{"source": "teacher", "heading": "Observación docente", "block_index": 11, "fragment": 0}], "visible_sources": [{"index": 5, "sha256": "b3897c1ada973d6d090ff23928bbef363d4b27cfcfce4f2c7b69de20f23e99da"}], "notes_sources": [{"function": "observation", "heading": "Observación docente", "sha256": "9f122e5f771b18a205f69649b83e6f9e6e07eae5f1c2bf6c483016944d535390"}, {"function": "observation", "heading": "Observación docente", "sha256": "28e5f0a14bc083eb54cff463e6f1f48663765299f565b5e88ba97b8574127f56"}, {"function": "observation", "heading": "Observación docente", "sha256": "88180c21796e7f4c66fe73e5c83089a0065915423ba94986c3c7e199c1787dc7"}, {"function": "observation", "heading": "Observación docente", "sha256": "54b76d3c3bc745deb6098b9787632349f9a313419a589916ee07fab631569560"}, {"function": "observation", "heading": "Observación docente", "sha256": "b3897c1ada973d6d090ff23928bbef363d4b27cfcfce4f2c7b69de20f23e99da"}], "relations": {"unit_relations": {"unit-9": {}}, "schedule": null, "source_supports_enriched": true}, "timeline_refs": [4, 5], "composition": {"origin_slides": [19]}, "timing": {"seconds": 0, "allocations": [{"source_index": 4, "seconds": 0, "decision": "Intervalo compartido íntegro; propietario contable seleccionado por función de actividad y referencia timeline de unidad (identidad semántica en empates). Soporte, sin duplicación contable. ", "source_time": "31–37 min", "source_seconds": 360, "is_owner": false, "function": "observation"}, {"source_index": 5, "seconds": 0, "decision": "Intervalo compartido íntegro; propietario contable seleccionado por función de actividad y referencia timeline de unidad (identidad semántica en empates). Soporte, sin duplicación contable. ", "source_time": "37–41 min", "source_seconds": 240, "is_owner": false, "function": "observation"}], "clock_intervals": [4, 5], "presenter_notes": "Reloj fuente 31–37 min: duración compartida 360 segundos. Trabajo: Contrastar y planificar en equipo: tabla de datos acordada. Función del soporte: apoyo al trabajo. Reloj fuente 37–41 min: duración compartida 240 segundos. Trabajo: Integrar variables en MiniJarvis y ejecutar con reasignación. Función del soporte: apoyo al trabajo.", "shared_intervals": [{"source_index": 4, "source_time": "31–37 min", "seconds": 360, "is_owner": false, "function": "observation", "action": "Contrastar y planificar en equipo: tabla de datos acordada.", "concurrent": false, "parallel_work": ""}, {"source_index": 5, "source_time": "37–41 min", "seconds": 240, "is_owner": false, "function": "observation", "action": "Integrar variables en MiniJarvis y ejecutar con reasignación.", "concurrent": false, "parallel_work": ""}]}, "code_blocks": [], "representation_needs": []}</ns0:renderMetadata>
    </p:ext>
  </p:extLs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Comprobar comprensión —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COMPROBAR</a:t>
            </a:r>
          </a:p>
        </p:txBody>
      </p:sp>
      <p:sp>
        <p:nvSpPr>
          <p:cNvPr id="6" name="Acción o criterio 0" descr="Acción o criterio 0"/>
          <p:cNvSpPr txBox="1"/>
          <p:nvPr/>
        </p:nvSpPr>
        <p:spPr>
          <a:xfrm>
            <a:off x="64008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representa;</a:t>
            </a:r>
          </a:p>
        </p:txBody>
      </p:sp>
      <p:sp>
        <p:nvSpPr>
          <p:cNvPr id="7" name="Acción o criterio 1" descr="Acción o criterio 1"/>
          <p:cNvSpPr txBox="1"/>
          <p:nvPr/>
        </p:nvSpPr>
        <p:spPr>
          <a:xfrm>
            <a:off x="608076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cuál es su tipo;</a:t>
            </a:r>
          </a:p>
        </p:txBody>
      </p:sp>
      <p:sp>
        <p:nvSpPr>
          <p:cNvPr id="8" name="Acción o criterio 2" descr="Acción o criterio 2"/>
          <p:cNvSpPr txBox="1"/>
          <p:nvPr/>
        </p:nvSpPr>
        <p:spPr>
          <a:xfrm>
            <a:off x="640080" y="2579116"/>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cuál es su nombre;</a:t>
            </a:r>
          </a:p>
        </p:txBody>
      </p:sp>
      <p:sp>
        <p:nvSpPr>
          <p:cNvPr id="9" name="Acción o criterio 3" descr="Acción o criterio 3"/>
          <p:cNvSpPr txBox="1"/>
          <p:nvPr/>
        </p:nvSpPr>
        <p:spPr>
          <a:xfrm>
            <a:off x="6080760" y="2579116"/>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cuál fue su valor inicial;</a:t>
            </a:r>
          </a:p>
        </p:txBody>
      </p:sp>
      <p:sp>
        <p:nvSpPr>
          <p:cNvPr id="10" name="Acción o criterio 4" descr="Acción o criterio 4"/>
          <p:cNvSpPr txBox="1"/>
          <p:nvPr/>
        </p:nvSpPr>
        <p:spPr>
          <a:xfrm>
            <a:off x="640080" y="3170428"/>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dónde cambia;</a:t>
            </a:r>
          </a:p>
        </p:txBody>
      </p:sp>
      <p:sp>
        <p:nvSpPr>
          <p:cNvPr id="11" name="Acción o criterio 5" descr="Acción o criterio 5"/>
          <p:cNvSpPr txBox="1"/>
          <p:nvPr/>
        </p:nvSpPr>
        <p:spPr>
          <a:xfrm>
            <a:off x="6080760" y="3170428"/>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ocurre cuando cambia;</a:t>
            </a:r>
          </a:p>
        </p:txBody>
      </p:sp>
      <p:sp>
        <p:nvSpPr>
          <p:cNvPr id="12" name="Acción o criterio 6" descr="Acción o criterio 6"/>
          <p:cNvSpPr txBox="1"/>
          <p:nvPr/>
        </p:nvSpPr>
        <p:spPr>
          <a:xfrm>
            <a:off x="640080" y="3761740"/>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por qué se eligió ese tipo y ese nombre.</a:t>
            </a:r>
          </a:p>
        </p:txBody>
      </p:sp>
      <p:sp>
        <p:nvSpPr>
          <p:cNvPr id="13" name="Contenido" descr="Contenido"/>
          <p:cNvSpPr txBox="1"/>
          <p:nvPr/>
        </p:nvSpPr>
        <p:spPr>
          <a:xfrm>
            <a:off x="640080" y="4688332"/>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Si se le pide, debe poder modificar esa variable, predecir el efecto y comprobarlo mediante la ejecución.</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"check", "plan_index": 6, "recognition": false, "unit_ids": ["unit-7"], "roles": {"unit-7": "core"}, "source_refs": [{"source": "teacher", "heading": "Comprobar comprensión — INDIVIDUAL", "block_index": 9, "fragment": 0}, {"source": "teacher", "heading": "Actividad de la sesión", "block_index": 5, "fragment": 0}], "visible_sources": [{"index": 1, "sha256": "c83812da26d19ef583e418f0a6579a7b3edb99067dfb4cd579245934e8a782e1"}, {"index": 2, "sha256": "fd2ee8a8c0a8a4fed64021825430c237e22005855e61790d8c7bf4140a1562a9"}], "notes_sources": [{"function": "facilitation", "heading": "Comprobar comprensión — INDIVIDUAL", "sha256": "ece6bc44992ba4f29d2f3a230d8f55b713a233dba9ff72446a40aff93bb2c430"}, {"function": "visible_detail", "heading": "Comprobar comprensión — INDIVIDUAL", "sha256": "3a992209db337881b332a30fb8f24d07caae6713c23315267f5d1a1bfaf06d7e"}], "relations": {"unit_relations": {"unit-7": {}}, "schedule": null, "source_supports_enriched": true}, "timeline_refs": [6], "composition": {"origin_slides": [20, 21]}, "timing": {"seconds": 0, "allocations": [{"source_index": 6, "seconds": 0, "decision": "Intervalo compartido íntegro; propietario contable seleccionado por función de actividad y referencia timeline de unidad (identidad semántica en empates). Soporte, sin duplicación contable. ", "source_time": "41–45 min", "source_seconds": 240, "is_owner": false, "function": "individual_check"}], "clock_intervals": [6], "presenter_notes": "Reloj fuente 41–45 min: duración compartida 240 segundos. Trabajo: Comprobar comprensión individual y cerrar. Función del soporte: comprobación individual.", "shared_intervals": [{"source_index": 6, "source_time": "41–45 min", "seconds": 240, "is_owner": false, "function": "individual_check", "action": "Comprobar comprensión individual y cerrar.", "concurrent": false, "parallel_work": ""}]}, "code_blocks": [], "representation_needs": []}</ns0:renderMetadata>
    </p:ext>
  </p:extLs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Comprobar comprensión —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COMPROBAR</a:t>
            </a:r>
          </a:p>
        </p:txBody>
      </p:sp>
      <p:sp>
        <p:nvSpPr>
          <p:cNvPr id="6" name="Contenido" descr="Contenido"/>
          <p:cNvSpPr txBox="1"/>
          <p:nvPr/>
        </p:nvSpPr>
        <p:spPr>
          <a:xfrm>
            <a:off x="640080" y="1987804"/>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Estos momentos organizan el trabajo de la sesión.</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"check", "plan_index": 6, "recognition": false, "unit_ids": ["unit-7"], "roles": {"unit-7": "core"}, "source_refs": [{"source": "teacher", "heading": "Comprobar comprensión — INDIVIDUAL", "block_index": 9, "fragment": 0}, {"source": "teacher", "heading": "Actividad de la sesión", "block_index": 5, "fragment": 0}], "visible_sources": [{"index": 3, "sha256": "3a992209db337881b332a30fb8f24d07caae6713c23315267f5d1a1bfaf06d7e"}], "notes_sources": [{"function": "facilitation", "heading": "Comprobar comprensión — INDIVIDUAL", "sha256": "ece6bc44992ba4f29d2f3a230d8f55b713a233dba9ff72446a40aff93bb2c430"}, {"function": "visible_detail", "heading": "Comprobar comprensión — INDIVIDUAL", "sha256": "3a992209db337881b332a30fb8f24d07caae6713c23315267f5d1a1bfaf06d7e"}], "relations": {"unit_relations": {"unit-7": {}}, "schedule": null, "source_supports_enriched": true}, "timeline_refs": [6], "composition": {"origin_slides": [20, 21]}, "timing": {"seconds": 0, "allocations": [{"source_index": 6, "seconds": 0, "decision": "Intervalo compartido íntegro; propietario contable seleccionado por función de actividad y referencia timeline de unidad (identidad semántica en empates). Soporte, sin duplicación contable. ", "source_time": "41–45 min", "source_seconds": 240, "is_owner": false, "function": "individual_check"}], "clock_intervals": [6], "presenter_notes": "Reloj fuente 41–45 min: duración compartida 240 segundos. Trabajo: Comprobar comprensión individual y cerrar. Función del soporte: comprobación individual.", "shared_intervals": [{"source_index": 6, "source_time": "41–45 min", "seconds": 240, "is_owner": false, "function": "individual_check", "action": "Comprobar comprensión individual y cerrar.", "concurrent": false, "parallel_work": ""}]}, "code_blocks": [], "representation_needs": []}</ns0:renderMetadata>
    </p:ext>
  </p:extLs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Evidencia que permanece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217627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Equipo — GitHub: código del incremento con variables, tipos y nombres significativos, al menos una reasignación y ejecución comprobada.</a:t>
            </a:r>
          </a:p>
        </p:txBody>
      </p:sp>
      <p:sp>
        <p:nvSpPr>
          <p:cNvPr id="7" name="Acción o criterio 1" descr="Acción o criterio 1"/>
          <p:cNvSpPr txBox="1"/>
          <p:nvPr/>
        </p:nvSpPr>
        <p:spPr>
          <a:xfrm>
            <a:off x="6080760" y="1987804"/>
            <a:ext cx="5257800" cy="217627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Equipo — Scrum: solo si aparece una decisión, un cambio de planificación o un bloqueo real.</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6, "recognition": false, "unit_ids": ["unit-8"], "roles": {"unit-8": "core"}, "source_refs": [{"source": "teacher", "heading": "Evidencia que permanece", "block_index": 10, "fragment": 0}], "visible_sources": [{"index": 4, "sha256": "4e804d2af57c85a7d54681859833dccefe2e7af6120910529d4af3c65b43abc7"}], "notes_sources": [], "relations": {"unit_relations": {"unit-8": {}}, "schedule": null, "source_supports_enriched": true}, "timeline_refs": [6], "composition": {"origin_slides": [22, 23]}, "timing": {"seconds": 0, "allocations": [{"source_index": 6, "seconds": 0, "decision": "Intervalo compartido íntegro; propietario contable seleccionado por función de actividad y referencia timeline de unidad (identidad semántica en empates). Soporte, sin duplicación contable. ", "source_time": "41–45 min", "source_seconds": 240, "is_owner": false, "function": "evidence"}], "clock_intervals": [6], "presenter_notes": "Reloj fuente 41–45 min: duración compartida 240 segundos. Trabajo: Comprobar comprensión individual y cerrar. Función del soporte: apoyo al trabajo.", "shared_intervals": [{"source_index": 6, "source_time": "41–45 min", "seconds": 240, "is_owner": false, "function": "evidence", "action": "Comprobar comprensión individual y cerrar.", "concurrent": false, "parallel_work": ""}]}, "code_blocks": [], "representation_needs": []}</ns0:renderMetadata>
    </p:ext>
  </p:extLs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Evidencia que permanece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Individual — Diario: solo si existe un aprendizaje, error, bloqueo, decisión o uso relevante de IA que merezca conservarse.</a:t>
            </a:r>
          </a:p>
        </p:txBody>
      </p:sp>
      <p:sp>
        <p:nvSpPr>
          <p:cNvPr id="7" name="Acción o criterio 1" descr="Acción o criterio 1"/>
          <p:cNvSpPr txBox="1"/>
          <p:nvPr/>
        </p:nvSpPr>
        <p:spPr>
          <a:xfrm>
            <a:off x="6080760" y="1987804"/>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README: no requiere actualización específica en H1.5.</a:t>
            </a:r>
          </a:p>
        </p:txBody>
      </p:sp>
      <p:sp>
        <p:nvSpPr>
          <p:cNvPr id="8" name="Acción o criterio 2" descr="Acción o criterio 2"/>
          <p:cNvSpPr txBox="1"/>
          <p:nvPr/>
        </p:nvSpPr>
        <p:spPr>
          <a:xfrm>
            <a:off x="640080" y="3920236"/>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Moodle / Drive / Site: no hay entrega o actualización específica en H1.5.</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6, "recognition": false, "unit_ids": ["unit-8"], "roles": {"unit-8": "core"}, "source_refs": [{"source": "teacher", "heading": "Evidencia que permanece", "block_index": 10, "fragment": 0}], "visible_sources": [{"index": 4, "sha256": "4e804d2af57c85a7d54681859833dccefe2e7af6120910529d4af3c65b43abc7"}], "notes_sources": [], "relations": {"unit_relations": {"unit-8": {}}, "schedule": null, "source_supports_enriched": true}, "timeline_refs": [6], "composition": {"origin_slides": [22, 23]}, "timing": {"seconds": 0, "allocations": [{"source_index": 6, "seconds": 0, "decision": "Intervalo compartido íntegro; propietario contable seleccionado por función de actividad y referencia timeline de unidad (identidad semántica en empates). Soporte, sin duplicación contable. ", "source_time": "41–45 min", "source_seconds": 240, "is_owner": false, "function": "evidence"}], "clock_intervals": [6], "presenter_notes": "Reloj fuente 41–45 min: duración compartida 240 segundos. Trabajo: Comprobar comprensión individual y cerrar. Función del soporte: apoyo al trabajo.", "shared_intervals": [{"source_index": 6, "source_time": "41–45 min", "seconds": 240, "is_owner": false, "function": "evidence", "action": "Comprobar comprensión individual y cerrar.", "concurrent": false, "parallel_work": ""}]}, "code_blocks": [], "representation_needs": []}</ns0:renderMetadata>
    </p:ext>
  </p:extLst>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Seguridad y uso de IA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Trabaja únicamente con datos ficticios.</a:t>
            </a:r>
          </a:p>
        </p:txBody>
      </p:sp>
      <p:sp>
        <p:nvSpPr>
          <p:cNvPr id="7" name="Acción o criterio 1" descr="Acción o criterio 1"/>
          <p:cNvSpPr txBox="1"/>
          <p:nvPr/>
        </p:nvSpPr>
        <p:spPr>
          <a:xfrm>
            <a:off x="608076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No escribas contraseñas, tokens, claves API ni datos personales.</a:t>
            </a:r>
          </a:p>
        </p:txBody>
      </p:sp>
      <p:sp>
        <p:nvSpPr>
          <p:cNvPr id="8" name="Acción o criterio 2" descr="Acción o criterio 2"/>
          <p:cNvSpPr txBox="1"/>
          <p:nvPr/>
        </p:nvSpPr>
        <p:spPr>
          <a:xfrm>
            <a:off x="640080" y="3249676"/>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Si utilizas IA en un uso permitido, registra qué pediste, qué recibiste, qué cambiaste y cómo lo comprobaste.</a:t>
            </a:r>
          </a:p>
        </p:txBody>
      </p:sp>
      <p:sp>
        <p:nvSpPr>
          <p:cNvPr id="9" name="Acción o criterio 3" descr="Acción o criterio 3"/>
          <p:cNvSpPr txBox="1"/>
          <p:nvPr/>
        </p:nvSpPr>
        <p:spPr>
          <a:xfrm>
            <a:off x="6080760" y="3249676"/>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Los ejemplos de Laura solo se consultan después del intento propio.</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"activity", "plan_index": 6, "recognition": false, "unit_ids": ["unit-12"], "roles": {"unit-12": "core"}, "source_refs": [{"source": "student_fallback", "heading": "Seguridad y uso de IA", "block_index": null, "fragment": 0}], "visible_sources": [{"index": 5, "sha256": "61337aa7d62b810fc872b64ccf50a7b9620d423d2be91b3dfff6d304f2bec734"}], "notes_sources": [], "relations": {"unit_relations": {"unit-12": {}}, "schedule": null, "source_supports_enriched": true}, "timeline_refs": [6], "composition": {"origin_slides": [24]}, "timing": {"seconds": 0, "allocations": [{"source_index": 6, "seconds": 0, "decision": "Intervalo compartido íntegro; propietario contable seleccionado por función de actividad y referencia timeline de unidad (identidad semántica en empates). Soporte, sin duplicación contable. ", "source_time": "41–45 min", "source_seconds": 240, "is_owner": false, "function": "security"}], "clock_intervals": [6], "presenter_notes": "Reloj fuente 41–45 min: duración compartida 240 segundos. Trabajo: Comprobar comprensión individual y cerrar. Función del soporte: apoyo al trabajo.", "shared_intervals": [{"source_index": 6, "source_time": "41–45 min", "seconds": 240, "is_owner": false, "function": "security", "action": "Comprobar comprensión individual y cerrar.", "concurrent": false, "parallel_work": ""}]}, "code_blocks": [], "representation_needs": []}</ns0:renderMetadata>
    </p:ext>
  </p:extLs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Comprueba lo aprendido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H1.5 · H1 — Primer asistente ejecutable</a:t>
            </a:r>
          </a:p>
        </p:txBody>
      </p:sp>
      <p:sp>
        <p:nvSpPr>
          <p:cNvPr id="5" name="Contenido" descr="Contenido"/>
          <p:cNvSpPr txBox="1"/>
          <p:nvPr/>
        </p:nvSpPr>
        <p:spPr>
          <a:xfrm>
            <a:off x="640080" y="1417320"/>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Cerramos Planificar con un plan de datos.</a:t>
            </a:r>
          </a:p>
        </p:txBody>
      </p:sp>
    </p:spTree>
  </p:cSld>
  <p:clrMapOvr>
    <a:masterClrMapping/>
  </p:clrMapOvr>
  <p:extLst>
    <p:ext uri="urn:minijarvis:semantic-render:v1">
      <ns0:renderMetadata xmlns:ns0="urn:minijarvis:semantic-render:v1">{"session": "210", "source_files": {"teacher": "/mnt/compartido/Programación-26-27/Minijarvis/02-PROFESORADO/02-SESIONES/h1/S210-variables-docente.md", "student_fallback": "/mnt/compartido/Programación-26-27/Minijarvis/01-ALUMNADO/03-SESIONES/h1/S210-variables-alumnado.md"}, "layout": "closure", "plan_index": 7, "recognition": false, "unit_ids": ["unit-11"], "roles": {"unit-11": "core"}, "source_refs": [{"source": "teacher", "heading": "Comprueba lo aprendido", "block_index": 13, "fragment": 0}], "visible_sources": [{"index": 0, "sha256": "f1360985787a0786f8dd18c9eb6c27b3ec7cd999980996f33f297ec5ec7175d9"}], "notes_sources": [{"function": "visible_detail", "heading": "Comprueba lo aprendido", "sha256": "f1360985787a0786f8dd18c9eb6c27b3ec7cd999980996f33f297ec5ec7175d9"}], "relations": {"unit_relations": {"unit-11": {}}, "schedule": null, "source_supports_enriched": true}, "timeline_refs": [6], "composition": {"origin_slides": [25]}, "timing": {"seconds": 240, "allocations": [{"source_index": 6, "seconds": 240, "decision": "Intervalo compartido íntegro; propietario contable seleccionado por función de actividad y referencia timeline de unidad (identidad semántica en empates). Propietario. ", "source_time": "41–45 min", "source_seconds": 240, "is_owner": true, "function": "individual_check"}], "clock_intervals": [6], "presenter_notes": "Reloj fuente 41–45 min: duración compartida 240 segundos. Trabajo: Comprobar comprensión individual y cerrar. Función del soporte: comprobación individual.", "shared_intervals": [{"source_index": 6, "source_time": "41–45 min", "seconds": 240, "is_owner": true, "function": "individual_check", "action": "Comprobar comprensión individual y cerrar.", "concurrent": false, "parallel_work": ""}]}, "code_blocks": [], "representation_needs": []}</ns0:renderMetadata>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