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1 de 9: Qué vas a aprender</a:t>
            </a:r>
          </a:p>
          <a:p>
            <a:r>
              <a:t>Fase HEXA: Planificar — organizar el trabajo</a:t>
            </a:r>
          </a:p>
          <a:p>
            <a:r>
              <a:t>Presenta el producto y anticipa la evidencia: Hoy sí quiero una evidencia individual: cada persona debe poder señalar una variable propia y explicar tipo, nombre, valor inicial y una asignación posterior.</a:t>
            </a:r>
          </a:p>
          <a:p>
            <a:r>
              <a:t>Secuencia docente:</a:t>
            </a:r>
          </a:p>
          <a:p>
            <a:r>
              <a:t>- 45 minutos: Antes del código, haced la tabla de datos. Después implementad al menos tres variables, mostradlas por consola, cambiad una y volved a mostrarla para comprobar que entendéis la asignación.</a:t>
            </a:r>
          </a:p>
          <a:p>
            <a:r>
              <a:t>Claves docentes:</a:t>
            </a:r>
          </a:p>
          <a:p>
            <a:r>
              <a:t>- Úsala antes de la tabla de datos y antes de implementar variables.</a:t>
            </a:r>
          </a:p>
          <a:p>
            <a:r>
              <a:t>- Una variable es una zona de memoria identificada por un nombre. El tipo indica qué clase de dato puede guardar. El valor puede cambiar. La variable no es lo mismo que su valor actual.</a:t>
            </a:r>
          </a:p>
          <a:p>
            <a:r>
              <a:t>- Empieza con el cambio de valor:</a:t>
            </a:r>
          </a:p>
          <a:p>
            <a:r>
              <a:t>- int horasEstudio = 4;</a:t>
            </a:r>
          </a:p>
          <a:p>
            <a:r>
              <a:t>- horasEstudio = 5;</a:t>
            </a:r>
          </a:p>
          <a:p>
            <a:r>
              <a:t>- Di:</a:t>
            </a:r>
          </a:p>
          <a:p>
            <a:r>
              <a:t>- La variable permanece; lo que cambia es el valor guardado. Primero horasEstudio vale 4 y después vale 5.</a:t>
            </a:r>
          </a:p>
          <a:p>
            <a:r>
              <a:t>- Contrasta variable y valor:</a:t>
            </a:r>
          </a:p>
          <a:p>
            <a:r>
              <a:t>- String nombreUsuario = "Laura";</a:t>
            </a:r>
          </a:p>
          <a:p>
            <a:r>
              <a:t>- Pregunta:</a:t>
            </a:r>
          </a:p>
          <a:p>
            <a:r>
              <a:t>- Qué es nombreUsuario y qué es "Laura".</a:t>
            </a:r>
          </a:p>
          <a:p>
            <a:r>
              <a:t>- Muestra dos variables con el mismo valor:</a:t>
            </a:r>
          </a:p>
          <a:p>
            <a:r>
              <a:t>- int horasPractica = 4;</a:t>
            </a:r>
          </a:p>
          <a:p>
            <a:r>
              <a:t>- Hay una variable o dos. Qué pasaría si después cambia solo horasEstudio.</a:t>
            </a:r>
          </a:p>
          <a:p>
            <a:r>
              <a:t>- Traza una variable que cambia:</a:t>
            </a:r>
          </a:p>
          <a:p>
            <a:r>
              <a:t>- int tareas = 2;</a:t>
            </a:r>
          </a:p>
          <a:p>
            <a:r>
              <a:t>- System.out.println(tareas);</a:t>
            </a:r>
          </a:p>
          <a:p>
            <a:r>
              <a:t>- tareas = 3;</a:t>
            </a:r>
          </a:p>
          <a:p>
            <a:r>
              <a:t>- Predice la primera y la segunda salida.</a:t>
            </a:r>
          </a:p>
          <a:p>
            <a:r>
              <a:t>- Presenta cinco tipos de uso inmediato:</a:t>
            </a:r>
          </a:p>
          <a:p>
            <a:r>
              <a:t>- double notaMedia = 7.5;</a:t>
            </a:r>
          </a:p>
          <a:p>
            <a:r>
              <a:t>- boolean objetivoAlcanzado = true;</a:t>
            </a:r>
          </a:p>
          <a:p>
            <a:r>
              <a:t>- char inicial = 'L';</a:t>
            </a:r>
          </a:p>
          <a:p>
            <a:r>
              <a:t>- Nombre -&gt; String</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2 de 9: Qué aprenderás y cómo lo demostrarás</a:t>
            </a:r>
          </a:p>
          <a:p>
            <a:r>
              <a:t>Fase HEXA: Planificar — organizar el trabajo</a:t>
            </a:r>
          </a:p>
          <a:p>
            <a:r>
              <a:t>- Objetivo: Al terminar, debes planificar datos: qué se guarda, con qué tipo, con qué nombre y dónde se usa.</a:t>
            </a:r>
          </a:p>
          <a:p>
            <a:r>
              <a:t>- Comprobación: Hoy sí quiero una evidencia individual: cada persona debe poder señalar una variable propia y explicar tipo, nombre, valor inicial y una asignación posterior.</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3 de 9: Una variable tiene tipo, nombre y valor</a:t>
            </a:r>
          </a:p>
          <a:p>
            <a:r>
              <a:t>Fase HEXA: Planificar — organizar el trabajo</a:t>
            </a:r>
          </a:p>
          <a:p>
            <a:r>
              <a:t>Explica con predicción y ejemplo mínimo; comprueba comprensión antes de continuar.</a:t>
            </a:r>
          </a:p>
          <a:p>
            <a:r>
              <a:t>- int · números enteros</a:t>
            </a:r>
          </a:p>
          <a:p>
            <a:r>
              <a:t>- double · números con decimales</a:t>
            </a:r>
          </a:p>
          <a:p>
            <a:r>
              <a:t>- boolean · true o false</a:t>
            </a:r>
          </a:p>
          <a:p>
            <a:r>
              <a:t>- char · un carácter con comillas simples</a:t>
            </a:r>
          </a:p>
          <a:p>
            <a:r>
              <a:t>- String · texto con comillas dobles</a:t>
            </a:r>
          </a:p>
          <a:p>
            <a:r>
              <a:t>- Elige el tipo por los valores y operaciones que necesitarás.</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4 de 9: Declarar e inicializar en una línea</a:t>
            </a:r>
          </a:p>
          <a:p>
            <a:r>
              <a:t>Fase HEXA: Planificar — organizar el trabajo</a:t>
            </a:r>
          </a:p>
          <a:p>
            <a:r>
              <a:t>Explica con predicción y ejemplo mínimo; comprueba comprensión antes de continuar.</a:t>
            </a:r>
          </a:p>
          <a:p>
            <a:r>
              <a:t>- int studyHours = 4;   // declaración e inicialización</a:t>
            </a:r>
          </a:p>
          <a:p>
            <a:r>
              <a:t>studyHours = 5;       // asignación posterior</a:t>
            </a:r>
          </a:p>
          <a:p/>
          <a:p>
            <a:r>
              <a:t>int tasks;            // declaración</a:t>
            </a:r>
          </a:p>
          <a:p>
            <a:r>
              <a:t>tasks = 3;            // primera asignación: inicialización</a:t>
            </a:r>
          </a:p>
          <a:p>
            <a:r>
              <a:t>- Salida esperada: 5</a:t>
            </a:r>
          </a:p>
          <a:p>
            <a:r>
              <a:t>- No se repite int al cambiar el valor: la variable ya existe.</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5 de 9: Un nombre válido no siempre es bueno</a:t>
            </a:r>
          </a:p>
          <a:p>
            <a:r>
              <a:t>Fase HEXA: Planificar — organizar el trabajo</a:t>
            </a:r>
          </a:p>
          <a:p>
            <a:r>
              <a:t>Explica con predicción y ejemplo mínimo; comprueba comprensión antes de continuar.</a:t>
            </a:r>
          </a:p>
          <a:p>
            <a:r>
              <a:t>- VAGO · String x = "Laura";</a:t>
            </a:r>
          </a:p>
          <a:p>
            <a:r>
              <a:t>int n = 4;</a:t>
            </a:r>
          </a:p>
          <a:p>
            <a:r>
              <a:t>- CLARO · String userName = "Laura";</a:t>
            </a:r>
          </a:p>
          <a:p>
            <a:r>
              <a:t>int studyHours = 4;</a:t>
            </a:r>
          </a:p>
          <a:p>
            <a:r>
              <a:t>- Usa lowerCamelCase y evita espacios, palabras reservadas y nombres que empiezan por número.</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6 de 9: Planifica los datos de MiniJarvis</a:t>
            </a:r>
          </a:p>
          <a:p>
            <a:r>
              <a:t>Fase HEXA: Planificar — organizar el trabajo</a:t>
            </a:r>
          </a:p>
          <a:p>
            <a:r>
              <a:t>Entrega la consigna, observa decisiones y pide una prueba reproducible.</a:t>
            </a:r>
          </a:p>
          <a:p>
            <a:r>
              <a:t>- Anota dato, tipo, nombre, si cambia y dónde se usa.</a:t>
            </a:r>
          </a:p>
          <a:p>
            <a:r>
              <a:t>- Implementa al menos dos variables del plan.</a:t>
            </a:r>
          </a:p>
          <a:p>
            <a:r>
              <a:t>- Muestra una, cambia su valor y vuelve a mostrarla.</a:t>
            </a:r>
          </a:p>
          <a:p>
            <a:r>
              <a:t>- Comprueba que no has creado variables sin uso.</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7 de 9: Microdefensa de una variable</a:t>
            </a:r>
          </a:p>
          <a:p>
            <a:r>
              <a:t>Fase HEXA: Planificar — organizar el trabajo</a:t>
            </a:r>
          </a:p>
          <a:p>
            <a:r>
              <a:t>Comprueba la evidencia en su fuente canónica: Hoy sí quiero una evidencia individual: cada persona debe poder señalar una variable propia y explicar tipo, nombre, valor inicial y una asignación posterior.</a:t>
            </a:r>
          </a:p>
          <a:p>
            <a:r>
              <a:t>- Puedo señalar tipo, nombre y valor inicial.</a:t>
            </a:r>
          </a:p>
          <a:p>
            <a:r>
              <a:t>- Distingo declaración, inicialización y asignación posterior.</a:t>
            </a:r>
          </a:p>
          <a:p>
            <a:r>
              <a:t>- La salida demuestra el valor antes o después del cambio.</a:t>
            </a:r>
          </a:p>
          <a:p>
            <a:r>
              <a:t>- El nombre elegido explica el dato que guarda.</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8 de 9: Comprobación final</a:t>
            </a:r>
          </a:p>
          <a:p>
            <a:r>
              <a:t>Fase HEXA: Planificar — organizar el trabajo</a:t>
            </a:r>
          </a:p>
          <a:p>
            <a:r>
              <a:t>Cierra con explicación individual, prueba observable y siguiente paso concreto.</a:t>
            </a:r>
          </a:p>
          <a:p>
            <a:r>
              <a:t>- Explica por qué studyHours = studyHours + 1 no es una igualdad matemática.</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planificar datos: qué se guarda, con qué tipo, con qué nombre y dónde se usa.</a:t>
            </a:r>
          </a:p>
          <a:p>
            <a:r>
              <a:t>Diapositiva 9 de 9: Fuentes diferenciadas</a:t>
            </a:r>
          </a:p>
          <a:p>
            <a:r>
              <a:t>Fase HEXA: Planificar — organizar el trabajo</a:t>
            </a:r>
          </a:p>
          <a:p>
            <a:r>
              <a:t>Indica al alumnado dónde ampliar el contenido y qué fragmentos se han adaptado.</a:t>
            </a:r>
          </a:p>
          <a:p>
            <a:r>
              <a:t>- Libro por hitos · Capítulo 02: variables y tipos</a:t>
            </a:r>
          </a:p>
          <a:p>
            <a:r>
              <a:t>- PDF Tema 1 · §4: almacenamiento de datos</a:t>
            </a:r>
          </a:p>
          <a:p>
            <a:r>
              <a:t>- Proyecto MiniJarvis · fichas S206-S215, píldoras H1 y criterios de evidencia</a:t>
            </a:r>
          </a:p>
          <a:p>
            <a:r>
              <a:t>Fuente docente: /mnt/compartido/Programación-26-27/Minijarvis/02-PROFESORADO/02-SESIONES/h1/S210-variables-docente.md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566928"/>
            <a:ext cx="1874519" cy="566928"/>
          </a:xfrm>
          <a:prstGeom prst="roundRect">
            <a:avLst/>
          </a:prstGeom>
          <a:solidFill>
            <a:srgbClr val="2F5BA8"/>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85800"/>
            <a:ext cx="1719072" cy="228600"/>
          </a:xfrm>
          <a:prstGeom prst="rect">
            <a:avLst/>
          </a:prstGeom>
          <a:noFill/>
        </p:spPr>
        <p:txBody>
          <a:bodyPr wrap="square" lIns="45720" rIns="45720" tIns="36576" bIns="36576" anchor="t">
            <a:spAutoFit/>
          </a:bodyPr>
          <a:lstStyle/>
          <a:p>
            <a:pPr algn="ctr">
              <a:defRPr sz="1400" b="1">
                <a:solidFill>
                  <a:srgbClr val="FFFFFF"/>
                </a:solidFill>
                <a:latin typeface="Aptos"/>
              </a:defRPr>
            </a:pPr>
            <a:r>
              <a:t>SESIÓN 210</a:t>
            </a:r>
          </a:p>
        </p:txBody>
      </p:sp>
      <p:sp>
        <p:nvSpPr>
          <p:cNvPr id="6" name="TextBox 5"/>
          <p:cNvSpPr txBox="1"/>
          <p:nvPr/>
        </p:nvSpPr>
        <p:spPr>
          <a:xfrm>
            <a:off x="685800" y="1481328"/>
            <a:ext cx="10789920" cy="1691640"/>
          </a:xfrm>
          <a:prstGeom prst="rect">
            <a:avLst/>
          </a:prstGeom>
          <a:noFill/>
        </p:spPr>
        <p:txBody>
          <a:bodyPr wrap="square" lIns="45720" rIns="45720" tIns="36576" bIns="36576" anchor="t">
            <a:spAutoFit/>
          </a:bodyPr>
          <a:lstStyle/>
          <a:p>
            <a:pPr algn="l">
              <a:defRPr sz="3800" b="1">
                <a:solidFill>
                  <a:srgbClr val="FFFFFF"/>
                </a:solidFill>
                <a:latin typeface="Aptos"/>
              </a:defRPr>
            </a:pPr>
            <a:r>
              <a:t>Qué vas a aprender</a:t>
            </a:r>
          </a:p>
        </p:txBody>
      </p:sp>
      <p:sp>
        <p:nvSpPr>
          <p:cNvPr id="7" name="TextBox 6"/>
          <p:cNvSpPr txBox="1"/>
          <p:nvPr/>
        </p:nvSpPr>
        <p:spPr>
          <a:xfrm>
            <a:off x="713232" y="3703320"/>
            <a:ext cx="10424160" cy="411480"/>
          </a:xfrm>
          <a:prstGeom prst="rect">
            <a:avLst/>
          </a:prstGeom>
          <a:noFill/>
        </p:spPr>
        <p:txBody>
          <a:bodyPr wrap="square" lIns="45720" rIns="45720" tIns="36576" bIns="36576" anchor="t">
            <a:spAutoFit/>
          </a:bodyPr>
          <a:lstStyle/>
          <a:p>
            <a:pPr algn="l">
              <a:defRPr sz="1900" b="1">
                <a:solidFill>
                  <a:srgbClr val="BEC8D6"/>
                </a:solidFill>
                <a:latin typeface="Aptos"/>
              </a:defRPr>
            </a:pPr>
            <a:r>
              <a:t>H1 — Primer asistente ejecutable</a:t>
            </a:r>
          </a:p>
        </p:txBody>
      </p:sp>
      <p:sp>
        <p:nvSpPr>
          <p:cNvPr id="8" name="TextBox 7"/>
          <p:cNvSpPr txBox="1"/>
          <p:nvPr/>
        </p:nvSpPr>
        <p:spPr>
          <a:xfrm>
            <a:off x="713232" y="4315968"/>
            <a:ext cx="10241280" cy="502920"/>
          </a:xfrm>
          <a:prstGeom prst="rect">
            <a:avLst/>
          </a:prstGeom>
          <a:noFill/>
        </p:spPr>
        <p:txBody>
          <a:bodyPr wrap="square" lIns="45720" rIns="45720" tIns="36576" bIns="36576" anchor="t">
            <a:spAutoFit/>
          </a:bodyPr>
          <a:lstStyle/>
          <a:p>
            <a:pPr algn="l">
              <a:defRPr sz="1900" b="0">
                <a:solidFill>
                  <a:srgbClr val="FFFFFF"/>
                </a:solidFill>
                <a:latin typeface="Aptos"/>
              </a:defRPr>
            </a:pPr>
            <a:r>
              <a:t>Fase HEXA: Planificar — organizar el trabajo</a:t>
            </a:r>
          </a:p>
        </p:txBody>
      </p:sp>
      <p:sp>
        <p:nvSpPr>
          <p:cNvPr id="9" name="TextBox 8"/>
          <p:cNvSpPr txBox="1"/>
          <p:nvPr/>
        </p:nvSpPr>
        <p:spPr>
          <a:xfrm>
            <a:off x="713232" y="6272784"/>
            <a:ext cx="10607040" cy="201168"/>
          </a:xfrm>
          <a:prstGeom prst="rect">
            <a:avLst/>
          </a:prstGeom>
          <a:noFill/>
        </p:spPr>
        <p:txBody>
          <a:bodyPr wrap="square" lIns="45720" rIns="45720" tIns="36576" bIns="36576" anchor="t">
            <a:spAutoFit/>
          </a:bodyPr>
          <a:lstStyle/>
          <a:p>
            <a:pPr algn="l">
              <a:defRPr sz="1000" b="1">
                <a:solidFill>
                  <a:srgbClr val="A0AAB9"/>
                </a:solidFill>
                <a:latin typeface="Aptos"/>
              </a:defRPr>
            </a:pPr>
            <a:r>
              <a:t>MINIJARVIS · PROGRAMACIÓN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PUNTO DE PARTIDA</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Qué aprenderás y cómo lo demostrarás</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Rounded Rectangle 7"/>
          <p:cNvSpPr/>
          <p:nvPr/>
        </p:nvSpPr>
        <p:spPr>
          <a:xfrm>
            <a:off x="594360" y="1389888"/>
            <a:ext cx="5184648" cy="4297680"/>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18488"/>
            <a:ext cx="4727448" cy="3840480"/>
          </a:xfrm>
          <a:prstGeom prst="rect">
            <a:avLst/>
          </a:prstGeom>
          <a:noFill/>
        </p:spPr>
        <p:txBody>
          <a:bodyPr wrap="square" lIns="45720" rIns="45720" tIns="36576" bIns="36576" anchor="t">
            <a:spAutoFit/>
          </a:bodyPr>
          <a:lstStyle/>
          <a:p>
            <a:pPr algn="l">
              <a:defRPr sz="2100" b="1">
                <a:solidFill>
                  <a:srgbClr val="1C2330"/>
                </a:solidFill>
                <a:latin typeface="Aptos"/>
              </a:defRPr>
            </a:pPr>
            <a:r>
              <a:t>Objetivo: Al terminar, debes planificar datos: qué se guarda, con qué tipo, con qué nombre y dónde se usa.</a:t>
            </a:r>
          </a:p>
        </p:txBody>
      </p:sp>
      <p:sp>
        <p:nvSpPr>
          <p:cNvPr id="10" name="Rounded Rectangle 9"/>
          <p:cNvSpPr/>
          <p:nvPr/>
        </p:nvSpPr>
        <p:spPr>
          <a:xfrm>
            <a:off x="6035040" y="1389888"/>
            <a:ext cx="5184648" cy="4297680"/>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1618488"/>
            <a:ext cx="4727448" cy="3840480"/>
          </a:xfrm>
          <a:prstGeom prst="rect">
            <a:avLst/>
          </a:prstGeom>
          <a:noFill/>
        </p:spPr>
        <p:txBody>
          <a:bodyPr wrap="square" lIns="45720" rIns="45720" tIns="36576" bIns="36576" anchor="t">
            <a:spAutoFit/>
          </a:bodyPr>
          <a:lstStyle/>
          <a:p>
            <a:pPr algn="l">
              <a:defRPr sz="2100" b="1">
                <a:solidFill>
                  <a:srgbClr val="1C2330"/>
                </a:solidFill>
                <a:latin typeface="Aptos"/>
              </a:defRPr>
            </a:pPr>
            <a:r>
              <a:t>Comprobación: Hoy sí quiero una evidencia individual: cada persona debe poder señalar una variable propia y explicar tipo, nombre, valor inicial y una asignación posterior.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COMPRENDER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Una variable tiene tipo, nombre y valor</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Rounded Rectangle 7"/>
          <p:cNvSpPr/>
          <p:nvPr/>
        </p:nvSpPr>
        <p:spPr>
          <a:xfrm>
            <a:off x="566928" y="1261872"/>
            <a:ext cx="3398520" cy="2199132"/>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426463"/>
            <a:ext cx="384048" cy="347472"/>
          </a:xfrm>
          <a:prstGeom prst="rect">
            <a:avLst/>
          </a:prstGeom>
          <a:noFill/>
        </p:spPr>
        <p:txBody>
          <a:bodyPr wrap="square" lIns="45720" rIns="45720" tIns="36576" bIns="36576" anchor="t">
            <a:spAutoFit/>
          </a:bodyPr>
          <a:lstStyle/>
          <a:p>
            <a:pPr algn="l">
              <a:defRPr sz="1500" b="1">
                <a:solidFill>
                  <a:srgbClr val="2F5BA8"/>
                </a:solidFill>
                <a:latin typeface="Aptos"/>
              </a:defRPr>
            </a:pPr>
            <a:r>
              <a:t>01</a:t>
            </a:r>
          </a:p>
        </p:txBody>
      </p:sp>
      <p:sp>
        <p:nvSpPr>
          <p:cNvPr id="10" name="TextBox 9"/>
          <p:cNvSpPr txBox="1"/>
          <p:nvPr/>
        </p:nvSpPr>
        <p:spPr>
          <a:xfrm>
            <a:off x="1225295" y="1426463"/>
            <a:ext cx="2621280" cy="1961388"/>
          </a:xfrm>
          <a:prstGeom prst="rect">
            <a:avLst/>
          </a:prstGeom>
          <a:noFill/>
        </p:spPr>
        <p:txBody>
          <a:bodyPr wrap="square" lIns="45720" rIns="45720" tIns="36576" bIns="36576" anchor="t">
            <a:spAutoFit/>
          </a:bodyPr>
          <a:lstStyle/>
          <a:p>
            <a:pPr algn="l">
              <a:defRPr sz="1800" b="0">
                <a:solidFill>
                  <a:srgbClr val="1C2330"/>
                </a:solidFill>
                <a:latin typeface="Aptos"/>
              </a:defRPr>
            </a:pPr>
            <a:r>
              <a:t>int · números enteros</a:t>
            </a:r>
          </a:p>
        </p:txBody>
      </p:sp>
      <p:sp>
        <p:nvSpPr>
          <p:cNvPr id="11" name="Rounded Rectangle 10"/>
          <p:cNvSpPr/>
          <p:nvPr/>
        </p:nvSpPr>
        <p:spPr>
          <a:xfrm>
            <a:off x="4194048" y="1261872"/>
            <a:ext cx="3398520" cy="2199132"/>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95216" y="1426463"/>
            <a:ext cx="384048" cy="347472"/>
          </a:xfrm>
          <a:prstGeom prst="rect">
            <a:avLst/>
          </a:prstGeom>
          <a:noFill/>
        </p:spPr>
        <p:txBody>
          <a:bodyPr wrap="square" lIns="45720" rIns="45720" tIns="36576" bIns="36576" anchor="t">
            <a:spAutoFit/>
          </a:bodyPr>
          <a:lstStyle/>
          <a:p>
            <a:pPr algn="l">
              <a:defRPr sz="1500" b="1">
                <a:solidFill>
                  <a:srgbClr val="2F5BA8"/>
                </a:solidFill>
                <a:latin typeface="Aptos"/>
              </a:defRPr>
            </a:pPr>
            <a:r>
              <a:t>02</a:t>
            </a:r>
          </a:p>
        </p:txBody>
      </p:sp>
      <p:sp>
        <p:nvSpPr>
          <p:cNvPr id="13" name="TextBox 12"/>
          <p:cNvSpPr txBox="1"/>
          <p:nvPr/>
        </p:nvSpPr>
        <p:spPr>
          <a:xfrm>
            <a:off x="4852416" y="1426463"/>
            <a:ext cx="2621280" cy="1961388"/>
          </a:xfrm>
          <a:prstGeom prst="rect">
            <a:avLst/>
          </a:prstGeom>
          <a:noFill/>
        </p:spPr>
        <p:txBody>
          <a:bodyPr wrap="square" lIns="45720" rIns="45720" tIns="36576" bIns="36576" anchor="t">
            <a:spAutoFit/>
          </a:bodyPr>
          <a:lstStyle/>
          <a:p>
            <a:pPr algn="l">
              <a:defRPr sz="1800" b="0">
                <a:solidFill>
                  <a:srgbClr val="1C2330"/>
                </a:solidFill>
                <a:latin typeface="Aptos"/>
              </a:defRPr>
            </a:pPr>
            <a:r>
              <a:t>double · números con decimales</a:t>
            </a:r>
          </a:p>
        </p:txBody>
      </p:sp>
      <p:sp>
        <p:nvSpPr>
          <p:cNvPr id="14" name="Rounded Rectangle 13"/>
          <p:cNvSpPr/>
          <p:nvPr/>
        </p:nvSpPr>
        <p:spPr>
          <a:xfrm>
            <a:off x="7821167" y="1261872"/>
            <a:ext cx="3398520" cy="2199132"/>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22336" y="1426463"/>
            <a:ext cx="384048" cy="347472"/>
          </a:xfrm>
          <a:prstGeom prst="rect">
            <a:avLst/>
          </a:prstGeom>
          <a:noFill/>
        </p:spPr>
        <p:txBody>
          <a:bodyPr wrap="square" lIns="45720" rIns="45720" tIns="36576" bIns="36576" anchor="t">
            <a:spAutoFit/>
          </a:bodyPr>
          <a:lstStyle/>
          <a:p>
            <a:pPr algn="l">
              <a:defRPr sz="1500" b="1">
                <a:solidFill>
                  <a:srgbClr val="2F5BA8"/>
                </a:solidFill>
                <a:latin typeface="Aptos"/>
              </a:defRPr>
            </a:pPr>
            <a:r>
              <a:t>03</a:t>
            </a:r>
          </a:p>
        </p:txBody>
      </p:sp>
      <p:sp>
        <p:nvSpPr>
          <p:cNvPr id="16" name="TextBox 15"/>
          <p:cNvSpPr txBox="1"/>
          <p:nvPr/>
        </p:nvSpPr>
        <p:spPr>
          <a:xfrm>
            <a:off x="8479536" y="1426463"/>
            <a:ext cx="2621280" cy="1961388"/>
          </a:xfrm>
          <a:prstGeom prst="rect">
            <a:avLst/>
          </a:prstGeom>
          <a:noFill/>
        </p:spPr>
        <p:txBody>
          <a:bodyPr wrap="square" lIns="45720" rIns="45720" tIns="36576" bIns="36576" anchor="t">
            <a:spAutoFit/>
          </a:bodyPr>
          <a:lstStyle/>
          <a:p>
            <a:pPr algn="l">
              <a:defRPr sz="1800" b="0">
                <a:solidFill>
                  <a:srgbClr val="1C2330"/>
                </a:solidFill>
                <a:latin typeface="Aptos"/>
              </a:defRPr>
            </a:pPr>
            <a:r>
              <a:t>boolean · true o false</a:t>
            </a:r>
          </a:p>
        </p:txBody>
      </p:sp>
      <p:sp>
        <p:nvSpPr>
          <p:cNvPr id="17" name="Rounded Rectangle 16"/>
          <p:cNvSpPr/>
          <p:nvPr/>
        </p:nvSpPr>
        <p:spPr>
          <a:xfrm>
            <a:off x="566928" y="3662172"/>
            <a:ext cx="3398520" cy="2199132"/>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3826763"/>
            <a:ext cx="384048" cy="347472"/>
          </a:xfrm>
          <a:prstGeom prst="rect">
            <a:avLst/>
          </a:prstGeom>
          <a:noFill/>
        </p:spPr>
        <p:txBody>
          <a:bodyPr wrap="square" lIns="45720" rIns="45720" tIns="36576" bIns="36576" anchor="t">
            <a:spAutoFit/>
          </a:bodyPr>
          <a:lstStyle/>
          <a:p>
            <a:pPr algn="l">
              <a:defRPr sz="1500" b="1">
                <a:solidFill>
                  <a:srgbClr val="2F5BA8"/>
                </a:solidFill>
                <a:latin typeface="Aptos"/>
              </a:defRPr>
            </a:pPr>
            <a:r>
              <a:t>04</a:t>
            </a:r>
          </a:p>
        </p:txBody>
      </p:sp>
      <p:sp>
        <p:nvSpPr>
          <p:cNvPr id="19" name="TextBox 18"/>
          <p:cNvSpPr txBox="1"/>
          <p:nvPr/>
        </p:nvSpPr>
        <p:spPr>
          <a:xfrm>
            <a:off x="1225295" y="3826763"/>
            <a:ext cx="2621280" cy="1961388"/>
          </a:xfrm>
          <a:prstGeom prst="rect">
            <a:avLst/>
          </a:prstGeom>
          <a:noFill/>
        </p:spPr>
        <p:txBody>
          <a:bodyPr wrap="square" lIns="45720" rIns="45720" tIns="36576" bIns="36576" anchor="t">
            <a:spAutoFit/>
          </a:bodyPr>
          <a:lstStyle/>
          <a:p>
            <a:pPr algn="l">
              <a:defRPr sz="1800" b="0">
                <a:solidFill>
                  <a:srgbClr val="1C2330"/>
                </a:solidFill>
                <a:latin typeface="Aptos"/>
              </a:defRPr>
            </a:pPr>
            <a:r>
              <a:t>char · un carácter con comillas simples</a:t>
            </a:r>
          </a:p>
        </p:txBody>
      </p:sp>
      <p:sp>
        <p:nvSpPr>
          <p:cNvPr id="20" name="Rounded Rectangle 19"/>
          <p:cNvSpPr/>
          <p:nvPr/>
        </p:nvSpPr>
        <p:spPr>
          <a:xfrm>
            <a:off x="4194048" y="3662172"/>
            <a:ext cx="3398520" cy="2199132"/>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5216" y="3826763"/>
            <a:ext cx="384048" cy="347472"/>
          </a:xfrm>
          <a:prstGeom prst="rect">
            <a:avLst/>
          </a:prstGeom>
          <a:noFill/>
        </p:spPr>
        <p:txBody>
          <a:bodyPr wrap="square" lIns="45720" rIns="45720" tIns="36576" bIns="36576" anchor="t">
            <a:spAutoFit/>
          </a:bodyPr>
          <a:lstStyle/>
          <a:p>
            <a:pPr algn="l">
              <a:defRPr sz="1500" b="1">
                <a:solidFill>
                  <a:srgbClr val="2F5BA8"/>
                </a:solidFill>
                <a:latin typeface="Aptos"/>
              </a:defRPr>
            </a:pPr>
            <a:r>
              <a:t>05</a:t>
            </a:r>
          </a:p>
        </p:txBody>
      </p:sp>
      <p:sp>
        <p:nvSpPr>
          <p:cNvPr id="22" name="TextBox 21"/>
          <p:cNvSpPr txBox="1"/>
          <p:nvPr/>
        </p:nvSpPr>
        <p:spPr>
          <a:xfrm>
            <a:off x="4852416" y="3826763"/>
            <a:ext cx="2621280" cy="1961388"/>
          </a:xfrm>
          <a:prstGeom prst="rect">
            <a:avLst/>
          </a:prstGeom>
          <a:noFill/>
        </p:spPr>
        <p:txBody>
          <a:bodyPr wrap="square" lIns="45720" rIns="45720" tIns="36576" bIns="36576" anchor="t">
            <a:spAutoFit/>
          </a:bodyPr>
          <a:lstStyle/>
          <a:p>
            <a:pPr algn="l">
              <a:defRPr sz="1800" b="0">
                <a:solidFill>
                  <a:srgbClr val="1C2330"/>
                </a:solidFill>
                <a:latin typeface="Aptos"/>
              </a:defRPr>
            </a:pPr>
            <a:r>
              <a:t>String · texto con comillas dobles</a:t>
            </a:r>
          </a:p>
        </p:txBody>
      </p:sp>
      <p:sp>
        <p:nvSpPr>
          <p:cNvPr id="23" name="Rounded Rectangle 22"/>
          <p:cNvSpPr/>
          <p:nvPr/>
        </p:nvSpPr>
        <p:spPr>
          <a:xfrm>
            <a:off x="7821167" y="3662172"/>
            <a:ext cx="3398520" cy="2199132"/>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2336" y="3826763"/>
            <a:ext cx="384048" cy="347472"/>
          </a:xfrm>
          <a:prstGeom prst="rect">
            <a:avLst/>
          </a:prstGeom>
          <a:noFill/>
        </p:spPr>
        <p:txBody>
          <a:bodyPr wrap="square" lIns="45720" rIns="45720" tIns="36576" bIns="36576" anchor="t">
            <a:spAutoFit/>
          </a:bodyPr>
          <a:lstStyle/>
          <a:p>
            <a:pPr algn="l">
              <a:defRPr sz="1500" b="1">
                <a:solidFill>
                  <a:srgbClr val="2F5BA8"/>
                </a:solidFill>
                <a:latin typeface="Aptos"/>
              </a:defRPr>
            </a:pPr>
            <a:r>
              <a:t>06</a:t>
            </a:r>
          </a:p>
        </p:txBody>
      </p:sp>
      <p:sp>
        <p:nvSpPr>
          <p:cNvPr id="25" name="TextBox 24"/>
          <p:cNvSpPr txBox="1"/>
          <p:nvPr/>
        </p:nvSpPr>
        <p:spPr>
          <a:xfrm>
            <a:off x="8479536" y="3826763"/>
            <a:ext cx="2621280" cy="1961388"/>
          </a:xfrm>
          <a:prstGeom prst="rect">
            <a:avLst/>
          </a:prstGeom>
          <a:noFill/>
        </p:spPr>
        <p:txBody>
          <a:bodyPr wrap="square" lIns="45720" rIns="45720" tIns="36576" bIns="36576" anchor="t">
            <a:spAutoFit/>
          </a:bodyPr>
          <a:lstStyle/>
          <a:p>
            <a:pPr algn="l">
              <a:defRPr sz="1800" b="0">
                <a:solidFill>
                  <a:srgbClr val="1C2330"/>
                </a:solidFill>
                <a:latin typeface="Aptos"/>
              </a:defRPr>
            </a:pPr>
            <a:r>
              <a:t>Elige el tipo por los valores y operaciones que necesitarás.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CÓDIGO EXPLICADO</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Declarar e inicializar en una línea</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Rounded Rectangle 7"/>
          <p:cNvSpPr/>
          <p:nvPr/>
        </p:nvSpPr>
        <p:spPr>
          <a:xfrm>
            <a:off x="621792" y="1325880"/>
            <a:ext cx="7315200" cy="4709160"/>
          </a:xfrm>
          <a:prstGeom prst="roundRect">
            <a:avLst/>
          </a:prstGeom>
          <a:solidFill>
            <a:srgbClr val="121824"/>
          </a:solidFill>
          <a:ln>
            <a:solidFill>
              <a:srgbClr val="1218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6903720" cy="4251960"/>
          </a:xfrm>
          <a:prstGeom prst="rect">
            <a:avLst/>
          </a:prstGeom>
          <a:noFill/>
        </p:spPr>
        <p:txBody>
          <a:bodyPr wrap="none" lIns="164592" rIns="164592" tIns="109728" bIns="109728">
            <a:spAutoFit/>
          </a:bodyPr>
          <a:lstStyle/>
          <a:p>
            <a:pPr>
              <a:spcAft>
                <a:spcPts val="0"/>
              </a:spcAft>
              <a:defRPr sz="1400">
                <a:solidFill>
                  <a:srgbClr val="FFFFFF"/>
                </a:solidFill>
                <a:latin typeface="Liberation Mono"/>
              </a:defRPr>
            </a:pPr>
            <a:r>
              <a:t>int studyHours = 4;   // declaración e inicialización</a:t>
            </a:r>
            <a:br/>
            <a:r>
              <a:t>studyHours = 5;       // asignación posterior</a:t>
            </a:r>
            <a:br/>
            <a:br/>
            <a:r>
              <a:t>int tasks;            // declaración</a:t>
            </a:r>
            <a:br/>
            <a:r>
              <a:t>tasks = 3;            // primera asignación: inicialización</a:t>
            </a:r>
          </a:p>
        </p:txBody>
      </p:sp>
      <p:sp>
        <p:nvSpPr>
          <p:cNvPr id="10" name="Rounded Rectangle 9"/>
          <p:cNvSpPr/>
          <p:nvPr/>
        </p:nvSpPr>
        <p:spPr>
          <a:xfrm>
            <a:off x="8156448" y="1325880"/>
            <a:ext cx="3401568" cy="4709160"/>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1627632"/>
            <a:ext cx="2880360" cy="320040"/>
          </a:xfrm>
          <a:prstGeom prst="rect">
            <a:avLst/>
          </a:prstGeom>
          <a:noFill/>
        </p:spPr>
        <p:txBody>
          <a:bodyPr wrap="square" lIns="45720" rIns="45720" tIns="36576" bIns="36576" anchor="t">
            <a:spAutoFit/>
          </a:bodyPr>
          <a:lstStyle/>
          <a:p>
            <a:pPr algn="l">
              <a:defRPr sz="1200" b="1">
                <a:solidFill>
                  <a:srgbClr val="2F5BA8"/>
                </a:solidFill>
                <a:latin typeface="Aptos"/>
              </a:defRPr>
            </a:pPr>
            <a:r>
              <a:t>LEE Y PREDICE</a:t>
            </a:r>
          </a:p>
        </p:txBody>
      </p:sp>
      <p:sp>
        <p:nvSpPr>
          <p:cNvPr id="12" name="TextBox 11"/>
          <p:cNvSpPr txBox="1"/>
          <p:nvPr/>
        </p:nvSpPr>
        <p:spPr>
          <a:xfrm>
            <a:off x="8394192" y="2103120"/>
            <a:ext cx="2788920" cy="3474720"/>
          </a:xfrm>
          <a:prstGeom prst="rect">
            <a:avLst/>
          </a:prstGeom>
          <a:noFill/>
        </p:spPr>
        <p:txBody>
          <a:bodyPr wrap="square" lIns="73152" rIns="45720" tIns="36576">
            <a:spAutoFit/>
          </a:bodyPr>
          <a:lstStyle/>
          <a:p>
            <a:pPr>
              <a:spcAft>
                <a:spcPts val="900"/>
              </a:spcAft>
              <a:defRPr sz="1700">
                <a:solidFill>
                  <a:srgbClr val="1C2330"/>
                </a:solidFill>
                <a:latin typeface="Aptos"/>
              </a:defRPr>
            </a:pPr>
            <a:r>
              <a:t>•  Salida esperada: 5</a:t>
            </a:r>
          </a:p>
          <a:p>
            <a:pPr>
              <a:spcAft>
                <a:spcPts val="900"/>
              </a:spcAft>
              <a:defRPr sz="1700">
                <a:solidFill>
                  <a:srgbClr val="1C2330"/>
                </a:solidFill>
                <a:latin typeface="Aptos"/>
              </a:defRPr>
            </a:pPr>
            <a:r>
              <a:t>•  No se repite int al cambiar el valor: la variable ya existe.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CONTRASTAR PARA DECIDIR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Un nombre válido no siempre es bueno</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Rounded Rectangle 7"/>
          <p:cNvSpPr/>
          <p:nvPr/>
        </p:nvSpPr>
        <p:spPr>
          <a:xfrm>
            <a:off x="621792" y="1325880"/>
            <a:ext cx="5230368" cy="3401568"/>
          </a:xfrm>
          <a:prstGeom prst="roundRect">
            <a:avLst/>
          </a:prstGeom>
          <a:solidFill>
            <a:srgbClr val="FFFFFF"/>
          </a:solidFill>
          <a:ln>
            <a:solidFill>
              <a:srgbClr val="445B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 y="1572768"/>
            <a:ext cx="566928" cy="475488"/>
          </a:xfrm>
          <a:prstGeom prst="roundRect">
            <a:avLst/>
          </a:prstGeom>
          <a:solidFill>
            <a:srgbClr val="445B80"/>
          </a:solidFill>
          <a:ln>
            <a:solidFill>
              <a:srgbClr val="445B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682496"/>
            <a:ext cx="566928" cy="182880"/>
          </a:xfrm>
          <a:prstGeom prst="rect">
            <a:avLst/>
          </a:prstGeom>
          <a:noFill/>
        </p:spPr>
        <p:txBody>
          <a:bodyPr wrap="square" lIns="45720" rIns="45720" tIns="36576" bIns="36576" anchor="t">
            <a:spAutoFit/>
          </a:bodyPr>
          <a:lstStyle/>
          <a:p>
            <a:pPr algn="ctr">
              <a:defRPr sz="1300" b="1">
                <a:solidFill>
                  <a:srgbClr val="FFFFFF"/>
                </a:solidFill>
                <a:latin typeface="Aptos"/>
              </a:defRPr>
            </a:pPr>
            <a:r>
              <a:t>A</a:t>
            </a:r>
          </a:p>
        </p:txBody>
      </p:sp>
      <p:sp>
        <p:nvSpPr>
          <p:cNvPr id="11" name="TextBox 10"/>
          <p:cNvSpPr txBox="1"/>
          <p:nvPr/>
        </p:nvSpPr>
        <p:spPr>
          <a:xfrm>
            <a:off x="896112" y="2304288"/>
            <a:ext cx="4663440" cy="2011680"/>
          </a:xfrm>
          <a:prstGeom prst="rect">
            <a:avLst/>
          </a:prstGeom>
          <a:noFill/>
        </p:spPr>
        <p:txBody>
          <a:bodyPr wrap="none" lIns="164592" rIns="164592" tIns="109728" bIns="109728">
            <a:spAutoFit/>
          </a:bodyPr>
          <a:lstStyle/>
          <a:p>
            <a:pPr>
              <a:spcAft>
                <a:spcPts val="0"/>
              </a:spcAft>
              <a:defRPr sz="1600">
                <a:solidFill>
                  <a:srgbClr val="1C2330"/>
                </a:solidFill>
                <a:latin typeface="Liberation Mono"/>
              </a:defRPr>
            </a:pPr>
            <a:r>
              <a:t>VAGO · String x = "Laura";</a:t>
            </a:r>
            <a:br/>
            <a:r>
              <a:t>int n = 4;</a:t>
            </a:r>
          </a:p>
        </p:txBody>
      </p:sp>
      <p:sp>
        <p:nvSpPr>
          <p:cNvPr id="12" name="Rounded Rectangle 11"/>
          <p:cNvSpPr/>
          <p:nvPr/>
        </p:nvSpPr>
        <p:spPr>
          <a:xfrm>
            <a:off x="6153912" y="1325880"/>
            <a:ext cx="5230368" cy="3401568"/>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82512" y="1572768"/>
            <a:ext cx="566928" cy="475488"/>
          </a:xfrm>
          <a:prstGeom prst="roundRect">
            <a:avLst/>
          </a:prstGeom>
          <a:solidFill>
            <a:srgbClr val="2F5BA8"/>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682496"/>
            <a:ext cx="566928" cy="182880"/>
          </a:xfrm>
          <a:prstGeom prst="rect">
            <a:avLst/>
          </a:prstGeom>
          <a:noFill/>
        </p:spPr>
        <p:txBody>
          <a:bodyPr wrap="square" lIns="45720" rIns="45720" tIns="36576" bIns="36576" anchor="t">
            <a:spAutoFit/>
          </a:bodyPr>
          <a:lstStyle/>
          <a:p>
            <a:pPr algn="ctr">
              <a:defRPr sz="1300" b="1">
                <a:solidFill>
                  <a:srgbClr val="FFFFFF"/>
                </a:solidFill>
                <a:latin typeface="Aptos"/>
              </a:defRPr>
            </a:pPr>
            <a:r>
              <a:t>B</a:t>
            </a:r>
          </a:p>
        </p:txBody>
      </p:sp>
      <p:sp>
        <p:nvSpPr>
          <p:cNvPr id="15" name="TextBox 14"/>
          <p:cNvSpPr txBox="1"/>
          <p:nvPr/>
        </p:nvSpPr>
        <p:spPr>
          <a:xfrm>
            <a:off x="6428232" y="2304288"/>
            <a:ext cx="4663440" cy="2011680"/>
          </a:xfrm>
          <a:prstGeom prst="rect">
            <a:avLst/>
          </a:prstGeom>
          <a:noFill/>
        </p:spPr>
        <p:txBody>
          <a:bodyPr wrap="none" lIns="164592" rIns="164592" tIns="109728" bIns="109728">
            <a:spAutoFit/>
          </a:bodyPr>
          <a:lstStyle/>
          <a:p>
            <a:pPr>
              <a:spcAft>
                <a:spcPts val="0"/>
              </a:spcAft>
              <a:defRPr sz="1600">
                <a:solidFill>
                  <a:srgbClr val="1C2330"/>
                </a:solidFill>
                <a:latin typeface="Liberation Mono"/>
              </a:defRPr>
            </a:pPr>
            <a:r>
              <a:t>CLARO · String userName = "Laura";</a:t>
            </a:r>
            <a:br/>
            <a:r>
              <a:t>int studyHours = 4;</a:t>
            </a:r>
          </a:p>
        </p:txBody>
      </p:sp>
      <p:sp>
        <p:nvSpPr>
          <p:cNvPr id="16" name="Rounded Rectangle 15"/>
          <p:cNvSpPr/>
          <p:nvPr/>
        </p:nvSpPr>
        <p:spPr>
          <a:xfrm>
            <a:off x="621792" y="5010912"/>
            <a:ext cx="10762488" cy="932688"/>
          </a:xfrm>
          <a:prstGeom prst="roundRect">
            <a:avLst/>
          </a:prstGeom>
          <a:solidFill>
            <a:srgbClr val="121824"/>
          </a:solidFill>
          <a:ln>
            <a:solidFill>
              <a:srgbClr val="1218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230368"/>
            <a:ext cx="10204704" cy="475488"/>
          </a:xfrm>
          <a:prstGeom prst="rect">
            <a:avLst/>
          </a:prstGeom>
          <a:noFill/>
        </p:spPr>
        <p:txBody>
          <a:bodyPr wrap="square" lIns="45720" rIns="45720" tIns="36576" bIns="36576" anchor="t">
            <a:spAutoFit/>
          </a:bodyPr>
          <a:lstStyle/>
          <a:p>
            <a:pPr algn="ctr">
              <a:defRPr sz="1700" b="1">
                <a:solidFill>
                  <a:srgbClr val="FFFFFF"/>
                </a:solidFill>
                <a:latin typeface="Aptos"/>
              </a:defRPr>
            </a:pPr>
            <a:r>
              <a:t>Usa lowerCamelCase y evita espacios, palabras reservadas y nombres que empiezan por número.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APLICAR Y DECIDIR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Planifica los datos de MiniJarvis</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Rounded Rectangle 7"/>
          <p:cNvSpPr/>
          <p:nvPr/>
        </p:nvSpPr>
        <p:spPr>
          <a:xfrm>
            <a:off x="658368" y="130759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1453895"/>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1</a:t>
            </a:r>
          </a:p>
        </p:txBody>
      </p:sp>
      <p:sp>
        <p:nvSpPr>
          <p:cNvPr id="10" name="TextBox 9"/>
          <p:cNvSpPr txBox="1"/>
          <p:nvPr/>
        </p:nvSpPr>
        <p:spPr>
          <a:xfrm>
            <a:off x="1664208" y="1417319"/>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Anota dato, tipo, nombre, si cambia y dónde se usa.</a:t>
            </a:r>
          </a:p>
        </p:txBody>
      </p:sp>
      <p:sp>
        <p:nvSpPr>
          <p:cNvPr id="11" name="Rounded Rectangle 10"/>
          <p:cNvSpPr/>
          <p:nvPr/>
        </p:nvSpPr>
        <p:spPr>
          <a:xfrm>
            <a:off x="658368" y="254203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2688336"/>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2</a:t>
            </a:r>
          </a:p>
        </p:txBody>
      </p:sp>
      <p:sp>
        <p:nvSpPr>
          <p:cNvPr id="13" name="TextBox 12"/>
          <p:cNvSpPr txBox="1"/>
          <p:nvPr/>
        </p:nvSpPr>
        <p:spPr>
          <a:xfrm>
            <a:off x="1664208" y="2651760"/>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Implementa al menos dos variables del plan.</a:t>
            </a:r>
          </a:p>
        </p:txBody>
      </p:sp>
      <p:sp>
        <p:nvSpPr>
          <p:cNvPr id="14" name="Rounded Rectangle 13"/>
          <p:cNvSpPr/>
          <p:nvPr/>
        </p:nvSpPr>
        <p:spPr>
          <a:xfrm>
            <a:off x="658368" y="377647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3922776"/>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3</a:t>
            </a:r>
          </a:p>
        </p:txBody>
      </p:sp>
      <p:sp>
        <p:nvSpPr>
          <p:cNvPr id="16" name="TextBox 15"/>
          <p:cNvSpPr txBox="1"/>
          <p:nvPr/>
        </p:nvSpPr>
        <p:spPr>
          <a:xfrm>
            <a:off x="1664208" y="3886200"/>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Muestra una, cambia su valor y vuelve a mostrarla.</a:t>
            </a:r>
          </a:p>
        </p:txBody>
      </p:sp>
      <p:sp>
        <p:nvSpPr>
          <p:cNvPr id="17" name="Rounded Rectangle 16"/>
          <p:cNvSpPr/>
          <p:nvPr/>
        </p:nvSpPr>
        <p:spPr>
          <a:xfrm>
            <a:off x="658368" y="501091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392" y="5157216"/>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4</a:t>
            </a:r>
          </a:p>
        </p:txBody>
      </p:sp>
      <p:sp>
        <p:nvSpPr>
          <p:cNvPr id="19" name="TextBox 18"/>
          <p:cNvSpPr txBox="1"/>
          <p:nvPr/>
        </p:nvSpPr>
        <p:spPr>
          <a:xfrm>
            <a:off x="1664208" y="5120640"/>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Comprueba que no has creado variables sin uso.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COMPROBAR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Microdefensa de una variable</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Rounded Rectangle 7"/>
          <p:cNvSpPr/>
          <p:nvPr/>
        </p:nvSpPr>
        <p:spPr>
          <a:xfrm>
            <a:off x="713232" y="1298448"/>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9888" y="1280160"/>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Puedo señalar tipo, nombre y valor inicial.</a:t>
            </a:r>
          </a:p>
        </p:txBody>
      </p:sp>
      <p:sp>
        <p:nvSpPr>
          <p:cNvPr id="10" name="Rounded Rectangle 9"/>
          <p:cNvSpPr/>
          <p:nvPr/>
        </p:nvSpPr>
        <p:spPr>
          <a:xfrm>
            <a:off x="713232" y="2544318"/>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89888" y="2526029"/>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Distingo declaración, inicialización y asignación posterior.</a:t>
            </a:r>
          </a:p>
        </p:txBody>
      </p:sp>
      <p:sp>
        <p:nvSpPr>
          <p:cNvPr id="12" name="Rounded Rectangle 11"/>
          <p:cNvSpPr/>
          <p:nvPr/>
        </p:nvSpPr>
        <p:spPr>
          <a:xfrm>
            <a:off x="713232" y="3790187"/>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89888" y="3771900"/>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La salida demuestra el valor antes o después del cambio.</a:t>
            </a:r>
          </a:p>
        </p:txBody>
      </p:sp>
      <p:sp>
        <p:nvSpPr>
          <p:cNvPr id="14" name="Rounded Rectangle 13"/>
          <p:cNvSpPr/>
          <p:nvPr/>
        </p:nvSpPr>
        <p:spPr>
          <a:xfrm>
            <a:off x="713232" y="5036057"/>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89888" y="5017770"/>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El nombre elegido explica el dato que guarda.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EXPLICAR Y DEFENDER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Comprobación final</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Rounded Rectangle 7"/>
          <p:cNvSpPr/>
          <p:nvPr/>
        </p:nvSpPr>
        <p:spPr>
          <a:xfrm>
            <a:off x="621792" y="1298448"/>
            <a:ext cx="10927080" cy="1828800"/>
          </a:xfrm>
          <a:prstGeom prst="roundRect">
            <a:avLst/>
          </a:prstGeom>
          <a:solidFill>
            <a:srgbClr val="2F5BA8"/>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91056"/>
            <a:ext cx="10241280" cy="256032"/>
          </a:xfrm>
          <a:prstGeom prst="rect">
            <a:avLst/>
          </a:prstGeom>
          <a:noFill/>
        </p:spPr>
        <p:txBody>
          <a:bodyPr wrap="square" lIns="45720" rIns="45720" tIns="36576" bIns="36576" anchor="t">
            <a:spAutoFit/>
          </a:bodyPr>
          <a:lstStyle/>
          <a:p>
            <a:pPr algn="l">
              <a:defRPr sz="1300" b="1">
                <a:solidFill>
                  <a:srgbClr val="FFFFFF"/>
                </a:solidFill>
                <a:latin typeface="Aptos"/>
              </a:defRPr>
            </a:pPr>
            <a:r>
              <a:t>PREGUNTA O DECISIÓN DE SALIDA</a:t>
            </a:r>
          </a:p>
        </p:txBody>
      </p:sp>
      <p:sp>
        <p:nvSpPr>
          <p:cNvPr id="10" name="TextBox 9"/>
          <p:cNvSpPr txBox="1"/>
          <p:nvPr/>
        </p:nvSpPr>
        <p:spPr>
          <a:xfrm>
            <a:off x="932688" y="1975104"/>
            <a:ext cx="10058400" cy="822960"/>
          </a:xfrm>
          <a:prstGeom prst="rect">
            <a:avLst/>
          </a:prstGeom>
          <a:noFill/>
        </p:spPr>
        <p:txBody>
          <a:bodyPr wrap="square" lIns="45720" rIns="45720" tIns="36576" bIns="36576" anchor="t">
            <a:spAutoFit/>
          </a:bodyPr>
          <a:lstStyle/>
          <a:p>
            <a:pPr algn="l">
              <a:defRPr sz="2500" b="1">
                <a:solidFill>
                  <a:srgbClr val="FFFFFF"/>
                </a:solidFill>
                <a:latin typeface="Aptos"/>
              </a:defRPr>
            </a:pPr>
            <a:r>
              <a:t>Explica por qué studyHours = studyHours + 1 no es una igualdad matemática.</a:t>
            </a:r>
          </a:p>
        </p:txBody>
      </p:sp>
      <p:sp>
        <p:nvSpPr>
          <p:cNvPr id="11" name="TextBox 10"/>
          <p:cNvSpPr txBox="1"/>
          <p:nvPr/>
        </p:nvSpPr>
        <p:spPr>
          <a:xfrm>
            <a:off x="749808" y="3886200"/>
            <a:ext cx="10607040" cy="1280160"/>
          </a:xfrm>
          <a:prstGeom prst="rect">
            <a:avLst/>
          </a:prstGeom>
          <a:noFill/>
        </p:spPr>
        <p:txBody>
          <a:bodyPr wrap="square" lIns="45720" rIns="45720" tIns="36576" bIns="36576" anchor="ctr">
            <a:spAutoFit/>
          </a:bodyPr>
          <a:lstStyle/>
          <a:p>
            <a:pPr algn="ctr">
              <a:defRPr sz="2300" b="1">
                <a:solidFill>
                  <a:srgbClr val="247E5C"/>
                </a:solidFill>
                <a:latin typeface="Aptos"/>
              </a:defRPr>
            </a:pPr>
            <a:r>
              <a:t>La sesión termina cuando la evidencia existe, está comprobada y puede defenderse.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TRAZABILIDAD DEL CONTENIDO</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Fuentes diferenciadas</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210 · H1 — Primer asistente ejecutable</a:t>
            </a:r>
          </a:p>
        </p:txBody>
      </p:sp>
      <p:sp>
        <p:nvSpPr>
          <p:cNvPr id="8" name="TextBox 7"/>
          <p:cNvSpPr txBox="1"/>
          <p:nvPr/>
        </p:nvSpPr>
        <p:spPr>
          <a:xfrm>
            <a:off x="777240" y="1417320"/>
            <a:ext cx="10515600" cy="658368"/>
          </a:xfrm>
          <a:prstGeom prst="rect">
            <a:avLst/>
          </a:prstGeom>
          <a:noFill/>
        </p:spPr>
        <p:txBody>
          <a:bodyPr wrap="square" lIns="45720" rIns="45720" tIns="36576" bIns="36576" anchor="t">
            <a:spAutoFit/>
          </a:bodyPr>
          <a:lstStyle/>
          <a:p>
            <a:pPr algn="ctr">
              <a:defRPr sz="2300" b="1">
                <a:solidFill>
                  <a:srgbClr val="1C2330"/>
                </a:solidFill>
                <a:latin typeface="Aptos"/>
              </a:defRPr>
            </a:pPr>
            <a:r>
              <a:t>Esta presentación selecciona y adapta contenido; no sustituye al libro ni copia el PDF completo.</a:t>
            </a:r>
          </a:p>
        </p:txBody>
      </p:sp>
      <p:sp>
        <p:nvSpPr>
          <p:cNvPr id="9" name="TextBox 8"/>
          <p:cNvSpPr txBox="1"/>
          <p:nvPr/>
        </p:nvSpPr>
        <p:spPr>
          <a:xfrm>
            <a:off x="1005840" y="2468880"/>
            <a:ext cx="10058400" cy="2331720"/>
          </a:xfrm>
          <a:prstGeom prst="rect">
            <a:avLst/>
          </a:prstGeom>
          <a:noFill/>
        </p:spPr>
        <p:txBody>
          <a:bodyPr wrap="square" lIns="73152" rIns="45720" tIns="36576">
            <a:spAutoFit/>
          </a:bodyPr>
          <a:lstStyle/>
          <a:p>
            <a:pPr>
              <a:spcAft>
                <a:spcPts val="900"/>
              </a:spcAft>
              <a:defRPr sz="2000">
                <a:solidFill>
                  <a:srgbClr val="1C2330"/>
                </a:solidFill>
                <a:latin typeface="Aptos"/>
              </a:defRPr>
            </a:pPr>
            <a:r>
              <a:t>•  Libro por hitos · Capítulo 02: variables y tipos</a:t>
            </a:r>
          </a:p>
          <a:p>
            <a:pPr>
              <a:spcAft>
                <a:spcPts val="900"/>
              </a:spcAft>
              <a:defRPr sz="2000">
                <a:solidFill>
                  <a:srgbClr val="1C2330"/>
                </a:solidFill>
                <a:latin typeface="Aptos"/>
              </a:defRPr>
            </a:pPr>
            <a:r>
              <a:t>•  PDF Tema 1 · §4: almacenamiento de datos</a:t>
            </a:r>
          </a:p>
          <a:p>
            <a:pPr>
              <a:spcAft>
                <a:spcPts val="900"/>
              </a:spcAft>
              <a:defRPr sz="2000">
                <a:solidFill>
                  <a:srgbClr val="1C2330"/>
                </a:solidFill>
                <a:latin typeface="Aptos"/>
              </a:defRPr>
            </a:pPr>
            <a:r>
              <a:t>•  Proyecto MiniJarvis · fichas S206-S215, píldoras H1 y criterios de evidencia</a:t>
            </a:r>
          </a:p>
        </p:txBody>
      </p:sp>
      <p:sp>
        <p:nvSpPr>
          <p:cNvPr id="10" name="TextBox 9"/>
          <p:cNvSpPr txBox="1"/>
          <p:nvPr/>
        </p:nvSpPr>
        <p:spPr>
          <a:xfrm>
            <a:off x="960120" y="5257800"/>
            <a:ext cx="10241280" cy="411480"/>
          </a:xfrm>
          <a:prstGeom prst="rect">
            <a:avLst/>
          </a:prstGeom>
          <a:noFill/>
        </p:spPr>
        <p:txBody>
          <a:bodyPr wrap="square" lIns="45720" rIns="45720" tIns="36576" bIns="36576" anchor="t">
            <a:spAutoFit/>
          </a:bodyPr>
          <a:lstStyle/>
          <a:p>
            <a:pPr algn="ctr">
              <a:defRPr sz="1800" b="1">
                <a:solidFill>
                  <a:srgbClr val="2F5BA8"/>
                </a:solidFill>
                <a:latin typeface="Aptos"/>
              </a:defRPr>
            </a:pPr>
            <a:r>
              <a:t>Consulta el libro para ampliar, practicar y repasar errores frecuentes.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