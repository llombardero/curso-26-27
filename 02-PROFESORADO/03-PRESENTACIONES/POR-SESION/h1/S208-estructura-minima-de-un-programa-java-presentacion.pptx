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1 de 9: La estructura mínima de un programa Java</a:t>
            </a:r>
          </a:p>
          <a:p>
            <a:r>
              <a:t>Fase HEXA: Investigar — aprender lo necesario</a:t>
            </a:r>
          </a:p>
          <a:p>
            <a:r>
              <a:t>Presenta el producto y anticipa la evidencia: Quede diagnosticada la comprensión.</a:t>
            </a:r>
          </a:p>
          <a:p>
            <a:r>
              <a:t>Secuencia docente:</a:t>
            </a:r>
          </a:p>
          <a:p>
            <a:r>
              <a:t>- 00:00–00:05 / D1: INVESTIGAR: Pide predecir qué líneas producen salida.</a:t>
            </a:r>
          </a:p>
          <a:p>
            <a:r>
              <a:t>- 00:05–00:12 / D2: PÍLDORA DOCENTE 1/4: Explica que el nombre de la clase pública coincide con el archivo y que main es el punto de entrada en estos programas.</a:t>
            </a:r>
          </a:p>
          <a:p>
            <a:r>
              <a:t>- 00:12–00:18 / D3: PÍLDORA DOCENTE 2/4: Relaciona cada regla con un error real.</a:t>
            </a:r>
          </a:p>
          <a:p>
            <a:r>
              <a:t>- 00:18–00:23 / D4: DIAGNÓSTICO: No ejecutes aún. Pide voto y justificación.</a:t>
            </a:r>
          </a:p>
          <a:p>
            <a:r>
              <a:t>- 00:23–00:27 / D5: DIAGNÓSTICO: Pide localizar el error antes de ejecutar.</a:t>
            </a:r>
          </a:p>
          <a:p>
            <a:r>
              <a:t>- 00:27–00:32 / D6: PÍLDORA DOCENTE 3/4: Explica reglas mínimas y la importancia del nombre significativo.</a:t>
            </a:r>
          </a:p>
          <a:p>
            <a:r>
              <a:t>- 00:32–00:35 / D7: PÍLDORA DOCENTE 4/4: Explica que no se ejecutan y que deben aportar intención, no repetir literalmente la instrucción.</a:t>
            </a:r>
          </a:p>
          <a:p>
            <a:r>
              <a:t>- 00:35–00:42 / D8: ACTIVIDAD: Circula y pide verbalizar la primera marca del IDE.</a:t>
            </a:r>
          </a:p>
          <a:p>
            <a:r>
              <a:t>- 00:42–00:45 / D9: CIERRE: Pregunta a 2–3 personas y registra dificultades comunes.</a:t>
            </a:r>
          </a:p>
          <a:p>
            <a:r>
              <a:t>Claves docentes:</a:t>
            </a:r>
          </a:p>
          <a:p>
            <a:r>
              <a:t>- PÍLDORA DOCENTE 1/4: Explica que el nombre de la clase pública coincide con el archivo y que main es el punto de entrada en estos programas, PÍLDORA DOCENTE 2/4: Relaciona cada regla con un error real, PÍLDORA DOCENTE 3/4: Explica reglas mínimas y la importancia del nombre significativo.</a:t>
            </a:r>
          </a:p>
          <a:p>
            <a:r>
              <a:t>- PÍLDORA DOCENTE 4/4: Explica que no se ejecutan y que deben aportar intención, no repetir literalmente la instrucción.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2 de 9: Qué aprenderás y cómo lo demostrarás</a:t>
            </a:r>
          </a:p>
          <a:p>
            <a:r>
              <a:t>Fase HEXA: Investigar — aprender lo necesario</a:t>
            </a:r>
          </a:p>
          <a:p>
            <a:r>
              <a:t>- Objetivo: Leer, reconstruir y depurar la estructura mínima; reconocer aspectos léxicos y comentarios.</a:t>
            </a:r>
          </a:p>
          <a:p>
            <a:r>
              <a:t>- Comprobación: Quede diagnosticada la comprensión.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3 de 9: Estructura mínima completa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public class Main {</a:t>
            </a:r>
          </a:p>
          <a:p>
            <a:r>
              <a:t>    public static void main(String[] args) {</a:t>
            </a:r>
          </a:p>
          <a:p>
            <a:r>
              <a:t>        // Presenta la versión actual.</a:t>
            </a:r>
          </a:p>
          <a:p>
            <a:r>
              <a:t>        System.out.println("Hola");</a:t>
            </a:r>
          </a:p>
          <a:p>
            <a:r>
              <a:t>        System.out.println("MiniJarvis arranca");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- Main.java coincide con public class Main.</a:t>
            </a:r>
          </a:p>
          <a:p>
            <a:r>
              <a:t>- La ejecución comienza dentro de main.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4 de 9: Java exige precisión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Distingue mayúsculas: Main, main y String son identificadores diferentes.</a:t>
            </a:r>
          </a:p>
          <a:p>
            <a:r>
              <a:t>- Las llaves delimitan bloques; paréntesis, comillas y punto y coma tienen funciones concretas.</a:t>
            </a:r>
          </a:p>
          <a:p>
            <a:r>
              <a:t>- Un identificador debe ser válido y comunicar intención.</a:t>
            </a:r>
          </a:p>
          <a:p>
            <a:r>
              <a:t>- Un comentario útil explica contexto o decisión; no repite una instrucción obvia.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5 de 9: Detecta antes de compilar</a:t>
            </a:r>
          </a:p>
          <a:p>
            <a:r>
              <a:t>Fase HEXA: Investigar — aprender lo necesario</a:t>
            </a:r>
          </a:p>
          <a:p>
            <a:r>
              <a:t>Explica con predicción y ejemplo mínimo; comprueba comprensión antes de continuar.</a:t>
            </a:r>
          </a:p>
          <a:p>
            <a:r>
              <a:t>- CORRECTO · String message = "Hola";</a:t>
            </a:r>
          </a:p>
          <a:p>
            <a:r>
              <a:t>System.out.println(message);</a:t>
            </a:r>
          </a:p>
          <a:p>
            <a:r>
              <a:t>- INCORRECTO · string message = "Hola"</a:t>
            </a:r>
          </a:p>
          <a:p>
            <a:r>
              <a:t>System.out.println(message)</a:t>
            </a:r>
          </a:p>
          <a:p>
            <a:r>
              <a:t>- Busca: mayúscula de String, punto y coma y equilibrio de delimitadores.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6 de 9: Reconstruye y depura</a:t>
            </a:r>
          </a:p>
          <a:p>
            <a:r>
              <a:t>Fase HEXA: Investigar — aprender lo necesario</a:t>
            </a:r>
          </a:p>
          <a:p>
            <a:r>
              <a:t>Entrega la consigna, observa decisiones y pide una prueba reproducible.</a:t>
            </a:r>
          </a:p>
          <a:p>
            <a:r>
              <a:t>- Reconstruye la clase sin copiar directamente.</a:t>
            </a:r>
          </a:p>
          <a:p>
            <a:r>
              <a:t>- Añade dos mensajes y un comentario que explique una decisión.</a:t>
            </a:r>
          </a:p>
          <a:p>
            <a:r>
              <a:t>- Introduce un error de mayúsculas o delimitador y predice el diagnóstico.</a:t>
            </a:r>
          </a:p>
          <a:p>
            <a:r>
              <a:t>- Compila, corrige y señala dónde comienza la ejecución.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7 de 9: Comprueba la estructura</a:t>
            </a:r>
          </a:p>
          <a:p>
            <a:r>
              <a:t>Fase HEXA: Investigar — aprender lo necesario</a:t>
            </a:r>
          </a:p>
          <a:p>
            <a:r>
              <a:t>Comprueba la evidencia en su fuente canónica: Quede diagnosticada la comprensión.</a:t>
            </a:r>
          </a:p>
          <a:p>
            <a:r>
              <a:t>- Archivo y clase pública tienen el mismo nombre.</a:t>
            </a:r>
          </a:p>
          <a:p>
            <a:r>
              <a:t>- Las dos parejas de llaves están completas.</a:t>
            </a:r>
          </a:p>
          <a:p>
            <a:r>
              <a:t>- Puedo señalar las instrucciones que generan salida.</a:t>
            </a:r>
          </a:p>
          <a:p>
            <a:r>
              <a:t>- El comentario aporta información que el código no expresa solo.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8 de 9: Salida diagnóstica</a:t>
            </a:r>
          </a:p>
          <a:p>
            <a:r>
              <a:t>Fase HEXA: Investigar — aprender lo necesario</a:t>
            </a:r>
          </a:p>
          <a:p>
            <a:r>
              <a:t>Cierra con explicación individual, prueba observable y siguiente paso concreto.</a:t>
            </a:r>
          </a:p>
          <a:p>
            <a:r>
              <a:t>- Señala una regla sintáctica cuya ruptura impida compilar y explica por qué.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Leer, reconstruir y depurar la estructura mínima; reconocer aspectos léxicos y comentarios.</a:t>
            </a:r>
          </a:p>
          <a:p>
            <a:r>
              <a:t>Diapositiva 9 de 9: Fuentes utilizadas</a:t>
            </a:r>
          </a:p>
          <a:p>
            <a:r>
              <a:t>Fase HEXA: Investigar — aprender lo necesario</a:t>
            </a:r>
          </a:p>
          <a:p>
            <a:r>
              <a:t>Indica al alumnado dónde ampliar el contenido y qué fragmentos se han adaptado.</a:t>
            </a:r>
          </a:p>
          <a:p>
            <a:r>
              <a:t>- Libro: capítulo 01 · Tema 1: aspectos léxicos y comentarios</a:t>
            </a:r>
          </a:p>
          <a:p>
            <a:r>
              <a:t>- Fichas S206-S215 y píldoras H1</a:t>
            </a:r>
          </a:p>
          <a:p>
            <a:r>
              <a:t>- Ejemplos revisados y adaptados a MiniJarvis; no se copian errores ni capturas antiguas del PDF.</a:t>
            </a:r>
          </a:p>
          <a:p>
            <a:r>
              <a:t>Fuente docente: /mnt/compartido/Programación-26-27/Minijarvis/02-PROFESORADO/02-SESIONES/h1/S208-estructura-minima-de-un-programa-java-docente.md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La estructura mínima de un programa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con contraste por parejas o equipo cuando la práctica lo requiera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aprenderás y cómo lo demostrarás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Leer, reconstruir y depurar la estructura mínima; reconocer aspectos léxicos y comentarios.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Comprobación: Quede diagnosticada la comprensión.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Estructura mínima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FFFFF"/>
                </a:solidFill>
                <a:latin typeface="Liberation Mono"/>
              </a:defRPr>
            </a:pPr>
            <a:r>
              <a:t>public class Main {</a:t>
            </a:r>
            <a:br/>
            <a:r>
              <a:t>    public static void main(String[] args) {</a:t>
            </a:r>
            <a:br/>
            <a:r>
              <a:t>        // Presenta la versión actual.</a:t>
            </a:r>
            <a:br/>
            <a:r>
              <a:t>        System.out.println("Hola");</a:t>
            </a:r>
            <a:br/>
            <a:r>
              <a:t>        System.out.println("MiniJarvis arranca");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Main.java coincide con public class Main.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La ejecución comienza dentro de 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Java exige precisión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Distingue mayúsculas: Main, main y String son identificadores diferentes.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Las llaves delimitan bloques; paréntesis, comillas y punto y coma tienen funciones concretas.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Un identificador debe ser válido y comunicar intención.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Un comentario útil explica contexto o decisión; no repite una instrucción obvia.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Detecta antes de compilar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CORRECTO · String message = "Hola";</a:t>
            </a:r>
            <a:br/>
            <a:r>
              <a:t>System.out.println(message);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INCORRECTO · string message = "Hola"</a:t>
            </a:r>
            <a:br/>
            <a:r>
              <a:t>System.out.println(message)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Busca: mayúscula de String, punto y coma y equilibrio de delimitadores.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Reconstruye y depura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Reconstruye la clase sin copiar directamente.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Añade dos mensajes y un comentario que explique una decisión.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Introduce un error de mayúsculas o delimitador y predice el diagnóstico.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Compila, corrige y señala dónde comienza la ejecución.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Comprueba la estructura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Archivo y clase pública tienen el mismo nombre.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431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526029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Las dos parejas de llaves están completas.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7190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señalar las instrucciones que generan salida.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03605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1777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El comentario aporta información que el código no expresa solo.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Salida diagnóstica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Señala una regla sintáctica cuya ruptura impida compilar y explica por qué.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TRAZABILIDAD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Fuentes utilizadas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208 · 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6583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2300" b="1">
                <a:solidFill>
                  <a:srgbClr val="1C2330"/>
                </a:solidFill>
                <a:latin typeface="Aptos"/>
              </a:defRPr>
            </a:pPr>
            <a:r>
              <a:t>Esta presentación selecciona y adapta contenido; no sustituye al libro ni copia el PDF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2331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Libro: capítulo 01 · Tema 1: aspectos léxicos y comentarios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Fichas S206-S215 y píldoras H1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Ejemplos revisados y adaptados a MiniJarvis; no se copian errores ni capturas antiguas del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800" b="1">
                <a:solidFill>
                  <a:srgbClr val="2F5BA8"/>
                </a:solidFill>
                <a:latin typeface="Aptos"/>
              </a:defRPr>
            </a:pPr>
            <a:r>
              <a:t>Consulta el libro para ampliar, practicar y repasar errores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