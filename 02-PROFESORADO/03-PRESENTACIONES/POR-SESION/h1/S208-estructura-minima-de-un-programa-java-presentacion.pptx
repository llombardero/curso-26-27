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la finalidad y distinguir archivo, clase, método, instrucción y salida. Función del soporte: explicación.</a:t>
            </a:r>
          </a:p>
          <a:p/>
          <a:p>
            <a:r>
              <a:t>Facilitación docente · Antes de entrar en clase</a:t>
            </a:r>
          </a:p>
          <a:p>
            <a:r>
              <a:t>- [ ] Abrir y ejecutar el proyecto que utilizará el alumnado.</a:t>
            </a:r>
          </a:p>
          <a:p>
            <a:r>
              <a:t>- [ ] Preparar los fragmentos con errores sin corregirlos en la proyección.</a:t>
            </a:r>
          </a:p>
          <a:p>
            <a:r>
              <a:t>- [ ] Comprobar que el entorno muestra diagnósticos de compilación con claridad.</a:t>
            </a:r>
          </a:p>
          <a:p>
            <a:r>
              <a:t>- [ ] Reservar los últimos minutos para una comprobación individual real.</a:t>
            </a:r>
          </a:p>
          <a:p/>
          <a:p>
            <a:r>
              <a:t>Facilitación docente · Apertura docente</a:t>
            </a:r>
          </a:p>
          <a:p>
            <a:r>
              <a:t>&gt; Seguimos en Investigar. Hoy vamos a entender la forma mínima que necesita Java para ejecutar un programa. No quiero que memoricéis símbolos sueltos: quiero que sepáis señalar qué parte hace qué y qué error aparece si rompemos una regla.</a:t>
            </a:r>
          </a:p>
          <a:p/>
          <a:p>
            <a:r>
              <a:t>Pregunta inicial:</a:t>
            </a:r>
          </a:p>
          <a:p/>
          <a:p>
            <a:r>
              <a:t>&gt; En un archivo Java, ¿dónde empieza realmente la ejecución: en el nombre de la clase, en la primera llave o en el método `main`?</a:t>
            </a:r>
          </a:p>
          <a:p/>
          <a:p>
            <a:r>
              <a:t>Observación · Observación docente</a:t>
            </a:r>
          </a:p>
          <a:p>
            <a:r>
              <a:t>Durante la actividad y la comprobación individual, observa específicamente:</a:t>
            </a:r>
          </a:p>
          <a:p/>
          <a:p>
            <a:r>
              <a:t>- que distingue archivo, clase y método;</a:t>
            </a:r>
          </a:p>
          <a:p>
            <a:r>
              <a:t>- que identifica `main` como punto de entrada;</a:t>
            </a:r>
          </a:p>
          <a:p>
            <a:r>
              <a:t>- que predice el orden de las instrucciones antes de ejecutar;</a:t>
            </a:r>
          </a:p>
          <a:p>
            <a:r>
              <a:t>- que reconoce llaves, paréntesis, comillas y punto y coma como delimitadores con funciones distintas;</a:t>
            </a:r>
          </a:p>
          <a:p>
            <a:r>
              <a:t>- que interpreta un diagnóstico sencillo revisando la línea y su entorno;</a:t>
            </a:r>
          </a:p>
          <a:p>
            <a:r>
              <a:t>- que formula una hipótesis antes de modificar el código;</a:t>
            </a:r>
          </a:p>
          <a:p>
            <a:r>
              <a:t>- que diferencia identificador válido de nombre significativo;</a:t>
            </a:r>
          </a:p>
          <a:p>
            <a:r>
              <a:t>- que detecta palabras reservadas;</a:t>
            </a:r>
          </a:p>
          <a:p>
            <a:r>
              <a:t>- que distingue comentario útil de redundante;</a:t>
            </a:r>
          </a:p>
          <a:p>
            <a:r>
              <a:t>- que puede explicar individualmente una corrección realizada en pareja.</a:t>
            </a:r>
          </a:p>
          <a:p/>
          <a:p>
            <a:r>
              <a:t>Andamiaje y recuperación · Andamiaje ante bloqueos</a:t>
            </a:r>
          </a:p>
          <a:p>
            <a:r>
              <a:t>No proporciones inmediatamente la solución completa. Utiliza la ayuda mínima correspondiente:</a:t>
            </a:r>
          </a:p>
          <a:p/>
          <a:p>
            <a:r>
              <a:t>- **Confunde `Main` y `main`:** pide que señale primero la clase y después el método de entrada.</a:t>
            </a:r>
          </a:p>
          <a:p>
            <a:r>
              <a:t>- **El nombre de clase no coincide:** coloca juntos `Main.java` y `public class ...` y pregunta qué nombres deberían coincidir.</a:t>
            </a:r>
          </a:p>
          <a:p>
            <a:r>
              <a:t>- **Falta un delimitador:** pide que lea la línea y su entorno, y que empareje primero llaves, paréntesis o comillas.</a:t>
            </a:r>
          </a:p>
          <a:p>
            <a:r>
              <a:t>- **Cambia elementos al azar:** vuelve al primer diagnóstico y exige una hipótesis sobre una única regla antes de modificar.</a:t>
            </a:r>
          </a:p>
          <a:p>
            <a:r>
              <a:t>- **No comprende el orden:** pide numerar las instrucciones dentro de `main` y anticipar cada salida.</a:t>
            </a:r>
          </a:p>
          <a:p>
            <a:r>
              <a:t>- **Identificador válido pero pobre:** pregunta qué entendería otra persona al leer el nombre sin conocer el valor.</a:t>
            </a:r>
          </a:p>
          <a:p>
            <a:r>
              <a:t>- **Confunde palabra reservada e identificador:** pregunta si Java ya utiliza esa palabra para una función del lenguaje.</a:t>
            </a:r>
          </a:p>
          <a:p>
            <a:r>
              <a:t>- **Comentario redundante:** pregunta qué información añade que no esté ya visible en el código.</a:t>
            </a:r>
          </a:p>
          <a:p>
            <a:r>
              <a:t>- **Una persona resuelve todo:** pide a la otra una explicación o modificación breve sin apoyo.</a:t>
            </a:r>
          </a:p>
          <a:p/>
          <a:p>
            <a:r>
              <a:t>Ritmo fuente · Temporalización orientativa</a:t>
            </a:r>
          </a:p>
          <a:p>
            <a:r>
              <a:t>0–5 min — Presentar la finalidad y distinguir archivo, clase, método, instrucción y salida.</a:t>
            </a:r>
          </a:p>
          <a:p/>
          <a:p>
            <a:r>
              <a:t>5–12 min — Proyectar el programa mínimo; relacionar Main.java, Main y main.</a:t>
            </a:r>
          </a:p>
          <a:p/>
          <a:p>
            <a:r>
              <a:t>12–17 min — Predecir el orden de ejecución y reconocer delimitadores básicos.</a:t>
            </a:r>
          </a:p>
          <a:p/>
          <a:p>
            <a:r>
              <a:t>17–27 min — Trabajo individual: reconstruir la estructura, clasificar nombres y provocar o localizar un error.</a:t>
            </a:r>
          </a:p>
          <a:p/>
          <a:p>
            <a:r>
              <a:t>27–34 min — Trabajo por parejas: formular una hipótesis, corregir, ejecutar y explicar el diagnóstico.</a:t>
            </a:r>
          </a:p>
          <a:p/>
          <a:p>
            <a:r>
              <a:t>34–40 min — Contraste guiado de identificadores y comentarios; no practicar todos los casos con igual profundidad.</a:t>
            </a:r>
          </a:p>
          <a:p/>
          <a:p>
            <a:r>
              <a:t>40–45 min — Comprobación individual y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Presentar la finalidad y distinguir archivo, clase, método, instrucción y salida.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Proyectar el programa mínimo; relacionar Main.java, Main y main.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Proyectar el programa mínimo; relacionar Main.java, Main y main.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Proyectar el programa mínimo; relacionar Main.java, Main y main.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Proyectar el programa mínimo; relacionar Main.java, Main y main.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5–12 min: duración compartida 420 segundos. Trabajo: Proyectar el programa mínimo; relacionar Main.java, Main y main. Función del soporte: apoyo al trabajo.</a:t>
            </a:r>
          </a:p>
          <a:p/>
          <a:p>
            <a:r>
              <a:t>Detalle para la explicación oral · Main no es main</a:t>
            </a:r>
          </a:p>
          <a:p>
            <a:r>
              <a:t>&gt; `Main` puede ser el nombre de la clase. `main` es el método donde comienza la ejecución. Java distingue mayúsculas y minúsculas; no son nombres equivalentes.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12–17 min: duración compartida 300 segundos. Trabajo: Predecir el orden de ejecución y reconocer delimitadores básicos. Función del soporte: apoyo al trabajo.</a:t>
            </a:r>
          </a:p>
          <a:p/>
          <a:p>
            <a:r>
              <a:t>Detalle para la explicación oral · Orden de ejecución</a:t>
            </a:r>
          </a:p>
          <a:p>
            <a:r>
              <a:t>Después ejecuta y contrasta la predicción con la consola. No basta con acertar: deben relacionar el orden visible con el orden de las instrucciones dentro de `main`.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apoyo al trabajo.</a:t>
            </a:r>
          </a:p>
          <a:p/>
          <a:p>
            <a:r>
              <a:t>Detalle para la explicación oral · Errores sintácticos: localizar antes de cambiar</a:t>
            </a:r>
          </a:p>
          <a:p>
            <a:r>
              <a:t>Pide primero que localicen el elemento sospechoso, nombren la regla que podría haberse roto y predigan si compilará. Solo después se corrige y se ejecuta.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apoyo al trabajo.</a:t>
            </a:r>
          </a:p>
          <a:p/>
          <a:p>
            <a:r>
              <a:t>Facilitación docente · string frente a String</a:t>
            </a:r>
          </a:p>
          <a:p>
            <a:r>
              <a:t>Aclara después del intento: `String` es el tipo utilizado por Java en esta cabecera; `string` en minúscula no es equivalente y provoca un error de compilación.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cierre.</a:t>
            </a:r>
          </a:p>
          <a:p/>
          <a:p>
            <a:r>
              <a:t>Facilitación docente · Llave de cierre ausente</a:t>
            </a:r>
          </a:p>
          <a:p>
            <a:r>
              <a:t>Aclara que el primer diagnóstico ofrece una pista, no una orden para cambiar código al azar. En esta sesión basta con leer el mensaje, revisar la línea y su entorno, formular una hipótesis pequeña y comprobarla.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actividad.</a:t>
            </a:r>
          </a:p>
          <a:p/>
          <a:p>
            <a:r>
              <a:t>Detalle para la explicación oral · Reconstruir, predecir y localizar — INDIVIDUAL</a:t>
            </a:r>
          </a:p>
          <a:p>
            <a:r>
              <a:t>Cada persona conserva su propio razonamiento antes del contraste. Esta actividad no es una prueba formal separada.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17–27 min: duración compartida 600 segundos. Trabajo: Trabajo individual: reconstruir la estructura, clasificar nombres y provocar o localizar un error. Función del soporte: actividad.</a:t>
            </a:r>
          </a:p>
          <a:p/>
          <a:p>
            <a:r>
              <a:t>Detalle para la explicación oral · Reconstruir, predecir y localizar — INDIVIDUAL</a:t>
            </a:r>
          </a:p>
          <a:p>
            <a:r>
              <a:t>Cada persona conserva su propio razonamiento antes del contraste. Esta actividad no es una prueba formal separada.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27–34 min: duración compartida 420 segundos. Trabajo: Trabajo por parejas: formular una hipótesis, corregir, ejecutar y explicar el diagnóstico. Función del soporte: actividad.</a:t>
            </a:r>
          </a:p>
          <a:p/>
          <a:p>
            <a:r>
              <a:t>Detalle para la explicación oral · Comparar, depurar y explicar — PAREJAS</a:t>
            </a:r>
          </a:p>
          <a:p>
            <a:r>
              <a:t>No es necesario practicar con la misma profundidad los cinco errores. Cada pareja depura al menos uno mediante la secuencia completa y utiliza los demás como lectura o contraste guiado.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27–34 min: duración compartida 420 segundos. Trabajo: Trabajo por parejas: formular una hipótesis, corregir, ejecutar y explicar el diagnóstico. Función del soporte: actividad.</a:t>
            </a:r>
          </a:p>
          <a:p/>
          <a:p>
            <a:r>
              <a:t>Detalle para la explicación oral · Comparar, depurar y explicar — PAREJAS</a:t>
            </a:r>
          </a:p>
          <a:p>
            <a:r>
              <a:t>No es necesario practicar con la misma profundidad los cinco errores. Cada pareja depura al menos uno mediante la secuencia completa y utiliza los demás como lectura o contraste guiado.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27–34 min: duración compartida 420 segundos. Trabajo: Trabajo por parejas: formular una hipótesis, corregir, ejecutar y explicar el diagnóstico. Función del soporte: actividad.</a:t>
            </a:r>
          </a:p>
          <a:p/>
          <a:p>
            <a:r>
              <a:t>Detalle para la explicación oral · Comparar, depurar y explicar — PAREJAS</a:t>
            </a:r>
          </a:p>
          <a:p>
            <a:r>
              <a:t>No es necesario practicar con la misma profundidad los cinco errores. Cada pareja depura al menos uno mediante la secuencia completa y utiliza los demás como lectura o contraste guiado.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Contraste guiado de identificadores y comentarios; no practicar todos los casos con igual profundidad.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Contraste guiado de identificadores y comentarios; no practicar todos los casos con igual profundidad.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Contraste guiado de identificadores y comentarios; no practicar todos los casos con igual profundidad.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Contraste guiado de identificadores y comentarios; no practicar todos los casos con igual profundidad. Función del soporte: apoyo al trabajo.</a:t>
            </a:r>
          </a:p>
          <a:p/>
          <a:p>
            <a:r>
              <a:t>Detalle para la explicación oral · Comentarios: intención o contexto, no repetición</a:t>
            </a:r>
          </a:p>
          <a:p>
            <a:r>
              <a:t>El primer comentario repite la declaración. El segundo aporta el contexto en el que se usa el valor.</a:t>
            </a:r>
          </a:p>
          <a:p/>
          <a:p>
            <a:r>
              <a:t>&gt; Un comentario útil explica intención o contexto. Un comentario pobre repite literalmente lo que ya se lee en el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34–40 min: duración compartida 360 segundos. Trabajo: Contraste guiado de identificadores y comentarios; no practicar todos los casos con igual profundidad. Función del soporte: apoyo al trabajo.</a:t>
            </a:r>
          </a:p>
          <a:p/>
          <a:p>
            <a:r>
              <a:t>Detalle para la explicación oral · Comentarios: intención o contexto, no repetición</a:t>
            </a:r>
          </a:p>
          <a:p>
            <a:r>
              <a:t>El primer comentario repite la declaración. El segundo aporta el contexto en el que se usa el valor.</a:t>
            </a:r>
          </a:p>
          <a:p/>
          <a:p>
            <a:r>
              <a:t>&gt; Un comentario útil explica intención o contexto. Un comentario pobre repite literalmente lo que ya se lee en el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comprobación individual.</a:t>
            </a:r>
          </a:p>
          <a:p/>
          <a:p>
            <a:r>
              <a:t>Detalle para la explicación oral · Comprobar comprensión — INDIVIDUAL</a:t>
            </a:r>
          </a:p>
          <a:p>
            <a:r>
              <a:t>Si se le propone una modificación pequeña, debe predecir el efecto antes de ejecutar. El producto compartido no sustituye la comprensión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comprobación individual.</a:t>
            </a:r>
          </a:p>
          <a:p/>
          <a:p>
            <a:r>
              <a:t>Detalle para la explicación oral · Comprobar comprensión — INDIVIDUAL</a:t>
            </a:r>
          </a:p>
          <a:p>
            <a:r>
              <a:t>Si se le propone una modificación pequeña, debe predecir el efecto antes de ejecutar. El producto compartido no sustituye la comprensión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Comprobación individual y cierre. Función del soporte: comprobación individual.</a:t>
            </a:r>
          </a:p>
          <a:p/>
          <a:p>
            <a:r>
              <a:t>Transición · Al terminar</a:t>
            </a:r>
          </a:p>
          <a:p>
            <a:r>
              <a:t>Anota solo lo necesario para la continuidad docente: alumnado que necesita apoyo, regla sintáctica que conviene retomar, bloqueo pendiente con su siguiente paso y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Una estructura mínima no se aprende copiando símbolos. Se aprende señalando qué parte hace qué, prediciendo el orden y usando un diagnóstico para pasar de error a hipótesis, corrección y ejecución.</a:t>
            </a:r>
          </a:p>
          <a:p/>
          <a:p>
            <a:r>
              <a:t>Facilitación docente · Comprueba lo aprendido</a:t>
            </a:r>
          </a:p>
          <a:p>
            <a:r>
              <a:t>&gt; ¿Dónde empieza la ejecución, qué instrucción produce salida y qué delimitador o regla explica el error que has corregido?</a:t>
            </a:r>
          </a:p>
          <a:p/>
          <a:p>
            <a:r>
              <a:t>&gt; ¿Por qué tu identificador comunica bien —o mal— su intención y qué información aporta tu comentario que no aparezca ya en el código?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Estructura mínima de un programa Java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Investigar — aprender lo necesario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Individual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INDIVIDUAL → PAREJAS → comprobación INDIVIDUAL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"title", "plan_index": 0, "recognition": false, "unit_ids": ["unit-0", "unit-1", "unit-2", "unit-19", "unit-20", "unit-24", "unit-25", "unit-26", "unit-27", "unit-28", "unit-29", "unit-30"], "roles": {"unit-0": "core", "unit-1": "core", "unit-2": "core", "unit-19": "core", "unit-20": "core", "unit-24": "core", "unit-25": "core", "unit-26": "core", "unit-27": "core", "unit-28": "core", "unit-29": "core", "unit-30": "core"}, "source_refs": [{"source": "teacher", "heading": "Qué vas a aprender", "block_index": 0, "fragment": 0}, {"source": "teacher", "heading": "Antes de entrar en clase", "block_index": 1, "fragment": 0}, {"source": "teacher", "heading": "Apertura docente", "block_index": 2, "fragment": 0}, {"source": "teacher", "heading": "Observación docente", "block_index": 22, "fragment": 0}, {"source": "teacher", "heading": "Andamiaje ante bloqueos", "block_index": 23,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0}], "visible_sources": [], "notes_sources": [{"function": "preparation", "heading": "Antes de entrar en clase", "sha256": "7148e472454e0df13e8714608fa16411b838e76244101d6b69cc8ec3754bf779"}, {"function": "explanations", "heading": "Apertura docente", "sha256": "7682eb8cb86fdaecaf64efaa389c91f6d69bcc3a3939a96de304dd6cc1b1d738"}, {"function": "explanations", "heading": "Apertura docente", "sha256": "ce1f0857d26380a2db4fa3a708eee1789fad11e95e032b739b314d5785066212"}, {"function": "explanations", "heading": "Apertura docente", "sha256": "f19c3da18940e0ade197dc7a744b82d29b52c73d10c9da7555b9b1c76822163e"}, {"function": "explanations", "heading": "Apertura docente", "sha256": "961a36ac1093894fee007ef1fca1e4742fada4cd15b2c78a5cc5f7df8caa61e0"}, {"function": "observation", "heading": "Observación docente", "sha256": "14c2c561a9140127e43901b34d094fdf053fe2188fb728324be3a8edefbf790f"}, {"function": "observation", "heading": "Observación docente", "sha256": "9fc3cfadda0a4e82cd14e071f7141ecbfe5548c1c90c1c08a7d8fbff78c52908"}, {"function": "scaffolding", "heading": "Andamiaje ante bloqueos", "sha256": "c7f318455b8f9bfb5474e76f77398f54e21ca642fa8fc722c2025408659380c6"}, {"function": "scaffolding", "heading": "Andamiaje ante bloqueos", "sha256": "14032538b87df263238cb7de5aae51ea78b9383ad7ef72a389695cdcb0a7b873"}, {"function": "timeline", "heading": "Temporalización orientativa", "sha256": "a057901c32d74da0a9ae56f9aeb6e4496da8bf7b48cc368ed5610e0bc84fff49"}, {"function": "timeline", "heading": "Temporalización orientativa", "sha256": "86ae27f43bf2c93dd31844ca9c771d6d258b64ed23dd7cea77bf586fbd603ad3"}, {"function": "timeline", "heading": "Temporalización orientativa", "sha256": "56e96e96479c7565c919128673803bab88051e0c0b895d028082c52d1f3bd548"}, {"function": "timeline", "heading": "Temporalización orientativa", "sha256": "941dc0b5be116c09bd0e431532a1c154a1e4ce7c6e32c524c9641abb18ac75c3"}, {"function": "timeline", "heading": "Temporalización orientativa", "sha256": "459e06573cce122dd619b895ce452e7984f2410f03953ff155a116ba4a207393"}, {"function": "timeline", "heading": "Temporalización orientativa", "sha256": "5ce943f0e901ecab64c4cada2f9dd7d4bfe6cd7720e6aafa11cdef7c00209c0c"}, {"function": "timeline", "heading": "Temporalización orientativa", "sha256": "b3db64615b62eeb7f38ef2025b3202a34a0aa4e9c7e6d297fbcd77537142048c"}],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"0–5 min", "source_seconds": 300, "is_owner": false, "function": "concepts"}], "clock_intervals": [0], "presenter_notes": "Reloj fuente 0–5 min: duración compartida 300 segundos. Trabajo: Presentar la finalidad y distinguir archivo, clase, método, instrucción y salida. Función del soporte: explicación.", "shared_intervals": [{"source_index": 0, "source_time": "0–5 min", "seconds": 300, "is_owner": false, "function": "concepts", "action": "Presentar la finalidad y distinguir archivo, clase, método, instrucción y salida.",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vas a aprender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212039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Al terminar, cada persona debe poder reconstruir y explicar la estructura mínima de Java, reconocer el punto de entrada, predecir el orden de ejecución y depurar un error sintáctico sencillo mediante una hipótesis.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62915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También debe razonar sobre identificadores y distinguir un comentario útil de otro redundante.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"concept", "plan_index": 0, "recognition": false, "unit_ids": ["unit-0"], "roles": {"unit-0": "core"}, "source_refs": [{"source": "teacher", "heading": "Qué vas a aprender", "block_index": 0, "fragment": 0}], "visible_sources": [{"index": 0, "sha256": "9f660faa8372f4fd5c55a2ec9d47b0914a241b29be1ac24776fa52cf7d0ac2e4"}, {"index": 1, "sha256": "e51f2a3de3bb03b5e63d43f48aa1bf9a142e73844f7a3e059828d3ccd6a71623"}], "notes_sources": [], "relations": {"unit_relations": {"unit-0": {}}, "schedule": null, "source_supports_enriched": true}, "timeline_refs": [0], "composition": {"origin_slides": [2]}, "timing": {"seconds": 300, "allocations": [{"source_index": 0, "seconds": 300, "decision": "Intervalo compartido íntegro; propietario contable seleccionado por función de actividad y referencia timeline de unidad (identidad semántica en empates). Propietario. ", "source_time": "0–5 min", "source_seconds": 300, "is_owner": true, "function": "concepts"}], "clock_intervals": [0], "presenter_notes": "Reloj fuente 0–5 min: duración compartida 300 segundos. Trabajo: Presentar la finalidad y distinguir archivo, clase, método, instrucción y salida. Función del soporte: explicación.", "shared_intervals": [{"source_index": 0, "source_time": "0–5 min", "seconds": 300, "is_owner": true, "function": "concepts", "action": "Presentar la finalidad y distinguir archivo, clase, método, instrucción y salida.",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Programa mínimo: archivo, clase, método, instrucción y salida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825752"/>
            <a:ext cx="10881360" cy="163144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System.out.println("Hola");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1, "recognition": false, "unit_ids": ["unit-3"], "roles": {"unit-3": "unknown"}, "source_refs": [{"source": "teacher", "heading": "Programa mínimo: archivo, clase, método, instrucción y salida", "block_index": 5, "fragment": 0}, {"source": "teacher", "heading": "Ideas y ejemplos", "block_index": 4, "fragment": 0}], "visible_sources": [{"index": 0, "sha256": "55f7d6b83e612cbc6b7f007cf27221ea33ec27aea7a838abc498958705e8f5de"}], "notes_sources": [{"function": "other", "heading": "Programa mínimo: archivo, clase, método, instrucción y salida", "sha256": "50bada27672f86c552fe731a310955c1e0f82d060a8c953b0e5a3aad906a17fc"}, {"function": "other", "heading": "Programa mínimo: archivo, clase, método, instrucción y salida", "sha256": "df9acf2e0cc9e2f7147f4ae4b90b1e1f9eeda1377e5dbfd9739ecfa79384031d"}, {"function": "facilitation", "heading": "Programa mínimo: archivo, clase, método, instrucción y salida", "sha256": "f3c90a6330082a9ab30a415cd161e1b57eeaebc129a4b9a9eb0f657a793db78d"}, {"function": "facilitation", "heading": "Programa mínimo: archivo, clase, método, instrucción y salida", "sha256": "74129e45d57302128369310e21911febbd604ebf448fde939440e2dcdd432ae2"}], "relations": {"unit_relations": {"unit-3": {"question_context": ["context", "question"]}}, "schedule": null, "source_supports_enriched": true}, "timeline_refs": [1], "composition": {"origin_slides": [3, 4, 5]}, "timing": {"seconds": 420, "allocations": [{"source_index": 1, "seconds": 420, "decision": "Intervalo compartido íntegro; propietario contable seleccionado por función de actividad y referencia timeline de unidad (identidad semántica en empates). Propietario. ", "source_time": "5–12 min", "source_seconds": 420, "is_owner": true, "function": "other"}], "clock_intervals": [1], "presenter_notes": "Reloj fuente 5–12 min: duración compartida 420 segundos. Trabajo: Proyectar el programa mínimo; relacionar Main.java, Main y main. Función del soporte: apoyo al trabajo.", "shared_intervals": [{"source_index": 1, "source_time": "5–12 min", "seconds": 420, "is_owner": true, "function": "other", "action": "Proyectar el programa mínimo; relacionar Main.java, Main y main.", "concurrent": false, "parallel_work": ""}]}, "code_blocks": ["public class Main {\n    public static void main(String[] argumentos) {\n        System.out.println(\"Hola\");\n    }\n}"], "representation_needs": []}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Programa mínimo: archivo, clase, método, instrucción y salida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825752"/>
            <a:ext cx="344424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Archivo: en estos primeros programas se guarda como Main.java.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4267200" y="1825752"/>
            <a:ext cx="344424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Clase: public class Main define la clase pública llamada Main.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7894320" y="1825752"/>
            <a:ext cx="344424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Método: main es el punto de entrada por el que comienza la ejecución.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40080" y="3758183"/>
            <a:ext cx="344424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Instrucción: System.out.println("Hola"); ordena una acción concreta.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4267200" y="3758183"/>
            <a:ext cx="344424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Salida: al ejecutar, aparece Hola en la consola.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1, "recognition": false, "unit_ids": ["unit-3"], "roles": {"unit-3": "unknown"}, "source_refs": [{"source": "teacher", "heading": "Programa mínimo: archivo, clase, método, instrucción y salida", "block_index": 5, "fragment": 0}, {"source": "teacher", "heading": "Ideas y ejemplos", "block_index": 4, "fragment": 0}], "visible_sources": [{"index": 2, "sha256": "f2bbd5d69ea856104119f9726803bbf345753dc40b29d2b41d0eb01cc51a5f06"}], "notes_sources": [{"function": "other", "heading": "Programa mínimo: archivo, clase, método, instrucción y salida", "sha256": "50bada27672f86c552fe731a310955c1e0f82d060a8c953b0e5a3aad906a17fc"}, {"function": "other", "heading": "Programa mínimo: archivo, clase, método, instrucción y salida", "sha256": "df9acf2e0cc9e2f7147f4ae4b90b1e1f9eeda1377e5dbfd9739ecfa79384031d"}, {"function": "facilitation", "heading": "Programa mínimo: archivo, clase, método, instrucción y salida", "sha256": "f3c90a6330082a9ab30a415cd161e1b57eeaebc129a4b9a9eb0f657a793db78d"}, {"function": "facilitation", "heading": "Programa mínimo: archivo, clase, método, instrucción y salida", "sha256": "74129e45d57302128369310e21911febbd604ebf448fde939440e2dcdd432ae2"}], "relations": {"unit_relations": {"unit-3": {"question_context": ["context", "question"]}}, "schedule": null, "source_supports_enriched": true}, "timeline_refs": [1], "composition": {"origin_slides": [3, 4, 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Proyectar el programa mínimo; relacionar Main.java, Main y main. Función del soporte: apoyo al trabajo.", "shared_intervals": [{"source_index": 1, "source_time": "5–12 min", "seconds": 420, "is_owner": false, "function": "other", "action": "Proyectar el programa mínimo; relacionar Main.java, Main y main.", "concurrent": false, "parallel_work": ""}]}, "code_blocks": [], "representation_needs": []}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Programa mínimo: archivo, clase, método, instrucción y salida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825752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{ y } delimitan bloques;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825752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( y ) delimitan la información asociada a una llamada o a la cabecera del método;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34229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" delimita el texto;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342290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; cierra la instrucción.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4014216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Señala el archivo, la clase, el método, una instrucción y la salida observable. ¿Qué llave cierra main y cuál cierra la clase?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1, "recognition": false, "unit_ids": ["unit-3"], "roles": {"unit-3": "unknown"}, "source_refs": [{"source": "teacher", "heading": "Programa mínimo: archivo, clase, método, instrucción y salida", "block_index": 5, "fragment": 0}, {"source": "teacher", "heading": "Ideas y ejemplos", "block_index": 4, "fragment": 0}], "visible_sources": [{"index": 4, "sha256": "13bd8980c26b73a6f48d58156e7d4efb38942dddb4b980d2b06e4df93aba58b6"}, {"index": 5, "sha256": "9f7834546152bab8750e39ade609ee9cc3fda9b31001b27cf08fd43328b1de0d"}], "notes_sources": [{"function": "other", "heading": "Programa mínimo: archivo, clase, método, instrucción y salida", "sha256": "50bada27672f86c552fe731a310955c1e0f82d060a8c953b0e5a3aad906a17fc"}, {"function": "other", "heading": "Programa mínimo: archivo, clase, método, instrucción y salida", "sha256": "df9acf2e0cc9e2f7147f4ae4b90b1e1f9eeda1377e5dbfd9739ecfa79384031d"}, {"function": "facilitation", "heading": "Programa mínimo: archivo, clase, método, instrucción y salida", "sha256": "f3c90a6330082a9ab30a415cd161e1b57eeaebc129a4b9a9eb0f657a793db78d"}, {"function": "facilitation", "heading": "Programa mínimo: archivo, clase, método, instrucción y salida", "sha256": "74129e45d57302128369310e21911febbd604ebf448fde939440e2dcdd432ae2"}], "relations": {"unit_relations": {"unit-3": {"question_context": ["context", "question"]}}, "schedule": null, "source_supports_enriched": true}, "timeline_refs": [1], "composition": {"origin_slides": [3, 4, 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Proyectar el programa mínimo; relacionar Main.java, Main y main. Función del soporte: apoyo al trabajo.", "shared_intervals": [{"source_index": 1, "source_time": "5–12 min", "seconds": 420, "is_owner": false, "function": "other", "action": "Proyectar el programa mínimo; relacionar Main.java, Main y main.", "concurrent": false, "parallel_work": ""}]}, "code_blocks": [], "representation_needs": []}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Main.java y public class Main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Archivo: Main.java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Clase pública: Main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763012"/>
            <a:ext cx="5166360" cy="184099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relación no se cumple? ¿Esperas un problema de escritura del mensaje o de correspondencia entre archivo y clase pública?</a:t>
            </a:r>
          </a:p>
        </p:txBody>
      </p:sp>
      <p:sp>
        <p:nvSpPr>
          <p:cNvPr id="8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B</a:t>
            </a:r>
          </a:p>
        </p:txBody>
      </p:sp>
      <p:sp>
        <p:nvSpPr>
          <p:cNvPr id="9" name="Contraste 1" descr="Contraste 1"/>
          <p:cNvSpPr txBox="1"/>
          <p:nvPr/>
        </p:nvSpPr>
        <p:spPr>
          <a:xfrm>
            <a:off x="6263640" y="1920240"/>
            <a:ext cx="5166360" cy="251155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Archivo: Main.java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MiniJarvis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System.out.println("Hola");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10" name="Código editable" descr="Código editable"/>
          <p:cNvSpPr txBox="1"/>
          <p:nvPr/>
        </p:nvSpPr>
        <p:spPr>
          <a:xfrm>
            <a:off x="6263640" y="4523232"/>
            <a:ext cx="5166360" cy="7513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Main.java no coincide con public class MiniJarvis.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"comparison", "plan_index": 1, "recognition": false, "unit_ids": ["unit-4"], "roles": {"unit-4": "unknown"}, "source_refs": [{"source": "teacher", "heading": "Main.java y public class Main", "block_index": 6, "fragment": 0}, {"source": "teacher", "heading": "Ideas y ejemplos", "block_index": 4, "fragment": 0}], "visible_sources": [{"index": 7, "sha256": "e60f9d5972597f223740ef1077eaec788a3abbf79c2d1bb9ac339399e4b6f4db"}, {"index": 9, "sha256": "781e40c560684f73ffc58c0381b93ab0f7c295bbd92d1649f51f3693642326f1"}, {"index": 10, "sha256": "3ebe82815b01a974f445fd4756bdb6ad87b39586ce313aa643b8f7a96133fd9d"}, {"index": 12, "sha256": "ae2ce8619d6613cac39afc889018f9519a613a0f9b4535bb380ccfc4d47e8b39"}], "notes_sources": [{"function": "other", "heading": "Main.java y public class Main", "sha256": "f86abe54955b5d8916b486e7cece002233009da21f1f0e26d6c54663fce2051d"}, {"function": "facilitation", "heading": "Main.java y public class Main", "sha256": "f642cb5605d6f5b23fa4fae5d285c90848c0ddaa3422b35d585acb052241ba76"}, {"function": "facilitation", "heading": "Main.java y public class Main", "sha256": "6d4b503d0260534bfd133ec1c172c66245651d3ebf6b8591d419f834a21cd017"}, {"function": "facilitation", "heading": "Main.java y public class Main", "sha256": "3d11968067cf434a07aa60101fa7139e49a6535d208624a5e77317c74c05a00f"}], "relations": {"unit_relations": {"unit-4": {"question_context": ["context", "question"], "contrast": ["example", "counterexample"]}}, "schedule": null, "source_supports_enriched": true}, "timeline_refs": [1], "composition": {"origin_slides": [6, 7]},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Proyectar el programa mínimo; relacionar Main.java, Main y main. Función del soporte: apoyo al trabajo.", "shared_intervals": [{"source_index": 1, "source_time": "5–12 min", "seconds": 420, "is_owner": false, "function": "other", "action": "Proyectar el programa mínimo; relacionar Main.java, Main y main.", "concurrent": false, "parallel_work": ""}]}, "code_blocks": ["// Archivo: Main.java\npublic class MiniJarvis {\n    public static void main(String[] argumentos) {\n        System.out.println(\"Hola\");\n    }\n}"], "representation_needs": []}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Main no es main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63144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System.out.println("MiniJarvis");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14020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Main puede ser el nombre de la clase. main es el método donde comienza la ejecución.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417855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Si señalas Main, ¿estás señalando la clase o el punto de entrada? ¿Qué palabra debes señalar para localizar el punto de entrada?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1, "recognition": false, "unit_ids": ["unit-5"], "roles": {"unit-5": "unknown"}, "source_refs": [{"source": "teacher", "heading": "Main no es main", "block_index": 7, "fragment": 0}, {"source": "teacher", "heading": "Ideas y ejemplos", "block_index": 4, "fragment": 0}], "visible_sources": [{"index": 13, "sha256": "07bf9c629ee5415f6b0077cf0644b06358f75e6cd35bbacb04b149024283a931"}, {"index": 15, "sha256": "7bf5bccbcdd3cf7e89eb278145961f271f1e896f03620cdf629c8ce143a91477"}, {"index": 16, "sha256": "5689f41652c6d7a78e0905ac9ea1f7ca760c7f4f186b3edef9de6178865ceb8f"}], "notes_sources": [{"function": "other", "heading": "Main no es main", "sha256": "d46e298b4e3c649e07436df1d2b9a861f3411a857610239d8d187eb4cde15460"}, {"function": "facilitation", "heading": "Main no es main", "sha256": "5a31956c2f0282e24bb743ec777728429fdda35d8f0f14c7e04f98174bacf111"}, {"function": "visible_detail", "heading": "Main no es main", "sha256": "7bf5bccbcdd3cf7e89eb278145961f271f1e896f03620cdf629c8ce143a91477"}], "relations": {"unit_relations": {"unit-5": {"question_context": ["context", "question"]}}, "schedule": null, "source_supports_enriched": true}, "timeline_refs": [1], "composition": {"origin_slides": [8]},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"5–12 min", "source_seconds": 420, "is_owner": false, "function": "other"}], "clock_intervals": [1], "presenter_notes": "Reloj fuente 5–12 min: duración compartida 420 segundos. Trabajo: Proyectar el programa mínimo; relacionar Main.java, Main y main. Función del soporte: apoyo al trabajo.", "shared_intervals": [{"source_index": 1, "source_time": "5–12 min", "seconds": 420, "is_owner": false, "function": "other", "action": "Proyectar el programa mínimo; relacionar Main.java, Main y main.", "concurrent": false, "parallel_work": ""}]}, "code_blocks": ["public class Main {\n    public static void main(String[] argumentos) {\n        System.out.println(\"MiniJarvis\");\n    }\n}"], "representation_needs": []}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Orden de ejecución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874519"/>
            <a:ext cx="6629400" cy="221818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System.out.println("UNO");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System.out.println("DOS");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6" name="Referente o acción" descr="Referente o acción"/>
          <p:cNvSpPr txBox="1"/>
          <p:nvPr/>
        </p:nvSpPr>
        <p:spPr>
          <a:xfrm>
            <a:off x="7680960" y="1874519"/>
            <a:ext cx="3840480" cy="21762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¿Aparecerá primero UNO o DOS? Explica qué instrucción se ejecuta antes y qué salida esperas completa.</a:t>
            </a:r>
          </a:p>
        </p:txBody>
      </p:sp>
      <p:sp>
        <p:nvSpPr>
          <p:cNvPr id="7" name="Referente o acción" descr="Referente o acción"/>
          <p:cNvSpPr txBox="1"/>
          <p:nvPr/>
        </p:nvSpPr>
        <p:spPr>
          <a:xfrm>
            <a:off x="7680960" y="4142232"/>
            <a:ext cx="3840480" cy="150571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Después ejecuta y contrasta la predicción con la consola.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"study", "plan_index": 2, "recognition": false, "unit_ids": ["unit-6"], "roles": {"unit-6": "unknown"}, "source_refs": [{"source": "teacher", "heading": "Orden de ejecución", "block_index": 8, "fragment": 0}, {"source": "teacher", "heading": "Ideas y ejemplos", "block_index": 4, "fragment": 0}], "visible_sources": [{"index": 1, "sha256": "b35ed4dca4b3435fe3087370ab08538597621d9a724b68614301f89be8a3e621"}, {"index": 2, "sha256": "0010929a204066893e97f8c1dc753162e7943166e80352a68992eccfa40ff4a0"}, {"index": 3, "sha256": "38e8c340689e28cf2d0b03600cdc223ec0f9fa1a21917c1d1ee9e552672b31f9"}], "notes_sources": [{"function": "other", "heading": "Orden de ejecución", "sha256": "df9acf2e0cc9e2f7147f4ae4b90b1e1f9eeda1377e5dbfd9739ecfa79384031d"}, {"function": "facilitation", "heading": "Orden de ejecución", "sha256": "71806adbd6ecbc9c3a165edddd6c8f130cccdf231e3a112f7a0ed0ad8c6b83b2"}, {"function": "visible_detail", "heading": "Orden de ejecución", "sha256": "38e8c340689e28cf2d0b03600cdc223ec0f9fa1a21917c1d1ee9e552672b31f9"}], "relations": {"unit_relations": {"unit-6": {"prediction_cycle": ["prediction", "execution", "contrast"], "question_context": ["context", "question"]}}, "schedule": null, "source_supports_enriched": true}, "timeline_refs": [2], "composition": {"origin_slides": [9, 10]}, "timing": {"seconds": 300, "allocations": [{"source_index": 2, "seconds": 300, "decision": "Intervalo compartido íntegro; propietario contable seleccionado por función de actividad y referencia timeline de unidad (identidad semántica en empates). Propietario. ", "source_time": "12–17 min", "source_seconds": 300, "is_owner": true, "function": "other"}], "clock_intervals": [2], "presenter_notes": "Reloj fuente 12–17 min: duración compartida 300 segundos. Trabajo: Predecir el orden de ejecución y reconocer delimitadores básicos. Función del soporte: apoyo al trabajo.", "shared_intervals": [{"source_index": 2, "source_time": "12–17 min", "seconds": 300, "is_owner": true, "function": "other", "action": "Predecir el orden de ejecución y reconocer delimitadores básicos.", "concurrent": false, "parallel_work": ""}]}, "code_blocks": ["public class Main {\n    public static void main(String[] argumentos) {\n        System.out.println(\"UNO\");\n        System.out.println(\"DOS\");\n    }\n}"], "representation_needs": []}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Errores sintácticos: localizar antes de cambiar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82575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error → hipótesis → corrección → ejecución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47294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Pide primero que localicen el elemento sospechoso, nombren la regla que podría haberse roto y predigan si compilará.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["unit-7"], "roles": {"unit-7": "unknown"}, "source_refs": [{"source": "teacher", "heading": "Errores sintácticos: localizar antes de cambiar", "block_index": 9, "fragment": 0}, {"source": "teacher", "heading": "Ideas y ejemplos", "block_index": 4, "fragment": 0}], "visible_sources": [{"index": 0, "sha256": "1304b70dab7e4ddf038f777dce90393e3ed8b83c2cc30dea9d6c45de5484c562"}, {"index": 1, "sha256": "83878fc202fffb092fa7b0da9f05af7ac2a720498d9dcd2d816c75a69670d44f"}], "notes_sources": [{"function": "other", "heading": "Errores sintácticos: localizar antes de cambiar", "sha256": "ccbbbce2164faecae5b8718566c00a7294a3e63e8e4c294195366f3cb3ffcdb8"}, {"function": "visible_detail", "heading": "Errores sintácticos: localizar antes de cambiar", "sha256": "83878fc202fffb092fa7b0da9f05af7ac2a720498d9dcd2d816c75a69670d44f"}], "relations": {"unit_relations": {"unit-7": {}}, "schedule": null, "presentation_normalizations": {"error -&gt; hipótesis -&gt; corrección -&gt; ejecución": "error → hipótesis → corrección → ejecución"}, "source_supports_enriched": true}, "timeline_refs": [3], "composition": {"origin_slides": [11]},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"other"}], "clock_intervals": [3], "presenter_notes": "Reloj fuente 17–27 min: duración compartida 600 segundos. Trabajo: Trabajo individual: reconstruir la estructura, clasificar nombres y provocar o localizar un error. Función del soporte: apoyo al trabajo.", "shared_intervals": [{"source_index": 3, "source_time": "17–27 min", "seconds": 600, "is_owner": false, "function": "other", "action": "Trabajo individual: reconstruir la estructura, clasificar nombres y provocar o localizar un error.",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string frente a String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System.out.println("Hola");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55346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palabra difiere de la cabecera que ya funcionaba?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55346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¿Java trata string y String como el mismo identificador?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81533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hipótesis explica el diagnóstico?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["unit-8"], "roles": {"unit-8": "unknown"}, "source_refs": [{"source": "teacher", "heading": "string frente a String", "block_index": 10, "fragment": 0}, {"source": "teacher", "heading": "Ideas y ejemplos", "block_index": 4, "fragment": 0}, {"source": "teacher", "heading": "Errores sintácticos: localizar antes de cambiar", "block_index": 9, "fragment": 0}], "visible_sources": [{"index": 2, "sha256": "885eb146a2c48618f7ae8f7dba94ba7f21a5072608fb0293938a459561463380"}, {"index": 3, "sha256": "31c276a0dabc0f5aebafacef45a4959a6b4e0570243762bbaca0067f8a92bafd"}], "notes_sources": [{"function": "other", "heading": "string frente a String", "sha256": "cafde6d27ac8012c6bb40f4b6e4000b29885412408ebb49d1fbebcfd44a0c6ac"}, {"function": "other", "heading": "string frente a String", "sha256": "0e92c1a0b0f790609b2aa4190ccc459101de670292059667de1b24ab2d47ee8a"}], "relations": {"unit_relations": {"unit-8": {"question_context": ["context", "question"]}}, "schedule": null, "source_supports_enriched": true}, "timeline_refs": [3], "composition": {"origin_slides": [12]},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"other"}], "clock_intervals": [3], "presenter_notes": "Reloj fuente 17–27 min: duración compartida 600 segundos. Trabajo: Trabajo individual: reconstruir la estructura, clasificar nombres y provocar o localizar un error. Función del soporte: apoyo al trabajo.", "shared_intervals": [{"source_index": 3, "source_time": "17–27 min", "seconds": 600, "is_owner": false, "function": "other", "action": "Trabajo individual: reconstruir la estructura, clasificar nombres y provocar o localizar un error.", "concurrent": false, "parallel_work": ""}]}, "code_blocks": ["public static void main(string[] argumentos) {\n    System.out.println(\"Hola\");\n}"],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Punto y coma ausente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System.out.println("Hola")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System.out.println("MiniJarvis");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instrucción no queda cerrada? ¿En qué entorno del primer diagnóstico conviene mirar antes de modificar otras líneas?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["unit-9"], "roles": {"unit-9": "unknown"}, "source_refs": [{"source": "teacher", "heading": "Punto y coma ausente", "block_index": 11, "fragment": 0}, {"source": "teacher", "heading": "Ideas y ejemplos", "block_index": 4, "fragment": 0}, {"source": "teacher", "heading": "Errores sintácticos: localizar antes de cambiar", "block_index": 9, "fragment": 0}], "visible_sources": [{"index": 4, "sha256": "dcf587c8eed892c385213053608ea5b9e49d01d899cc19fadb55b813c49df637"}, {"index": 5, "sha256": "440a70adc0d96f7a15e55f80ef99488dd00d5e91a0d575c774b4189564a744c0"}], "notes_sources": [{"function": "other", "heading": "Punto y coma ausente", "sha256": "df9acf2e0cc9e2f7147f4ae4b90b1e1f9eeda1377e5dbfd9739ecfa79384031d"}], "relations": {"unit_relations": {"unit-9": {"question_context": ["context", "question"]}}, "schedule": null, "source_supports_enriched": true}, "timeline_refs": [3], "composition": {"origin_slides": [13]},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"other"}], "clock_intervals": [3], "presenter_notes": "Reloj fuente 17–27 min: duración compartida 600 segundos. Trabajo: Trabajo individual: reconstruir la estructura, clasificar nombres y provocar o localizar un error. Función del soporte: apoyo al trabajo.", "shared_intervals": [{"source_index": 3, "source_time": "17–27 min", "seconds": 600, "is_owner": false, "function": "other", "action": "Trabajo individual: reconstruir la estructura, clasificar nombres y provocar o localizar un error.", "concurrent": false, "parallel_work": ""}]}, "code_blocks": ["System.out.println(\"Hola\")\nSystem.out.println(\"MiniJarvis\");"],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Comilla sin cerrar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6672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¿Dónde empieza el texto y dónde debería terminar? ¿Qué parte posterior puede interpretar mal el compilador si falta la comilla?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["unit-10"], "roles": {"unit-10": "unknown"}, "source_refs": [{"source": "teacher", "heading": "Comilla sin cerrar", "block_index": 12, "fragment": 0}, {"source": "teacher", "heading": "Ideas y ejemplos", "block_index": 4, "fragment": 0}, {"source": "teacher", "heading": "Errores sintácticos: localizar antes de cambiar", "block_index": 9, "fragment": 0}], "visible_sources": [{"index": 6, "sha256": "fe78d55adb3f1d8cbc8ae3dbeba82a87e75017590889b84507666e72de4ab2d7"}, {"index": 7, "sha256": "0b8030782a936689d86ff8a954879665fa9d19fd00d1d6b18cd9c97b4e3fba45"}], "notes_sources": [], "relations": {"unit_relations": {"unit-10": {"question_context": ["context", "question"]}}, "schedule": null, "source_supports_enriched": true}, "timeline_refs": [3], "composition": {"origin_slides": [14]},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"other"}], "clock_intervals": [3], "presenter_notes": "Reloj fuente 17–27 min: duración compartida 600 segundos. Trabajo: Trabajo individual: reconstruir la estructura, clasificar nombres y provocar o localizar un error. Función del soporte: apoyo al trabajo.", "shared_intervals": [{"source_index": 3, "source_time": "17–27 min", "seconds": 600, "is_owner": false, "function": "other", "action": "Trabajo individual: reconstruir la estructura, clasificar nombres y provocar o localizar un error.", "concurrent": false, "parallel_work": ""}]}, "code_blocks": ["System.out.println(\"Hola);"],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Paréntesis sin cerrar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System.out.println("Hola";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6672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cadena sí está cerrada. ¿Qué delimitador abierto sigue sin su pareja?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["unit-11"], "roles": {"unit-11": "unknown"}, "source_refs": [{"source": "teacher", "heading": "Paréntesis sin cerrar", "block_index": 13, "fragment": 0}, {"source": "teacher", "heading": "Ideas y ejemplos", "block_index": 4, "fragment": 0}, {"source": "teacher", "heading": "Errores sintácticos: localizar antes de cambiar", "block_index": 9, "fragment": 0}], "visible_sources": [{"index": 8, "sha256": "d8f610218fddc7191179286e65629d0287912395ca50d2d6edd05a420f5aea84"}, {"index": 9, "sha256": "11518aeb52f9cf97a8773daab9f8e0991546b3e5d106ddc35f02ebc77240c2d9"}], "notes_sources": [], "relations": {"unit_relations": {"unit-11": {"question_context": ["context", "question"]}}, "schedule": null, "source_supports_enriched": true}, "timeline_refs": [3], "composition": {"origin_slides": [15]},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"other"}], "clock_intervals": [3], "presenter_notes": "Reloj fuente 17–27 min: duración compartida 600 segundos. Trabajo: Trabajo individual: reconstruir la estructura, clasificar nombres y provocar o localizar un error. Función del soporte: apoyo al trabajo.", "shared_intervals": [{"source_index": 3, "source_time": "17–27 min", "seconds": 600, "is_owner": false, "function": "other", "action": "Trabajo individual: reconstruir la estructura, clasificar nombres y provocar o localizar un error.", "concurrent": false, "parallel_work": ""}]}, "code_blocks": ["System.out.println(\"Hola\";"],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Llave de cierre ausente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System.out.println("Hola");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bloque cierra la llave visible? ¿Qué bloque permanece abierto?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3, "recognition": false, "unit_ids": ["unit-12"], "roles": {"unit-12": "core"}, "source_refs": [{"source": "teacher", "heading": "Llave de cierre ausente", "block_index": 14, "fragment": 0}, {"source": "teacher", "heading": "Ideas y ejemplos", "block_index": 4, "fragment": 0}, {"source": "teacher", "heading": "Errores sintácticos: localizar antes de cambiar", "block_index": 9, "fragment": 0}], "visible_sources": [{"index": 10, "sha256": "a172948a4d42c18193e5ed8696ef8d7e8e27851f16dd94c1cfb817c7dbded912"}, {"index": 11, "sha256": "df82cae9d644a8b1cde5c0d7e7b5ffce4faff33dd09a0ed7cf94313669395ec1"}], "notes_sources": [{"function": "facilitation", "heading": "Llave de cierre ausente", "sha256": "b7ee5f29b7df7ad58ee6df5c4e31cfcbd367f45f42bed0b164704f584491f343"}], "relations": {"unit_relations": {"unit-12": {"question_context": ["context", "question"]}}, "schedule": null, "source_supports_enriched": true}, "timeline_refs": [3], "composition": {"origin_slides": [16]},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"closure"}], "clock_intervals": [3], "presenter_notes": "Reloj fuente 17–27 min: duración compartida 600 segundos. Trabajo: Trabajo individual: reconstruir la estructura, clasificar nombres y provocar o localizar un error. Función del soporte: cierre.", "shared_intervals": [{"source_index": 3, "source_time": "17–27 min", "seconds": 600, "is_owner": false, "function": "closure", "action": "Trabajo individual: reconstruir la estructura, clasificar nombres y provocar o localizar un error.", "concurrent": false, "parallel_work": ""}]}, "code_blocks": ["public class Main {\n    public static void main(String[] argumentos) {\n        System.out.println(\"Hola\");\n}"],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Reconstruir, predecir y localizar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reconstruir sin copiar la estructura mínima con clase, main y una salida;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señalar Main y main y explicar su diferencia;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predecir el orden de dos mensajes;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"activity", "plan_index": 4, "recognition": false, "unit_ids": ["unit-15"], "roles": {"unit-15": "core"}, "source_refs": [{"source": "teacher", "heading": "Reconstruir, predecir y localizar — INDIVIDUAL", "block_index": 18, "fragment": 0}, {"source": "teacher", "heading": "Secuencia de trabajo y modalidad", "block_index": 17, "fragment": 0}], "visible_sources": [{"index": 1, "sha256": "dfe96e9d188882a220aaa9fcdfa84f2b7315463b137a3c3f96eb2258d821e676"}], "notes_sources": [{"function": "facilitation", "heading": "Reconstruir, predecir y localizar — INDIVIDUAL", "sha256": "00aef4c153974010c863a5233f80731dc3d7bca58e4d02bc1ac74ca33264a2f2"}, {"function": "visible_detail", "heading": "Reconstruir, predecir y localizar — INDIVIDUAL", "sha256": "b2719354cf2a79369829090721c9f3603a4a802c46f6794cef3382a667646bab"}], "relations": {"unit_relations": {"unit-15": {}}, "schedule": null, "source_supports_enriched": true}, "timeline_refs": [3], "composition": {"origin_slides": [17, 18]}, "timing": {"seconds": 600, "allocations": [{"source_index": 3, "seconds": 600, "decision": "Intervalo compartido íntegro; propietario contable seleccionado por función de actividad y referencia timeline de unidad (identidad semántica en empates). Propietario. ", "source_time": "17–27 min", "source_seconds": 600, "is_owner": true, "function": "activity"}], "clock_intervals": [3], "presenter_notes": "Reloj fuente 17–27 min: duración compartida 600 segundos. Trabajo: Trabajo individual: reconstruir la estructura, clasificar nombres y provocar o localizar un error. Función del soporte: actividad.", "shared_intervals": [{"source_index": 3, "source_time": "17–27 min", "seconds": 600, "is_owner": true, "function": "activity", "action": "Trabajo individual: reconstruir la estructura, clasificar nombres y provocar o localizar un error.", "concurrent": false, "parallel_work": ""}]}, "code_blocks": [],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Reconstruir, predecir y localizar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escoger uno de los errores preparados, localizarlo y formular una hipótesis sin corregir todavía;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4267200" y="1987804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clasificar al menos un identificador claro, uno pobre, uno inválido y una palabra reservada;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7894320" y="1987804"/>
            <a:ext cx="3444240" cy="25115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decidir cuál de dos comentarios aporta información nueva.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459079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Cada persona conserva su propio razonamiento antes del contraste.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"activity", "plan_index": 4, "recognition": false, "unit_ids": ["unit-15"], "roles": {"unit-15": "core"}, "source_refs": [{"source": "teacher", "heading": "Reconstruir, predecir y localizar — INDIVIDUAL", "block_index": 18, "fragment": 0}, {"source": "teacher", "heading": "Secuencia de trabajo y modalidad", "block_index": 17, "fragment": 0}], "visible_sources": [{"index": 1, "sha256": "dfe96e9d188882a220aaa9fcdfa84f2b7315463b137a3c3f96eb2258d821e676"}, {"index": 2, "sha256": "b2719354cf2a79369829090721c9f3603a4a802c46f6794cef3382a667646bab"}], "notes_sources": [{"function": "facilitation", "heading": "Reconstruir, predecir y localizar — INDIVIDUAL", "sha256": "00aef4c153974010c863a5233f80731dc3d7bca58e4d02bc1ac74ca33264a2f2"}, {"function": "visible_detail", "heading": "Reconstruir, predecir y localizar — INDIVIDUAL", "sha256": "b2719354cf2a79369829090721c9f3603a4a802c46f6794cef3382a667646bab"}], "relations": {"unit_relations": {"unit-15": {}}, "schedule": null, "source_supports_enriched": true}, "timeline_refs": [3], "composition": {"origin_slides": [17, 18]},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"17–27 min", "source_seconds": 600, "is_owner": false, "function": "activity"}], "clock_intervals": [3], "presenter_notes": "Reloj fuente 17–27 min: duración compartida 600 segundos. Trabajo: Trabajo individual: reconstruir la estructura, clasificar nombres y provocar o localizar un error. Función del soporte: actividad.", "shared_intervals": [{"source_index": 3, "source_time": "17–27 min", "seconds": 600, "is_owner": false, "function": "activity", "action": "Trabajo individual: reconstruir la estructura, clasificar nombres y provocar o localizar un error.", "concurrent": false, "parallel_work": ""}]}, "code_blocks": [],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depurar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comparan sus estructuras sin sustituir una por la otra de inmediato;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contrastan las predicciones de salida;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explican dónde están la clase y el punto de entrada;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comparan sus hipótesis sobre el error;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"linked_prediction", "plan_index": 5, "recognition": false, "unit_ids": ["unit-16"], "roles": {"unit-16": "core"}, "source_refs": [{"source": "teacher", "heading": "Comparar, depurar y explicar — PAREJAS", "block_index": 19, "fragment": 0}, {"source": "teacher", "heading": "Secuencia de trabajo y modalidad", "block_index": 17, "fragment": 0}], "visible_sources": [{"index": 1, "sha256": "b925e4cc5ec0ca9ada1437592a8774b6f0d7ae87a3dfb4fdc62d7d10755278cf"}], "notes_sources": [{"function": "facilitation", "heading": "Comparar, depurar y explicar — PAREJAS", "sha256": "7995bbb59f84192e952bf5a8fbfdb4dd41c18ec3973f8c5c2a840ce3985e4ff3"}, {"function": "facilitation", "heading": "Comparar, depurar y explicar — PAREJAS", "sha256": "37515b68a9ba85e03bc4627dcc34d0b49fe0724aad767528cd4b6f7681ffd4b7"}, {"function": "visible_detail", "heading": "Comparar, depurar y explicar — PAREJAS", "sha256": "4a5d8dfbf6fb634df65f66123843e2d02a1b945710575e4e5a0c2fecf04e3960"}], "relations": {"unit_relations": {"unit-16": {"prediction_cycle": ["prediction", "execution", "contrast"]}}, "schedule": null, "source_supports_enriched": true}, "timeline_refs": [4], "composition": {"origin_slides": [19, 20, 21]}, "timing": {"seconds": 420, "allocations": [{"source_index": 4, "seconds": 420, "decision": "Intervalo compartido íntegro; propietario contable seleccionado por función de actividad y referencia timeline de unidad (identidad semántica en empates). Propietario. ", "source_time": "27–34 min", "source_seconds": 420, "is_owner": true, "function": "activity"}], "clock_intervals": [4], "presenter_notes": "Reloj fuente 27–34 min: duración compartida 420 segundos. Trabajo: Trabajo por parejas: formular una hipótesis, corregir, ejecutar y explicar el diagnóstico. Función del soporte: actividad.", "shared_intervals": [{"source_index": 4, "source_time": "27–34 min", "seconds": 420, "is_owner": true, "function": "activity", "action": "Trabajo por parejas: formular una hipótesis, corregir, ejecutar y explicar el diagnóstico.",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depurar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leen el primer diagnóstico y revisan la línea y su entorno;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acuerdan una corrección mínima;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67919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ejecutan y contrastan el resultado;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67919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justifican la clasificación de identificadores;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60578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revisan si el comentario explica intención o solo repite el código.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86765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es necesario practicar con la misma profundidad los cinco errores.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"linked_prediction", "plan_index": 5, "recognition": false, "unit_ids": ["unit-16"], "roles": {"unit-16": "core"}, "source_refs": [{"source": "teacher", "heading": "Comparar, depurar y explicar — PAREJAS", "block_index": 19, "fragment": 0}, {"source": "teacher", "heading": "Secuencia de trabajo y modalidad", "block_index": 17, "fragment": 0}], "visible_sources": [{"index": 1, "sha256": "b925e4cc5ec0ca9ada1437592a8774b6f0d7ae87a3dfb4fdc62d7d10755278cf"}, {"index": 2, "sha256": "4a5d8dfbf6fb634df65f66123843e2d02a1b945710575e4e5a0c2fecf04e3960"}], "notes_sources": [{"function": "facilitation", "heading": "Comparar, depurar y explicar — PAREJAS", "sha256": "7995bbb59f84192e952bf5a8fbfdb4dd41c18ec3973f8c5c2a840ce3985e4ff3"}, {"function": "facilitation", "heading": "Comparar, depurar y explicar — PAREJAS", "sha256": "37515b68a9ba85e03bc4627dcc34d0b49fe0724aad767528cd4b6f7681ffd4b7"}, {"function": "visible_detail", "heading": "Comparar, depurar y explicar — PAREJAS", "sha256": "4a5d8dfbf6fb634df65f66123843e2d02a1b945710575e4e5a0c2fecf04e3960"}], "relations": {"unit_relations": {"unit-16": {"prediction_cycle": ["prediction", "execution", "contrast"]}}, "schedule": null, "source_supports_enriched": true}, "timeline_refs": [4], "composition": {"origin_slides": [19, 20, 21]},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"27–34 min", "source_seconds": 420, "is_owner": false, "function": "activity"}], "clock_intervals": [4], "presenter_notes": "Reloj fuente 27–34 min: duración compartida 420 segundos. Trabajo: Trabajo por parejas: formular una hipótesis, corregir, ejecutar y explicar el diagnóstico. Función del soporte: actividad.", "shared_intervals": [{"source_index": 4, "source_time": "27–34 min", "seconds": 420, "is_owner": false, "function": "activity", "action": "Trabajo por parejas: formular una hipótesis, corregir, ejecutar y explicar el diagnóstico.",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depurar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error → hipótesis → corrección → ejecución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"linked_prediction", "plan_index": 5, "recognition": false, "unit_ids": ["unit-16"], "roles": {"unit-16": "core"}, "source_refs": [{"source": "teacher", "heading": "Comparar, depurar y explicar — PAREJAS", "block_index": 19, "fragment": 0}, {"source": "teacher", "heading": "Secuencia de trabajo y modalidad", "block_index": 17, "fragment": 0}], "visible_sources": [{"index": 4, "sha256": "1304b70dab7e4ddf038f777dce90393e3ed8b83c2cc30dea9d6c45de5484c562"}], "notes_sources": [{"function": "facilitation", "heading": "Comparar, depurar y explicar — PAREJAS", "sha256": "7995bbb59f84192e952bf5a8fbfdb4dd41c18ec3973f8c5c2a840ce3985e4ff3"}, {"function": "facilitation", "heading": "Comparar, depurar y explicar — PAREJAS", "sha256": "37515b68a9ba85e03bc4627dcc34d0b49fe0724aad767528cd4b6f7681ffd4b7"}, {"function": "visible_detail", "heading": "Comparar, depurar y explicar — PAREJAS", "sha256": "4a5d8dfbf6fb634df65f66123843e2d02a1b945710575e4e5a0c2fecf04e3960"}], "relations": {"unit_relations": {"unit-16": {"prediction_cycle": ["prediction", "execution", "contrast"]}}, "schedule": null, "presentation_normalizations": {"error -&gt; hipótesis -&gt; corrección -&gt; ejecución": "error → hipótesis → corrección → ejecución"}, "source_supports_enriched": true}, "timeline_refs": [4], "composition": {"origin_slides": [19, 20, 21]},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"27–34 min", "source_seconds": 420, "is_owner": false, "function": "activity"}], "clock_intervals": [4], "presenter_notes": "Reloj fuente 27–34 min: duración compartida 420 segundos. Trabajo: Trabajo por parejas: formular una hipótesis, corregir, ejecutar y explicar el diagnóstico. Función del soporte: actividad.", "shared_intervals": [{"source_index": 4, "source_time": "27–34 min", "seconds": 420, "is_owner": false, "function": "activity", "action": "Trabajo por parejas: formular una hipótesis, corregir, ejecutar y explicar el diagnóstico.",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Identificadores: validez y calidad no son lo mismo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825752"/>
            <a:ext cx="10881360" cy="42717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nombreUsuario       válido y claro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horasEstudio        válido y claro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nombreAsistente     válido y claro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x                   válido pero pobre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a                   válido pero pobre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dato                válido pero pobre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cosa                válido pero pobre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1nombre             no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nombre1            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horas estudio       no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horasEstudio       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class               no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             no válido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nombreClase         válido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6, "recognition": false, "unit_ids": ["unit-13"], "roles": {"unit-13": "unknown"}, "source_refs": [{"source": "teacher", "heading": "Identificadores: validez y calidad no son lo mismo", "block_index": 15, "fragment": 0}, {"source": "teacher", "heading": "Ideas y ejemplos", "block_index": 4, "fragment": 0}], "visible_sources": [{"index": 0, "sha256": "e81e61e77863a3a7a81aefe7fca191e091cbc20a4bbbdc6df695acb1517e02fe"}], "notes_sources": [{"function": "other", "heading": "Identificadores: validez y calidad no son lo mismo", "sha256": "02a5faa8bbdd6cf6e577ed8188441a39aa5fc874f6ef71c638cb1b5f9afdcc13"}, {"function": "facilitation", "heading": "Identificadores: validez y calidad no son lo mismo", "sha256": "22dae0b2452208354c58d8d2874e4b84307811c1e98f6dbc4d852ad59d3363f2"}, {"function": "facilitation", "heading": "Identificadores: validez y calidad no son lo mismo", "sha256": "ea6e04fafd6aac1dc0fb07289b4788ba11fadd33e70e25458d7325b430c70bfd"}], "relations": {"unit_relations": {"unit-13": {"question_context": ["context", "question"]}}, "schedule": null, "source_supports_enriched": true}, "timeline_refs": [5], "composition": {"origin_slides": [22, 23]}, "timing": {"seconds": 360, "allocations": [{"source_index": 5, "seconds": 360, "decision": "Intervalo compartido íntegro; propietario contable seleccionado por función de actividad y referencia timeline de unidad (identidad semántica en empates). Propietario. ", "source_time": "34–40 min", "source_seconds": 360, "is_owner": true, "function": "other"}], "clock_intervals": [5], "presenter_notes": "Reloj fuente 34–40 min: duración compartida 360 segundos. Trabajo: Contraste guiado de identificadores y comentarios; no practicar todos los casos con igual profundidad. Función del soporte: apoyo al trabajo.", "shared_intervals": [{"source_index": 5, "source_time": "34–40 min", "seconds": 360, "is_owner": true, "function": "other", "action": "Contraste guiado de identificadores y comentarios; no practicar todos los casos con igual profundidad.", "concurrent": false, "parallel_work": ""}]}, "code_blocks": [],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Identificadores: validez y calidad no son lo mismo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82575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Válido y claro: cumple las reglas y permite anticipar qué representa.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82575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Válido pero pobre: Java lo admite, pero comunica poco a otra persona.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308762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Inválido: incumple una regla, por ejemplo empezar por una cifra o contener un espacio.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308762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Palabra reservada: class y public tienen una función propia en Java y no pueden usarse como identificadores.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6, "recognition": false, "unit_ids": ["unit-13"], "roles": {"unit-13": "unknown"}, "source_refs": [{"source": "teacher", "heading": "Identificadores: validez y calidad no son lo mismo", "block_index": 15, "fragment": 0}, {"source": "teacher", "heading": "Ideas y ejemplos", "block_index": 4, "fragment": 0}], "visible_sources": [{"index": 2, "sha256": "f72737d68b3b5ebf2c70f57598deafc326dea5d0f219e97b99ebe54b32de457c"}], "notes_sources": [{"function": "other", "heading": "Identificadores: validez y calidad no son lo mismo", "sha256": "02a5faa8bbdd6cf6e577ed8188441a39aa5fc874f6ef71c638cb1b5f9afdcc13"}, {"function": "facilitation", "heading": "Identificadores: validez y calidad no son lo mismo", "sha256": "22dae0b2452208354c58d8d2874e4b84307811c1e98f6dbc4d852ad59d3363f2"}, {"function": "facilitation", "heading": "Identificadores: validez y calidad no son lo mismo", "sha256": "ea6e04fafd6aac1dc0fb07289b4788ba11fadd33e70e25458d7325b430c70bfd"}], "relations": {"unit_relations": {"unit-13": {"question_context": ["context", "question"]}}, "schedule": null, "source_supports_enriched": true}, "timeline_refs": [5], "composition": {"origin_slides": [22, 23]},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"other"}], "clock_intervals": [5], "presenter_notes": "Reloj fuente 34–40 min: duración compartida 360 segundos. Trabajo: Contraste guiado de identificadores y comentarios; no practicar todos los casos con igual profundidad. Función del soporte: apoyo al trabajo.", "shared_intervals": [{"source_index": 5, "source_time": "34–40 min", "seconds": 360, "is_owner": false, "function": "other", "action": "Contraste guiado de identificadores y comentarios; no practicar todos los casos con igual profundidad.", "concurrent": false, "parallel_work": ""}]}, "code_blocks": [],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Identificadores: validez y calidad no son lo mismo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82575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regla cumple o rompe? Si es válido, ¿qué esperas que almacene? ¿Otra persona comprendería su intención sin ver el valor?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6, "recognition": false, "unit_ids": ["unit-13"], "roles": {"unit-13": "unknown"}, "source_refs": [{"source": "teacher", "heading": "Identificadores: validez y calidad no son lo mismo", "block_index": 15, "fragment": 0}, {"source": "teacher", "heading": "Ideas y ejemplos", "block_index": 4, "fragment": 0}], "visible_sources": [{"index": 4, "sha256": "c9f7b552a62a7bb5fe526f50acd79535918659671ec4efb5780843b21cebf1cd"}], "notes_sources": [{"function": "other", "heading": "Identificadores: validez y calidad no son lo mismo", "sha256": "02a5faa8bbdd6cf6e577ed8188441a39aa5fc874f6ef71c638cb1b5f9afdcc13"}, {"function": "facilitation", "heading": "Identificadores: validez y calidad no son lo mismo", "sha256": "22dae0b2452208354c58d8d2874e4b84307811c1e98f6dbc4d852ad59d3363f2"}, {"function": "facilitation", "heading": "Identificadores: validez y calidad no son lo mismo", "sha256": "ea6e04fafd6aac1dc0fb07289b4788ba11fadd33e70e25458d7325b430c70bfd"}], "relations": {"unit_relations": {"unit-13": {"question_context": ["context", "question"]}}, "schedule": null, "source_supports_enriched": true}, "timeline_refs": [5], "composition": {"origin_slides": [22, 23]},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"other"}], "clock_intervals": [5], "presenter_notes": "Reloj fuente 34–40 min: duración compartida 360 segundos. Trabajo: Contraste guiado de identificadores y comentarios; no practicar todos los casos con igual profundidad. Función del soporte: apoyo al trabajo.", "shared_intervals": [{"source_index": 5, "source_time": "34–40 min", "seconds": 360, "is_owner": false, "function": "other", "action": "Contraste guiado de identificadores y comentarios; no practicar todos los casos con igual profundidad.", "concurrent": false, "parallel_work": ""}]}, "code_blocks": [], "representation_needs": []}</ns0:renderMetadata>
    </p:ext>
  </p:extLs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Comentarios: intención o contexto, no repetición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874519"/>
            <a:ext cx="662940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Muestra Hola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System.out.println("Hola");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717292"/>
            <a:ext cx="662940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Primer mensaje que identifica al asistente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System.out.println("Hola, soy MiniJarvis");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4146804"/>
            <a:ext cx="6629400" cy="192481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Declara horasEstudio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horasEstudio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// Valor inicial usado en la demostración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horasPractica = 4;</a:t>
            </a:r>
          </a:p>
        </p:txBody>
      </p:sp>
      <p:sp>
        <p:nvSpPr>
          <p:cNvPr id="8" name="Referente o acción" descr="Referente o acción"/>
          <p:cNvSpPr txBox="1"/>
          <p:nvPr/>
        </p:nvSpPr>
        <p:spPr>
          <a:xfrm>
            <a:off x="7680960" y="1874519"/>
            <a:ext cx="3840480" cy="184099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información añade cada comentario que no pueda leerse ya en la instrucción?</a:t>
            </a:r>
          </a:p>
        </p:txBody>
      </p:sp>
      <p:sp>
        <p:nvSpPr>
          <p:cNvPr id="9" name="Referente o acción" descr="Referente o acción"/>
          <p:cNvSpPr txBox="1"/>
          <p:nvPr/>
        </p:nvSpPr>
        <p:spPr>
          <a:xfrm>
            <a:off x="7680960" y="3806952"/>
            <a:ext cx="3840480" cy="11704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primer comentario repite la declaración.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"study", "plan_index": 6, "recognition": false, "unit_ids": ["unit-14"], "roles": {"unit-14": "unknown"}, "source_refs": [{"source": "teacher", "heading": "Comentarios: intención o contexto, no repetición", "block_index": 16, "fragment": 0}, {"source": "teacher", "heading": "Ideas y ejemplos", "block_index": 4, "fragment": 0}], "visible_sources": [{"index": 6, "sha256": "c32b52704154dac75977b2218e07c8e458f5304e3d04746808a9ee90d4c32452"}, {"index": 8, "sha256": "9ed78810b25fb399fae45a2d5dbf838bab1a96602286fab1cd17d4104e67b0cf"}, {"index": 9, "sha256": "ed69d637f153d4135562f7d7f36639191010840d0015e9e346b56a8736f0dedf"}, {"index": 11, "sha256": "ecf5ce5801708e30a1f1c199667f076a845309f3af32daa2030823a20097d3e7"}, {"index": 12, "sha256": "5774bf6668069534531d03deb566ed229b12facb5c61b7259f80c0251825d9b9"}], "notes_sources": [{"function": "other", "heading": "Comentarios: intención o contexto, no repetición", "sha256": "d86cbb6fabdc4b1668d5c5701338f0a7b06ea5a43fd4537976632766d34d4929"}, {"function": "other", "heading": "Comentarios: intención o contexto, no repetición", "sha256": "df9acf2e0cc9e2f7147f4ae4b90b1e1f9eeda1377e5dbfd9739ecfa79384031d"}, {"function": "facilitation", "heading": "Comentarios: intención o contexto, no repetición", "sha256": "2df5e6ab5cc717697ebaa17c33ee97e972e14eb56018352569ea3993aaf996a7"}, {"function": "facilitation", "heading": "Comentarios: intención o contexto, no repetición", "sha256": "cce46656e83c70158d98bb1e4131ee0a55248e2ed5a40e4c27deb248cc6c27f1"}, {"function": "facilitation", "heading": "Comentarios: intención o contexto, no repetición", "sha256": "f364af0e0034ba6a562534339ba23b4af9613288903e9eaeff8a107d2834a6d5"}, {"function": "facilitation", "heading": "Comentarios: intención o contexto, no repetición", "sha256": "5a31956c2f0282e24bb743ec777728429fdda35d8f0f14c7e04f98174bacf111"}, {"function": "visible_detail", "heading": "Comentarios: intención o contexto, no repetición", "sha256": "5774bf6668069534531d03deb566ed229b12facb5c61b7259f80c0251825d9b9"}, {"function": "visible_detail", "heading": "Comentarios: intención o contexto, no repetición", "sha256": "caf010b19271c980de426334082b9be120f699502c0553854c8b468d0aec6adb"}], "relations": {"unit_relations": {"unit-14": {"question_context": ["context", "question"]}}, "schedule": null, "source_supports_enriched": true}, "timeline_refs": [5], "composition": {"origin_slides": [24, 25, 26]},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"other"}], "clock_intervals": [5], "presenter_notes": "Reloj fuente 34–40 min: duración compartida 360 segundos. Trabajo: Contraste guiado de identificadores y comentarios; no practicar todos los casos con igual profundidad. Función del soporte: apoyo al trabajo.", "shared_intervals": [{"source_index": 5, "source_time": "34–40 min", "seconds": 360, "is_owner": false, "function": "other", "action": "Contraste guiado de identificadores y comentarios; no practicar todos los casos con igual profundidad.", "concurrent": false, "parallel_work": ""}]}, "code_blocks": ["// Muestra Hola\nSystem.out.println(\"Hola\");", "// Primer mensaje que identifica al asistente\nSystem.out.println(\"Hola, soy MiniJarvis\");", "// Declara horasEstudio\nint horasEstudio = 4;\n\n// Valor inicial usado en la demostración\nint horasPractica = 4;"], "representation_needs": []}</ns0:renderMetadata>
    </p:ext>
  </p:extLs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Comentarios: intención o contexto, no repetición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825752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/*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* Primera versión de MiniJarvis.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* De momento solo muestra mensajes por consola.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*/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25526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Un comentario útil explica intención o contexto.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"code", "plan_index": 6, "recognition": false, "unit_ids": ["unit-14"], "roles": {"unit-14": "unknown"}, "source_refs": [{"source": "teacher", "heading": "Comentarios: intención o contexto, no repetición", "block_index": 16, "fragment": 0}, {"source": "teacher", "heading": "Ideas y ejemplos", "block_index": 4, "fragment": 0}], "visible_sources": [{"index": 13, "sha256": "aeba082cfbb791eba8cf95c6a719cd759b47d622a8f97801503d821cf89f9e31"}, {"index": 15, "sha256": "caf010b19271c980de426334082b9be120f699502c0553854c8b468d0aec6adb"}], "notes_sources": [{"function": "other", "heading": "Comentarios: intención o contexto, no repetición", "sha256": "d86cbb6fabdc4b1668d5c5701338f0a7b06ea5a43fd4537976632766d34d4929"}, {"function": "other", "heading": "Comentarios: intención o contexto, no repetición", "sha256": "df9acf2e0cc9e2f7147f4ae4b90b1e1f9eeda1377e5dbfd9739ecfa79384031d"}, {"function": "facilitation", "heading": "Comentarios: intención o contexto, no repetición", "sha256": "2df5e6ab5cc717697ebaa17c33ee97e972e14eb56018352569ea3993aaf996a7"}, {"function": "facilitation", "heading": "Comentarios: intención o contexto, no repetición", "sha256": "cce46656e83c70158d98bb1e4131ee0a55248e2ed5a40e4c27deb248cc6c27f1"}, {"function": "facilitation", "heading": "Comentarios: intención o contexto, no repetición", "sha256": "f364af0e0034ba6a562534339ba23b4af9613288903e9eaeff8a107d2834a6d5"}, {"function": "facilitation", "heading": "Comentarios: intención o contexto, no repetición", "sha256": "5a31956c2f0282e24bb743ec777728429fdda35d8f0f14c7e04f98174bacf111"}, {"function": "visible_detail", "heading": "Comentarios: intención o contexto, no repetición", "sha256": "5774bf6668069534531d03deb566ed229b12facb5c61b7259f80c0251825d9b9"}, {"function": "visible_detail", "heading": "Comentarios: intención o contexto, no repetición", "sha256": "caf010b19271c980de426334082b9be120f699502c0553854c8b468d0aec6adb"}], "relations": {"unit_relations": {"unit-14": {"question_context": ["context", "question"]}}, "schedule": null, "source_supports_enriched": true}, "timeline_refs": [5], "composition": {"origin_slides": [24, 25, 26]},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"34–40 min", "source_seconds": 360, "is_owner": false, "function": "other"}], "clock_intervals": [5], "presenter_notes": "Reloj fuente 34–40 min: duración compartida 360 segundos. Trabajo: Contraste guiado de identificadores y comentarios; no practicar todos los casos con igual profundidad. Función del soporte: apoyo al trabajo.", "shared_intervals": [{"source_index": 5, "source_time": "34–40 min", "seconds": 360, "is_owner": false, "function": "other", "action": "Contraste guiado de identificadores y comentarios; no practicar todos los casos con igual profundidad.", "concurrent": false, "parallel_work": ""}]}, "code_blocks": ["/*\n * Primera versión de MiniJarvis.\n * De momento solo muestra mensajes por consola.\n */"], "representation_needs": []}</ns0:renderMetadata>
    </p:ext>
  </p:extLs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Comprobar comprensión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COMPROBAR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señalar el punto de entrada;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distinguir archivo, clase y método;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explicar una instrucción visible y su salida;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localizar una regla sintáctica en un fragmento;</a:t>
            </a:r>
          </a:p>
        </p:txBody>
      </p:sp>
      <p:sp>
        <p:nvSpPr>
          <p:cNvPr id="10" name="Acción o criterio 4" descr="Acción o criterio 4"/>
          <p:cNvSpPr txBox="1"/>
          <p:nvPr/>
        </p:nvSpPr>
        <p:spPr>
          <a:xfrm>
            <a:off x="640080" y="38409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explicar el error provocado, la hipótesis y la corrección;</a:t>
            </a:r>
          </a:p>
        </p:txBody>
      </p:sp>
      <p:sp>
        <p:nvSpPr>
          <p:cNvPr id="11" name="Acción o criterio 5" descr="Acción o criterio 5"/>
          <p:cNvSpPr txBox="1"/>
          <p:nvPr/>
        </p:nvSpPr>
        <p:spPr>
          <a:xfrm>
            <a:off x="6080760" y="38409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justificar por qué un identificador es válido, inválido, claro o pobre;</a:t>
            </a:r>
          </a:p>
        </p:txBody>
      </p:sp>
      <p:sp>
        <p:nvSpPr>
          <p:cNvPr id="12" name="Acción o criterio 6" descr="Acción o criterio 6"/>
          <p:cNvSpPr txBox="1"/>
          <p:nvPr/>
        </p:nvSpPr>
        <p:spPr>
          <a:xfrm>
            <a:off x="640080" y="510286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reconocer una palabra reservada;</a:t>
            </a:r>
          </a:p>
        </p:txBody>
      </p:sp>
      <p:sp>
        <p:nvSpPr>
          <p:cNvPr id="13" name="Acción o criterio 7" descr="Acción o criterio 7"/>
          <p:cNvSpPr txBox="1"/>
          <p:nvPr/>
        </p:nvSpPr>
        <p:spPr>
          <a:xfrm>
            <a:off x="6080760" y="510286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distinguir un comentario útil de otro redundante.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"check", "plan_index": 7, "recognition": false, "unit_ids": ["unit-17"], "roles": {"unit-17": "core"}, "source_refs": [{"source": "teacher", "heading": "Comprobar comprensión — INDIVIDUAL", "block_index": 20, "fragment": 0}, {"source": "teacher", "heading": "Secuencia de trabajo y modalidad", "block_index": 17, "fragment": 0}], "visible_sources": [{"index": 1, "sha256": "d8736b79eee4dc1de967bfa92c0d93c3b64edeaff136185b64b002ab88ba3829"}], "notes_sources": [{"function": "facilitation", "heading": "Comprobar comprensión — INDIVIDUAL", "sha256": "7eb6c401f72ddeea821a4d4123987e73b1ecf76a7db251bb645350b90ae23121"}, {"function": "visible_detail", "heading": "Comprobar comprensión — INDIVIDUAL", "sha256": "564e045c6149113d4e6b2524cbb3abeec736b24869f10fac2173e43d130edff5"}], "relations": {"unit_relations": {"unit-17": {}}, "schedule": null, "source_supports_enriched": true}, "timeline_refs": [6], "composition": {"origin_slides": [27, 28]}, "timing": {"seconds": 300, "allocations": [{"source_index": 6, "seconds": 300, "decision": "Intervalo compartido íntegro; propietario contable seleccionado por función de actividad y referencia timeline de unidad (identidad semántica en empates). Propietario. ", "source_time": "40–45 min", "source_seconds": 300, "is_owner": true, "function": "individual_check"}], "clock_intervals": [6], "presenter_notes": "Reloj fuente 40–45 min: duración compartida 300 segundos. Trabajo: Comprobación individual y cierre. Función del soporte: comprobación individual.", "shared_intervals": [{"source_index": 6, "source_time": "40–45 min", "seconds": 300, "is_owner": true, "function": "individual_check", "action": "Comprobación individual y cierre.", "concurrent": false, "parallel_work": ""}]}, "code_blocks": [], "representation_needs": []}</ns0:renderMetadata>
    </p:ext>
  </p:extLs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Comprobar comprensión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COMPROBAR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Si se le propone una modificación pequeña, debe predecir el efecto antes de ejecutar.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"check", "plan_index": 7, "recognition": false, "unit_ids": ["unit-17"], "roles": {"unit-17": "core"}, "source_refs": [{"source": "teacher", "heading": "Comprobar comprensión — INDIVIDUAL", "block_index": 20, "fragment": 0}, {"source": "teacher", "heading": "Secuencia de trabajo y modalidad", "block_index": 17, "fragment": 0}], "visible_sources": [{"index": 2, "sha256": "564e045c6149113d4e6b2524cbb3abeec736b24869f10fac2173e43d130edff5"}], "notes_sources": [{"function": "facilitation", "heading": "Comprobar comprensión — INDIVIDUAL", "sha256": "7eb6c401f72ddeea821a4d4123987e73b1ecf76a7db251bb645350b90ae23121"}, {"function": "visible_detail", "heading": "Comprobar comprensión — INDIVIDUAL", "sha256": "564e045c6149113d4e6b2524cbb3abeec736b24869f10fac2173e43d130edff5"}], "relations": {"unit_relations": {"unit-17": {}}, "schedule": null, "source_supports_enriched": true}, "timeline_refs": [6], "composition": {"origin_slides": [27, 28]},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"individual_check"}], "clock_intervals": [6], "presenter_notes": "Reloj fuente 40–45 min: duración compartida 300 segundos. Trabajo: Comprobación individual y cierre. Función del soporte: comprobación individual.", "shared_intervals": [{"source_index": 6, "source_time": "40–45 min", "seconds": 300, "is_owner": false, "function": "individual_check", "action": "Comprobación individual y cierre.", "concurrent": false, "parallel_work": ""}]}, "code_blocks": [], "representation_needs": []}</ns0:renderMetadata>
    </p:ext>
  </p:extLs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crean capturas rutinarias, filas obligatorias ni documentos separados del error.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302615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código de la estructura mínima y correcciones técnicas reproducibles.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3026156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solo si existe una tarea, decisión, cambio o bloqueo real.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4623308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solo si un error o descubrimiento produjo aprendizaje individual significativo.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4623308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README / Moodle / Drive / Site: sin actualización o entrega específica en H1.3.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"activity", "plan_index": 7, "recognition": false, "unit_ids": ["unit-18"], "roles": {"unit-18": "core"}, "source_refs": [{"source": "teacher", "heading": "Evidencia que permanece", "block_index": 21, "fragment": 0}], "visible_sources": [{"index": 3, "sha256": "d9169acd86fc73c41a9cc764e217470d199686b097b1f15b316771ca3f424215"}, {"index": 4, "sha256": "9b9180e988a3d3057c0589ae3dab3140b281ef0e307f151898494745b1e6c329"}], "notes_sources": [{"function": "facilitation", "heading": "Evidencia que permanece", "sha256": "40200f7bcd2764721e895176fb1c3a1c626a5ed6ceddbdeb30914c4e2e3d0591"}], "relations": {"unit_relations": {"unit-18": {}}, "schedule": null, "source_supports_enriched": true}, "timeline_refs": [6], "composition": {"origin_slides": [29, 30]},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"evidence"}], "clock_intervals": [6], "presenter_notes": "Reloj fuente 40–45 min: duración compartida 300 segundos. Trabajo: Comprobación individual y cierre. Función del soporte: apoyo al trabajo.", "shared_intervals": [{"source_index": 6, "source_time": "40–45 min", "seconds": 300, "is_owner": false, "function": "evidence", "action": "Comprobación individual y cierre.", "concurrent": false, "parallel_work": ""}]}, "code_blocks": [], "representation_needs": []}</ns0:renderMetadata>
    </p:ext>
  </p:extLs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1987804"/>
            <a:ext cx="10881360" cy="163144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Prueba: estructura mínima ejecutada con dos mensajes.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Error provocado: escribí string en lugar de String.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Hipótesis: Java distingue mayúsculas.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Corrección: cambié string por String.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Resultado: compila y muestra los mensajes esperados.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"activity", "plan_index": 7, "recognition": false, "unit_ids": ["unit-18"], "roles": {"unit-18": "core"}, "source_refs": [{"source": "teacher", "heading": "Evidencia que permanece", "block_index": 21, "fragment": 0}], "visible_sources": [{"index": 6, "sha256": "eab4dc6596c4c24215236d0407c54c97cf9d5b6d69ff3e7545fd797c2695f530"}], "notes_sources": [{"function": "facilitation", "heading": "Evidencia que permanece", "sha256": "40200f7bcd2764721e895176fb1c3a1c626a5ed6ceddbdeb30914c4e2e3d0591"}], "relations": {"unit_relations": {"unit-18": {}}, "schedule": null, "source_supports_enriched": true}, "timeline_refs": [6], "composition": {"origin_slides": [29, 30]},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"evidence"}], "clock_intervals": [6], "presenter_notes": "Reloj fuente 40–45 min: duración compartida 300 segundos. Trabajo: Comprobación individual y cierre. Función del soporte: apoyo al trabajo.", "shared_intervals": [{"source_index": 6, "source_time": "40–45 min", "seconds": 300, "is_owner": false, "function": "evidence", "action": "Comprobación individual y cierre.", "concurrent": false, "parallel_work": ""}]}, "code_blocks": [], "representation_needs": []}</ns0:renderMetadata>
    </p:ext>
  </p:extLs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Seguridad y uso de 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Trabaja únicamente con datos ficticios.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"activity", "plan_index": 7, "recognition": false, "unit_ids": ["unit-23"], "roles": {"unit-23": "core"}, "source_refs": [{"source": "student_fallback", "heading": "Seguridad y uso de IA", "block_index": null, "fragment": 0}], "visible_sources": [{"index": 7, "sha256": "61337aa7d62b810fc872b64ccf50a7b9620d423d2be91b3dfff6d304f2bec734"}], "notes_sources": [], "relations": {"unit_relations": {"unit-23": {}}, "schedule": null, "source_supports_enriched": true}, "timeline_refs": [6], "composition": {"origin_slides": [31]},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"security"}], "clock_intervals": [6], "presenter_notes": "Reloj fuente 40–45 min: duración compartida 300 segundos. Trabajo: Comprobación individual y cierre. Función del soporte: apoyo al trabajo.", "shared_intervals": [{"source_index": 6, "source_time": "40–45 min", "seconds": 300, "is_owner": false, "function": "security", "action": "Comprobación individual y cierre.", "concurrent": false, "parallel_work": ""}]}, "code_blocks": [], "representation_needs": []}</ns0:renderMetadata>
    </p:ext>
  </p:extLs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H1.3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¿Por qué tu identificador comunica bien —o mal— su intención y qué información aporta tu comentario que no aparezca ya en el código?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Una estructura mínima no se aprende copiando símbolos.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885184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¿Dónde empieza la ejecución, qué instrucción produce salida y qué delimitador o regla explica el error que has corregido?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"208", "source_files": {"teacher": "/mnt/compartido/Programación-26-27/Minijarvis/02-PROFESORADO/02-SESIONES/h1/S208-estructura-minima-de-un-programa-java-docente.md", "student_fallback": "/mnt/compartido/Programación-26-27/Minijarvis/01-ALUMNADO/03-SESIONES/h1/S208-estructura-minima-de-un-programa-java-alumnado.md"}, "layout": "closure", "plan_index": 8, "recognition": false, "unit_ids": ["unit-21", "unit-22"], "roles": {"unit-21": "core", "unit-22": "core"}, "source_refs": [{"source": "teacher", "heading": "Comprueba lo aprendido", "block_index": 24, "fragment": 0}, {"source": "teacher", "heading": "Al terminar", "block_index": 25, "fragment": 0}], "visible_sources": [{"index": 0, "sha256": "d45be40dd159ec6f11a88f372ce0a6e10f9cfdce95a44df9ee4d2f877c7ce792"}, {"index": 2, "sha256": "4a08d98702b52934377e763547728347b8caf8fe6d05d520dac05f4a455f1192"}, {"index": 3, "sha256": "27a8c245c3f7c59ab7c82a4d58d17b94a02e9b1db3cf51590743e1bbe9df5dda"}], "notes_sources": [{"function": "individual_check", "heading": "Comprueba lo aprendido", "sha256": "dae03982d930a360cc6f21f6182bdcfffd59c916b3cd04bb2bc0c7f6a450910a"}, {"function": "individual_check", "heading": "Comprueba lo aprendido", "sha256": "c54f205b33bd0dd1f4ec5e9ca0395c54a3e3633b76fe0bb5b87a0f6041c4f4f5"}, {"function": "continuity", "heading": "Al terminar", "sha256": "f53798f2dccc7c69030dd5e2978f30d3616fae3634dbc3cdae45f6a271713ae3"}, {"function": "facilitation", "heading": "Comprueba lo aprendido", "sha256": "5ac270c14daf9145b5fa6b3260aaee7fce13571ee2fba5f4f556b6f5b86f5a90"}, {"function": "visible_detail", "heading": "Comprueba lo aprendido", "sha256": "4a08d98702b52934377e763547728347b8caf8fe6d05d520dac05f4a455f1192"}, {"function": "closure", "heading": "Comprueba lo aprendido", "sha256": "27a8c245c3f7c59ab7c82a4d58d17b94a02e9b1db3cf51590743e1bbe9df5dda"}, {"function": "closure", "heading": "Comprueba lo aprendido", "sha256": "d45be40dd159ec6f11a88f372ce0a6e10f9cfdce95a44df9ee4d2f877c7ce792"}, {"function": "closure", "heading": "Comprueba lo aprendido", "sha256": "27a8c245c3f7c59ab7c82a4d58d17b94a02e9b1db3cf51590743e1bbe9df5dda"}, {"function": "closure", "heading": "Comprueba lo aprendido", "sha256": "d45be40dd159ec6f11a88f372ce0a6e10f9cfdce95a44df9ee4d2f877c7ce792"}], "relations": {"unit_relations": {"unit-21": {"question_context": ["context", "question"]}}, "schedule": null, "source_supports_enriched": true}, "timeline_refs": [6], "composition": {"origin_slides": [32]},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"individual_check"}], "clock_intervals": [6], "presenter_notes": "Reloj fuente 40–45 min: duración compartida 300 segundos. Trabajo: Comprobación individual y cierre. Función del soporte: comprobación individual.", "shared_intervals": [{"source_index": 6, "source_time": "40–45 min", "seconds": 300, "is_owner": false, "function": "individual_check", "action": "Comprobación individual y cierre.",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