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Al terminar, debes leer entrada, guardarla, convertir texto a número cuando haga falta y reconocer errores de conversión.</a:t>
            </a:r>
          </a:p>
          <a:p>
            <a:r>
              <a:t>Diapositiva 1 de 11: Qué vas a aprender</a:t>
            </a:r>
          </a:p>
          <a:p>
            <a:r>
              <a:t>Fase HEXA: Ejecutar — crear</a:t>
            </a:r>
          </a:p>
          <a:p>
            <a:r>
              <a:t>Presenta el producto y anticipa la evidencia: Hoy la evidencia debe incluir una entrada válida, resultado esperado, resultado obtenido y explicación de qué ocurre con una entrada no convertible.</a:t>
            </a:r>
          </a:p>
          <a:p>
            <a:r>
              <a:t>Secuencia docente:</a:t>
            </a:r>
          </a:p>
          <a:p>
            <a:r>
              <a:t>- 45 minutos: Construid una prueba con entrada válida: por ejemplo horas como texto, conversión a int, cálculo de minutos y salida. Después probad una entrada no convertible y explicad cuándo falla: al compilar o al ejecutar.</a:t>
            </a:r>
          </a:p>
          <a:p>
            <a:r>
              <a:t>Claves docentes:</a:t>
            </a:r>
          </a:p>
          <a:p>
            <a:r>
              <a:t>- Úsala al pasar de datos escritos en código a datos introducidos por consola.</a:t>
            </a:r>
          </a:p>
          <a:p>
            <a:r>
              <a:t>- Scanner permite leer lo que una persona escribe. nextLine() devuelve siempre un String. Si queremos calcular con un número escrito por teclado, necesitamos parsear ese texto.</a:t>
            </a:r>
          </a:p>
          <a:p>
            <a:r>
              <a:t>- Empieza por el flujo pedir, leer y guardar creando una sola instancia reutilizable de Scanner:</a:t>
            </a:r>
          </a:p>
          <a:p>
            <a:r>
              <a:t>- import java.util.Scanner;</a:t>
            </a:r>
          </a:p>
          <a:p>
            <a:r>
              <a:t>- public class Main {</a:t>
            </a:r>
          </a:p>
          <a:p>
            <a:r>
              <a:t>- public static void main(String[] argumentos) {</a:t>
            </a:r>
          </a:p>
          <a:p>
            <a:r>
              <a:t>- Scanner teclado = new Scanner(System.in);</a:t>
            </a:r>
          </a:p>
          <a:p>
            <a:r>
              <a:t>- System.out.print("Escribe un nombre ficticio: ");</a:t>
            </a:r>
          </a:p>
          <a:p>
            <a:r>
              <a:t>- String nombreUsuario = teclado.nextLine();</a:t>
            </a:r>
          </a:p>
          <a:p>
            <a:r>
              <a:t>- System.out.println("Hola, " + nombreUsuario);</a:t>
            </a:r>
          </a:p>
          <a:p>
            <a:r>
              <a:t>- }</a:t>
            </a:r>
          </a:p>
          <a:p>
            <a:r>
              <a:t>- Pregunta:</a:t>
            </a:r>
          </a:p>
          <a:p>
            <a:r>
              <a:t>- Qué parte prepara la lectura, qué variable guarda el Scanner y qué devuelve teclado.nextLine().</a:t>
            </a:r>
          </a:p>
          <a:p>
            <a:r>
              <a:t>- Una segunda lectura reutiliza la misma instancia:</a:t>
            </a:r>
          </a:p>
          <a:p>
            <a:r>
              <a:t>- System.out.print("Escribe las horas de estudio: ");</a:t>
            </a:r>
          </a:p>
          <a:p>
            <a:r>
              <a:t>- String texto = teclado.nextLine();</a:t>
            </a:r>
          </a:p>
          <a:p>
            <a:r>
              <a:t>- int horas = Integer.parseInt(texto);</a:t>
            </a:r>
          </a:p>
          <a:p>
            <a:r>
              <a:t>- La forma compacta siguiente puede leer una línea, pero no será el modelo de H1 porque oculta la reutilización del mismo Scanner:</a:t>
            </a:r>
          </a:p>
          <a:p>
            <a:r>
              <a:t>- String nombreUsuario = new Scanner(System.in).nextLine();</a:t>
            </a:r>
          </a:p>
          <a:p>
            <a:r>
              <a:t>- Contrasta usar y no usar lo leído:</a:t>
            </a:r>
          </a:p>
          <a:p>
            <a:r>
              <a:t>- System.out.println("Hola");</a:t>
            </a:r>
          </a:p>
          <a:p>
            <a:r>
              <a:t>- En cuál de los dos programas la entrada afecta al comportamiento observable.</a:t>
            </a:r>
          </a:p>
          <a:p>
            <a:r>
              <a:t>- Dibuja el flujo en la pizarra:</a:t>
            </a:r>
          </a:p>
          <a:p>
            <a:r>
              <a:t>- TECLADO -&gt; nextLine() -&gt; String -&gt; variable -&gt; programa -&gt; salida</a:t>
            </a:r>
          </a:p>
          <a:p>
            <a:r>
              <a:t>Fuente docente: /mnt/compartido/Programación-26-27/Minijarvis/02-PROFESORADO/02-SESIONES/h1/S212-entrada-por-teclado-con-scanner-docente.md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Al terminar, debes leer entrada, guardarla, convertir texto a número cuando haga falta y reconocer errores de conversión.</a:t>
            </a:r>
          </a:p>
          <a:p>
            <a:r>
              <a:t>Diapositiva 2 de 11: Qué aprenderás y cómo lo demostrarás</a:t>
            </a:r>
          </a:p>
          <a:p>
            <a:r>
              <a:t>Fase HEXA: Ejecutar — crear</a:t>
            </a:r>
          </a:p>
          <a:p>
            <a:r>
              <a:t>- Objetivo: Al terminar, debes leer entrada, guardarla, convertir texto a número cuando haga falta y reconocer errores de conversión.</a:t>
            </a:r>
          </a:p>
          <a:p>
            <a:r>
              <a:t>- Comprobación: Hoy la evidencia debe incluir una entrada válida, resultado esperado, resultado obtenido y explicación de qué ocurre con una entrada no convertible.</a:t>
            </a:r>
          </a:p>
          <a:p>
            <a:r>
              <a:t>Fuente docente: /mnt/compartido/Programación-26-27/Minijarvis/02-PROFESORADO/02-SESIONES/h1/S212-entrada-por-teclado-con-scanner-docente.md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Al terminar, debes leer entrada, guardarla, convertir texto a número cuando haga falta y reconocer errores de conversión.</a:t>
            </a:r>
          </a:p>
          <a:p>
            <a:r>
              <a:t>Diapositiva 3 de 11: Flujo de entrada</a:t>
            </a:r>
          </a:p>
          <a:p>
            <a:r>
              <a:t>Fase HEXA: Ejecutar — crear</a:t>
            </a:r>
          </a:p>
          <a:p>
            <a:r>
              <a:t>Explica con predicción y ejemplo mínimo; comprueba comprensión antes de continuar.</a:t>
            </a:r>
          </a:p>
          <a:p>
            <a:r>
              <a:t>- pedir</a:t>
            </a:r>
          </a:p>
          <a:p>
            <a:r>
              <a:t>- leer texto</a:t>
            </a:r>
          </a:p>
          <a:p>
            <a:r>
              <a:t>- guardar</a:t>
            </a:r>
          </a:p>
          <a:p>
            <a:r>
              <a:t>- convertir</a:t>
            </a:r>
          </a:p>
          <a:p>
            <a:r>
              <a:t>- calcular</a:t>
            </a:r>
          </a:p>
          <a:p>
            <a:r>
              <a:t>- mostrar</a:t>
            </a:r>
          </a:p>
          <a:p>
            <a:r>
              <a:t>Fuente docente: /mnt/compartido/Programación-26-27/Minijarvis/02-PROFESORADO/02-SESIONES/h1/S212-entrada-por-teclado-con-scanner-docente.md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Al terminar, debes leer entrada, guardarla, convertir texto a número cuando haga falta y reconocer errores de conversión.</a:t>
            </a:r>
          </a:p>
          <a:p>
            <a:r>
              <a:t>Diapositiva 4 de 11: Una sola instancia de Scanner</a:t>
            </a:r>
          </a:p>
          <a:p>
            <a:r>
              <a:t>Fase HEXA: Ejecutar — crear</a:t>
            </a:r>
          </a:p>
          <a:p>
            <a:r>
              <a:t>Explica con predicción y ejemplo mínimo; comprueba comprensión antes de continuar.</a:t>
            </a:r>
          </a:p>
          <a:p>
            <a:r>
              <a:t>- import java.util.Scanner;</a:t>
            </a:r>
          </a:p>
          <a:p/>
          <a:p>
            <a:r>
              <a:t>Scanner scanner = new Scanner(System.in);</a:t>
            </a:r>
          </a:p>
          <a:p>
            <a:r>
              <a:t>System.out.print("Nombre ficticio: ");</a:t>
            </a:r>
          </a:p>
          <a:p>
            <a:r>
              <a:t>String userName = scanner.nextLine();</a:t>
            </a:r>
          </a:p>
          <a:p>
            <a:r>
              <a:t>System.out.println("Hola, " + userName + ".");</a:t>
            </a:r>
          </a:p>
          <a:p>
            <a:r>
              <a:t>scanner.close();</a:t>
            </a:r>
          </a:p>
          <a:p>
            <a:r>
              <a:t>- nextLine() devuelve String.</a:t>
            </a:r>
          </a:p>
          <a:p>
            <a:r>
              <a:t>- La entrada se guarda y cambia una salida observable.</a:t>
            </a:r>
          </a:p>
          <a:p>
            <a:r>
              <a:t>Fuente docente: /mnt/compartido/Programación-26-27/Minijarvis/02-PROFESORADO/02-SESIONES/h1/S212-entrada-por-teclado-con-scanner-docente.md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Al terminar, debes leer entrada, guardarla, convertir texto a número cuando haga falta y reconocer errores de conversión.</a:t>
            </a:r>
          </a:p>
          <a:p>
            <a:r>
              <a:t>Diapositiva 5 de 11: Texto a número</a:t>
            </a:r>
          </a:p>
          <a:p>
            <a:r>
              <a:t>Fase HEXA: Ejecutar — crear</a:t>
            </a:r>
          </a:p>
          <a:p>
            <a:r>
              <a:t>Explica con predicción y ejemplo mínimo; comprueba comprensión antes de continuar.</a:t>
            </a:r>
          </a:p>
          <a:p>
            <a:r>
              <a:t>- String text = "5";</a:t>
            </a:r>
          </a:p>
          <a:p>
            <a:r>
              <a:t>int hours = Integer.parseInt(text);</a:t>
            </a:r>
          </a:p>
          <a:p>
            <a:r>
              <a:t>int minutes = hours * 60;</a:t>
            </a:r>
          </a:p>
          <a:p>
            <a:r>
              <a:t>System.out.println(minutes);</a:t>
            </a:r>
          </a:p>
          <a:p>
            <a:r>
              <a:t>- Salida esperada: 300</a:t>
            </a:r>
          </a:p>
          <a:p>
            <a:r>
              <a:t>- Parsear texto no es lo mismo que convertir entre tipos numéricos.</a:t>
            </a:r>
          </a:p>
          <a:p>
            <a:r>
              <a:t>Fuente docente: /mnt/compartido/Programación-26-27/Minijarvis/02-PROFESORADO/02-SESIONES/h1/S212-entrada-por-teclado-con-scanner-docente.md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Al terminar, debes leer entrada, guardarla, convertir texto a número cuando haga falta y reconocer errores de conversión.</a:t>
            </a:r>
          </a:p>
          <a:p>
            <a:r>
              <a:t>Diapositiva 6 de 11: Consulta: texto a int o double</a:t>
            </a:r>
          </a:p>
          <a:p>
            <a:r>
              <a:t>Fase HEXA: Ejecutar — crear</a:t>
            </a:r>
          </a:p>
          <a:p>
            <a:r>
              <a:t>Explica con predicción y ejemplo mínimo; comprueba comprensión antes de continuar.</a:t>
            </a:r>
          </a:p>
          <a:p>
            <a:r>
              <a:t>- ENTERO · Integer.parseInt("12") → 12</a:t>
            </a:r>
          </a:p>
          <a:p>
            <a:r>
              <a:t>- DECIMAL · Double.parseDouble("12.5") → 12.5</a:t>
            </a:r>
          </a:p>
          <a:p>
            <a:r>
              <a:t>- Ambos convierten texto; fallan durante la ejecución si el formato no es válido.</a:t>
            </a:r>
          </a:p>
          <a:p>
            <a:r>
              <a:t>Fuente docente: /mnt/compartido/Programación-26-27/Minijarvis/02-PROFESORADO/02-SESIONES/h1/S212-entrada-por-teclado-con-scanner-docente.md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Al terminar, debes leer entrada, guardarla, convertir texto a número cuando haga falta y reconocer errores de conversión.</a:t>
            </a:r>
          </a:p>
          <a:p>
            <a:r>
              <a:t>Diapositiva 7 de 11: Compila, pero falla al ejecutar</a:t>
            </a:r>
          </a:p>
          <a:p>
            <a:r>
              <a:t>Fase HEXA: Ejecutar — crear</a:t>
            </a:r>
          </a:p>
          <a:p>
            <a:r>
              <a:t>Explica con predicción y ejemplo mínimo; comprueba comprensión antes de continuar.</a:t>
            </a:r>
          </a:p>
          <a:p>
            <a:r>
              <a:t>- VÁLIDO · Integer.parseInt("12") → 12</a:t>
            </a:r>
          </a:p>
          <a:p>
            <a:r>
              <a:t>- ERROR · Integer.parseInt("hola") → NumberFormatException</a:t>
            </a:r>
          </a:p>
          <a:p>
            <a:r>
              <a:t>- H1 observa y explica el error de ejecución; try-catch llegará más adelante.</a:t>
            </a:r>
          </a:p>
          <a:p>
            <a:r>
              <a:t>Fuente docente: /mnt/compartido/Programación-26-27/Minijarvis/02-PROFESORADO/02-SESIONES/h1/S212-entrada-por-teclado-con-scanner-docente.md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Al terminar, debes leer entrada, guardarla, convertir texto a número cuando haga falta y reconocer errores de conversión.</a:t>
            </a:r>
          </a:p>
          <a:p>
            <a:r>
              <a:t>Diapositiva 8 de 11: Prueba entrada válida e inválida</a:t>
            </a:r>
          </a:p>
          <a:p>
            <a:r>
              <a:t>Fase HEXA: Ejecutar — crear</a:t>
            </a:r>
          </a:p>
          <a:p>
            <a:r>
              <a:t>Entrega la consigna, observa decisiones y pide una prueba reproducible.</a:t>
            </a:r>
          </a:p>
          <a:p>
            <a:r>
              <a:t>- Pide un nombre ficticio y úsalo en un saludo.</a:t>
            </a:r>
          </a:p>
          <a:p>
            <a:r>
              <a:t>- Lee horas como texto, conviértelas a int y calcula minutos.</a:t>
            </a:r>
          </a:p>
          <a:p>
            <a:r>
              <a:t>- Ejecuta con un número válido y registra salida esperada y observada.</a:t>
            </a:r>
          </a:p>
          <a:p>
            <a:r>
              <a:t>- Ejecuta con hola, identifica cuándo falla y explica por qué.</a:t>
            </a:r>
          </a:p>
          <a:p>
            <a:r>
              <a:t>Fuente docente: /mnt/compartido/Programación-26-27/Minijarvis/02-PROFESORADO/02-SESIONES/h1/S212-entrada-por-teclado-con-scanner-docente.md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Al terminar, debes leer entrada, guardarla, convertir texto a número cuando haga falta y reconocer errores de conversión.</a:t>
            </a:r>
          </a:p>
          <a:p>
            <a:r>
              <a:t>Diapositiva 9 de 11: Qué debe demostrar la prueba</a:t>
            </a:r>
          </a:p>
          <a:p>
            <a:r>
              <a:t>Fase HEXA: Ejecutar — crear</a:t>
            </a:r>
          </a:p>
          <a:p>
            <a:r>
              <a:t>Comprueba la evidencia en su fuente canónica: Hoy la evidencia debe incluir una entrada válida, resultado esperado, resultado obtenido y explicación de qué ocurre con una entrada no convertible.</a:t>
            </a:r>
          </a:p>
          <a:p>
            <a:r>
              <a:t>- Uso una sola instancia de Scanner.</a:t>
            </a:r>
          </a:p>
          <a:p>
            <a:r>
              <a:t>- La entrada afecta a la salida o al cálculo.</a:t>
            </a:r>
          </a:p>
          <a:p>
            <a:r>
              <a:t>- Distingo nextLine, parseInt y parseDouble.</a:t>
            </a:r>
          </a:p>
          <a:p>
            <a:r>
              <a:t>- Distingo error de compilación y error de ejecución.</a:t>
            </a:r>
          </a:p>
          <a:p>
            <a:r>
              <a:t>Fuente docente: /mnt/compartido/Programación-26-27/Minijarvis/02-PROFESORADO/02-SESIONES/h1/S212-entrada-por-teclado-con-scanner-docente.md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Al terminar, debes leer entrada, guardarla, convertir texto a número cuando haga falta y reconocer errores de conversión.</a:t>
            </a:r>
          </a:p>
          <a:p>
            <a:r>
              <a:t>Diapositiva 10 de 11: Comprobación final</a:t>
            </a:r>
          </a:p>
          <a:p>
            <a:r>
              <a:t>Fase HEXA: Ejecutar — crear</a:t>
            </a:r>
          </a:p>
          <a:p>
            <a:r>
              <a:t>Cierra con explicación individual, prueba observable y siguiente paso concreto.</a:t>
            </a:r>
          </a:p>
          <a:p>
            <a:r>
              <a:t>- ¿Qué devuelve nextLine() y en qué se diferencian parseInt y parseDouble?</a:t>
            </a:r>
          </a:p>
          <a:p>
            <a:r>
              <a:t>Fuente docente: /mnt/compartido/Programación-26-27/Minijarvis/02-PROFESORADO/02-SESIONES/h1/S212-entrada-por-teclado-con-scanner-docente.md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Al terminar, debes leer entrada, guardarla, convertir texto a número cuando haga falta y reconocer errores de conversión.</a:t>
            </a:r>
          </a:p>
          <a:p>
            <a:r>
              <a:t>Diapositiva 11 de 11: Fuentes diferenciadas</a:t>
            </a:r>
          </a:p>
          <a:p>
            <a:r>
              <a:t>Fase HEXA: Ejecutar — crear</a:t>
            </a:r>
          </a:p>
          <a:p>
            <a:r>
              <a:t>Indica al alumnado dónde ampliar el contenido y qué fragmentos se han adaptado.</a:t>
            </a:r>
          </a:p>
          <a:p>
            <a:r>
              <a:t>- Libro por hitos · Capítulo 02: Scanner y parseo</a:t>
            </a:r>
          </a:p>
          <a:p>
            <a:r>
              <a:t>- PDF Tema 1 · §§4 y 6: entrada y conversiones</a:t>
            </a:r>
          </a:p>
          <a:p>
            <a:r>
              <a:t>- Proyecto MiniJarvis · fichas S206-S215, píldoras H1 y criterios de evidencia</a:t>
            </a:r>
          </a:p>
          <a:p>
            <a:r>
              <a:t>Fuente docente: /mnt/compartido/Programación-26-27/Minijarvis/02-PROFESORADO/02-SESIONES/h1/S212-entrada-por-teclado-con-scanner-docente.md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Qué vas a aprender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H1 — Primer asistente ejecutable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aprenderás y cómo lo demostrarás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212 · H1 — Primer asistente ejecutable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Al terminar, debes leer entrada, guardarla, convertir texto a número cuando haga falta y reconocer errores de conversión.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Comprobación: Hoy la evidencia debe incluir una entrada válida, resultado esperado, resultado obtenido y explicación de qué ocurre con una entrada no convertible.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PROCESO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Flujo de entrada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212 · H1 — Primer asistente ejecutable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2240280"/>
            <a:ext cx="176022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2487168"/>
            <a:ext cx="1485900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2F5BA8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2971800"/>
            <a:ext cx="1485900" cy="658368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1700" b="1">
                <a:solidFill>
                  <a:srgbClr val="1C2330"/>
                </a:solidFill>
                <a:latin typeface="Aptos"/>
              </a:defRPr>
            </a:pPr>
            <a:r>
              <a:t>pedir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519172" y="2907792"/>
            <a:ext cx="228600" cy="411480"/>
          </a:xfrm>
          <a:prstGeom prst="rightArrow">
            <a:avLst/>
          </a:prstGeom>
          <a:solidFill>
            <a:srgbClr val="586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510028" y="2240280"/>
            <a:ext cx="176022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47188" y="2487168"/>
            <a:ext cx="1485900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2F5BA8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47188" y="2971800"/>
            <a:ext cx="1485900" cy="658368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1700" b="1">
                <a:solidFill>
                  <a:srgbClr val="1C2330"/>
                </a:solidFill>
                <a:latin typeface="Aptos"/>
              </a:defRPr>
            </a:pPr>
            <a:r>
              <a:t>leer texto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315968" y="2907792"/>
            <a:ext cx="228600" cy="411480"/>
          </a:xfrm>
          <a:prstGeom prst="rightArrow">
            <a:avLst/>
          </a:prstGeom>
          <a:solidFill>
            <a:srgbClr val="586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06824" y="2240280"/>
            <a:ext cx="176022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43984" y="2487168"/>
            <a:ext cx="1485900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2F5BA8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3984" y="2971800"/>
            <a:ext cx="1485900" cy="658368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1700" b="1">
                <a:solidFill>
                  <a:srgbClr val="1C2330"/>
                </a:solidFill>
                <a:latin typeface="Aptos"/>
              </a:defRPr>
            </a:pPr>
            <a:r>
              <a:t>guardar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112764" y="2907792"/>
            <a:ext cx="228600" cy="411480"/>
          </a:xfrm>
          <a:prstGeom prst="rightArrow">
            <a:avLst/>
          </a:prstGeom>
          <a:solidFill>
            <a:srgbClr val="586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03620" y="2240280"/>
            <a:ext cx="176022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40780" y="2487168"/>
            <a:ext cx="1485900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2F5BA8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40780" y="2971800"/>
            <a:ext cx="1485900" cy="658368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1700" b="1">
                <a:solidFill>
                  <a:srgbClr val="1C2330"/>
                </a:solidFill>
                <a:latin typeface="Aptos"/>
              </a:defRPr>
            </a:pPr>
            <a:r>
              <a:t>convertir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909560" y="2907792"/>
            <a:ext cx="228600" cy="411480"/>
          </a:xfrm>
          <a:prstGeom prst="rightArrow">
            <a:avLst/>
          </a:prstGeom>
          <a:solidFill>
            <a:srgbClr val="586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00416" y="2240280"/>
            <a:ext cx="176022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37576" y="2487168"/>
            <a:ext cx="1485900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2F5BA8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37576" y="2971800"/>
            <a:ext cx="1485900" cy="658368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1700" b="1">
                <a:solidFill>
                  <a:srgbClr val="1C2330"/>
                </a:solidFill>
                <a:latin typeface="Aptos"/>
              </a:defRPr>
            </a:pPr>
            <a:r>
              <a:t>calcular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706356" y="2907792"/>
            <a:ext cx="228600" cy="411480"/>
          </a:xfrm>
          <a:prstGeom prst="rightArrow">
            <a:avLst/>
          </a:prstGeom>
          <a:solidFill>
            <a:srgbClr val="586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697212" y="2240280"/>
            <a:ext cx="1760220" cy="1874519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34372" y="2487168"/>
            <a:ext cx="1485900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34372" y="2971800"/>
            <a:ext cx="1485900" cy="658368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mostrar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CÓDIGO EXPLICADO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Una sola instancia de Scanner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212 · H1 — Primer asistente ejecutable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7315200" cy="4709160"/>
          </a:xfrm>
          <a:prstGeom prst="roundRect">
            <a:avLst/>
          </a:prstGeom>
          <a:solidFill>
            <a:srgbClr val="121824"/>
          </a:solidFill>
          <a:ln>
            <a:solidFill>
              <a:srgbClr val="1218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72768"/>
            <a:ext cx="6903720" cy="4251960"/>
          </a:xfrm>
          <a:prstGeom prst="rect">
            <a:avLst/>
          </a:prstGeom>
          <a:noFill/>
        </p:spPr>
        <p:txBody>
          <a:bodyPr wrap="none" lIns="164592" rIns="164592" tIns="109728" bIns="109728">
            <a:spAutoFit/>
          </a:bodyPr>
          <a:lstStyle/>
          <a:p>
            <a:pPr>
              <a:spcAft>
                <a:spcPts val="0"/>
              </a:spcAft>
              <a:defRPr sz="1600">
                <a:solidFill>
                  <a:srgbClr val="FFFFFF"/>
                </a:solidFill>
                <a:latin typeface="Liberation Mono"/>
              </a:defRPr>
            </a:pPr>
            <a:r>
              <a:t>import java.util.Scanner;</a:t>
            </a:r>
            <a:br/>
            <a:br/>
            <a:r>
              <a:t>Scanner scanner = new Scanner(System.in);</a:t>
            </a:r>
            <a:br/>
            <a:r>
              <a:t>System.out.print("Nombre ficticio: ");</a:t>
            </a:r>
            <a:br/>
            <a:r>
              <a:t>String userName = scanner.nextLine();</a:t>
            </a:r>
            <a:br/>
            <a:r>
              <a:t>System.out.println("Hola, " + userName + ".");</a:t>
            </a:r>
            <a:br/>
            <a:r>
              <a:t>scanner.close();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6448" y="1325880"/>
            <a:ext cx="3401568" cy="470916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1627632"/>
            <a:ext cx="2880360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LEE Y PREDICE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94192" y="2103120"/>
            <a:ext cx="2788920" cy="347472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nextLine() devuelve String.</a:t>
            </a:r>
          </a:p>
          <a:p>
            <a:pPr>
              <a:spcAft>
                <a:spcPts val="9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La entrada se guarda y cambia una salida observable.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CÓDIGO EXPLICADO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Texto a número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212 · H1 — Primer asistente ejecutable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7315200" cy="4709160"/>
          </a:xfrm>
          <a:prstGeom prst="roundRect">
            <a:avLst/>
          </a:prstGeom>
          <a:solidFill>
            <a:srgbClr val="121824"/>
          </a:solidFill>
          <a:ln>
            <a:solidFill>
              <a:srgbClr val="1218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72768"/>
            <a:ext cx="6903720" cy="4251960"/>
          </a:xfrm>
          <a:prstGeom prst="rect">
            <a:avLst/>
          </a:prstGeom>
          <a:noFill/>
        </p:spPr>
        <p:txBody>
          <a:bodyPr wrap="none" lIns="164592" rIns="164592" tIns="109728" bIns="109728">
            <a:spAutoFit/>
          </a:bodyPr>
          <a:lstStyle/>
          <a:p>
            <a:pPr>
              <a:spcAft>
                <a:spcPts val="0"/>
              </a:spcAft>
              <a:defRPr sz="1800">
                <a:solidFill>
                  <a:srgbClr val="FFFFFF"/>
                </a:solidFill>
                <a:latin typeface="Liberation Mono"/>
              </a:defRPr>
            </a:pPr>
            <a:r>
              <a:t>String text = "5";</a:t>
            </a:r>
            <a:br/>
            <a:r>
              <a:t>int hours = Integer.parseInt(text);</a:t>
            </a:r>
            <a:br/>
            <a:r>
              <a:t>int minutes = hours * 60;</a:t>
            </a:r>
            <a:br/>
            <a:r>
              <a:t>System.out.println(minutes);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6448" y="1325880"/>
            <a:ext cx="3401568" cy="470916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1627632"/>
            <a:ext cx="2880360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LEE Y PREDICE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94192" y="2103120"/>
            <a:ext cx="2788920" cy="347472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Salida esperada: 300</a:t>
            </a:r>
          </a:p>
          <a:p>
            <a:pPr>
              <a:spcAft>
                <a:spcPts val="9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Parsear texto no es lo mismo que convertir entre tipos numéricos.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CONTRASTAR PARA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Consulta: texto a int o double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212 · H1 — Primer asistente ejecutable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30368" cy="3401568"/>
          </a:xfrm>
          <a:prstGeom prst="roundRect">
            <a:avLst/>
          </a:prstGeom>
          <a:solidFill>
            <a:srgbClr val="FFFFFF"/>
          </a:solidFill>
          <a:ln>
            <a:solidFill>
              <a:srgbClr val="445B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0392" y="1572768"/>
            <a:ext cx="566928" cy="475488"/>
          </a:xfrm>
          <a:prstGeom prst="roundRect">
            <a:avLst/>
          </a:prstGeom>
          <a:solidFill>
            <a:srgbClr val="445B80"/>
          </a:solidFill>
          <a:ln>
            <a:solidFill>
              <a:srgbClr val="445B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682496"/>
            <a:ext cx="566928" cy="182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304288"/>
            <a:ext cx="4663440" cy="2011680"/>
          </a:xfrm>
          <a:prstGeom prst="rect">
            <a:avLst/>
          </a:prstGeom>
          <a:noFill/>
        </p:spPr>
        <p:txBody>
          <a:bodyPr wrap="none" lIns="164592" rIns="164592" tIns="109728" bIns="109728">
            <a:spAutoFit/>
          </a:bodyPr>
          <a:lstStyle/>
          <a:p>
            <a:pPr>
              <a:spcAft>
                <a:spcPts val="0"/>
              </a:spcAft>
              <a:defRPr sz="1600">
                <a:solidFill>
                  <a:srgbClr val="1C2330"/>
                </a:solidFill>
                <a:latin typeface="Liberation Mono"/>
              </a:defRPr>
            </a:pPr>
            <a:r>
              <a:t>ENTERO · Integer.parseInt("12") → 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3912" y="1325880"/>
            <a:ext cx="5230368" cy="3401568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82512" y="1572768"/>
            <a:ext cx="566928" cy="47548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682496"/>
            <a:ext cx="566928" cy="182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2304288"/>
            <a:ext cx="4663440" cy="2011680"/>
          </a:xfrm>
          <a:prstGeom prst="rect">
            <a:avLst/>
          </a:prstGeom>
          <a:noFill/>
        </p:spPr>
        <p:txBody>
          <a:bodyPr wrap="none" lIns="164592" rIns="164592" tIns="109728" bIns="109728">
            <a:spAutoFit/>
          </a:bodyPr>
          <a:lstStyle/>
          <a:p>
            <a:pPr>
              <a:spcAft>
                <a:spcPts val="0"/>
              </a:spcAft>
              <a:defRPr sz="1600">
                <a:solidFill>
                  <a:srgbClr val="1C2330"/>
                </a:solidFill>
                <a:latin typeface="Liberation Mono"/>
              </a:defRPr>
            </a:pPr>
            <a:r>
              <a:t>DECIMAL · Double.parseDouble("12.5") → 12.5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" y="5010912"/>
            <a:ext cx="10762488" cy="932688"/>
          </a:xfrm>
          <a:prstGeom prst="roundRect">
            <a:avLst/>
          </a:prstGeom>
          <a:solidFill>
            <a:srgbClr val="121824"/>
          </a:solidFill>
          <a:ln>
            <a:solidFill>
              <a:srgbClr val="1218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230368"/>
            <a:ext cx="10204704" cy="4754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Ambos convierten texto; fallan durante la ejecución si el formato no es válido.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CONTRASTAR PARA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Compila, pero falla al ejecutar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212 · H1 — Primer asistente ejecutable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30368" cy="3401568"/>
          </a:xfrm>
          <a:prstGeom prst="roundRect">
            <a:avLst/>
          </a:prstGeom>
          <a:solidFill>
            <a:srgbClr val="FFFFFF"/>
          </a:solidFill>
          <a:ln>
            <a:solidFill>
              <a:srgbClr val="445B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0392" y="1572768"/>
            <a:ext cx="566928" cy="475488"/>
          </a:xfrm>
          <a:prstGeom prst="roundRect">
            <a:avLst/>
          </a:prstGeom>
          <a:solidFill>
            <a:srgbClr val="445B80"/>
          </a:solidFill>
          <a:ln>
            <a:solidFill>
              <a:srgbClr val="445B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682496"/>
            <a:ext cx="566928" cy="182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304288"/>
            <a:ext cx="4663440" cy="2011680"/>
          </a:xfrm>
          <a:prstGeom prst="rect">
            <a:avLst/>
          </a:prstGeom>
          <a:noFill/>
        </p:spPr>
        <p:txBody>
          <a:bodyPr wrap="none" lIns="164592" rIns="164592" tIns="109728" bIns="109728">
            <a:spAutoFit/>
          </a:bodyPr>
          <a:lstStyle/>
          <a:p>
            <a:pPr>
              <a:spcAft>
                <a:spcPts val="0"/>
              </a:spcAft>
              <a:defRPr sz="1600">
                <a:solidFill>
                  <a:srgbClr val="1C2330"/>
                </a:solidFill>
                <a:latin typeface="Liberation Mono"/>
              </a:defRPr>
            </a:pPr>
            <a:r>
              <a:t>VÁLIDO · Integer.parseInt("12") → 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3912" y="1325880"/>
            <a:ext cx="5230368" cy="3401568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82512" y="1572768"/>
            <a:ext cx="566928" cy="47548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682496"/>
            <a:ext cx="566928" cy="182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2304288"/>
            <a:ext cx="4663440" cy="2011680"/>
          </a:xfrm>
          <a:prstGeom prst="rect">
            <a:avLst/>
          </a:prstGeom>
          <a:noFill/>
        </p:spPr>
        <p:txBody>
          <a:bodyPr wrap="none" lIns="164592" rIns="164592" tIns="109728" bIns="109728">
            <a:spAutoFit/>
          </a:bodyPr>
          <a:lstStyle/>
          <a:p>
            <a:pPr>
              <a:spcAft>
                <a:spcPts val="0"/>
              </a:spcAft>
              <a:defRPr sz="1600">
                <a:solidFill>
                  <a:srgbClr val="1C2330"/>
                </a:solidFill>
                <a:latin typeface="Liberation Mono"/>
              </a:defRPr>
            </a:pPr>
            <a:r>
              <a:t>ERROR · Integer.parseInt("hola") → NumberFormatException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" y="5010912"/>
            <a:ext cx="10762488" cy="932688"/>
          </a:xfrm>
          <a:prstGeom prst="roundRect">
            <a:avLst/>
          </a:prstGeom>
          <a:solidFill>
            <a:srgbClr val="121824"/>
          </a:solidFill>
          <a:ln>
            <a:solidFill>
              <a:srgbClr val="1218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230368"/>
            <a:ext cx="10204704" cy="4754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H1 observa y explica el error de ejecución; try-catch llegará más adelante.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Prueba entrada válida e inválida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212 · H1 — Primer asistente ejecutable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Pide un nombre ficticio y úsalo en un saludo.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54203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68833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65176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horas como texto, conviértelas a int y calcula minutos.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77647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388620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Ejecuta con un número válido y registra salida esperada y observada.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01091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515721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12064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Ejecuta con hola, identifica cuándo falla y explica por qué.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demostrar la 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212 · H1 — Primer asistente ejecutable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120929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Uso una sola instancia de Scanner.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54431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526029"/>
            <a:ext cx="9829800" cy="120929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La entrada afecta a la salida o al cálculo.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79018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771900"/>
            <a:ext cx="9829800" cy="120929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Distingo nextLine, parseInt y parseDouble.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503605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5017770"/>
            <a:ext cx="9829800" cy="120929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Distingo error de compilación y error de ejecución.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Comprobación final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212 · H1 — Primer asistente ejecutable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devuelve nextLine() y en qué se diferencian parseInt y parseDouble?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TRAZABILIDAD DEL 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Fuentes diferenciadas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212 · H1 — Primer asistente ejecutable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17320"/>
            <a:ext cx="10515600" cy="6583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2300" b="1">
                <a:solidFill>
                  <a:srgbClr val="1C2330"/>
                </a:solidFill>
                <a:latin typeface="Aptos"/>
              </a:defRPr>
            </a:pPr>
            <a:r>
              <a:t>Esta presentación selecciona y adapta contenido; no sustituye al libro ni copia el PDF completo.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468880"/>
            <a:ext cx="10058400" cy="233172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000">
                <a:solidFill>
                  <a:srgbClr val="1C2330"/>
                </a:solidFill>
                <a:latin typeface="Aptos"/>
              </a:defRPr>
            </a:pPr>
            <a:r>
              <a:t>•  Libro por hitos · Capítulo 02: Scanner y parseo</a:t>
            </a:r>
          </a:p>
          <a:p>
            <a:pPr>
              <a:spcAft>
                <a:spcPts val="900"/>
              </a:spcAft>
              <a:defRPr sz="2000">
                <a:solidFill>
                  <a:srgbClr val="1C2330"/>
                </a:solidFill>
                <a:latin typeface="Aptos"/>
              </a:defRPr>
            </a:pPr>
            <a:r>
              <a:t>•  PDF Tema 1 · §§4 y 6: entrada y conversiones</a:t>
            </a:r>
          </a:p>
          <a:p>
            <a:pPr>
              <a:spcAft>
                <a:spcPts val="900"/>
              </a:spcAft>
              <a:defRPr sz="2000">
                <a:solidFill>
                  <a:srgbClr val="1C2330"/>
                </a:solidFill>
                <a:latin typeface="Aptos"/>
              </a:defRPr>
            </a:pPr>
            <a:r>
              <a:t>•  Proyecto MiniJarvis · fichas S206-S215, píldoras H1 y criterios de evidencia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257800"/>
            <a:ext cx="1024128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800" b="1">
                <a:solidFill>
                  <a:srgbClr val="2F5BA8"/>
                </a:solidFill>
                <a:latin typeface="Aptos"/>
              </a:defRPr>
            </a:pPr>
            <a:r>
              <a:t>Consulta el libro para ampliar, practicar y repasar errores frecuentes.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