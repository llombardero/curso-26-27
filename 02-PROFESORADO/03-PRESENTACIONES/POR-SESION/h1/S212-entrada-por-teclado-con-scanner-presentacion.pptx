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0–4 min: duración compartida 240 segundos. Trabajo: Presentar el flujo completo y predecir qué devuelve nextLine(). Función del soporte: explicación.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que utilizará el alumnado.</a:t>
            </a:r>
          </a:p>
          <a:p>
            <a:r>
              <a:t>- [ ] Preparar entradas ficticias para una lectura de texto, una conversión válida y otra no convertible.</a:t>
            </a:r>
          </a:p>
          <a:p>
            <a:r>
              <a:t>- [ ] Comprobar que el entorno muestra con claridad los mensajes de compilación y de ejecución.</a:t>
            </a:r>
          </a:p>
          <a:p>
            <a:r>
              <a:t>- [ ] Reservar el final para contrastar una predicción con el resultado observado.</a:t>
            </a:r>
          </a:p>
          <a:p/>
          <a:p>
            <a:r>
              <a:t>Facilitación docente · Apertura docente</a:t>
            </a:r>
          </a:p>
          <a:p>
            <a:r>
              <a:t>&gt; Hasta ahora muchos datos los decidía quien programaba. Hoy MiniJarvis empezará a recibir datos de quien lo ejecuta. Para conseguirlo necesitamos pedir, leer, guardar, convertir cuando haga falta, utilizar el dato y mostrar un resultado.</a:t>
            </a:r>
          </a:p>
          <a:p/>
          <a:p>
            <a:r>
              <a:t>Pregunta inicial:</a:t>
            </a:r>
          </a:p>
          <a:p/>
          <a:p>
            <a:r>
              <a:t>&gt; Si escribimos `5` en el teclado, ¿`nextLine()` entrega directamente un número o entrega texto?</a:t>
            </a:r>
          </a:p>
          <a:p/>
          <a:p>
            <a:r>
              <a:t>Observación · Observación docente</a:t>
            </a:r>
          </a:p>
          <a:p>
            <a:r>
              <a:t>Durante el intento individual y el contraste por parejas, observa específicamente:</a:t>
            </a:r>
          </a:p>
          <a:p/>
          <a:p>
            <a:r>
              <a:t>- que sabe que `nextLine()` devuelve un `String`;</a:t>
            </a:r>
          </a:p>
          <a:p>
            <a:r>
              <a:t>- que identifica la variable que recibe el dato;</a:t>
            </a:r>
          </a:p>
          <a:p>
            <a:r>
              <a:t>- que distingue leer, almacenar y utilizar;</a:t>
            </a:r>
          </a:p>
          <a:p>
            <a:r>
              <a:t>- que crea una instancia razonablemente reutilizable de `Scanner`;</a:t>
            </a:r>
          </a:p>
          <a:p>
            <a:r>
              <a:t>- que diferencia `String` de un tipo numérico;</a:t>
            </a:r>
          </a:p>
          <a:p>
            <a:r>
              <a:t>- que reconoce cuándo necesita `Integer.parseInt` o `Double.parseDouble`;</a:t>
            </a:r>
          </a:p>
          <a:p>
            <a:r>
              <a:t>- que realiza un cálculo y muestra su resultado;</a:t>
            </a:r>
          </a:p>
          <a:p>
            <a:r>
              <a:t>- que produce y muestra una comparación booleana sin usarla para decidir el flujo;</a:t>
            </a:r>
          </a:p>
          <a:p>
            <a:r>
              <a:t>- que explica la diferencia entre parseo, conversión implícita y casting;</a:t>
            </a:r>
          </a:p>
          <a:p>
            <a:r>
              <a:t>- que predice la pérdida de información antes de ejecutar el casting;</a:t>
            </a:r>
          </a:p>
          <a:p>
            <a:r>
              <a:t>- que distingue error de compilación y error de ejecución;</a:t>
            </a:r>
          </a:p>
          <a:p>
            <a:r>
              <a:t>- que puede explicar la causa de `NumberFormatException` en el nivel trabajado;</a:t>
            </a:r>
          </a:p>
          <a:p>
            <a:r>
              <a:t>- que prueba con datos ficticios y no introduce datos personales ni credenciales.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la solución completa. Utiliza la ayuda mínima necesaria:</a:t>
            </a:r>
          </a:p>
          <a:p/>
          <a:p>
            <a:r>
              <a:t>- **No encuentra el dato leído:** pide que señale la variable situada a la izquierda de `teclado.nextLine()`.</a:t>
            </a:r>
          </a:p>
          <a:p>
            <a:r>
              <a:t>- **Lee pero no utiliza:** pregunta en qué instrucción posterior vuelve a aparecer la variable.</a:t>
            </a:r>
          </a:p>
          <a:p>
            <a:r>
              <a:t>- **Intenta operar con un `String`:** pregunta qué tipo necesita la operación y qué tipo devuelve `nextLine()`.</a:t>
            </a:r>
          </a:p>
          <a:p>
            <a:r>
              <a:t>- **Confunde parseo y casting:** pregunta si el valor de origen es texto o ya es un número.</a:t>
            </a:r>
          </a:p>
          <a:p>
            <a:r>
              <a:t>- **No entiende `(int) 3.999`:** exige una predicción y separa parte entera y parte decimal antes de ejecutar.</a:t>
            </a:r>
          </a:p>
          <a:p>
            <a:r>
              <a:t>- **Aparece `NumberFormatException`:** pide copiar verbalmente el texto exacto que se intentó convertir y localizar la llamada de parseo.</a:t>
            </a:r>
          </a:p>
          <a:p>
            <a:r>
              <a:t>- **Confunde compilación y ejecución:** pregunta si el programa llegó a iniciarse y en qué momento apareció el mensaje.</a:t>
            </a:r>
          </a:p>
          <a:p>
            <a:r>
              <a:t>- **Cambia código al azar:** aísla lectura, almacenamiento, conversión y uso, y comprueba cada paso por separado.</a:t>
            </a:r>
          </a:p>
          <a:p>
            <a:r>
              <a:t>- **Una persona resuelve todo:** pide a la otra que explique el recorrido y prediga una nueva entrada antes de ejecutarla.</a:t>
            </a:r>
          </a:p>
          <a:p/>
          <a:p>
            <a:r>
              <a:t>Facilitación docente · Límite de la sesión</a:t>
            </a:r>
          </a:p>
          <a:p>
            <a:r>
              <a:t>Los valores de prueba sirven para comprobar lectura, conversión, cálculo y una comparación booleana observable. Los operadores lógicos complejos, `if`, `if/else` y cualquier bifurcación comienzan en H2; no forman parte de S212.</a:t>
            </a:r>
          </a:p>
          <a:p/>
          <a:p>
            <a:r>
              <a:t>Facilitación docente · Errores frecuentes que debes cortar</a:t>
            </a:r>
          </a:p>
          <a:p>
            <a:r>
              <a:t>- Creer que `nextLine()` devuelve un número porque se han escrito cifras.</a:t>
            </a:r>
          </a:p>
          <a:p>
            <a:r>
              <a:t>- Crear un nuevo `Scanner` para cada lectura sin necesidad.</a:t>
            </a:r>
          </a:p>
          <a:p>
            <a:r>
              <a:t>- Leer un dato, guardarlo y no utilizarlo.</a:t>
            </a:r>
          </a:p>
          <a:p>
            <a:r>
              <a:t>- Intentar multiplicar o sumar un `String` como si ya fuera un número.</a:t>
            </a:r>
          </a:p>
          <a:p>
            <a:r>
              <a:t>- Confundir `Integer.parseInt(texto)` con un casting numérico.</a:t>
            </a:r>
          </a:p>
          <a:p>
            <a:r>
              <a:t>- Esperar que `(int) 3.999` redondee a 4.</a:t>
            </a:r>
          </a:p>
          <a:p>
            <a:r>
              <a:t>- Decir que `NumberFormatException` es un error de compilación.</a:t>
            </a:r>
          </a:p>
          <a:p>
            <a:r>
              <a:t>- Cambiar código al azar sin aislar lectura, conversión y uso.</a:t>
            </a:r>
          </a:p>
          <a:p/>
          <a:p>
            <a:r>
              <a:t>Ritmo fuente · Temporalización orientativa</a:t>
            </a:r>
          </a:p>
          <a:p>
            <a:r>
              <a:t>0–4 min — Presentar el flujo completo y predecir qué devuelve nextLine().</a:t>
            </a:r>
          </a:p>
          <a:p/>
          <a:p>
            <a:r>
              <a:t>4–12 min — Explicar importación, instancia reutilizable, petición, lectura, almacenamiento y uso.</a:t>
            </a:r>
          </a:p>
          <a:p/>
          <a:p>
            <a:r>
              <a:t>12–22 min — Núcleo práctico individual: usar Scanner, leer con nextLine(), almacenar, parsear, calcular y mostrar una comparación booleana sin bifurcación.</a:t>
            </a:r>
          </a:p>
          <a:p/>
          <a:p>
            <a:r>
              <a:t>22–30 min — Núcleo práctico por parejas: comparar implementaciones, contrastar predicciones y analizar una entrada no convertible.</a:t>
            </a:r>
          </a:p>
          <a:p/>
          <a:p>
            <a:r>
              <a:t>30–36 min — Contraste guiado: distinguir conversión implícita y casting; usar (int) 3.999 como predicción central sobre pérdida de información.</a:t>
            </a:r>
          </a:p>
          <a:p/>
          <a:p>
            <a:r>
              <a:t>36–40 min — Caso breve de análisis: reconocer NumberFormatException y distinguir error de compilación y de ejecución.</a:t>
            </a:r>
          </a:p>
          <a:p/>
          <a:p>
            <a:r>
              <a:t>40–45 min — Comprobar la prueba, explicar el recorrido del dato y cerrar.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0–4 min: duración compartida 240 segundos. Trabajo: Presentar el flujo completo y predecir qué devuelve nextLine().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Reutilizar la misma instancia</a:t>
            </a:r>
          </a:p>
          <a:p>
            <a:r>
              <a:t>Puede leer una línea, pero no será el modelo de H1 porque oculta la reutilización. El modelo será crear `Scanner teclado = new Scanner(System.in);` una vez y leer después mediante `teclado.nextLine()`.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Leer no es lo mismo que utilizar</a:t>
            </a:r>
          </a:p>
          <a:p>
            <a:r>
              <a:t>En ambos casos el dato se lee y se almacena. Solo en el primero afecta a la salida.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Parsear texto para obtener un número</a:t>
            </a:r>
          </a:p>
          <a:p>
            <a:r>
              <a:t>Leer cifras con `nextLine()` sigue produciendo un `String`. Para operar numéricamente hay que transformar ese texto en un valor numérico compatible.</a:t>
            </a:r>
          </a:p>
          <a:p/>
          <a:p>
            <a:r>
              <a:t>&gt; `horas &gt;= 4` produce un `boolean`. En H1 lo almacenamos y mostramos; no lo utilizamos con `if` ni para elegir caminos de ejecución.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Parsear texto para obtener un número</a:t>
            </a:r>
          </a:p>
          <a:p>
            <a:r>
              <a:t>Leer cifras con `nextLine()` sigue produciendo un `String`. Para operar numéricamente hay que transformar ese texto en un valor numérico compatible.</a:t>
            </a:r>
          </a:p>
          <a:p/>
          <a:p>
            <a:r>
              <a:t>&gt; `horas &gt;= 4` produce un `boolean`. En H1 lo almacenamos y mostramos; no lo utilizamos con `if` ni para elegir caminos de ejecución.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parseDouble y parseBoolean</a:t>
            </a:r>
          </a:p>
          <a:p>
            <a:r>
              <a:t>En esta sesión se practican principalmente `Integer.parseInt(...)` y `Double.parseDouble(...)`. `Boolean.parseBoolean(...)` aparece solo para reconocer que también existe conversión desde texto a un valor booleano.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actividad.</a:t>
            </a:r>
          </a:p>
          <a:p/>
          <a:p>
            <a:r>
              <a:t>Detalle para la explicación oral · Leer, convertir, predecir y probar — INDIVIDUAL</a:t>
            </a:r>
          </a:p>
          <a:p>
            <a:r>
              <a:t>&gt; Pide unas horas como texto, conviértelas a `int`, calcula los minutos, compara las horas con una referencia y muestra tanto el cálculo como el resultado `boolean`. No utilices ese resultado para decidir instrucciones. Predice primero la salida para una entrada válida. Después prueba una entrada no convertible y explica qué instrucción falla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>
            <a:r>
              <a:t>Detalle para la explicación oral · Error de ejecución: NumberFormatException</a:t>
            </a:r>
          </a:p>
          <a:p>
            <a:r>
              <a:t>En H1 basta con reconocer la causa, identificar el texto que se intentó convertir y distinguir el momento del fallo. No introduzcas todavía tratamiento avanzado de excepciones.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>
            <a:r>
              <a:t>Detalle para la explicación oral · Error de ejecución: NumberFormatException</a:t>
            </a:r>
          </a:p>
          <a:p>
            <a:r>
              <a:t>En H1 basta con reconocer la causa, identificar el texto que se intentó convertir y distinguir el momento del fallo. No introduzcas todavía tratamiento avanzado de excepciones.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Comprobar la prueba, explicar el recorrido del dato y cerrar.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confusión frecuente que conviene retomar, bloqueo técnico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Hoy MiniJarvis recibe texto con `nextLine()`, lo convierte, calcula y muestra una comparación booleana. El programa sigue siendo secuencial: utilizar ese resultado para decidir instrucciones corresponde a H2. También comprobamos qué ocurre con una entrada no convertible.</a:t>
            </a:r>
          </a:p>
          <a:p/>
          <a:p>
            <a:r>
              <a:t>Facilitación docente · Comprueba lo aprendido</a:t>
            </a:r>
          </a:p>
          <a:p>
            <a:r>
              <a:t>&gt; ¿Qué devuelve `nextLine()`, dónde se almacena, cuándo necesitas parsear, qué cálculo y comparación se realizan, qué `boolean` se muestra y por qué `Integer.parseInt("hola")` puede provocar una `NumberFormatException` durante la ejecución aunque el programa compile?</a:t>
            </a:r>
          </a:p>
          <a:p/>
          <a:p>
            <a:r>
              <a:t>&gt; ¿Dónde se reutiliza el `Scanner`, en qué se diferencian parseo, conversión implícita y casting, y qué información se pierde al convertir `(int) 3.999`?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Comprobar la prueba, explicar el recorrido del dato y cerrar.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confusión frecuente que conviene retomar, bloqueo técnico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Hoy MiniJarvis recibe texto con `nextLine()`, lo convierte, calcula y muestra una comparación booleana. El programa sigue siendo secuencial: utilizar ese resultado para decidir instrucciones corresponde a H2. También comprobamos qué ocurre con una entrada no convertible.</a:t>
            </a:r>
          </a:p>
          <a:p/>
          <a:p>
            <a:r>
              <a:t>Facilitación docente · Comprueba lo aprendido</a:t>
            </a:r>
          </a:p>
          <a:p>
            <a:r>
              <a:t>&gt; ¿Qué devuelve `nextLine()`, dónde se almacena, cuándo necesitas parsear, qué cálculo y comparación se realizan, qué `boolean` se muestra y por qué `Integer.parseInt("hola")` puede provocar una `NumberFormatException` durante la ejecución aunque el programa compile?</a:t>
            </a:r>
          </a:p>
          <a:p/>
          <a:p>
            <a:r>
              <a:t>&gt; ¿Dónde se reutiliza el `Scanner`, en qué se diferencian parseo, conversión implícita y casting, y qué información se pierde al convertir `(int) 3.999`?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Scanner, lectura, conversiones y errores de ejecución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Ejecutar — crear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 → contraste por parejas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"title", "plan_index": 0, "recognition": false, "unit_ids": ["unit-0", "unit-1", "unit-2", "unit-17", "unit-18", "unit-19", "unit-13", "unit-22", "unit-23", "unit-24", "unit-25", "unit-26", "unit-27", "unit-28"], "roles": {"unit-0": "core", "unit-1": "core", "unit-2": "core", "unit-17": "core", "unit-18": "core", "unit-19": "unknown", "unit-13": "core", "unit-22": "core", "unit-23": "core", "unit-24": "core", "unit-25": "core", "unit-26": "core", "unit-27": "core", "unit-28": "core"}, "source_refs": [{"source": "teacher", "heading": "Qué vas a aprender",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20, "fragment": 0}, {"source": "teacher", "heading": "Andamiaje ante bloqueos", "block_index": 21, "fragment": 0}, {"source": "teacher", "heading": "Límite de la sesión", "block_index": 22, "fragment": 0}, {"source": "teacher", "heading": "Errores frecuentes que debes cortar", "block_index": 15, "fragment": 0}, {"source": "teacher", "heading": "Ideas y ejemplos", "block_index": 4,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"a3067fadeb174efede162ee403bcc098cb158a56e5ba10b30931e645b659b35d"}, {"function": "explanations", "heading": "Apertura docente", "sha256": "e4f600617e7990ed53e5633bd78b47f45388ebc5f44820786b2b21c4d78c04df"}, {"function": "explanations", "heading": "Apertura docente", "sha256": "ce1f0857d26380a2db4fa3a708eee1789fad11e95e032b739b314d5785066212"}, {"function": "explanations", "heading": "Apertura docente", "sha256": "e047b115652e71b06ea6c3bd537bfbfd81268d1daf232009e630fa8ff2f7524f"}, {"function": "explanations", "heading": "Apertura docente", "sha256": "961a36ac1093894fee007ef1fca1e4742fada4cd15b2c78a5cc5f7df8caa61e0"}, {"function": "observation", "heading": "Observación docente", "sha256": "2e9c80d870522826e7567ba0fa7d8a1669df1afe27478998cd1b11535b2abe46"}, {"function": "observation", "heading": "Observación docente", "sha256": "7ea60e9b6edc1cb92b7f47eb9d39770d0a18f7cc0ad6e638bbd69f4505996c1a"}, {"function": "scaffolding", "heading": "Andamiaje ante bloqueos", "sha256": "7a2b37a8cf6a0f40e92ea4d97dfc9b9ebd96ce4b3c88433a1c2074d1a43b08ba"}, {"function": "scaffolding", "heading": "Andamiaje ante bloqueos", "sha256": "31d258a047a69a4a8da955003f7ac6b2db41b956444157b8734cf7f26ac053cc"}, {"function": "other", "heading": "Límite de la sesión", "sha256": "4c822bc80c164ddec145450761253207645014f0a852d934d0648f6f03458146"}, {"function": "common_error", "heading": "Errores frecuentes que debes cortar", "sha256": "88e6c965d7fd538458d3776e1d35ff43a4cf568f9e67cf26341fc02d50ac02dc"}, {"function": "timeline", "heading": "Temporalización orientativa", "sha256": "4ad1c0a0969811e89ac56ec8e8a84578d3b48d1635826aac73a35914cc82f3d2"}, {"function": "timeline", "heading": "Temporalización orientativa", "sha256": "0587a0ab30f41e5a062a6df24a32afccac70c03c5d7c8bc4a9ce88e7cdaf6c3c"}, {"function": "timeline", "heading": "Temporalización orientativa", "sha256": "4730a34595da4e9191aaea7f3ae5eac1527294bdc1d68439481612dfa860f3ec"}, {"function": "timeline", "heading": "Temporalización orientativa", "sha256": "81636e380c287f2b709054f6905cd4e8125c6024ef064e7a5bcefb5b7ac58b5d"}, {"function": "timeline", "heading": "Temporalización orientativa", "sha256": "7164a78ecce26814679cb52ea33be37c80d9316cef04f24ec9d8cb6f5272deb1"}, {"function": "timeline", "heading": "Temporalización orientativa", "sha256": "a8593f90131e5949510e38c0a4e4648c3730d232dc946874166449aa3917d5a0"}, {"function": "timeline", "heading": "Temporalización orientativa", "sha256": "478459fc4f16cb0b69af127f88127cd53cab4f85b539755a0cb4fc88291e2f77"}],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"0–4 min", "source_seconds": 240, "is_owner": false, "function": "concepts"}], "clock_intervals": [0], "presenter_notes": "Reloj fuente 0–4 min: duración compartida 240 segundos. Trabajo: Presentar el flujo completo y predecir qué devuelve nextLine(). Función del soporte: explicación.", "shared_intervals": [{"source_index": 0, "source_time": "0–4 min", "seconds": 240, "is_owner": false, "function": "concepts", "action": "Presentar el flujo completo y predecir qué devuelve nextLine().",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12039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cada persona debe poder pedir un dato, leerlo con una instancia reutilizable de Scanner, guardarlo, convertirlo, realizar un cálculo y producir y mostrar una comparación booleana sin bifurcar el flujo.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629152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También debe distinguir parseo, conversión implícita y casting, y explicar por qué una entrada no convertible puede provocar una NumberFormatException durante la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"a224d4fd279576dc466420a73162aafb4ce6a505b80a5adaadd8276b217f2b06"}, {"index": 1, "sha256": "6b08f28e09a6d7ed1ebf3effde11d30ae12066eb2b571ac6465a17b5ff7c8924"}], "notes_sources": [], "relations": {"unit_relations": {"unit-0": {}}, "schedule": null, "source_supports_enriched": true}, "timeline_refs": [0], "composition": {"origin_slides": [2]}, "timing": {"seconds": 240, "allocations": [{"source_index": 0, "seconds": 240, "decision": "Intervalo compartido íntegro; propietario contable seleccionado por función de actividad y referencia timeline de unidad (identidad semántica en empates). Propietario. ", "source_time": "0–4 min", "source_seconds": 240, "is_owner": true, "function": "concepts"}], "clock_intervals": [0], "presenter_notes": "Reloj fuente 0–4 min: duración compartida 240 segundos. Trabajo: Presentar el flujo completo y predecir qué devuelve nextLine(). Función del soporte: explicación.", "shared_intervals": [{"source_index": 0, "source_time": "0–4 min", "seconds": 240, "is_owner": true, "function": "concepts", "action": "Presentar el flujo completo y predecir qué devuelve nextLine().",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Scanner permite leer lo que una persona escribe.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064512"/>
            <a:ext cx="10881360" cy="368503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import java.util.Scanner;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Scanner teclado = new Scanner(System.in);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System.out.print("Escribe un nombre ficticio: 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System.out.println("Hola, " + nombreUsuario);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0, "sha256": "cbc2f76107ba0239d38ebbb5b1d9b7a6a90a994183000cda4f4042cc253683a4"}, {"index": 1, "sha256": "5a4a201e9874b9efd49bf767476d21fd2ce9fa1e9e0a4a359a64760521d90416"}],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"source_supports_enriched": true}, "timeline_refs": [1], "composition": {"origin_slides": [3, 4, 5]}, "timing": {"seconds": 480, "allocations": [{"source_index": 1, "seconds": 480, "decision": "Intervalo compartido íntegro; propietario contable seleccionado por función de actividad y referencia timeline de unidad (identidad semántica en empates). Propietario. ", "source_time": "4–12 min", "source_seconds": 480, "is_owner": true,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true, "function": "concept", "action": "Explicar importación, instancia reutilizable, petición, lectura, almacenamiento y uso.", "concurrent": false, "parallel_work": ""}]}, "code_blocks": ["import java.util.Scanner;\n\npublic class Main {\n    public static void main(String[] argumentos) {\n        Scanner teclado = new Scanner(System.in);\n\n        System.out.print(\"Escribe un nombre ficticio: \");\n        String nombreUsuario = teclado.nextLine();\n\n        System.out.println(\"Hola, \" + nombreUsuario);\n    }\n}"],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import java.util.Scanner hace disponible la clase.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new Scanner(System.in) prepara la lectura desde la entrada estándar.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variable teclado guarda la instancia para reutilizarla.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nextLine() espera una línea y devuelve un String.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9410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nombreUsuario almacena el dato leído.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9410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última instrucción utiliza ese dato en la salida.</a:t>
            </a:r>
          </a:p>
        </p:txBody>
      </p:sp>
      <p:sp>
        <p:nvSpPr>
          <p:cNvPr id="11" name="Contenido" descr="Contenido"/>
          <p:cNvSpPr txBox="1"/>
          <p:nvPr/>
        </p:nvSpPr>
        <p:spPr>
          <a:xfrm>
            <a:off x="640080" y="5202936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H1 basta con esta explicación operativa.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2, "sha256": "c0e841774e46973b31a265905c04e884c54a251243c465c3dcad815f2d606a1e"}, {"index": 3, "sha256": "2d8b4ec7da5189658d886f24d6e9502a841b78ae1cb882713c6e947a0caa31fa"}],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parte prepara la lectura, qué variable guarda el Scanner, qué devuelve teclado.nextLine() y dónde queda almacenado el dato?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TECLADO → nextLine() → String → variable → programa → salida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4, "sha256": "43c3e3c63ab55c203531fea0c4b030199d666ed5fa1970e9d2050d6df0c972b2"}, {"index": 6, "sha256": "8a8cdfe41d394f43275fc926a317aac6a7ae41e474bee7dd2c5d9dc7f35ef205"}],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"presentation_normalizations": {"TECLADO -&gt; nextLine() -&gt; String -&gt; variable -&gt; programa -&gt; salida": "TECLADO → nextLine() → String → variable → programa → salida"},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Reutilizar la misma instancia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Reutiliza la misma instancia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System.out.print("Escribe las horas de estudio: 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</p:txBody>
      </p:sp>
      <p:sp>
        <p:nvSpPr>
          <p:cNvPr id="7" name="Etiqueta alternativa 1" descr="Etiqueta alternativa 1"/>
          <p:cNvSpPr txBox="1"/>
          <p:nvPr/>
        </p:nvSpPr>
        <p:spPr>
          <a:xfrm>
            <a:off x="640080" y="2992374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Contraste · no modelo de H1</a:t>
            </a:r>
          </a:p>
        </p:txBody>
      </p:sp>
      <p:sp>
        <p:nvSpPr>
          <p:cNvPr id="8" name="Contraste 1" descr="Contraste 1"/>
          <p:cNvSpPr txBox="1"/>
          <p:nvPr/>
        </p:nvSpPr>
        <p:spPr>
          <a:xfrm>
            <a:off x="640080" y="3495294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new Scanner(System.in).nextLine();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3980688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¿Hemos creado otro Scanner o hemos reutilizado el mismo? ¿En qué variable queda la línea leída antes de convertirla?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517855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Puede leer una línea, pero no será el modelo de H1 porque oculta la reutilización.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"comparison", "plan_index": 1, "recognition": false, "unit_ids": ["unit-4"], "roles": {"unit-4": "core"}, "source_refs": [{"source": "teacher", "heading": "Reutilizar la misma instancia", "block_index": 6, "fragment": 0}, {"source": "teacher", "heading": "Ideas y ejemplos", "block_index": 4, "fragment": 0}], "visible_sources": [{"index": 8, "sha256": "ce949d51b23f56adcb69ba9db3e93fd4e6594fad858a9f16e486da2891e8463b"}, {"index": 9, "sha256": "dd89dc8631503755f78e8268d7fba46ee66f36a38c1b91f636bf44acafb619fa"}, {"index": 11, "sha256": "1cad398e47e1014569908a00a07867ce3c82cf08ed4382cedf555a4bb4489e16"}, {"index": 12, "sha256": "f8c0431bf6461090f6edd306c258435d652f481ac26b6d2a8c73ba741b0317f2"}], "notes_sources": [{"function": "facilitation", "heading": "Reutilizar la misma instancia", "sha256": "751603f100280bdb647949178a5fc79f919f56d1666fcc3868275698fd31cbb1"}, {"function": "facilitation", "heading": "Reutilizar la misma instancia", "sha256": "b940d210daa87a54320bb2615b3cdedbc6a79bac32d3bf2fe7d5d54113737b6a"}, {"function": "visible_detail", "heading": "Reutilizar la misma instancia", "sha256": "f8c0431bf6461090f6edd306c258435d652f481ac26b6d2a8c73ba741b0317f2"}], "relations": {"unit_relations": {"unit-4": {"question_context": ["context", "question"]}}, "schedule": null, "comparison_layout": "stacked_with_context",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["System.out.print(\"Escribe las horas de estudio: \");\nString texto = teclado.nextLine();\nint horas = Integer.parseInt(texto);", "String nombreUsuario = new Scanner(System.in).nextLine();"],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 no es lo mismo que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Lee y utiliza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nombreUsuario);</a:t>
            </a:r>
          </a:p>
        </p:txBody>
      </p:sp>
      <p:sp>
        <p:nvSpPr>
          <p:cNvPr id="7" name="Etiqueta alternativa 1" descr="Etiqueta alternativa 1"/>
          <p:cNvSpPr txBox="1"/>
          <p:nvPr/>
        </p:nvSpPr>
        <p:spPr>
          <a:xfrm>
            <a:off x="640080" y="2699004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Lee sin utilizar</a:t>
            </a:r>
          </a:p>
        </p:txBody>
      </p:sp>
      <p:sp>
        <p:nvSpPr>
          <p:cNvPr id="8" name="Contraste 1" descr="Contraste 1"/>
          <p:cNvSpPr txBox="1"/>
          <p:nvPr/>
        </p:nvSpPr>
        <p:spPr>
          <a:xfrm>
            <a:off x="640080" y="320192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3980688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ambos casos el dato se lee y se almacena.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5079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¿Dónde queda almacenado el dato en cada fragmento? ¿En cuál de ellos se utiliza después? ¿Qué diferencia observable produce?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"comparison", "plan_index": 2, "recognition": false, "unit_ids": ["unit-5"], "roles": {"unit-5": "core"}, "source_refs": [{"source": "teacher", "heading": "Leer no es lo mismo que utilizar", "block_index": 7, "fragment": 0}, {"source": "teacher", "heading": "Ideas y ejemplos", "block_index": 4, "fragment": 0}], "visible_sources": [{"index": 1, "sha256": "829de6650426fc0c8f8928cc4f685fb7f5ef5d3fd1b3abf0c56e5b17be452125"}, {"index": 2, "sha256": "161d7ef17c91ecab84f0ccda74ca584016a2a6a8977da292a53fa5d7ade2f38e"}, {"index": 3, "sha256": "1a6e5b02f60280c42c237635998730c957461835e53bb41fe4f6b6218ac51f22"}, {"index": 4, "sha256": "8508ccfa3c69dfd07f4746d6e59007c50ba74195569469974380867a9926b3d4"}], "notes_sources": [{"function": "concept", "heading": "Leer no es lo mismo que utilizar", "sha256": "df9acf2e0cc9e2f7147f4ae4b90b1e1f9eeda1377e5dbfd9739ecfa79384031d"}, {"function": "facilitation", "heading": "Leer no es lo mismo que utilizar", "sha256": "dfb221ea8b691ec6b9dd242dd5b2c525ce0d25ef61faccb3947828bd5879a314"}, {"function": "visible_detail", "heading": "Leer no es lo mismo que utilizar", "sha256": "1a6e5b02f60280c42c237635998730c957461835e53bb41fe4f6b6218ac51f22"}], "relations": {"unit_relations": {"unit-5": {"question_context": ["context", "question"], "contrast": ["example", "counterexample"]}}, "schedule": null, "comparison_layout": "stacked_with_context", "source_supports_enriched": true}, "timeline_refs": [2], "composition": {"origin_slides": [8]},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nombreUsuario = teclado.nextLine();\nSystem.out.println(\"Hola, \" + nombreUsuario);", "String nombreUsuario = teclado.nextLine();\nSystem.out.println(\"Hola\");"],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Parsear texto para obtener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Leer cifras con nextLine() sigue produciendo un String.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45567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"5";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29844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String → parseo → número</a:t>
            </a:r>
          </a:p>
        </p:txBody>
      </p:sp>
      <p:sp>
        <p:nvSpPr>
          <p:cNvPr id="8" name="Código editable" descr="Código editable"/>
          <p:cNvSpPr txBox="1"/>
          <p:nvPr/>
        </p:nvSpPr>
        <p:spPr>
          <a:xfrm>
            <a:off x="640080" y="3945636"/>
            <a:ext cx="10881360" cy="19248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minutos = horas * 60;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alcanzaReferencia = horas &gt;=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System.out.println(minutos);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System.out.println(alcanzaReferencia);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2, "recognition": false, "unit_ids": ["unit-6"], "roles": {"unit-6": "core"}, "source_refs": [{"source": "teacher", "heading": "Parsear texto para obtener un número", "block_index": 8, "fragment": 0}, {"source": "teacher", "heading": "Ideas y ejemplos", "block_index": 4, "fragment": 0}], "visible_sources": [{"index": 5, "sha256": "79830f3ce9436372074c5ef0b454a51ec9ac4ff6022833a2b073d058dffd5998"}, {"index": 6, "sha256": "d9bff3a0b82503c4d642f0fd6efb4490fcedbe1d9ff5495d0a7bbde405729de7"}, {"index": 8, "sha256": "9687046121d7a64adf5ef69a25a86ee5b76d220db799b37e0af07d3046913369"}, {"index": 10, "sha256": "db509dc5e7fddf983b0b6a89e92dd7ac2c96b71fece23ec8a17c8f6af976146b"}], "notes_sources": [{"function": "visible_detail", "heading": "Parsear texto para obtener un número", "sha256": "79830f3ce9436372074c5ef0b454a51ec9ac4ff6022833a2b073d058dffd5998"}, {"function": "facilitation", "heading": "Parsear texto para obtener un número", "sha256": "cdd72339db576213907886645ecc00e3a26cd19abb961dd7d04d3511edf6b440"}, {"function": "facilitation", "heading": "Parsear texto para obtener un número", "sha256": "880be94128932778cc96e863e0099c9a5c298fd4d81ea4d60705e050e5de9a0a"}, {"function": "facilitation", "heading": "Parsear texto para obtener un número", "sha256": "de4811ac88e323b39c819a0e89127dba4a89592f7332a8ec3af44b33d6ec1803"}, {"function": "facilitation", "heading": "Parsear texto para obtener un número", "sha256": "fb46e45ed9ce483b29b080f2f4e01268f058a4ab9eb9c642c92311f3632fd2fc"}, {"function": "visible_detail", "heading": "Parsear texto para obtener un número", "sha256": "e0c7bcc139019d2245719725257cb3ddfda13f612f37587ae99cf5b7fdfc0394"}], "relations": {"unit_relations": {"unit-6": {"prediction_cycle": ["prediction", "execution", "contrast"], "question_context": ["context", "question"]}}, "schedule": null, "presentation_normalizations": {"String -&gt; parseo -&gt; número": "String → parseo → número"}, "source_supports_enriched": true}, "timeline_refs": [2], "composition": {"origin_slides": [9, 10, 11]},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texto = \"5\";\nint horas = Integer.parseInt(texto);", "String texto = teclado.nextLine();\nint horas = Integer.parseInt(texto);\nint minutos = horas * 60;\nboolean alcanzaReferencia = horas &gt;= 4;\nSystem.out.println(minutos);\nSystem.out.println(alcanzaReferencia);"],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Parsear texto para obtener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la entrada es 2, ¿qué guarda texto, qué guarda horas, qué cálculo se muestra y qué valor tiene alcanzaReferencia?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Después de ejecutar, contrasta la salida observada con la predicción.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88518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horas &gt;= 4 produce un boolean.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2, "recognition": false, "unit_ids": ["unit-6"], "roles": {"unit-6": "core"}, "source_refs": [{"source": "teacher", "heading": "Parsear texto para obtener un número", "block_index": 8, "fragment": 0}, {"source": "teacher", "heading": "Ideas y ejemplos", "block_index": 4, "fragment": 0}], "visible_sources": [{"index": 12, "sha256": "3fcef63e55861cbe090044ba3518c314170175544c1dff3a7c9187814ec4981d"}, {"index": 13, "sha256": "ed35f3a225aeed0c8bf4819d0a5b985080428e61afd09bd37d4b4be77011e8ab"}, {"index": 15, "sha256": "e0c7bcc139019d2245719725257cb3ddfda13f612f37587ae99cf5b7fdfc0394"}], "notes_sources": [{"function": "visible_detail", "heading": "Parsear texto para obtener un número", "sha256": "79830f3ce9436372074c5ef0b454a51ec9ac4ff6022833a2b073d058dffd5998"}, {"function": "facilitation", "heading": "Parsear texto para obtener un número", "sha256": "cdd72339db576213907886645ecc00e3a26cd19abb961dd7d04d3511edf6b440"}, {"function": "facilitation", "heading": "Parsear texto para obtener un número", "sha256": "880be94128932778cc96e863e0099c9a5c298fd4d81ea4d60705e050e5de9a0a"}, {"function": "facilitation", "heading": "Parsear texto para obtener un número", "sha256": "de4811ac88e323b39c819a0e89127dba4a89592f7332a8ec3af44b33d6ec1803"}, {"function": "facilitation", "heading": "Parsear texto para obtener un número", "sha256": "fb46e45ed9ce483b29b080f2f4e01268f058a4ab9eb9c642c92311f3632fd2fc"}, {"function": "visible_detail", "heading": "Parsear texto para obtener un número", "sha256": "e0c7bcc139019d2245719725257cb3ddfda13f612f37587ae99cf5b7fdfc0394"}], "relations": {"unit_relations": {"unit-6": {"prediction_cycle": ["prediction", "execution", "contrast"], "question_context": ["context", "question"]}}, "schedule": null, "source_supports_enriched": true}, "timeline_refs": [2], "composition": {"origin_slides": [9, 10, 11]},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parseDouble y parseBoolean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"7.5";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nota = Double.parseDouble(texto);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tipo tiene texto antes del parseo y qué tipo tiene nota después?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2, "recognition": false, "unit_ids": ["unit-7"], "roles": {"unit-7": "core"}, "source_refs": [{"source": "teacher", "heading": "parseDouble y parseBoolean", "block_index": 9, "fragment": 0}, {"source": "teacher", "heading": "Ideas y ejemplos", "block_index": 4, "fragment": 0}], "visible_sources": [{"index": 16, "sha256": "ae3cff37bf123bbba7070556e6e5b730c201422d71bc825d11511b52d3f7a6a6"}, {"index": 17, "sha256": "871a132947b5033ba3e42992110e248d8b998979e573848d4d3d22577f2c4c91"}], "notes_sources": [{"function": "concept", "heading": "parseDouble y parseBoolean", "sha256": "a50aad84a7f4acf34b5ec832e4f2461546828c983dc6570562f823484e00fbc4"}], "relations": {"unit_relations": {"unit-7": {"question_context": ["context", "question"]}}, "schedule": null, "source_supports_enriched": true}, "timeline_refs": [2], "composition": {"origin_slides": [12]},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texto = \"7.5\";\ndouble nota = Double.parseDouble(texto);"],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parseDouble y parseBoolean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correcto = Boolean.parseBoolean(texto);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esta sesión se practican principalmente Integer.parseInt(...) y Double.parseDouble(...).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2, "recognition": true, "unit_ids": ["unit-8"], "roles": {"unit-8": "recognition"}, "source_refs": [{"source": "teacher", "heading": "parseDouble y parseBoolean", "block_index": 9, "fragment": 1}, {"source": "teacher", "heading": "Ideas y ejemplos", "block_index": 4, "fragment": 0}], "visible_sources": [{"index": 19, "sha256": "5e214fbe203ea20aeb9b32a7826061b79eb50c894582c64976c5a9bb5581b840"}, {"index": 20, "sha256": "5831e10ff85607a8737cc861ca8b1f484a334d4531f13ca0178c9165fb9b9277"}], "notes_sources": [{"function": "facilitation", "heading": "parseDouble y parseBoolean", "sha256": "a24212521e63e3eb6a2384e362f148cc6f36520542c4fe37b7ed6dff6853137a"}, {"function": "visible_detail", "heading": "parseDouble y parseBoolean", "sha256": "5831e10ff85607a8737cc861ca8b1f484a334d4531f13ca0178c9165fb9b9277"}], "relations": {"unit_relations": {"unit-8": {}}, "schedule": null, "source_supports_enriched": true}, "timeline_refs": [2], "composition": {"origin_slides": [13]},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["boolean correcto = Boolean.parseBoolean(texto);"],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con parseo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"4";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otrasHoras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horasDecimales = otrasHoras;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14020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¿En cuál de las dos conversiones partíamos de un String? ¿Cuál necesita parseInt?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17855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Con este contraste, pasa del parseo y la conversión implícita al casting y a su posible pérdida de información.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3, "recognition": false, "unit_ids": ["unit-10"], "roles": {"unit-10": "core"}, "source_refs": [{"source": "teacher", "heading": "Contraste con parseo", "block_index": 12, "fragment": 0}, {"source": "teacher", "heading": "Ideas y ejemplos", "block_index": 4, "fragment": 0}, {"source": "teacher", "heading": "Parseo, conversión implícita y casting no son lo mismo", "block_index": 10, "fragment": 0}], "visible_sources": [{"index": 0, "sha256": "157f1d3055a186d99b0dee93fc71e9444cc48e9a559966bc48193c3380090d76"}, {"index": 1, "sha256": "4294642bf850b0e54321456e1b34fbfcde30474bfd57b287fe547547860f2544"}, {"index": 2, "sha256": "a57f7fcf5b5551b8f06ef7c7afd77d6f1d156721c96a183b2725c52a16226a8f"}], "notes_sources": [{"function": "concept", "heading": "Contraste con parseo", "sha256": "df9acf2e0cc9e2f7147f4ae4b90b1e1f9eeda1377e5dbfd9739ecfa79384031d"}], "relations": {"unit_relations": {"unit-10": {"question_context": ["context", "question"]}}, "schedule": null, "source_supports_enriched": true}, "timeline_refs": [2], "composition": {"origin_slides": [14]},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texto = \"4\";\nint horas = Integer.parseInt(texto);\n\nint otrasHoras = 4;\ndouble horasDecimales = otrasHoras;"],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Leer, convertir, predecir y probar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825752"/>
            <a:ext cx="10881360" cy="25115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contrastar con otra persona, cada estudiante realiza un intento propio: utiliza una instancia reutilizable de Scanner, almacena la lectura, predice el tipo devuelto por nextLine() y distingue si un posible fallo aparece al compilar o al ejecutar.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4428744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Pide unas horas como texto, conviértelas a int, calcula los minutos, compara las horas con una referencia y muestra tanto el cálculo como el resultado boolean.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4, "recognition": false, "unit_ids": ["unit-14"], "roles": {"unit-14": "core"}, "source_refs": [{"source": "teacher", "heading": "Leer, convertir, predecir y probar — INDIVIDUAL", "block_index": 17, "fragment": 0}, {"source": "teacher", "heading": "Secuencia de trabajo y modalidad", "block_index": 16, "fragment": 0}], "visible_sources": [{"index": 0, "sha256": "34a937c5c1d1a33bc1768ab253c0d0861dbcdab988555f5ca59078a4e7607426"}, {"index": 2, "sha256": "6906bceff81cbb43b9cedfdf7b20e426cd310f05237e30915b35e7f75d953af8"}], "notes_sources": [{"function": "facilitation", "heading": "Leer, convertir, predecir y probar — INDIVIDUAL", "sha256": "9d7aa9e883947d88a9e36a225666b753e509e1f562b3f64455cd8850810490f2"}, {"function": "visible_detail", "heading": "Leer, convertir, predecir y probar — INDIVIDUAL", "sha256": "6906bceff81cbb43b9cedfdf7b20e426cd310f05237e30915b35e7f75d953af8"}], "relations": {"unit_relations": {"unit-14": {"prediction_cycle": ["prediction", "execution", "contrast"]}}, "schedule": null, "source_supports_enriched": true}, "timeline_refs": [2], "composition": {"origin_slides": [15, 16]}, "timing": {"seconds": 600, "allocations": [{"source_index": 2, "seconds": 600, "decision": "Intervalo compartido íntegro; propietario contable seleccionado por función de actividad y referencia timeline de unidad (identidad semántica en empates). Propietario. ", "source_time": "12–22 min", "source_seconds": 600, "is_owner": true, "function": "activity"}],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actividad.", "shared_intervals": [{"source_index": 2, "source_time": "12–22 min", "seconds": 600, "is_owner": true, "function": "activity", "action": "Núcleo práctico individual: usar Scanner, leer con nextLine(), almacenar, parsear, calcular y mostrar una comparación booleana sin bifurcación.",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probar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implementaciones;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dónde se almacena cada lectura;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sus predicciones;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prueban entradas válidas distintas;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2705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reproducen una entrada no convertible;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2705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localizan la instrucción y el dato que causan el error;</a:t>
            </a:r>
          </a:p>
        </p:txBody>
      </p:sp>
      <p:sp>
        <p:nvSpPr>
          <p:cNvPr id="11" name="Acción o criterio 6" descr="Acción o criterio 6"/>
          <p:cNvSpPr txBox="1"/>
          <p:nvPr/>
        </p:nvSpPr>
        <p:spPr>
          <a:xfrm>
            <a:off x="640080" y="45323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distinguen lectura, parseo, conversión implícita y casting;</a:t>
            </a:r>
          </a:p>
        </p:txBody>
      </p:sp>
      <p:sp>
        <p:nvSpPr>
          <p:cNvPr id="12" name="Acción o criterio 7" descr="Acción o criterio 7"/>
          <p:cNvSpPr txBox="1"/>
          <p:nvPr/>
        </p:nvSpPr>
        <p:spPr>
          <a:xfrm>
            <a:off x="6080760" y="45323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qué información se pierde al convertir double a int.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"focus", "plan_index": 5, "recognition": false, "unit_ids": ["unit-15"], "roles": {"unit-15": "core"}, "source_refs": [{"source": "teacher", "heading": "Comparar, probar y explicar — PAREJAS", "block_index": 18, "fragment": 0}, {"source": "teacher", "heading": "Secuencia de trabajo y modalidad", "block_index": 16, "fragment": 0}], "visible_sources": [{"index": 1, "sha256": "7be289ae1f6255d0744ac83878126a1ab41a3ca1ad1268e8a86366be7875f42a"}], "notes_sources": [{"function": "facilitation", "heading": "Comparar, probar y explicar — PAREJAS", "sha256": "eb92a2b4be6c112c0307bb5e3b53f8fc607a707f2f96a31c9530fa1a862c1a92"}, {"function": "facilitation", "heading": "Comparar, probar y explicar — PAREJAS", "sha256": "4e16c748eb854cd306b4df2b332471f0fe71bbcb7ec7c778ad677b1b82c066e2"}], "relations": {"unit_relations": {"unit-15": {}}, "schedule": null, "source_supports_enriched": true}, "timeline_refs": [3], "composition": {"origin_slides": [17, 18]},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"activity"}], "clock_intervals": [3], "presenter_notes": "Reloj fuente 22–30 min: duración compartida 480 segundos. Trabajo: Núcleo práctico por parejas: comparar implementaciones, contrastar predicciones y analizar una entrada no convertible. Función del soporte: actividad.", "shared_intervals": [{"source_index": 3, "source_time": "22–30 min", "seconds": 480, "is_owner": false, "function": "activity",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probar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petición → lectura → almacenamiento → conversión → cálculo → comparación booleana → salida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["unit-15"], "roles": {"unit-15": "core"}, "source_refs": [{"source": "teacher", "heading": "Comparar, probar y explicar — PAREJAS", "block_index": 18, "fragment": 0}, {"source": "teacher", "heading": "Secuencia de trabajo y modalidad", "block_index": 16, "fragment": 0}], "visible_sources": [{"index": 3, "sha256": "5d922d076451cd52eb065da2ac6b750e20ae254fb52201235556e72b0bfd5f97"}], "notes_sources": [{"function": "facilitation", "heading": "Comparar, probar y explicar — PAREJAS", "sha256": "eb92a2b4be6c112c0307bb5e3b53f8fc607a707f2f96a31c9530fa1a862c1a92"}, {"function": "facilitation", "heading": "Comparar, probar y explicar — PAREJAS", "sha256": "4e16c748eb854cd306b4df2b332471f0fe71bbcb7ec7c778ad677b1b82c066e2"}], "relations": {"unit_relations": {"unit-15": {}}, "schedule": null, "presentation_normalizations": {"petición -&gt; lectura -&gt; almacenamiento -&gt; conversión -&gt; cálculo -&gt; comparación booleana -&gt; salida": "petición → lectura → almacenamiento → conversión → cálculo → comparación booleana → salida"}, "source_supports_enriched": true}, "timeline_refs": [3], "composition": {"origin_slides": [17, 18]}, "timing": {"seconds": 480, "allocations": [{"source_index": 3, "seconds": 480, "decision": "Intervalo compartido íntegro; propietario contable seleccionado por función de actividad y referencia timeline de unidad (identidad semántica en empates). Propietario. ", "source_time": "22–30 min", "source_seconds": 480, "is_owner": true, "function": "activity"}], "clock_intervals": [3], "presenter_notes": "Reloj fuente 22–30 min: duración compartida 480 segundos. Trabajo: Núcleo práctico por parejas: comparar implementaciones, contrastar predicciones y analizar una entrada no convertible. Función del soporte: actividad.", "shared_intervals": [{"source_index": 3, "source_time": "22–30 min", "seconds": 480, "is_owner": true, "function": "activity",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28468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con Scanner, lectura almacenada, conversión, cálculo, comparación booleana visible sin bifurcación y pruebas reproducibles con una entrada válida y otra no convertible.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28468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cambia una tarea o aparece una decisión o bloqueo real.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4, "sha256": "0d3cb8fedeeb70576bbdac2e0ddd36bee3e7047a51888661e85e8929ec42e1cc"}],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el error o la diferencia entre predicción y resultado produjo aprendizaje significativo.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README: puede recoger anticipadamente un ejemplo si resulta útil; su consolidación formal corresponde a H1.9.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92023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Moodle / Drive / Site: sin entrega o actualización específica en H1.7.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4, "sha256": "0d3cb8fedeeb70576bbdac2e0ddd36bee3e7047a51888661e85e8929ec42e1cc"}],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filas obligatorias, documentos paralelos de pruebas ni microentregas.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5, "sha256": "fe2f51f52301fd4ad05932018b8c56eba6b5d3cf6f74df904702c93c9ec21e8a"}],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1987804"/>
            <a:ext cx="10881360" cy="397840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conversión de horas.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válida: 5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esperada: 300 minutos.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obtenida: 300 minutos.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Comparación: 5 &gt;= 4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 booleano esperado y obtenido: true.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el texto leído se convierte a int, se usa en una operación y produce un booleano visible sin bifurcación.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no convertible: hola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error durante la ejecución al aplicar Integer.parseInt.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compilar no garantiza que cualquier entrada sea convertible.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7, "sha256": "083be7ae44ea2ed3c8dab2fa97d3ee9b27e338a089e290661ad182a03fba5c8a"}],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Conversión implícita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entero = 7;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valorAmpliado = entero;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7 → 7.0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90728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horasDecimales = horas;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75005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¿Ha ocurrido una conversión aunque no aparezca un casting escrito? ¿El valor de origen era texto o ya era un número?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6, "recognition": false, "unit_ids": ["unit-9"], "roles": {"unit-9": "core"}, "source_refs": [{"source": "teacher", "heading": "Conversión implícita", "block_index": 11, "fragment": 0}, {"source": "teacher", "heading": "Ideas y ejemplos", "block_index": 4, "fragment": 0}, {"source": "teacher", "heading": "Parseo, conversión implícita y casting no son lo mismo", "block_index": 10, "fragment": 0}], "visible_sources": [{"index": 1, "sha256": "551bf615f18b5ffe479a8e209cfb76e7a679dbecde303fd0e959888be87e0c06"}, {"index": 3, "sha256": "ba99281e9ef950d52a1cc7caf7f4871b224f97711c5766ae0601a83be0bfbdf7"}, {"index": 5, "sha256": "34050e9295c864aeaa348fdbe7a70f59e2648fde6276e88c38d2a938423ac4b4"}, {"index": 6, "sha256": "2b28179faa3f92a6523a56f4c08768a4fcc9969ed9a0782587f6027f36df8ebe"}], "notes_sources": [{"function": "concept", "heading": "Conversión implícita", "sha256": "df9acf2e0cc9e2f7147f4ae4b90b1e1f9eeda1377e5dbfd9739ecfa79384031d"}, {"function": "facilitation", "heading": "Conversión implícita", "sha256": "91dc42d8554344bc307d2b9ff2fc47212ff514826ea16a654d5ec7a8b8dc88ca"}, {"function": "facilitation", "heading": "Conversión implícita", "sha256": "ae3e8f2179319d967dc7e32becf941fd3f92de4bc3273fa611b64fabef3a2124"}, {"function": "facilitation", "heading": "Conversión implícita", "sha256": "039fb19b5a26e24139f7119a1508cd31500b57eaabef8c3382c4e4b7ba814bf3"}], "relations": {"unit_relations": {"unit-9": {"question_context": ["context", "question"]}}, "schedule": null, "presentation_normalizations": {"7 -&gt; 7.0": "7 → 7.0"}, "source_supports_enriched": true}, "timeline_refs": [4], "composition": {"origin_slides": [22, 23]},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["int entero = 7;\ndouble valorAmpliado = entero;", "int horas = 4;\ndouble horasDecimales = horas;"],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precio = 12.75;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precioEntero = (int) precio;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precioEntero → 12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90728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nota = 7.99;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notaEntera = (int) nota;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0, "sha256": "49cdc26b072a11b6593d0ccb91589f1fdc19adf08e530df5e8c3b0af274daa18"}, {"index": 2, "sha256": "5da3534e9c5972d567661fad79c140b5d95ea93f5a3f2a0c8e32750bd6a8e98e"}, {"index": 4, "sha256": "d769eb6941367b4002658e71b0072bcc65b7724850e37acddebd27ea7eea6102"}], "notes_sources": [{"function": "concept", "heading": "Casting y pérdida de información", "sha256": "bf470470f6c5f5502e22034c3517ab1a631b56d2ba7e9fd1b901b831bb6c4d15"}, {"function": "concept", "heading": "Casting y pérdida de información", "sha256": "df9acf2e0cc9e2f7147f4ae4b90b1e1f9eeda1377e5dbfd9739ecfa79384031d"}, {"function": "facilitation", "heading": "Casting y pérdida de información", "sha256": "ae3e8f2179319d967dc7e32becf941fd3f92de4bc3273fa611b64fabef3a2124"}, {"function": "facilitation", "heading": "Casting y pérdida de información", "sha256": "039fb19b5a26e24139f7119a1508cd31500b57eaabef8c3382c4e4b7ba814bf3"}, {"function": "facilitation", "heading": "Casting y pérdida de información", "sha256": "7e2efc4707dc6e87a1172f168169de621303e0831cc07eed5a408e736d7f77ac"}, {"function": "facilitation", "heading": "Casting y pérdida de información", "sha256": "8a23a5a3595f92251a994bfd4855f9449b8eb114e9ec7903e626981ca86815b7"}], "relations": {"unit_relations": {"unit-11": {"question_context": ["context", "question"]}}, "schedule": null, "presentation_normalizations": {"precioEntero -&gt; 12": "precioEntero → 12"}, "source_supports_enriched": true}, "timeline_refs": [4], "composition": {"origin_slides": [24]},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["double precio = 12.75;\nint precioEntero = (int) precio;", "double nota = 7.99;\nint notaEntera = (int) nota;"],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notaEntera → 7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5, "sha256": "aaf5da3b6e16f8cdfad700a28c40c798736253e691fa901eb1ee46d23a289570"}], "notes_sources": [], "relations": {"unit_relations": {"unit-11": {"question_context": ["context", "question"]}}, "schedule": null, "presentation_normalizations": {"notaEntera -&gt; 7": "notaEntera → 7"}, "source_supports_enriched": true}, "timeline_refs": [4], "composition": {"origin_slides": [25]},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Antes de probar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4066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18084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valor = 3.999;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resultado = (int) valor;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0236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¿El resultado será 3 o 4? ¿Qué parte del valor se pierde?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7, "sha256": "1e506708e2392c647aa7f9a388c6f43afd4b85b31eda4bd80ba53ee4058b9de5"}, {"index": 8, "sha256": "9a5d0eaf396728ce1c03a52d529ba0aa92087c3723ecfee7e5e2ba915f0839f0"}], "notes_sources": [], "relations": {"unit_relations": {"unit-11": {"question_context": ["context", "question"]}}, "schedule": null, "reveal_phase": "prediction", "source_supports_enriched": true}, "timeline_refs": [4], "composition": {"origin_slides": [25]}, "timing": {"seconds": 360, "allocations": [{"source_index": 4, "seconds": 360, "decision": "Intervalo compartido íntegro; propietario contable seleccionado por función de actividad y referencia timeline de unidad (identidad semántica en empates). Propietario. ", "source_time": "30–36 min", "source_seconds": 360, "is_owner": true,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true, "function": "concept", "action": "Contraste guiado: distinguir conversión implícita y casting; usar (int) 3.999 como predicción central sobre pérdida de información.", "concurrent": false, "parallel_work": ""}]}, "code_blocks": ["double valor = 3.999;\nint resultado = (int) valor;"],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este casting no redondea: descarta la parte decimal. La información perdida no puede recuperarse desde el int resultante.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84683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Texto a número: Integer.parseInt("5")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Número compatible a tipo más amplio: double valorDecimal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Conversión forzada: int valorEntero = (int) 5.8;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"contrast",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9, "sha256": "76fdd0938f54765f6e78b29da5d3639a2ce93c06e0884b9674385f881b8cb2ec"}, {"index": 11, "sha256": "6db132863eea6ab4fccfe258d9313433b2e56d17f567712f5d6145207216317c"}], "notes_sources": [], "relations": {"unit_relations": {"unit-11": {"question_context": ["context", "question"]}}, "schedule": null, "reveal_phase": "contrast", "presentation_normalizations": {"Explica que este casting no redondea: descarta la parte decimal. La información perdida no puede recuperarse desde el `int` resultante.": "este casting no redondea: descarta la parte decimal. La información perdida no puede recuperarse desde el int resultante."}, "source_supports_enriched": true}, "timeline_refs": [4], "composition": {"origin_slides": [25]},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[], "representation_needs": []}</ns0:renderMetadata>
    </p:ext>
  </p:extLs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Antes de probar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4066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18084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ocurrirá si Integer.parseInt(...) recibe "hola"? ¿Fallará al compilar o al ejecutar?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12, "sha256": "bbfee73e995fe088fe025ff0278a064c597ea423d1db55f68cff6f20adf9aaac"}], "notes_sources": [{"function": "other", "heading": "Error de ejecución: NumberFormatException", "sha256": "cda081de4852e64026d778925ec6efa5b8fa965180ec573f33ec5207c3c9e704"}, {"function": "facilitation", "heading": "Error de ejecución: NumberFormatException", "sha256": "94e4ae4805143223d12d2be26124af10ad398c3b8401fb043f0d4f58baa72986"}, {"function": "visible_detail", "heading": "Error de ejecución: NumberFormatException", "sha256": "2ab40d540137276024115a19b0dfc25728ab99aa223973712aeefa3a42b62944"}], "relations": {"unit_relations": {"unit-12": {"question_context": ["context", "question"]}}, "schedule": null, "reveal_phase": "prediction", "source_supports_enriched": true}, "timeline_refs": [5], "composition": {"origin_slides": [27, 28]}, "timing": {"seconds": 240, "allocations": [{"source_index": 5, "seconds": 240, "decision": "Intervalo compartido íntegro; propietario contable seleccionado por función de actividad y referencia timeline de unidad (identidad semántica en empates). Propietario. ", "source_time": "36–40 min", "source_seconds": 240, "is_owner": true,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true,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 ejecución: NumberFormatException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Integer.parseInt o Double.parseDouble reciben un texto incompatible, el programa puede compilar y después fallar durante la ejecución con una NumberFormatException.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6791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Error de compilación: impide obtener o ejecutar el programa por un problema que el compilador detecta en el código.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13, "sha256": "4cb380cc8dbd201239f52d944776b903825644c58ef275df49c8df2078139777"}, {"index": 15, "sha256": "af6b42053814d0da5a6ec622b2ac8b96f4b0ed2443fb1068a5b229ea05c8b029"}], "notes_sources": [{"function": "other", "heading": "Error de ejecución: NumberFormatException", "sha256": "cda081de4852e64026d778925ec6efa5b8fa965180ec573f33ec5207c3c9e704"}, {"function": "facilitation", "heading": "Error de ejecución: NumberFormatException", "sha256": "94e4ae4805143223d12d2be26124af10ad398c3b8401fb043f0d4f58baa72986"}], "relations": {"unit_relations": {"unit-12": {"question_context": ["context", "question"]}}, "schedule": null, "reveal_phase": "contrast", "source_supports_enriched": true}, "timeline_refs": [5], "composition": {"origin_slides": [27]},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"36–40 min", "source_seconds": 240, "is_owner": false,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false,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 ejecución: NumberFormatException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Error de ejecución: aparece cuando el programa ya se está ejecutando; en este caso, al intentar convertir un texto incompatible.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6791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H1 basta con reconocer la causa, identificar el texto que se intentó convertir y distinguir el momento del fallo.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15, "sha256": "af6b42053814d0da5a6ec622b2ac8b96f4b0ed2443fb1068a5b229ea05c8b029"}, {"index": 16, "sha256": "2ab40d540137276024115a19b0dfc25728ab99aa223973712aeefa3a42b62944"}], "notes_sources": [{"function": "visible_detail", "heading": "Error de ejecución: NumberFormatException", "sha256": "2ab40d540137276024115a19b0dfc25728ab99aa223973712aeefa3a42b62944"}], "relations": {"unit_relations": {"unit-12": {"question_context": ["context", "question"]}}, "schedule": null, "reveal_phase": "contrast", "source_supports_enriched": true}, "timeline_refs": [5], "composition": {"origin_slides": [28]},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"36–40 min", "source_seconds": 240, "is_owner": false,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false,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se reutiliza el Scanner, en qué se diferencian parseo, conversión implícita y casting, y qué información se pierde al convertir (int) 3.999?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MiniJarvis recibe texto con nextLine(), lo convierte, calcula y muestra una comparación booleana.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"closure", "plan_index": 8, "recognition": false, "unit_ids": ["unit-20", "unit-21"], "roles": {"unit-20": "core", "unit-21": "core"}, "source_refs": [{"source": "teacher", "heading": "Comprueba lo aprendido", "block_index": 23, "fragment": 0}, {"source": "teacher", "heading": "Al terminar", "block_index": 24, "fragment": 0}], "visible_sources": [{"index": 0, "sha256": "fded35c47365df0f70eb2b325bb3877c839e22b2f54ef5f903a230efb463815e"}, {"index": 2, "sha256": "17c4166c70ba0ab8958b5806c2b9daf358dcba3982cdf26192463447d636023b"}],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"9d40efbe5ad0fc9c32015397e1dec5d0214a068d96da951fbfce4de6a198b684"}, {"function": "facilitation", "heading": "Comprueba lo aprendido", "sha256": "5ac270c14daf9145b5fa6b3260aaee7fce13571ee2fba5f4f556b6f5b86f5a90"}, {"function": "visible_detail", "heading": "Comprueba lo aprendido", "sha256": "17c4166c70ba0ab8958b5806c2b9daf358dcba3982cdf26192463447d636023b"}, {"function": "closure", "heading": "Comprueba lo aprendido", "sha256": "aaf60bbf415d4cb577f0e1589729865681fe53e9b4e1f74e65657bf8246dabd2"}, {"function": "closure", "heading": "Comprueba lo aprendido", "sha256": "fded35c47365df0f70eb2b325bb3877c839e22b2f54ef5f903a230efb463815e"}], "relations": {"unit_relations": {"unit-20": {"question_context": ["context", "question"], "recognition_context": ["unit-12"]}}, "schedule": null, "source_supports_enriched": true}, "timeline_refs": [6], "composition": {"origin_slides": [29, 30]},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"individual_check"}], "clock_intervals": [6], "presenter_notes": "Reloj fuente 40–45 min: duración compartida 300 segundos. Trabajo: Comprobar la prueba, explicar el recorrido del dato y cerrar. Función del soporte: comprobación individual.", "shared_intervals": [{"source_index": 6, "source_time": "40–45 min", "seconds": 300, "is_owner": true, "function": "individual_check", "action": "Comprobar la prueba, explicar el recorrido del dato y cerrar.", "concurrent": false, "parallel_work": ""}]}, "code_blocks": [], "representation_needs": []}</ns0:renderMetadata>
    </p:ext>
  </p:extLs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NÚCLEO · excepción: PARA RECONOCER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51155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devuelve nextLine(), dónde se almacena, cuándo necesitas parsear, qué cálculo y comparación se realizan, qué boolean se muestra </a:t>
            </a:r>
            <a:r>
              <a:rPr sz="2400">
                <a:solidFill>
                  <a:srgbClr val="FFFFFF"/>
                </a:solidFill>
              </a:rPr>
              <a:t>y por qué Integer.parseInt("hola") puede provocar una NumberFormatException durante la ejecución aunque el programa compile?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"closure", "plan_index": 8, "recognition": false, "unit_ids": ["unit-20", "unit-21"], "roles": {"unit-20": "core", "unit-21": "core"}, "source_refs": [{"source": "teacher", "heading": "Comprueba lo aprendido", "block_index": 23, "fragment": 0}, {"source": "teacher", "heading": "Al terminar", "block_index": 24, "fragment": 0}], "visible_sources": [{"index": 3, "sha256": "aaf60bbf415d4cb577f0e1589729865681fe53e9b4e1f74e65657bf8246dabd2"}],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"9d40efbe5ad0fc9c32015397e1dec5d0214a068d96da951fbfce4de6a198b684"}, {"function": "facilitation", "heading": "Comprueba lo aprendido", "sha256": "5ac270c14daf9145b5fa6b3260aaee7fce13571ee2fba5f4f556b6f5b86f5a90"}, {"function": "visible_detail", "heading": "Comprueba lo aprendido", "sha256": "17c4166c70ba0ab8958b5806c2b9daf358dcba3982cdf26192463447d636023b"}, {"function": "closure", "heading": "Comprueba lo aprendido", "sha256": "aaf60bbf415d4cb577f0e1589729865681fe53e9b4e1f74e65657bf8246dabd2"}, {"function": "closure", "heading": "Comprueba lo aprendido", "sha256": "fded35c47365df0f70eb2b325bb3877c839e22b2f54ef5f903a230efb463815e"}], "relations": {"unit_relations": {"unit-20": {"question_context": ["context", "question"], "recognition_context": ["unit-12"]}}, "schedule": null, "source_supports_enriched": true}, "timeline_refs": [6], "composition": {"origin_slides": [29, 30]},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Comprobar la prueba, explicar el recorrido del dato y cerrar. Función del soporte: comprobación individual.", "shared_intervals": [{"source_index": 6, "source_time": "40–45 min", "seconds": 300, "is_owner": false, "function": "individual_check", "action": "Comprobar la prueba, explicar el recorrido del dato y cerrar.",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