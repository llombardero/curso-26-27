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1 de 11: Scanner y conversiones</a:t>
            </a:r>
          </a:p>
          <a:p>
            <a:r>
              <a:t>Fase HEXA: Ejecutar — crear</a:t>
            </a:r>
          </a:p>
          <a:p>
            <a:r>
              <a:t>Presenta el producto y anticipa la evidencia: Quede diagnóstico.</a:t>
            </a:r>
          </a:p>
          <a:p>
            <a:r>
              <a:t>Secuencia docente:</a:t>
            </a:r>
          </a:p>
          <a:p>
            <a:r>
              <a:t>- 00:00–00:05 / D1: MICROINVESTIGACIÓN: No expliques Scanner aún. Genera necesidad.</a:t>
            </a:r>
          </a:p>
          <a:p>
            <a:r>
              <a:t>- 00:05–00:11 / D2: PÍLDORA DOCENTE 1/4: Explica import, lectura y variable destino. No introduzcas todo Scanner.</a:t>
            </a:r>
          </a:p>
          <a:p>
            <a:r>
              <a:t>- 00:11–00:17 / D3: ACTIVIDAD: Circula sin añadir teoría.</a:t>
            </a:r>
          </a:p>
          <a:p>
            <a:r>
              <a:t>- 00:17–00:20 / D4: CONFLICTO: Plantea una operación con el texto y pregunta qué falta.</a:t>
            </a:r>
          </a:p>
          <a:p>
            <a:r>
              <a:t>- 00:20–00:25 / D5: PÍLDORA DOCENTE 2/4: Explica parseo como conversión desde String compatible.</a:t>
            </a:r>
          </a:p>
          <a:p>
            <a:r>
              <a:t>- 00:25–00:29 / D6: EXPERIMENTO: Ejecuta con dos entradas válidas.</a:t>
            </a:r>
          </a:p>
          <a:p>
            <a:r>
              <a:t>- 00:29–00:33 / D7: PÍLDORA DOCENTE 3/4: Presenta la idea pequeño→grande como en Tema 1, sin memorizar toda la jerarquía.</a:t>
            </a:r>
          </a:p>
          <a:p>
            <a:r>
              <a:t>- 00:33–00:37 / D8: PÍLDORA DOCENTE 4/4: Explica que no redondea en este ejemplo; pierde parte decimal.</a:t>
            </a:r>
          </a:p>
          <a:p>
            <a:r>
              <a:t>- 00:37–00:40 / D9: ERROR ÚTIL: Haz predecir compilación y ejecución. No introduzcas try-catch.</a:t>
            </a:r>
          </a:p>
          <a:p>
            <a:r>
              <a:t>- 00:40–00:43 / D10: ACTIVIDAD: Pide evidencia concreta.</a:t>
            </a:r>
          </a:p>
          <a:p>
            <a:r>
              <a:t>- 00:43–00:45 / D11: CIERRE: Haz preguntas rápidas.</a:t>
            </a:r>
          </a:p>
          <a:p>
            <a:r>
              <a:t>Claves docentes:</a:t>
            </a:r>
          </a:p>
          <a:p>
            <a:r>
              <a:t>- PÍLDORA DOCENTE 1/4: Explica import, lectura y variable destino. No introduzcas todo Scanner, PÍLDORA DOCENTE 2/4: Explica parseo como conversión desde String compatible, PÍLDORA DOCENTE 3/4: Presenta la idea pequeño→grande como en Tema 1, sin memorizar toda la jerarquía.</a:t>
            </a:r>
          </a:p>
          <a:p>
            <a:r>
              <a:t>- PÍLDORA DOCENTE 4/4: Explica que no redondea en este ejemplo; pierde parte decimal.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2 de 11: Qué aprenderás y cómo lo demostrarás</a:t>
            </a:r>
          </a:p>
          <a:p>
            <a:r>
              <a:t>Fase HEXA: Ejecutar — crear</a:t>
            </a:r>
          </a:p>
          <a:p>
            <a:r>
              <a:t>- Objetivo: Leer entrada, convertir tipos y reconocer errores de conversión.</a:t>
            </a:r>
          </a:p>
          <a:p>
            <a:r>
              <a:t>- Comprobación: Quede diagnóstico.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3 de 11: Flujo de entrada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pedir</a:t>
            </a:r>
          </a:p>
          <a:p>
            <a:r>
              <a:t>- leer texto</a:t>
            </a:r>
          </a:p>
          <a:p>
            <a:r>
              <a:t>- guardar</a:t>
            </a:r>
          </a:p>
          <a:p>
            <a:r>
              <a:t>- convertir</a:t>
            </a:r>
          </a:p>
          <a:p>
            <a:r>
              <a:t>- calcular</a:t>
            </a:r>
          </a:p>
          <a:p>
            <a:r>
              <a:t>- mostrar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4 de 11: Una sola instancia de Scanner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import java.util.Scanner;</a:t>
            </a:r>
          </a:p>
          <a:p/>
          <a:p>
            <a:r>
              <a:t>Scanner scanner = new Scanner(System.in);</a:t>
            </a:r>
          </a:p>
          <a:p>
            <a:r>
              <a:t>System.out.print("Nombre ficticio: ");</a:t>
            </a:r>
          </a:p>
          <a:p>
            <a:r>
              <a:t>String userName = scanner.nextLine();</a:t>
            </a:r>
          </a:p>
          <a:p>
            <a:r>
              <a:t>System.out.println("Hola, " + userName + ".");</a:t>
            </a:r>
          </a:p>
          <a:p>
            <a:r>
              <a:t>scanner.close();</a:t>
            </a:r>
          </a:p>
          <a:p>
            <a:r>
              <a:t>- nextLine() devuelve String.</a:t>
            </a:r>
          </a:p>
          <a:p>
            <a:r>
              <a:t>- La entrada se guarda y cambia una salida observable.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5 de 11: Texto a número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String text = "5";</a:t>
            </a:r>
          </a:p>
          <a:p>
            <a:r>
              <a:t>int hours = Integer.parseInt(text);</a:t>
            </a:r>
          </a:p>
          <a:p>
            <a:r>
              <a:t>int minutes = hours * 60;</a:t>
            </a:r>
          </a:p>
          <a:p>
            <a:r>
              <a:t>System.out.println(minutes);</a:t>
            </a:r>
          </a:p>
          <a:p>
            <a:r>
              <a:t>- Salida esperada: 300</a:t>
            </a:r>
          </a:p>
          <a:p>
            <a:r>
              <a:t>- Parsear texto no es lo mismo que convertir entre tipos numéricos.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6 de 11: Conversión automática y casting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AMPLIACIÓN · int whole = 7;</a:t>
            </a:r>
          </a:p>
          <a:p>
            <a:r>
              <a:t>double wider = whole; // 7.0</a:t>
            </a:r>
          </a:p>
          <a:p>
            <a:r>
              <a:t>- CASTING · double price = 12.75;</a:t>
            </a:r>
          </a:p>
          <a:p>
            <a:r>
              <a:t>int wholePrice = (int) price; // 12</a:t>
            </a:r>
          </a:p>
          <a:p>
            <a:r>
              <a:t>- El casting descarta la parte decimal hacia cero; no redondea.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7 de 11: Compila, pero falla al ejecutar</a:t>
            </a:r>
          </a:p>
          <a:p>
            <a:r>
              <a:t>Fase HEXA: Ejecutar — crear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VÁLIDO · Integer.parseInt("12") → 12</a:t>
            </a:r>
          </a:p>
          <a:p>
            <a:r>
              <a:t>- ERROR · Integer.parseInt("hola") → NumberFormatException</a:t>
            </a:r>
          </a:p>
          <a:p>
            <a:r>
              <a:t>- H1 observa y explica el error de ejecución; try-catch llegará más adelante.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8 de 11: Prueba entrada válida e inválida</a:t>
            </a:r>
          </a:p>
          <a:p>
            <a:r>
              <a:t>Fase HEXA: Ejecutar — crear</a:t>
            </a:r>
          </a:p>
          <a:p>
            <a:r>
              <a:t>Entrega la consigna, observa decisiones y pide una prueba reproducible.</a:t>
            </a:r>
          </a:p>
          <a:p>
            <a:r>
              <a:t>- Pide un nombre ficticio y úsalo en un saludo.</a:t>
            </a:r>
          </a:p>
          <a:p>
            <a:r>
              <a:t>- Lee horas como texto, conviértelas a int y calcula minutos.</a:t>
            </a:r>
          </a:p>
          <a:p>
            <a:r>
              <a:t>- Ejecuta con un número válido y registra salida esperada y observada.</a:t>
            </a:r>
          </a:p>
          <a:p>
            <a:r>
              <a:t>- Ejecuta con hola, identifica cuándo falla y explica por qué.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9 de 11: Qué debe demostrar la prueba</a:t>
            </a:r>
          </a:p>
          <a:p>
            <a:r>
              <a:t>Fase HEXA: Ejecutar — crear</a:t>
            </a:r>
          </a:p>
          <a:p>
            <a:r>
              <a:t>Comprueba la evidencia en su fuente canónica: Quede diagnóstico.</a:t>
            </a:r>
          </a:p>
          <a:p>
            <a:r>
              <a:t>- Uso una sola instancia de Scanner.</a:t>
            </a:r>
          </a:p>
          <a:p>
            <a:r>
              <a:t>- La entrada afecta a la salida o al cálculo.</a:t>
            </a:r>
          </a:p>
          <a:p>
            <a:r>
              <a:t>- Distingo nextLine, parseInt, ampliación y casting.</a:t>
            </a:r>
          </a:p>
          <a:p>
            <a:r>
              <a:t>- Distingo error de compilación y error de ejecución.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10 de 11: Comprobación final</a:t>
            </a:r>
          </a:p>
          <a:p>
            <a:r>
              <a:t>Fase HEXA: Ejecutar — crear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devuelve nextLine(), qué hace parseInt y qué información puede perder un casting?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Leer entrada, convertir tipos y reconocer errores de conversión.</a:t>
            </a:r>
          </a:p>
          <a:p>
            <a:r>
              <a:t>Diapositiva 11 de 11: Fuentes utilizadas</a:t>
            </a:r>
          </a:p>
          <a:p>
            <a:r>
              <a:t>Fase HEXA: Ejecutar — crear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capítulo 02 · Tema 1: entrada y conversiones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/mnt/compartido/Programación-26-27/Minijarvis/02-PROFESORADO/02-SESIONES/h1/S212-entrada-por-teclado-con-scanner-docente.md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Scanner y conversiones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Leer entrada, convertir tipos y reconocer errores de conversión.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diagnóstico.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PROCESO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Flujo de entrada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pedir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519172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0028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47188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47188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leer texto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315968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06824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guardar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112764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03620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0780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convertir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909560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00416" y="2240280"/>
            <a:ext cx="17602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7576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2F5BA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37576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1C2330"/>
                </a:solidFill>
                <a:latin typeface="Aptos"/>
              </a:defRPr>
            </a:pPr>
            <a:r>
              <a:t>calcular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706356" y="2907792"/>
            <a:ext cx="228600" cy="411480"/>
          </a:xfrm>
          <a:prstGeom prst="rightArrow">
            <a:avLst/>
          </a:prstGeom>
          <a:solidFill>
            <a:srgbClr val="586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697212" y="2240280"/>
            <a:ext cx="1760220" cy="1874519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4372" y="2487168"/>
            <a:ext cx="148590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4372" y="2971800"/>
            <a:ext cx="1485900" cy="658368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mostrar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Una sola instancia de Scanner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import java.util.Scanner;</a:t>
            </a:r>
            <a:br/>
            <a:br/>
            <a:r>
              <a:t>Scanner scanner = new Scanner(System.in);</a:t>
            </a:r>
            <a:br/>
            <a:r>
              <a:t>System.out.print("Nombre ficticio: ");</a:t>
            </a:r>
            <a:br/>
            <a:r>
              <a:t>String userName = scanner.nextLine();</a:t>
            </a:r>
            <a:br/>
            <a:r>
              <a:t>System.out.println("Hola, " + userName + ".");</a:t>
            </a:r>
            <a:br/>
            <a:r>
              <a:t>scanner.close();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nextLine() devuelve String.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La entrada se guarda y cambia una salida observable.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Texto a número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800">
                <a:solidFill>
                  <a:srgbClr val="FFFFFF"/>
                </a:solidFill>
                <a:latin typeface="Liberation Mono"/>
              </a:defRPr>
            </a:pPr>
            <a:r>
              <a:t>String text = "5";</a:t>
            </a:r>
            <a:br/>
            <a:r>
              <a:t>int hours = Integer.parseInt(text);</a:t>
            </a:r>
            <a:br/>
            <a:r>
              <a:t>int minutes = hours * 60;</a:t>
            </a:r>
            <a:br/>
            <a:r>
              <a:t>System.out.println(minutes);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Salida esperada: 300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Parsear texto no es lo mismo que convertir entre tipos numéricos.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Conversión automática y 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AMPLIACIÓN · int whole = 7;</a:t>
            </a:r>
            <a:br/>
            <a:r>
              <a:t>double wider = whole; // 7.0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CASTING · double price = 12.75;</a:t>
            </a:r>
            <a:br/>
            <a:r>
              <a:t>int wholePrice = (int) price; //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El casting descarta la parte decimal hacia cero; no redondea.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Compila, pero falla al ejecutar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VÁLIDO · Integer.parseInt("12") →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ERROR · Integer.parseInt("hola") → NumberFormatException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H1 observa y explica el error de ejecución; try-catch llegará más adelante.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Prueba entrada válida e inválida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Pide un nombre ficticio y úsalo en un saludo.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horas como texto, conviértelas a int y calcula minutos.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Ejecuta con un número válido y registra salida esperada y observada.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Ejecuta con hola, identifica cuándo falla y explica por qué.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demostrar la 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Uso una sola instancia de Scanner.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La entrada afecta a la salida o al cálculo.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Distingo nextLine, parseInt, ampliación y casting.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Distingo error de compilación y error de ejecución.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Comprobación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devuelve nextLine(), qué hace parseInt y qué información puede perder un casting?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capítulo 02 · Tema 1: entrada y conversiones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