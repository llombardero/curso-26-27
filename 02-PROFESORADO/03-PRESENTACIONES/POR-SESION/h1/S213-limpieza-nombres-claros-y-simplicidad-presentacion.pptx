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propósito y ejecutar el incremento H1 antes de modificarlo. Función del soporte: explicación.</a:t>
            </a:r>
          </a:p>
          <a:p/>
          <a:p>
            <a:r>
              <a:t>Facilitación docente · Núcleo — core</a:t>
            </a:r>
          </a:p>
          <a:p>
            <a:r>
              <a:t>- nombres significativos para clases, variables y constantes;</a:t>
            </a:r>
          </a:p>
          <a:p>
            <a:r>
              <a:t>- comentarios útiles que explican intención o contexto, no lo obvio;</a:t>
            </a:r>
          </a:p>
          <a:p>
            <a:r>
              <a:t>- simplicidad y ausencia de complejidad innecesaria;</a:t>
            </a:r>
          </a:p>
          <a:p>
            <a:r>
              <a:t>- revisión, limpieza, ejecución y explicación del código H1.</a:t>
            </a:r>
          </a:p>
          <a:p/>
          <a:p>
            <a:r>
              <a:t>Facilitación docente · Antes de entrar en clase</a:t>
            </a:r>
          </a:p>
          <a:p>
            <a:r>
              <a:t>- [ ] Abrir y ejecutar el proyecto H1 que revisará el alumnado.</a:t>
            </a:r>
          </a:p>
          <a:p>
            <a:r>
              <a:t>- [ ] Preparar una copia o rama de trabajo recuperable.</a:t>
            </a:r>
          </a:p>
          <a:p>
            <a:r>
              <a:t>- [ ] Seleccionar un fragmento real con nombres mejorables, un comentario redundante o estructura innecesariamente complicada.</a:t>
            </a:r>
          </a:p>
          <a:p>
            <a:r>
              <a:t>- [ ] Comprobar que el ejemplo no exige aprender control de flujo nuevo.</a:t>
            </a:r>
          </a:p>
          <a:p>
            <a:r>
              <a:t>- [ ] Reservar los últimos minutos para una explicación individual.</a:t>
            </a:r>
          </a:p>
          <a:p/>
          <a:p>
            <a:r>
              <a:t>Facilitación docente · Material imprescindible</a:t>
            </a:r>
          </a:p>
          <a:p>
            <a:r>
              <a:t>- Un ordenador por estudiante o pareja, con JDK e IntelliJ disponibles.</a:t>
            </a:r>
          </a:p>
          <a:p>
            <a:r>
              <a:t>- Proyecto H1 accesible desde el repositorio del equipo.</a:t>
            </a:r>
          </a:p>
          <a:p>
            <a:r>
              <a:t>- Una forma reproducible de ejecutar el comportamiento antes y después de la limpieza.</a:t>
            </a:r>
          </a:p>
          <a:p/>
          <a:p>
            <a:r>
              <a:t>Facilitación docente · Apertura docente</a:t>
            </a:r>
          </a:p>
          <a:p>
            <a:r>
              <a:t>&gt; Hoy no añadimos funcionalidades. Revisamos el código H1 para que otra persona pueda leerlo, ejecutarlo y explicar por qué cada línea sigue ahí.</a:t>
            </a:r>
          </a:p>
          <a:p/>
          <a:p>
            <a:r>
              <a:t>Aclara el límite:</a:t>
            </a:r>
          </a:p>
          <a:p/>
          <a:p>
            <a:r>
              <a:t>&gt; Limpiar no significa reescribir por gusto. Primero conservamos el comportamiento; después mejoramos nombres, comentarios y simplicidad con una razón comprobable.</a:t>
            </a:r>
          </a:p>
          <a:p/>
          <a:p>
            <a:r>
              <a:t>Observación · Observación docente</a:t>
            </a:r>
          </a:p>
          <a:p>
            <a:r>
              <a:t>Observa específicamente:</a:t>
            </a:r>
          </a:p>
          <a:p/>
          <a:p>
            <a:r>
              <a:t>- que el alumnado ejecuta antes y después de modificar;</a:t>
            </a:r>
          </a:p>
          <a:p>
            <a:r>
              <a:t>- que conserva el comportamiento del incremento;</a:t>
            </a:r>
          </a:p>
          <a:p>
            <a:r>
              <a:t>- que elige nombres vinculados a la intención real;</a:t>
            </a:r>
          </a:p>
          <a:p>
            <a:r>
              <a:t>- que no conserva comentarios redundantes por inercia;</a:t>
            </a:r>
          </a:p>
          <a:p>
            <a:r>
              <a:t>- que no elimina una línea que no comprende sin investigarla;</a:t>
            </a:r>
          </a:p>
          <a:p>
            <a:r>
              <a:t>- que evita reescrituras amplias sin evidencia;</a:t>
            </a:r>
          </a:p>
          <a:p>
            <a:r>
              <a:t>- que puede explicar individualmente una decisión de limpieza;</a:t>
            </a:r>
          </a:p>
          <a:p>
            <a:r>
              <a:t>- que las expresiones o booleanos existentes permanecen como contexto de lectura;</a:t>
            </a:r>
          </a:p>
          <a:p>
            <a:r>
              <a:t>- que no introduce `if/else`, anidados, ternarios, menús ni control de flujo como contenido nuevo.</a:t>
            </a:r>
          </a:p>
          <a:p/>
          <a:p>
            <a:r>
              <a:t>Andamiaje y recuperación · Andamiaje ante bloqueos</a:t>
            </a:r>
          </a:p>
          <a:p>
            <a:r>
              <a:t>- **No sabe renombrar:** pregunta qué representa el dato y en qué unidad se expresa.</a:t>
            </a:r>
          </a:p>
          <a:p>
            <a:r>
              <a:t>- **Quiere comentarlo todo:** pide separar intención de repetición literal.</a:t>
            </a:r>
          </a:p>
          <a:p>
            <a:r>
              <a:t>- **Quiere borrar una línea que no entiende:** exige localizar primero su efecto observable.</a:t>
            </a:r>
          </a:p>
          <a:p>
            <a:r>
              <a:t>- **Hace muchos cambios a la vez:** vuelve a una modificación pequeña y una ejecución.</a:t>
            </a:r>
          </a:p>
          <a:p>
            <a:r>
              <a:t>- **La salida cambia:** compara el último cambio y decide si alteró el comportamiento.</a:t>
            </a:r>
          </a:p>
          <a:p>
            <a:r>
              <a:t>- **Propone una técnica de H2:** vuelve al objetivo de limpieza del código H1 existente.</a:t>
            </a:r>
          </a:p>
          <a:p>
            <a:r>
              <a:t>- **El código funciona pero no se entiende:** pide señalar el nombre, comentario u orden que dificulta explicarlo.</a:t>
            </a:r>
          </a:p>
          <a:p/>
          <a:p>
            <a:r>
              <a:t>No proporciones una solución completa. Devuelve la decisión a la intención del código y a la evidencia de ejecución.</a:t>
            </a:r>
          </a:p>
          <a:p/>
          <a:p>
            <a:r>
              <a:t>Ritmo fuente · Temporalización orientativa</a:t>
            </a:r>
          </a:p>
          <a:p>
            <a:r>
              <a:t>0–5 min — Presentar el propósito y ejecutar el incremento H1 antes de modificarlo.</a:t>
            </a:r>
          </a:p>
          <a:p/>
          <a:p>
            <a:r>
              <a:t>5–10 min — Detectar nombres vagos, comentarios redundantes y elementos difíciles de explicar.</a:t>
            </a:r>
          </a:p>
          <a:p/>
          <a:p>
            <a:r>
              <a:t>10–17 min — Contrastar ejemplos de nombres y comentarios útiles.</a:t>
            </a:r>
          </a:p>
          <a:p/>
          <a:p>
            <a:r>
              <a:t>17–25 min — Revisar individualmente el código H1 con la checklist.</a:t>
            </a:r>
          </a:p>
          <a:p/>
          <a:p>
            <a:r>
              <a:t>25–34 min — Aplicar una limpieza mínima y volver a ejecutar.</a:t>
            </a:r>
          </a:p>
          <a:p/>
          <a:p>
            <a:r>
              <a:t>34–40 min — Revisar en parejas la claridad y la conservación del comportamiento.</a:t>
            </a:r>
          </a:p>
          <a:p/>
          <a:p>
            <a:r>
              <a:t>40–44 min — Comprobación individual: señalar, justificar y ejecutar una decisión.</a:t>
            </a:r>
          </a:p>
          <a:p/>
          <a:p>
            <a:r>
              <a:t>44–45 min — Cerrar con una mejora concreta y una exclusión consciente.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propósito y ejecutar el incremento H1 antes de modificarlo. Función del soporte: explicación.</a:t>
            </a:r>
          </a:p>
          <a:p/>
          <a:p>
            <a:r>
              <a:t>Detalle para la explicación oral · Qué vas a aprender</a:t>
            </a:r>
          </a:p>
          <a:p>
            <a:r>
              <a:t>Al terminar, debes revisar el incremento H1 para mejorar sus nombres significativos, conservar solo comentarios útiles y aplicar simplicidad eliminando complejidad innecesaria. Debes comprobar que el código sigue funcionando y defender cada decisión de limpieza sin cambiar el comportamiento observable.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el propósito y ejecutar el incremento H1 antes de modificarlo. Función del soporte: explicación.</a:t>
            </a:r>
          </a:p>
          <a:p/>
          <a:p>
            <a:r>
              <a:t>Detalle para la explicación oral · Contexto para leer — recognition</a:t>
            </a:r>
          </a:p>
          <a:p>
            <a:r>
              <a:t>Estos elementos se reconocen en contexto. No se amplía su dificultad ni se convierten en una práctica evaluable propia.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 Reloj fuente 10–17 min: duración compartida 420 segundos. Trabajo: Contrastar ejemplos de nombres y comentarios útiles. Función del soporte: explicación.</a:t>
            </a:r>
          </a:p>
          <a:p/>
          <a:p>
            <a:r>
              <a:t>Detalle para la explicación oral · Nombres que explican intención</a:t>
            </a:r>
          </a:p>
          <a:p>
            <a:r>
              <a:t>No conviertas el ejercicio en una lista de nombres “correctos”. Un nombre debe ser coherente con lo que representa en ese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>
            <a:r>
              <a:t>Detalle para la explicación oral · Comentarios útiles y comentarios redundantes</a:t>
            </a:r>
          </a:p>
          <a:p>
            <a:r>
              <a:t>No añadas comentarios para compensar nombres confusos. Primero intenta que el código se explique mediante nombres y estructura.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>
            <a:r>
              <a:t>Detalle para la explicación oral · Orden comprensible</a:t>
            </a:r>
          </a:p>
          <a:p>
            <a:r>
              <a:t>El orden no es una plantilla rígida. Debe permitir explicar el programa de arriba abajo sin saltos arbitrarios.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>
            <a:r>
              <a:t>Detalle para la explicación oral · Leer expresiones existentes — PARA RECONOCER</a:t>
            </a:r>
          </a:p>
          <a:p>
            <a:r>
              <a:t>La expresión o el booleano son contexto de lectura. La tarea consiste en explicar los nombres, la intención y la simplicidad del fragmento, no en construir condiciones nuevas.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5–10 min: duración compartida 300 segundos. Trabajo: Detectar nombres vagos, comentarios redundantes y elementos difíciles de explicar. Función del soporte: explicación.</a:t>
            </a:r>
          </a:p>
          <a:p/>
          <a:p>
            <a:r>
              <a:t>Facilitación docente · Evitar una falsa simplificación</a:t>
            </a:r>
          </a:p>
          <a:p>
            <a:r>
              <a:t>No aceptes una modificación solo porque reduce líneas. Una versión más corta puede ser más difícil de explicar.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17–25 min: duración compartida 480 segundos. Trabajo: Revisar individualmente el código H1 con la checklist. Función del soporte: actividad. Reloj fuente 25–34 min: duración compartida 540 segundos. Trabajo: Aplicar una limpieza mínima y volver a ejecutar.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25–34 min: duración compartida 540 segundos. Trabajo: Aplicar una limpieza mínima y volver a ejecutar.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25–34 min: duración compartida 540 segundos. Trabajo: Aplicar una limpieza mínima y volver a ejecutar.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Revisar en parejas la claridad y la conservación del comportamiento. Función del soporte: explicación.</a:t>
            </a:r>
          </a:p>
          <a:p/>
          <a:p>
            <a:r>
              <a:t>Detalle para la explicación oral · Renombrar sin cambiar el comportamiento</a:t>
            </a:r>
          </a:p>
          <a:p>
            <a:r>
              <a:t>Antes de editar, registra la salida. Después de renombrar, ejecuta otra vez y comprueba que la salida no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Revisar en parejas la claridad y la conservación del comportamiento.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Revisar en parejas la claridad y la conservación del comportamiento.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comprobación individual.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comprobación individual.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40–44 min: duración compartida 240 segundos. Trabajo: Comprobación individual: señalar, justificar y ejecutar una decisión.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44–45 min: duración compartida 60 segundos. Trabajo: Cerrar con una mejora concreta y una exclusión consciente. Función del soporte: comprobación individual.</a:t>
            </a:r>
          </a:p>
          <a:p/>
          <a:p>
            <a:r>
              <a:t>Facilitación docente · Comprueba lo aprendido</a:t>
            </a:r>
          </a:p>
          <a:p>
            <a:r>
              <a:t>Criterio para cerrar:</a:t>
            </a:r>
          </a:p>
          <a:p/>
          <a:p>
            <a:r>
              <a:t>&gt; ¿Qué nombre, comentario o elemento simplificaste, por qué mejora la lectura y qué ejecución demuestra que el comportamiento sigue siendo el mismo?</a:t>
            </a:r>
          </a:p>
          <a:p/>
          <a:p>
            <a:r>
              <a:t>&gt; ¿Qué cambio decidiste no hacer porque añadía complejidad o contenido propio de otro hito?</a:t>
            </a:r>
          </a:p>
          <a:p/>
          <a:p>
            <a:r>
              <a:t>Transición · Al terminar</a:t>
            </a:r>
          </a:p>
          <a:p>
            <a:r>
              <a:t>Anota solo lo operativo para preparar la siguiente intervención docente:</a:t>
            </a:r>
          </a:p>
          <a:p/>
          <a:p>
            <a:r>
              <a:t>- alumnado que necesita apoyo para explicar su código;</a:t>
            </a:r>
          </a:p>
          <a:p>
            <a:r>
              <a:t>- nombre, comentario o estructura que causó confusión frecuente;</a:t>
            </a:r>
          </a:p>
          <a:p>
            <a:r>
              <a:t>- bloqueo técnico pendiente y siguiente paso;</a:t>
            </a:r>
          </a:p>
          <a:p>
            <a:r>
              <a:t>-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Código limpio no significa código decorado ni código más corto. Significa código que cumple H1 y puede leerse, comprobarse y defenderse.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44–45 min: duración compartida 60 segundos. Trabajo: Cerrar con una mejora concreta y una exclusión consciente. Función del soporte: comprobación individual.</a:t>
            </a:r>
          </a:p>
          <a:p/>
          <a:p>
            <a:r>
              <a:t>Facilitación docente · Comprueba lo aprendido</a:t>
            </a:r>
          </a:p>
          <a:p>
            <a:r>
              <a:t>Criterio para cerrar:</a:t>
            </a:r>
          </a:p>
          <a:p/>
          <a:p>
            <a:r>
              <a:t>&gt; ¿Qué nombre, comentario o elemento simplificaste, por qué mejora la lectura y qué ejecución demuestra que el comportamiento sigue siendo el mismo?</a:t>
            </a:r>
          </a:p>
          <a:p/>
          <a:p>
            <a:r>
              <a:t>&gt; ¿Qué cambio decidiste no hacer porque añadía complejidad o contenido propio de otro hito?</a:t>
            </a:r>
          </a:p>
          <a:p/>
          <a:p>
            <a:r>
              <a:t>Transición · Al terminar</a:t>
            </a:r>
          </a:p>
          <a:p>
            <a:r>
              <a:t>Anota solo lo operativo para preparar la siguiente intervención docente:</a:t>
            </a:r>
          </a:p>
          <a:p/>
          <a:p>
            <a:r>
              <a:t>- alumnado que necesita apoyo para explicar su código;</a:t>
            </a:r>
          </a:p>
          <a:p>
            <a:r>
              <a:t>- nombre, comentario o estructura que causó confusión frecuente;</a:t>
            </a:r>
          </a:p>
          <a:p>
            <a:r>
              <a:t>- bloqueo técnico pendiente y siguiente paso;</a:t>
            </a:r>
          </a:p>
          <a:p>
            <a:r>
              <a:t>-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Código limpio no significa código decorado ni código más corto. Significa código que cumple H1 y puede leerse, comprobarse y defenderse.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Limpieza, nombres claros y simplicidad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Ejecutar — revisar y explicar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Equipo → comprobación individual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 → comprobación INDIVIDUAL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"title", "plan_index": 0, "recognition": false, "unit_ids": ["unit-0", "unit-1", "unit-3", "unit-4", "unit-5", "unit-6", "unit-21", "unit-22", "unit-26", "unit-27", "unit-28", "unit-29", "unit-30", "unit-31", "unit-32", "unit-33"], "roles": {"unit-0": "core", "unit-1": "unknown", "unit-3": "out_of_scope", "unit-4": "core", "unit-5": "core", "unit-6": "core", "unit-21": "core", "unit-22": "core", "unit-26": "core", "unit-27": "core", "unit-28": "core", "unit-29": "core", "unit-30": "core", "unit-31": "core", "unit-32": "core", "unit-33": "core"}, "source_refs": [{"source": "teacher", "heading": "Qué vas a aprender", "block_index": 0, "fragment": 0}, {"source": "teacher", "heading": "Núcleo — core", "block_index": 2, "fragment": 0}, {"source": "teacher", "heading": "Contrato curricular de S213", "block_index": 1, "fragment": 0}, {"source": "teacher", "heading": "Fuera del alcance — out_of_scope", "block_index": 4, "fragment": 0}, {"source": "teacher", "heading": "Contrato curricular de S213", "block_index": 1, "fragment": 0}, {"source": "teacher", "heading": "Antes de entrar en clase", "block_index": 5, "fragment": 0}, {"source": "teacher", "heading": "Material imprescindible", "block_index": 6, "fragment": 0}, {"source": "teacher", "heading": "Apertura docente", "block_index": 7, "fragment": 0}, {"source": "teacher", "heading": "Observación docente", "block_index": 24, "fragment": 0}, {"source": "teacher", "heading": "Andamiaje ante bloqueos", "block_index": 25,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0}, {"source": "teacher", "heading": "Temporalización orientativa", "block_index": 8, "fragment": 0}], "visible_sources": [], "notes_sources": [{"function": "other", "heading": "Núcleo — core", "sha256": "41dd177e44482bcdd90e2afcfc56f5f60c60110dcfce038e88b603b8ec440fb4"}, {"function": "preparation", "heading": "Antes de entrar en clase", "sha256": "fd621dc975a6f0c4f55245bd655a587866ef2da00051ea0313c4a19df91b25b6"}, {"function": "preparation", "heading": "Material imprescindible", "sha256": "abf87e18ef5c8d296f5c4f5a9ebd113843f2a117889ba57d84b82dd38c5f541b"}, {"function": "explanations", "heading": "Apertura docente", "sha256": "c315aeb094180a69c54b565e971a3cfa1201096e2433e8a048abdd8764f64114"}, {"function": "explanations", "heading": "Apertura docente", "sha256": "fb46e45ed9ce483b29b080f2f4e01268f058a4ab9eb9c642c92311f3632fd2fc"}, {"function": "explanations", "heading": "Apertura docente", "sha256": "78d6a2f799ccc0f5eccabe23efc8d8eeec76b4654f332aded52670215f7416d3"}, {"function": "explanations", "heading": "Apertura docente", "sha256": "961a36ac1093894fee007ef1fca1e4742fada4cd15b2c78a5cc5f7df8caa61e0"}, {"function": "observation", "heading": "Observación docente", "sha256": "1b36b8ddc11abb127faaead26763b8dc899fdfb7d2beeaa58fd79fb61bbc259e"}, {"function": "observation", "heading": "Observación docente", "sha256": "b40ac3c3df23a48358d29f1371831f2d5c0cbb264ad7bee7f49b8ffbdd38d7ad"}, {"function": "scaffolding", "heading": "Andamiaje ante bloqueos", "sha256": "b446da27f113ff4ebbad186f6b52b70686f6cf84fbfca4632efae07e1d1af473"}, {"function": "scaffolding", "heading": "Andamiaje ante bloqueos", "sha256": "4a492c47f1846326d94467fb6eb34ddfb30274ad3e85c959374c0ad58327b048"}, {"function": "timeline", "heading": "Temporalización orientativa", "sha256": "c3805aeacbfb67acb1a07a1c6776ea32f4bdd58befa72c2187c39597a6b20ddb"}, {"function": "timeline", "heading": "Temporalización orientativa", "sha256": "4c283aa6ead42af6275a1586faadaab5144ef24ee616103a4b1fd971f93c0149"}, {"function": "timeline", "heading": "Temporalización orientativa", "sha256": "b1debe24d16728e2c8d7b1b73c717fb3eab0f897e203ad51d54a460eef627509"}, {"function": "timeline", "heading": "Temporalización orientativa", "sha256": "0fa38bf3722824d812d64ea250c2023018af204d1641a1f25c95ea60f27a7162"}, {"function": "timeline", "heading": "Temporalización orientativa", "sha256": "29c84ba63edd2360a147769ad1b31aa84b650f1162a10c602bd7422592825cca"}, {"function": "timeline", "heading": "Temporalización orientativa", "sha256": "025f624fc4afd65faa56f67bdfe920de4b7a202fabc42a20a68439f920d3d7c3"}, {"function": "timeline", "heading": "Temporalización orientativa", "sha256": "7f1e84284bcf55b16b34b3dd781f4581ed02c8d52a96b6c10a7f7e35d5dd588b"}, {"function": "timeline", "heading": "Temporalización orientativa", "sha256": "50ff329fe6b2313a2da1048bfcc52d83fd57c16316671a6eb02c5ffcc097616e"}],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"concepts"}], "clock_intervals": [0], "presenter_notes": "Reloj fuente 0–5 min: duración compartida 300 segundos. Trabajo: Presentar el propósito y ejecutar el incremento H1 antes de modificarlo. Función del soporte: explicación.", "shared_intervals": [{"source_index": 0, "source_time": "0–5 min", "seconds": 300, "is_owner": false, "function": "concepts", "action": "Presentar el propósito y ejecutar el incremento H1 antes de modificarlo.",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vas a aprender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Al terminar, debes revisar el incremento H1 para mejorar sus nombres significativos, conservar solo comentarios útiles y aplicar simplicidad eliminando complejidad innecesaria.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"concept", "plan_index": 0, "recognition": false, "unit_ids": ["unit-0"], "roles": {"unit-0": "core"}, "source_refs": [{"source": "teacher", "heading": "Qué vas a aprender", "block_index": 0, "fragment": 0}], "visible_sources": [{"index": 0, "sha256": "cd87e40e68f31cd86895a02f5d6b9ef1002e165e4be63c4e63e0e562f0687452"}], "notes_sources": [{"function": "visible_detail", "heading": "Qué vas a aprender", "sha256": "cd87e40e68f31cd86895a02f5d6b9ef1002e165e4be63c4e63e0e562f0687452"}], "relations": {"unit_relations": {"unit-0": {}}, "schedule": null, "source_supports_enriched": true}, "timeline_refs": [0], "composition": {"origin_slides": [2]},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"concepts"}], "clock_intervals": [0], "presenter_notes": "Reloj fuente 0–5 min: duración compartida 300 segundos. Trabajo: Presentar el propósito y ejecutar el incremento H1 antes de modificarlo. Función del soporte: explicación.", "shared_intervals": [{"source_index": 0, "source_time": "0–5 min", "seconds": 300, "is_owner": true, "function": "concepts", "action": "Presentar el propósito y ejecutar el incremento H1 antes de modificarlo.",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Contexto para leer — recognition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expresiones simples ya presentes en el incremento H1;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008632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comparación o resultado booleano solo cuando sea necesario para leer, explicar o renombrar código existente.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2935224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Estos elementos se reconocen en contexto.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"recognition", "plan_index": 1, "recognition": true, "unit_ids": ["unit-2"], "roles": {"unit-2": "recognition"}, "source_refs": [{"source": "teacher", "heading": "Contexto para leer — recognition", "block_index": 3, "fragment": 0}, {"source": "teacher", "heading": "Contrato curricular de S213", "block_index": 1, "fragment": 0}], "visible_sources": [{"index": 0, "sha256": "0f9084470f2030e5446324d7044ab2a4b590963d6685442413ef8a45ebe9c267"}, {"index": 1, "sha256": "b0ce869b63f42b7e703a601308974cfd96170cd466ece2de5906474beecfd7cf"}], "notes_sources": [{"function": "visible_detail", "heading": "Contexto para leer — recognition", "sha256": "b0ce869b63f42b7e703a601308974cfd96170cd466ece2de5906474beecfd7cf"}], "relations": {"unit_relations": {"unit-2": {}}, "schedule": null, "source_supports_enriched": true}, "timeline_refs": [], "composition": {"origin_slides": [3]},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"0–5 min", "source_seconds": 300, "is_owner": false, "function": "concept"}], "clock_intervals": [0], "presenter_notes": "Reloj fuente 0–5 min: duración compartida 300 segundos. Trabajo: Presentar el propósito y ejecutar el incremento H1 antes de modificarlo. Función del soporte: explicación.", "shared_intervals": [{"source_index": 0, "source_time": "0–5 min", "seconds": 300, "is_owner": false, "function": "concept", "action": "Presentar el propósito y ejecutar el incremento H1 antes de modificarlo.", "concurrent": false, "parallel_work": ""}]}, "code_blocks": [],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Nombres que explican intención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x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s = "MiniJarvis";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b = true;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55346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horasEstudio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nombreAsistente = "MiniJarvis";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objetivoAlcanzado = true;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6896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versión permite explicar el dato sin buscar todas sus apariciones?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472795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conviertas el ejercicio en una lista de nombres “correctos”.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2, "recognition": false, "unit_ids": ["unit-7"], "roles": {"unit-7": "core"}, "source_refs": [{"source": "teacher", "heading": "Nombres que explican intención", "block_index": 10, "fragment": 0}, {"source": "teacher", "heading": "Ideas y ejemplos", "block_index": 9, "fragment": 0}], "visible_sources": [{"index": 1, "sha256": "3f02fc7864573627831b18ce38e94ab5b4374375f00a5ce0de84a0ba229d4d40"}, {"index": 2, "sha256": "077b49f21822fb42900ef7e4286918abee706c8f6e144e3d6768e8a2ed10f7e4"}, {"index": 3, "sha256": "d627520bcb2ca2a6219d4947aac77c565cfdfe346326e4956f3826cfbf1b3e22"}, {"index": 4, "sha256": "9e4619b227751a348eb953dbf82e697d3aa7a09a51501c5d17dc0f154410d38f"}], "notes_sources": [{"function": "concepts", "heading": "Nombres que explican intención", "sha256": "df9acf2e0cc9e2f7147f4ae4b90b1e1f9eeda1377e5dbfd9739ecfa79384031d"}, {"function": "facilitation", "heading": "Nombres que explican intención", "sha256": "09a3398bad81a5d58d2af770ce3830be389b78cb1288b3f9eaba471ec4f0cffd"}, {"function": "visible_detail", "heading": "Nombres que explican intención", "sha256": "9e4619b227751a348eb953dbf82e697d3aa7a09a51501c5d17dc0f154410d38f"}], "relations": {"unit_relations": {"unit-7": {"question_context": ["context", "question"]}}, "schedule": null, "source_supports_enriched": true}, "timeline_refs": [1], "composition": {"origin_slides": [4, 5]}, "timing": {"seconds": 720, "allocations": [{"source_index": 1, "seconds": 300, "decision": "Intervalo compartido íntegro; propietario contable seleccionado por función de actividad y referencia timeline de unidad (identidad semántica en empates). Propietario. ", "source_time": "5–10 min", "source_seconds": 300, "is_owner": true, "function": "concepts"}, {"source_index": 2, "seconds": 420, "decision": "Intervalo compartido íntegro; propietario contable seleccionado por función de actividad y referencia timeline de unidad (identidad semántica en empates). Propietario. Intervalo sin ancla: se integra en el soporte con referencia fuente más cercana (desempate por orden del plan).", "source_time": "10–17 min", "source_seconds": 420, "is_owner": true, "function": "concepts"}], "clock_intervals": [1, 2], "presenter_notes": "Reloj fuente 5–10 min: duración compartida 300 segundos. Trabajo: Detectar nombres vagos, comentarios redundantes y elementos difíciles de explicar. Función del soporte: explicación. Reloj fuente 10–17 min: duración compartida 420 segundos. Trabajo: Contrastar ejemplos de nombres y comentarios útiles. Función del soporte: explicación.", "shared_intervals": [{"source_index": 1, "source_time": "5–10 min", "seconds": 300, "is_owner": true, "function": "concepts", "action": "Detectar nombres vagos, comentarios redundantes y elementos difíciles de explicar.", "concurrent": false, "parallel_work": ""}, {"source_index": 2, "source_time": "10–17 min", "seconds": 420, "is_owner": true, "function": "concepts", "action": "Contrastar ejemplos de nombres y comentarios útiles.", "concurrent": false, "parallel_work": ""}]}, "code_blocks": ["int x = 4;\nString s = \"MiniJarvis\";\nboolean b = true;", "int horasEstudio = 4;\nString nombreAsistente = \"MiniJarvis\";\nboolean objetivoAlcanzado = true;"],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Comentarios útiles y comentarios redundantes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Muestra el nombre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System.out.println(nombreAsistente);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26009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Se conserva este formato porque coincide con la evidencia del README.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System.out.println("Asistente: " + nombreAsistente);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396233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eliminamos el comentario, ¿se pierde una decisión o solo una repetición?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443458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añadas comentarios para compensar nombres confusos.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2, "recognition": false, "unit_ids": ["unit-9"], "roles": {"unit-9": "core"}, "source_refs": [{"source": "teacher", "heading": "Comentarios útiles y comentarios redundantes", "block_index": 12, "fragment": 0}, {"source": "teacher", "heading": "Ideas y ejemplos", "block_index": 9, "fragment": 0}], "visible_sources": [{"index": 6, "sha256": "d56afa3f5e702ef1b55089ec1755423e7004c0a79ae77e277e59f7cbd6d40ea6"}, {"index": 8, "sha256": "3aa1dee99781c33e488e20d9ade7b330ed1888055293991c34a00c950dbf7eaf"}, {"index": 9, "sha256": "871f15a0205f83a65f2bdbc86f4249c31fb96eb9f270498401bafda878c4ea18"}, {"index": 10, "sha256": "1aa413b9189b2de4035b26966d4f42b92693af68e83aa0aba123225316a4c346"}], "notes_sources": [{"function": "facilitation", "heading": "Comentarios útiles y comentarios redundantes", "sha256": "e11ac021683dd7ca147c9f2e4ced6ef105aecde8f3204dfa0b9000649acdcd93"}, {"function": "facilitation", "heading": "Comentarios útiles y comentarios redundantes", "sha256": "6fb7f038f7a1e52c9d312ed627e288b59b250dcd6c5fae974f446fce4e4a588d"}, {"function": "visible_detail", "heading": "Comentarios útiles y comentarios redundantes", "sha256": "1aa413b9189b2de4035b26966d4f42b92693af68e83aa0aba123225316a4c346"}], "relations": {"unit_relations": {"unit-9": {"question_context": ["context", "question"]}}, "schedule": null, "source_supports_enriched": true}, "timeline_refs": [1], "composition": {"origin_slides": [6,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"concepts"}],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"concepts", "action": "Detectar nombres vagos, comentarios redundantes y elementos difíciles de explicar.", "concurrent": false, "parallel_work": ""}]}, "code_blocks": ["// Muestra el nombre\nSystem.out.println(nombreAsistente);", "// Se conserva este formato porque coincide con la evidencia del README.\nSystem.out.println(\"Asistente: \" + nombreAsistente);"],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Quitar adornos sin quitar significado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variables intermedias que no aclaran ninguna idea;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mensajes duplicados;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comentarios que narran cada instrucción;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código antiguo comentado;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2705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nombres distintos para la misma idea;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2705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líneas que nadie puede justificar.</a:t>
            </a:r>
          </a:p>
        </p:txBody>
      </p:sp>
      <p:sp>
        <p:nvSpPr>
          <p:cNvPr id="11" name="Acción o criterio 0" descr="Acción o criterio 0"/>
          <p:cNvSpPr txBox="1"/>
          <p:nvPr/>
        </p:nvSpPr>
        <p:spPr>
          <a:xfrm>
            <a:off x="640080" y="41970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aportaba esta línea?</a:t>
            </a:r>
          </a:p>
        </p:txBody>
      </p:sp>
      <p:sp>
        <p:nvSpPr>
          <p:cNvPr id="12" name="Acción o criterio 1" descr="Acción o criterio 1"/>
          <p:cNvSpPr txBox="1"/>
          <p:nvPr/>
        </p:nvSpPr>
        <p:spPr>
          <a:xfrm>
            <a:off x="6080760" y="41970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¿Sigue existiendo el comportamiento necesario?</a:t>
            </a:r>
          </a:p>
        </p:txBody>
      </p:sp>
      <p:sp>
        <p:nvSpPr>
          <p:cNvPr id="13" name="Acción o criterio 2" descr="Acción o criterio 2"/>
          <p:cNvSpPr txBox="1"/>
          <p:nvPr/>
        </p:nvSpPr>
        <p:spPr>
          <a:xfrm>
            <a:off x="640080" y="512368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¿Cómo lo hemos comprobado?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"concept", "plan_index": 2, "recognition": false, "unit_ids": ["unit-10"], "roles": {"unit-10": "core"}, "source_refs": [{"source": "teacher", "heading": "Quitar adornos sin quitar significado", "block_index": 13, "fragment": 0}, {"source": "teacher", "heading": "Ideas y ejemplos", "block_index": 9, "fragment": 0}], "visible_sources": [{"index": 12, "sha256": "17875cc68715a5467b60d22267d22c8e97e304d5e02bdf4933bfbabc68aa00ca"}, {"index": 14, "sha256": "c91388e9eb393a3826837f1e581a82085a2ad315a9a6ec3033d0e60e5605070f"}], "notes_sources": [{"function": "facilitation", "heading": "Quitar adornos sin quitar significado", "sha256": "b55a8051350a5ae6f668301eb587d56aa1a7b49dc6c8b2bbb2d74e6cc670f599"}, {"function": "facilitation", "heading": "Quitar adornos sin quitar significado", "sha256": "dd85cfbc289eedcacdfa73f997663d39cb2f783e1b24fb901c1bb97f552de623"}], "relations": {"unit_relations": {"unit-10": {"question_context": ["context", "question"]}}, "schedule": null, "source_supports_enriched": true}, "timeline_refs": [1], "composition": {"origin_slides": [8]},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"concepts"}],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"concepts", "action": "Detectar nombres vagos, comentarios redundantes y elementos difíciles de explicar.",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Orden comprensible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datos configurados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entrada, si la fuente H1 ya la utiliza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operaciones simples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observable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orden no es una plantilla rígida.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2, "recognition": false, "unit_ids": ["unit-11"], "roles": {"unit-11": "core"}, "source_refs": [{"source": "teacher", "heading": "Orden comprensible", "block_index": 14, "fragment": 0}, {"source": "teacher", "heading": "Ideas y ejemplos", "block_index": 9, "fragment": 0}], "visible_sources": [{"index": 16, "sha256": "24e21671cf353ff2bf335fcb810a4ab09df417c5ae60c24ea89b834c81c937ed"}, {"index": 17, "sha256": "db0f5a1ba68caa677d0de349056434c4ba9aacd975b5c89270e5e8364d9bc221"}], "notes_sources": [{"function": "facilitation", "heading": "Orden comprensible", "sha256": "0859a60d2f18595fa4e962b25445a485c6d3eb7476cdf56a00450cd4bb7eef5f"}, {"function": "visible_detail", "heading": "Orden comprensible", "sha256": "db0f5a1ba68caa677d0de349056434c4ba9aacd975b5c89270e5e8364d9bc221"}], "relations": {"unit_relations": {"unit-11": {}}, "schedule": null, "source_supports_enriched": true}, "timeline_refs": [1], "composition": {"origin_slides": [9]},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"concepts"}],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"concepts", "action": "Detectar nombres vagos, comentarios redundantes y elementos difíciles de explicar.",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Leer expresiones existentes — PARA RECONOCER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minutosEstudio = horasEstudio * 60;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tieneNombre = !nombreAsistente.isBlank();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expresión o el booleano son contexto de lectura.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"recognition", "plan_index": 2, "recognition": true, "unit_ids": ["unit-12"], "roles": {"unit-12": "recognition"}, "source_refs": [{"source": "teacher", "heading": "Leer expresiones existentes — PARA RECONOCER", "block_index": 15, "fragment": 0}, {"source": "teacher", "heading": "Ideas y ejemplos", "block_index": 9, "fragment": 0}], "visible_sources": [{"index": 19, "sha256": "a5f99a678e5031ced48c65e0dc803e6d683c207e0307903c11262e69d61b4383"}, {"index": 20, "sha256": "f64e05cda4277b7aa7243d06923ee97fe6bb4a95d59f7c48d32621c766cd4cea"}], "notes_sources": [{"function": "facilitation", "heading": "Leer expresiones existentes — PARA RECONOCER", "sha256": "7fb8c8bf8375d60ee4f36fc9060889cb5a8f3ac074995667bd7906da9e05abcd"}, {"function": "visible_detail", "heading": "Leer expresiones existentes — PARA RECONOCER", "sha256": "f64e05cda4277b7aa7243d06923ee97fe6bb4a95d59f7c48d32621c766cd4cea"}], "relations": {"unit_relations": {"unit-12": {}}, "schedule": null, "source_supports_enriched": true}, "timeline_refs": [1], "composition": {"origin_slides": [10]},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"5–10 min", "source_seconds": 300, "is_owner": false, "function": "concept"}],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"concept", "action": "Detectar nombres vagos, comentarios redundantes y elementos difíciles de explicar.", "concurrent": false, "parallel_work": ""}]}, "code_blocks": ["int minutosEstudio = horasEstudio * 60;\nboolean tieneNombre = !nombreAsistente.isBlank();"],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Evitar una falsa simplificación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La versión preferible conserva el comportamiento y permite justificar mejor sus nombres, comentarios y pasos.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"concept", "plan_index": 3, "recognition": false, "unit_ids": ["unit-13"], "roles": {"unit-13": "core"}, "source_refs": [{"source": "teacher", "heading": "Evitar una falsa simplificación", "block_index": 16, "fragment": 0}, {"source": "teacher", "heading": "Ideas y ejemplos", "block_index": 9, "fragment": 0}], "visible_sources": [{"index": 2, "sha256": "61ad293fedb336d67cbac6cbef7b49fb047da281795884e1ec597fab8fd3d5ec"}], "notes_sources": [{"function": "facilitation", "heading": "Evitar una falsa simplificación", "sha256": "01623c9c24751f2c74c9f0954dfbd601b5ad2d01e56e2bc47d36c5ed90ab84fd"}, {"function": "facilitation", "heading": "Evitar una falsa simplificación", "sha256": "431e857211b67181e844c269f0dd957ea11ee853bc20d0668660b2a49d592f4e"}], "relations": {"unit_relations": {"unit-13": {}}, "schedule": null, "source_supports_enriched": true}, "timeline_refs": [], "composition": {"origin_slides": [11]},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Diapositiva sin ancla: comparte el intervalo de la diapositiva anclada más cercana (desempate por orden); sin anclas, apertura fuente.", "source_time": "5–10 min", "source_seconds": 300, "is_owner": false, "function": "concepts"}], "clock_intervals": [1], "presenter_notes": "Reloj fuente 5–10 min: duración compartida 300 segundos. Trabajo: Detectar nombres vagos, comentarios redundantes y elementos difíciles de explicar. Función del soporte: explicación.", "shared_intervals": [{"source_index": 1, "source_time": "5–10 min", "seconds": 300, "is_owner": false, "function": "concepts", "action": "Detectar nombres vagos, comentarios redundantes y elementos difíciles de explicar.",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Diagnosticar la limpieza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modifica todavía el código.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26349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 nombre que ya sea significativo;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26349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 nombre que pueda mejorar;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35615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 comentario útil o redundante;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35615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una línea o elemento cuya necesidad deba justificarse;</a:t>
            </a:r>
          </a:p>
        </p:txBody>
      </p:sp>
      <p:sp>
        <p:nvSpPr>
          <p:cNvPr id="11" name="Acción o criterio 4" descr="Acción o criterio 4"/>
          <p:cNvSpPr txBox="1"/>
          <p:nvPr/>
        </p:nvSpPr>
        <p:spPr>
          <a:xfrm>
            <a:off x="640080" y="482346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una comprobación para demostrar que el comportamiento se conserva.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4, "recognition": false, "unit_ids": ["unit-14"], "roles": {"unit-14": "core"}, "source_refs": [{"source": "teacher", "heading": "Diagnosticar la limpieza — INDIVIDUAL", "block_index": 18, "fragment": 0}, {"source": "teacher", "heading": "Secuencia de trabajo y modalidad", "block_index": 17, "fragment": 0}], "visible_sources": [{"index": 1, "sha256": "fa8fd35b9dceda21db8ca6ce22264792f4e75594a4a2fe9bd655ad4fe53ae9c7"}, {"index": 2, "sha256": "0515e2947b0df4d5d81c00ac73daef3e317c4e6c3d45668aa7ff65d06a258385"}], "notes_sources": [{"function": "facilitation", "heading": "Diagnosticar la limpieza — INDIVIDUAL", "sha256": "88bc66037af51ac6109932dde744631197c2226617f7caab5b20c34621cc7090"}], "relations": {"unit_relations": {"unit-14": {}}, "schedule": null, "source_supports_enriched": true}, "timeline_refs": [4], "composition": {"origin_slides": [12]}, "timing": {"seconds": 1020, "allocations": [{"source_index": 3, "seconds": 480, "decision": "Intervalo compartido íntegro; propietario contable seleccionado por función de actividad y referencia timeline de unidad (identidad semántica en empates). Propietario. Intervalo sin ancla: se integra en el soporte con referencia fuente más cercana (desempate por orden del plan).", "source_time": "17–25 min", "source_seconds": 480, "is_owner": true, "function": "activity"}, {"source_index": 4, "seconds": 540, "decision": "Intervalo compartido íntegro; propietario contable seleccionado por función de actividad y referencia timeline de unidad (identidad semántica en empates). Propietario. ", "source_time": "25–34 min", "source_seconds": 540, "is_owner": true, "function": "activity"}], "clock_intervals": [3, 4], "presenter_notes": "Reloj fuente 17–25 min: duración compartida 480 segundos. Trabajo: Revisar individualmente el código H1 con la checklist. Función del soporte: actividad. Reloj fuente 25–34 min: duración compartida 540 segundos. Trabajo: Aplicar una limpieza mínima y volver a ejecutar. Función del soporte: actividad.", "shared_intervals": [{"source_index": 3, "source_time": "17–25 min", "seconds": 480, "is_owner": true, "function": "activity", "action": "Revisar individualmente el código H1 con la checklist.", "concurrent": false, "parallel_work": ""}, {"source_index": 4, "source_time": "25–34 min", "seconds": 540, "is_owner": true, "function": "activity", "action": "Aplicar una limpieza mínima y volver a ejecutar.", "concurrent": false, "parallel_work": ""}]}, "code_blocks": [],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Acordar cambios mínimos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ANTES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CAMBIO PROPUESTO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MOTIVO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COMPROBACIÓN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acepta “queda mejor” como motivo suficiente.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5, "recognition": false, "unit_ids": ["unit-15"], "roles": {"unit-15": "core"}, "source_refs": [{"source": "teacher", "heading": "Acordar cambios mínimos — PAREJAS", "block_index": 19, "fragment": 0}, {"source": "teacher", "heading": "Secuencia de trabajo y modalidad", "block_index": 17, "fragment": 0}], "visible_sources": [{"index": 1, "sha256": "001115a0cf8dfd00a08011f4250c5f49e77f9e1865decf47c06d3307573dd5fa"}, {"index": 2, "sha256": "1c4cee8827bafe40a202739c7cdb2ff8d605ed52cf114e4f7b76d0abeb35eb61"}], "notes_sources": [{"function": "facilitation", "heading": "Acordar cambios mínimos — PAREJAS", "sha256": "9b073affb958ac104f815bd4a5f4797f42cb48639a7c27976755d1618f50b449"}], "relations": {"unit_relations": {"unit-15": {}}, "schedule": null, "source_supports_enriched": true}, "timeline_refs": [4], "composition": {"origin_slides": [13]},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"25–34 min", "source_seconds": 540, "is_owner": false, "function": "activity"}], "clock_intervals": [4], "presenter_notes": "Reloj fuente 25–34 min: duración compartida 540 segundos. Trabajo: Aplicar una limpieza mínima y volver a ejecutar. Función del soporte: actividad.", "shared_intervals": [{"source_index": 4, "source_time": "25–34 min", "seconds": 540, "is_owner": false, "function": "activity", "action": "Aplicar una limpieza mínima y volver a ejecutar.", "concurrent": false, "parallel_work": ""}]}, "code_blocks": [],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Limpiar y ejecutar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añadáis funcionalidades nuevas durante esta revisión.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302615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ejecutad el estado anterior;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302615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realizad una modificación pequeña;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3952748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ejecutad de nuevo;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3952748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comparad el comportamiento observable;</a:t>
            </a:r>
          </a:p>
        </p:txBody>
      </p:sp>
      <p:sp>
        <p:nvSpPr>
          <p:cNvPr id="11" name="Acción o criterio 4" descr="Acción o criterio 4"/>
          <p:cNvSpPr txBox="1"/>
          <p:nvPr/>
        </p:nvSpPr>
        <p:spPr>
          <a:xfrm>
            <a:off x="640080" y="487934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conservad o revertid el cambio según la evidencia.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5, "recognition": false, "unit_ids": ["unit-16"], "roles": {"unit-16": "core"}, "source_refs": [{"source": "teacher", "heading": "Limpiar y ejecutar — PAREJAS", "block_index": 20, "fragment": 0}, {"source": "teacher", "heading": "Secuencia de trabajo y modalidad", "block_index": 17, "fragment": 0}], "visible_sources": [{"index": 4, "sha256": "0da85f9df4288247ae3c2d4d4340ead2382853e5799c4191adbdb079ac10add6"}, {"index": 5, "sha256": "4e3eba2c0437886fafcbe79414e16eaf7c523307dbe4e02c9276333020cdd0b0"}], "notes_sources": [{"function": "facilitation", "heading": "Limpiar y ejecutar — PAREJAS", "sha256": "d1c69959da33fbcf48a893f185bf39c210d73e7ef26183c4e4f081b112fe713c"}], "relations": {"unit_relations": {"unit-16": {}}, "schedule": null, "source_supports_enriched": true}, "timeline_refs": [4], "composition": {"origin_slides": [14]},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"25–34 min", "source_seconds": 540, "is_owner": false, "function": "activity"}], "clock_intervals": [4], "presenter_notes": "Reloj fuente 25–34 min: duración compartida 540 segundos. Trabajo: Aplicar una limpieza mínima y volver a ejecutar. Función del soporte: actividad.", "shared_intervals": [{"source_index": 4, "source_time": "25–34 min", "seconds": 540, "is_owner": false, "function": "activity", "action": "Aplicar una limpieza mínima y volver a ejecutar.", "concurrent": false, "parallel_work": ""}]}, "code_blocks": [],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Renombrar sin cambiar el comportamiento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final int MAX = 8;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 = 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System.out.println(h + "/" + MAX);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55346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final int MAX_HORAS = 8;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horasEstudio = 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System.out.println(horasEstudio + "/" + MAX_HORAS);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68960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Antes de editar, registra la salida.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"code", "plan_index": 6, "recognition": false, "unit_ids": ["unit-8"], "roles": {"unit-8": "core"}, "source_refs": [{"source": "teacher", "heading": "Renombrar sin cambiar el comportamiento", "block_index": 11, "fragment": 0}, {"source": "teacher", "heading": "Ideas y ejemplos", "block_index": 9, "fragment": 0}], "visible_sources": [{"index": 1, "sha256": "39f2b0ace6bbaefb7074320cca86f13b124eb69b6ceb118612876ef57468ed82"}, {"index": 2, "sha256": "a9ee1ace04ccd1061bafae18f16635bba200b990a7e9cd90525d85f35bc5af89"}, {"index": 3, "sha256": "d7e256d8597cfe5031aa95ae8b4589ddc6575f04242ba95bef977097dc24ae30"}], "notes_sources": [{"function": "facilitation", "heading": "Renombrar sin cambiar el comportamiento", "sha256": "59eb5f920a09093cc85f2b4596aaf5eac074076000e98e10a104c53475bbff4a"}, {"function": "visible_detail", "heading": "Renombrar sin cambiar el comportamiento", "sha256": "d7e256d8597cfe5031aa95ae8b4589ddc6575f04242ba95bef977097dc24ae30"}], "relations": {"unit_relations": {"unit-8": {}}, "schedule": null, "source_supports_enriched": true}, "timeline_refs": [5], "composition": {"origin_slides": [15]},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"concepts"}], "clock_intervals": [5], "presenter_notes": "Reloj fuente 34–40 min: duración compartida 360 segundos. Trabajo: Revisar en parejas la claridad y la conservación del comportamiento. Función del soporte: explicación.", "shared_intervals": [{"source_index": 5, "source_time": "34–40 min", "seconds": 360, "is_owner": false, "function": "concepts", "action": "Revisar en parejas la claridad y la conservación del comportamiento.", "concurrent": false, "parallel_work": ""}]}, "code_blocks": ["final int MAX = 8;\nint h = 5;\nSystem.out.println(h + \"/\" + MAX);", "final int MAX_HORAS = 8;\nint horasEstudio = 5;\nSystem.out.println(horasEstudio + \"/\" + MAX_HORAS);"],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Revisar claridad y simplicidad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los nombres expresan lo que representan;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los comentarios conservados aportan intención o contexto;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existe complejidad innecesaria;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cada integrante puede explicar las líneas modificadas;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4511548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la evidencia demuestra que H1 sigue funcionando.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7, "recognition": false, "unit_ids": ["unit-17"], "roles": {"unit-17": "core"}, "source_refs": [{"source": "teacher", "heading": "Revisar claridad y simplicidad — PAREJAS", "block_index": 21, "fragment": 0}, {"source": "teacher", "heading": "Secuencia de trabajo y modalidad", "block_index": 17, "fragment": 0}], "visible_sources": [{"index": 1, "sha256": "38a60031d95896dc853f85370e348fc3fde008309244a8cb9c144b2d87c69183"}], "notes_sources": [{"function": "facilitation", "heading": "Revisar claridad y simplicidad — PAREJAS", "sha256": "01afbccf89d49dd154fdf504281fb14208037400e1d15c9c7ac54b521fe6a4e9"}], "relations": {"unit_relations": {"unit-17": {}}, "schedule": null, "source_supports_enriched": true}, "timeline_refs": [5], "composition": {"origin_slides": [16]}, "timing": {"seconds": 360, "allocations": [{"source_index": 5, "seconds": 360, "decision": "Intervalo compartido íntegro; propietario contable seleccionado por función de actividad y referencia timeline de unidad (identidad semántica en empates). Propietario. ", "source_time": "34–40 min", "source_seconds": 360, "is_owner": true, "function": "activity"}], "clock_intervals": [5], "presenter_notes": "Reloj fuente 34–40 min: duración compartida 360 segundos. Trabajo: Revisar en parejas la claridad y la conservación del comportamiento. Función del soporte: actividad.", "shared_intervals": [{"source_index": 5, "source_time": "34–40 min", "seconds": 360, "is_owner": true, "function": "activity", "action": "Revisar en parejas la claridad y la conservación del comportamiento.",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Revisar claridad y simplicidad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pareja revisora pregunta antes de proponer una reescritura.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7, "recognition": false, "unit_ids": ["unit-17"], "roles": {"unit-17": "core"}, "source_refs": [{"source": "teacher", "heading": "Revisar claridad y simplicidad — PAREJAS", "block_index": 21, "fragment": 0}, {"source": "teacher", "heading": "Secuencia de trabajo y modalidad", "block_index": 17, "fragment": 0}], "visible_sources": [{"index": 2, "sha256": "85c708d7a3044b0f70ee88d9bf62b20d6007e9da9f920e9ff6cb64229eda87e9"}], "notes_sources": [{"function": "facilitation", "heading": "Revisar claridad y simplicidad — PAREJAS", "sha256": "01afbccf89d49dd154fdf504281fb14208037400e1d15c9c7ac54b521fe6a4e9"}], "relations": {"unit_relations": {"unit-17": {}}, "schedule": null, "source_supports_enriched": true}, "timeline_refs": [5], "composition": {"origin_slides": [16]},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"activity"}], "clock_intervals": [5], "presenter_notes": "Reloj fuente 34–40 min: duración compartida 360 segundos. Trabajo: Revisar en parejas la claridad y la conservación del comportamiento. Función del soporte: actividad.", "shared_intervals": [{"source_index": 5, "source_time": "34–40 min", "seconds": 360, "is_owner": false, "function": "activity", "action": "Revisar en parejas la claridad y la conservación del comportamiento.",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Comprobar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COMPROBAR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señalar una mejora de nombre y justificarla;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distinguir un comentario útil de uno redundante;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explicar qué se simplificó y qué se conservó;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ejecutar una comprobación observable;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3840988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defender por qué no añadió una funcionalidad nueva.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"check", "plan_index": 8, "recognition": false, "unit_ids": ["unit-18"], "roles": {"unit-18": "core"}, "source_refs": [{"source": "teacher", "heading": "Comprobar comprensión — INDIVIDUAL", "block_index": 22, "fragment": 0}, {"source": "teacher", "heading": "Secuencia de trabajo y modalidad", "block_index": 17, "fragment": 0}], "visible_sources": [{"index": 1, "sha256": "2a4a24ed7d4a611e9f2dbff66f1ab7d9f43911b4fd7596ac7f28cda8a0892d7e"}], "notes_sources": [{"function": "facilitation", "heading": "Comprobar comprensión — INDIVIDUAL", "sha256": "3bd6827d79067c512f0536d4a879acae6871d8d6221e37b18b0427da457d5dc2"}], "relations": {"unit_relations": {"unit-18": {}}, "schedule": null, "source_supports_enriched": true}, "timeline_refs": [6], "composition": {"origin_slides": [17]}, "timing": {"seconds": 240, "allocations": [{"source_index": 6, "seconds": 240, "decision": "Intervalo compartido íntegro; propietario contable seleccionado por función de actividad y referencia timeline de unidad (identidad semántica en empates). Propietario. ", "source_time": "40–44 min", "source_seconds": 240, "is_owner": true, "function": "individual_check"}], "clock_intervals": [6], "presenter_notes": "Reloj fuente 40–44 min: duración compartida 240 segundos. Trabajo: Comprobación individual: señalar, justificar y ejecutar una decisión. Función del soporte: comprobación individual.", "shared_intervals": [{"source_index": 6, "source_time": "40–44 min", "seconds": 240, "is_owner": true, "function": "individual_check", "action": "Comprobación individual: señalar, justificar y ejecutar una decisión.",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Comprobar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leer una expresión simple o un booleano ya existente sin convertirlo en el núcleo de la explicación.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"recognition", "plan_index": 8, "recognition": true, "unit_ids": ["unit-19"], "roles": {"unit-19": "recognition"}, "source_refs": [{"source": "teacher", "heading": "Comprobar comprensión — INDIVIDUAL", "block_index": 22, "fragment": 1}, {"source": "teacher", "heading": "Secuencia de trabajo y modalidad", "block_index": 17, "fragment": 0}], "visible_sources": [{"index": 3, "sha256": "6983ee310710de8e39ca1b420f1435bc6911190ad81e0c5dc9ec4ec6526be710"}], "notes_sources": [{"function": "facilitation", "heading": "Comprobar comprensión — INDIVIDUAL", "sha256": "03a8d259b4fe7f2290d59778423269d9904119cd769df7486a62dd2800652ffb"}], "relations": {"unit_relations": {"unit-19": {}}, "schedule": null, "source_supports_enriched": true}, "timeline_refs": [6], "composition": {"origin_slides": [18]},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"40–44 min", "source_seconds": 240, "is_owner": false, "function": "individual_check"}], "clock_intervals": [6], "presenter_notes": "Reloj fuente 40–44 min: duración compartida 240 segundos. Trabajo: Comprobación individual: señalar, justificar y ejecutar una decisión. Función del soporte: comprobación individual.", "shared_intervals": [{"source_index": 6, "source_time": "40–44 min", "seconds": 240, "is_owner": false, "function": "individual_check", "action": "Comprobación individual: señalar, justificar y ejecutar una decisión.",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incremento H1 limpio, simple, ejecutable y con cambios revisables.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README: solo se modifica si la limpieza cambia una explicación técnica que ya debía mantenerse allí.</a:t>
            </a:r>
          </a:p>
        </p:txBody>
      </p:sp>
      <p:sp>
        <p:nvSpPr>
          <p:cNvPr id="8" name="Acción o criterio 0" descr="Acción o criterio 0"/>
          <p:cNvSpPr txBox="1"/>
          <p:nvPr/>
        </p:nvSpPr>
        <p:spPr>
          <a:xfrm>
            <a:off x="640080" y="3584956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si existe una tarea, decisión, mejora o bloqueo real del equipo.</a:t>
            </a:r>
          </a:p>
        </p:txBody>
      </p:sp>
      <p:sp>
        <p:nvSpPr>
          <p:cNvPr id="9" name="Acción o criterio 1" descr="Acción o criterio 1"/>
          <p:cNvSpPr txBox="1"/>
          <p:nvPr/>
        </p:nvSpPr>
        <p:spPr>
          <a:xfrm>
            <a:off x="4267200" y="3584956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la revisión produjo un aprendizaje o decisión significativa.</a:t>
            </a:r>
          </a:p>
        </p:txBody>
      </p:sp>
      <p:sp>
        <p:nvSpPr>
          <p:cNvPr id="10" name="Acción o criterio 2" descr="Acción o criterio 2"/>
          <p:cNvSpPr txBox="1"/>
          <p:nvPr/>
        </p:nvSpPr>
        <p:spPr>
          <a:xfrm>
            <a:off x="7894320" y="3584956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Moodle / Drive / Site: sin nueva entrega específica en S213.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8, "recognition": false, "unit_ids": ["unit-20"], "roles": {"unit-20": "core"}, "source_refs": [{"source": "teacher", "heading": "Evidencia que permanece", "block_index": 23, "fragment": 0}], "visible_sources": [{"index": 4, "sha256": "b1df806a3d3f088bf5748b9ca6dc19d6aa231af21d0dcbfefdb392401f9dc5f9"}], "notes_sources": [], "relations": {"unit_relations": {"unit-20": {}}, "schedule": null, "source_supports_enriched": true}, "timeline_refs": [6], "composition": {"origin_slides": [19, 20]},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"40–44 min", "source_seconds": 240, "is_owner": false, "function": "evidence"}], "clock_intervals": [6], "presenter_notes": "Reloj fuente 40–44 min: duración compartida 240 segundos. Trabajo: Comprobación individual: señalar, justificar y ejecutar una decisión. Función del soporte: apoyo al trabajo.", "shared_intervals": [{"source_index": 6, "source_time": "40–44 min", "seconds": 240, "is_owner": false, "function": "evidence", "action": "Comprobación individual: señalar, justificar y ejecutar una decisión.",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crean capturas rutinarias, formularios ni documentos paralelos de limpieza.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8, "recognition": false, "unit_ids": ["unit-20"], "roles": {"unit-20": "core"}, "source_refs": [{"source": "teacher", "heading": "Evidencia que permanece", "block_index": 23, "fragment": 0}], "visible_sources": [{"index": 5, "sha256": "f4950d813b69a95525cd4f154d3eac65360897766e6e78be0f2be50591b6a690"}], "notes_sources": [], "relations": {"unit_relations": {"unit-20": {}}, "schedule": null, "source_supports_enriched": true}, "timeline_refs": [6], "composition": {"origin_slides": [19, 20]},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"40–44 min", "source_seconds": 240, "is_owner": false, "function": "evidence"}], "clock_intervals": [6], "presenter_notes": "Reloj fuente 40–44 min: duración compartida 240 segundos. Trabajo: Comprobación individual: señalar, justificar y ejecutar una decisión. Función del soporte: apoyo al trabajo.", "shared_intervals": [{"source_index": 6, "source_time": "40–44 min", "seconds": 240, "is_owner": false, "function": "evidence", "action": "Comprobación individual: señalar, justificar y ejecutar una decisión.",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"activity", "plan_index": 8, "recognition": false, "unit_ids": ["unit-25"], "roles": {"unit-25": "core"}, "source_refs": [{"source": "student_fallback", "heading": "Seguridad y uso de IA", "block_index": null, "fragment": 0}], "visible_sources": [{"index": 6, "sha256": "61337aa7d62b810fc872b64ccf50a7b9620d423d2be91b3dfff6d304f2bec734"}], "notes_sources": [], "relations": {"unit_relations": {"unit-25": {}}, "schedule": null, "source_supports_enriched": true}, "timeline_refs": [6], "composition": {"origin_slides": [21]},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"40–44 min", "source_seconds": 240, "is_owner": false, "function": "security"}], "clock_intervals": [6], "presenter_notes": "Reloj fuente 40–44 min: duración compartida 240 segundos. Trabajo: Comprobación individual: señalar, justificar y ejecutar una decisión. Función del soporte: apoyo al trabajo.", "shared_intervals": [{"source_index": 6, "source_time": "40–44 min", "seconds": 240, "is_owner": false, "function": "security", "action": "Comprobación individual: señalar, justificar y ejecutar una decisión.",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cambio decidiste no hacer porque añadía complejidad o contenido propio de otro hito?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45567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existe al menos una mejora justificada;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45567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comportamiento H1 permanece comprobado;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3822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se ha añadido funcionalidad;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3822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cada persona puede explicar una decisión y una exclusión.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64413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Código limpio no significa código decorado ni código más corto.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"closure", "plan_index": 9, "recognition": false, "unit_ids": ["unit-23", "unit-24"], "roles": {"unit-23": "core", "unit-24": "core"}, "source_refs": [{"source": "teacher", "heading": "Comprueba lo aprendido", "block_index": 26, "fragment": 0}, {"source": "teacher", "heading": "Al terminar", "block_index": 27, "fragment": 0}], "visible_sources": [{"index": 0, "sha256": "1682c4c3ee0684d7d56e7d61bafcdc5a3efd6a762f1d3c4c0709e026fb79f517"}, {"index": 2, "sha256": "74a92f2f8531af3da2c5fe36d73e0ad1af3b3ea0c496dbfbbfd0c299681a6332"}, {"index": 3, "sha256": "f841e4cfab9509263b52f252d1a06dc4be56e19b4a754a8bd1dc82e5c76bbdb1"}], "notes_sources": [{"function": "individual_check", "heading": "Comprueba lo aprendido", "sha256": "961a36ac1093894fee007ef1fca1e4742fada4cd15b2c78a5cc5f7df8caa61e0"}, {"function": "individual_check", "heading": "Comprueba lo aprendido", "sha256": "d3b585afa9af884bda337187e1ddd39304a97333630f7cea7f36a485beb965f9"}, {"function": "individual_check", "heading": "Comprueba lo aprendido", "sha256": "3112c434f1f03dcfb56c8b7000a86ae0319cfdbc489b0a582db4d0e23ec56633"}, {"function": "continuity", "heading": "Al terminar", "sha256": "97cd4af7eef363c99675a07f4e84b0bc78497405999217b6e06e2658f9e79cdd"}, {"function": "continuity", "heading": "Al terminar", "sha256": "2c127fc769d4413dc3a2055571fee7a621ec33721f9d4fbd016dae98e0622f38"}, {"function": "facilitation", "heading": "Comprueba lo aprendido", "sha256": "f852a4687f28ef23c1d2c05d50f60e5932b7c4be2efafd78ab9aa132a1d62c60"}, {"function": "visible_detail", "heading": "Comprueba lo aprendido", "sha256": "f841e4cfab9509263b52f252d1a06dc4be56e19b4a754a8bd1dc82e5c76bbdb1"}, {"function": "closure", "heading": "Comprueba lo aprendido", "sha256": "9e7bb1cc848a7355bf95a6f238c3f033db27943403a0177ec7aac9bb7e1c663c"}, {"function": "closure", "heading": "Comprueba lo aprendido", "sha256": "1682c4c3ee0684d7d56e7d61bafcdc5a3efd6a762f1d3c4c0709e026fb79f517"}], "relations": {"unit_relations": {"unit-23": {"question_context": ["context", "question"]}}, "schedule": null, "source_supports_enriched": true}, "timeline_refs": [7], "composition": {"origin_slides": [22, 23]}, "timing": {"seconds": 60, "allocations": [{"source_index": 7, "seconds": 60, "decision": "Intervalo compartido íntegro; propietario contable seleccionado por función de actividad y referencia timeline de unidad (identidad semántica en empates). Propietario. ", "source_time": "44–45 min", "source_seconds": 60, "is_owner": true, "function": "individual_check"}], "clock_intervals": [7], "presenter_notes": "Reloj fuente 44–45 min: duración compartida 60 segundos. Trabajo: Cerrar con una mejora concreta y una exclusión consciente. Función del soporte: comprobación individual.", "shared_intervals": [{"source_index": 7, "source_time": "44–45 min", "seconds": 60, "is_owner": true, "function": "individual_check", "action": "Cerrar con una mejora concreta y una exclusión consciente.",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nombre, comentario o elemento simplificaste, por qué mejora la lectura y qué ejecución demuestra que el comportamiento sigue siendo el mismo?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"213", "source_files": {"teacher": "/mnt/compartido/Programación-26-27/Minijarvis/02-PROFESORADO/02-SESIONES/h1/S213-limpieza-nombres-claros-y-simplicidad-docente.md", "student_fallback": "/mnt/compartido/Programación-26-27/Minijarvis/01-ALUMNADO/03-SESIONES/h1/S213-limpieza-nombres-claros-y-simplicidad-alumnado.md"}, "layout": "closure", "plan_index": 9, "recognition": false, "unit_ids": ["unit-23", "unit-24"], "roles": {"unit-23": "core", "unit-24": "core"}, "source_refs": [{"source": "teacher", "heading": "Comprueba lo aprendido", "block_index": 26, "fragment": 0}, {"source": "teacher", "heading": "Al terminar", "block_index": 27, "fragment": 0}], "visible_sources": [{"index": 4, "sha256": "9e7bb1cc848a7355bf95a6f238c3f033db27943403a0177ec7aac9bb7e1c663c"}], "notes_sources": [{"function": "individual_check", "heading": "Comprueba lo aprendido", "sha256": "961a36ac1093894fee007ef1fca1e4742fada4cd15b2c78a5cc5f7df8caa61e0"}, {"function": "individual_check", "heading": "Comprueba lo aprendido", "sha256": "d3b585afa9af884bda337187e1ddd39304a97333630f7cea7f36a485beb965f9"}, {"function": "individual_check", "heading": "Comprueba lo aprendido", "sha256": "3112c434f1f03dcfb56c8b7000a86ae0319cfdbc489b0a582db4d0e23ec56633"}, {"function": "continuity", "heading": "Al terminar", "sha256": "97cd4af7eef363c99675a07f4e84b0bc78497405999217b6e06e2658f9e79cdd"}, {"function": "continuity", "heading": "Al terminar", "sha256": "2c127fc769d4413dc3a2055571fee7a621ec33721f9d4fbd016dae98e0622f38"}, {"function": "facilitation", "heading": "Comprueba lo aprendido", "sha256": "f852a4687f28ef23c1d2c05d50f60e5932b7c4be2efafd78ab9aa132a1d62c60"}, {"function": "visible_detail", "heading": "Comprueba lo aprendido", "sha256": "f841e4cfab9509263b52f252d1a06dc4be56e19b4a754a8bd1dc82e5c76bbdb1"}, {"function": "closure", "heading": "Comprueba lo aprendido", "sha256": "9e7bb1cc848a7355bf95a6f238c3f033db27943403a0177ec7aac9bb7e1c663c"}, {"function": "closure", "heading": "Comprueba lo aprendido", "sha256": "1682c4c3ee0684d7d56e7d61bafcdc5a3efd6a762f1d3c4c0709e026fb79f517"}], "relations": {"unit_relations": {"unit-23": {"question_context": ["context", "question"]}}, "schedule": null, "source_supports_enriched": true}, "timeline_refs": [7], "composition": {"origin_slides": [22, 23]}, "timing": {"seconds": 0, "allocations": [{"source_index": 7, "seconds": 0, "decision": "Intervalo compartido íntegro; propietario contable seleccionado por función de actividad y referencia timeline de unidad (identidad semántica en empates). Soporte, sin duplicación contable. ", "source_time": "44–45 min", "source_seconds": 60, "is_owner": false, "function": "individual_check"}], "clock_intervals": [7], "presenter_notes": "Reloj fuente 44–45 min: duración compartida 60 segundos. Trabajo: Cerrar con una mejora concreta y una exclusión consciente. Función del soporte: comprobación individual.", "shared_intervals": [{"source_index": 7, "source_time": "44–45 min", "seconds": 60, "is_owner": false, "function": "individual_check", "action": "Cerrar con una mejora concreta y una exclusión consciente.",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