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0–4 min: duración compartida 240 segundos. Trabajo: Presentar la finalidad y activar la distinción entre constante y variable. Función del soporte: explicación.</a:t>
            </a:r>
          </a:p>
          <a:p/>
          <a:p>
            <a:r>
              <a:t>Facilitación docente · Antes de entrar en clase</a:t>
            </a:r>
          </a:p>
          <a:p>
            <a:r>
              <a:t>- [ ] Abrir y ejecutar el proyecto o la micropráctica que utilizará el alumnado.</a:t>
            </a:r>
          </a:p>
          <a:p>
            <a:r>
              <a:t>- [ ] Preparar los ejemplos para mostrarlos sin revelar inicialmente el resultado.</a:t>
            </a:r>
          </a:p>
          <a:p>
            <a:r>
              <a:t>- [ ] Comprobar que la consola permite contrastar predicción y salida.</a:t>
            </a:r>
          </a:p>
          <a:p>
            <a:r>
              <a:t>- [ ] Reservar el cierre para que cada persona explique de dónde procede un resultado.</a:t>
            </a:r>
          </a:p>
          <a:p/>
          <a:p>
            <a:r>
              <a:t>Facilitación docente · Apertura docente</a:t>
            </a:r>
          </a:p>
          <a:p>
            <a:r>
              <a:t>&gt; Hoy entramos en Ejecutar. Ejecutar no significa escribir mucho código sin pensar. Significa construir, predecir, probar y explicar. Una operación no está comprobada solo porque el programa compile.</a:t>
            </a:r>
          </a:p>
          <a:p/>
          <a:p>
            <a:r>
              <a:t>Pregunta inicial:</a:t>
            </a:r>
          </a:p>
          <a:p/>
          <a:p>
            <a:r>
              <a:t>&gt; Si dos datos empiezan siempre con el mismo valor, ¿son necesariamente constantes? ¿Qué tendríamos que saber sobre su función antes de decidirlo?</a:t>
            </a:r>
          </a:p>
          <a:p/>
          <a:p>
            <a:r>
              <a:t>Organización del aula · Temporalización orientativa</a:t>
            </a:r>
          </a:p>
          <a:p>
            <a:r>
              <a:t>No conviertas cada ejemplo en un ejercicio independiente: la actividad practica el núcleo, los contrastes se razonan con guía y las actualizaciones se aplican brevemente.</a:t>
            </a:r>
          </a:p>
          <a:p/>
          <a:p>
            <a:r>
              <a:t>Observación · Observación docente</a:t>
            </a:r>
          </a:p>
          <a:p>
            <a:r>
              <a:t>Durante el intento individual y el contraste por parejas, observa específicamente:</a:t>
            </a:r>
          </a:p>
          <a:p/>
          <a:p>
            <a:r>
              <a:t>- que distingue constante y variable por su función, no solo por el valor inicial;</a:t>
            </a:r>
          </a:p>
          <a:p>
            <a:r>
              <a:t>- que relaciona `final` con un dato que no debe reasignarse;</a:t>
            </a:r>
          </a:p>
          <a:p>
            <a:r>
              <a:t>- que identifica el tipo de un literal;</a:t>
            </a:r>
          </a:p>
          <a:p>
            <a:r>
              <a:t>- que diferencia `'L'` y `"L"`;</a:t>
            </a:r>
          </a:p>
          <a:p>
            <a:r>
              <a:t>- que explica que una expresión produce un resultado con un tipo;</a:t>
            </a:r>
          </a:p>
          <a:p>
            <a:r>
              <a:t>- que predice una operación antes de ejecutar;</a:t>
            </a:r>
          </a:p>
          <a:p>
            <a:r>
              <a:t>- que reconoce la división entera y la división real;</a:t>
            </a:r>
          </a:p>
          <a:p>
            <a:r>
              <a:t>- que utiliza paréntesis con intención;</a:t>
            </a:r>
          </a:p>
          <a:p>
            <a:r>
              <a:t>- que interpreta `%` como resto y no como porcentaje;</a:t>
            </a:r>
          </a:p>
          <a:p>
            <a:r>
              <a:t>- que sigue una actualización paso a paso;</a:t>
            </a:r>
          </a:p>
          <a:p>
            <a:r>
              <a:t>- que señala dónde se almacena, muestra o utiliza un resultado;</a:t>
            </a:r>
          </a:p>
          <a:p>
            <a:r>
              <a:t>- que puede explicar de dónde procede la salida observada.</a:t>
            </a:r>
          </a:p>
          <a:p/>
          <a:p>
            <a:r>
              <a:t>Andamiaje y recuperación · Andamiaje ante bloqueos</a:t>
            </a:r>
          </a:p>
          <a:p>
            <a:r>
              <a:t>No des la solución completa de inmediato. Utiliza una pregunta o pista específica:</a:t>
            </a:r>
          </a:p>
          <a:p/>
          <a:p>
            <a:r>
              <a:t>- **Confunde constante con valor inicial fijo:** pregunta si el dato puede o debe cambiar conceptualmente durante la ejecución.</a:t>
            </a:r>
          </a:p>
          <a:p>
            <a:r>
              <a:t>- **Confunde `'L'` y `"L"`:** pregunta qué tipo representa cada literal y qué delimitador utiliza.</a:t>
            </a:r>
          </a:p>
          <a:p>
            <a:r>
              <a:t>- **No identifica el resultado de una expresión:** separa operandos, operador, valor resultante y tipo.</a:t>
            </a:r>
          </a:p>
          <a:p>
            <a:r>
              <a:t>- **Obtiene `2` en `5 / 2`:** pide revisar el tipo de ambos operandos antes de cambiar la expresión.</a:t>
            </a:r>
          </a:p>
          <a:p>
            <a:r>
              <a:t>- **No entiende la precedencia:** pide hacer el cálculo manual, operación por operación, antes de ejecutar.</a:t>
            </a:r>
          </a:p>
          <a:p>
            <a:r>
              <a:t>- **Interpreta `%` como porcentaje:** pide cociente y resto de una división concreta.</a:t>
            </a:r>
          </a:p>
          <a:p>
            <a:r>
              <a:t>- **Pierde la pista con `+=` o `++`:** escribe el valor inicial y anota un estado después de cada instrucción.</a:t>
            </a:r>
          </a:p>
          <a:p>
            <a:r>
              <a:t>- **Calcula pero no utiliza el resultado:** pregunta dónde queda almacenado, dónde se muestra y para qué sirve.</a:t>
            </a:r>
          </a:p>
          <a:p>
            <a:r>
              <a:t>- **Una persona resuelve todo:** pide a la otra que justifique una predicción y recorra una actualización nueva.</a:t>
            </a:r>
          </a:p>
          <a:p/>
          <a:p>
            <a:r>
              <a:t>Facilitación docente · Límite de la sesión</a:t>
            </a:r>
          </a:p>
          <a:p>
            <a:r>
              <a:t>S211 parte de variables y tipos ya trabajados en S210. No introduce `Scanner`, parseo ni casting como contenido central; la entrada, las conversiones, el cálculo y la comparación booleana observable corresponden a S212. Las expresiones lógicas aparecen solo para reconocer resultados con tipo y no adelantan las decisiones con control de flujo de H2.</a:t>
            </a:r>
          </a:p>
          <a:p/>
          <a:p>
            <a:r>
              <a:t>Ritmo fuente · Temporalización orientativa</a:t>
            </a:r>
          </a:p>
          <a:p>
            <a:r>
              <a:t>0–4 min — Presentar la finalidad y activar la distinción entre constante y variable.</a:t>
            </a:r>
          </a:p>
          <a:p/>
          <a:p>
            <a:r>
              <a:t>4–12 min — Núcleo práctico guiado: final, mapa de literales y expresiones con resultado y tipo.</a:t>
            </a:r>
          </a:p>
          <a:p/>
          <a:p>
            <a:r>
              <a:t>12–23 min — Núcleo práctico individual: predecir operaciones, almacenar o mostrar resultados y justificar una constante.</a:t>
            </a:r>
          </a:p>
          <a:p/>
          <a:p>
            <a:r>
              <a:t>23–32 min — Contrastes guiados por parejas: división entera/real, precedencia, paréntesis y %.</a:t>
            </a:r>
          </a:p>
          <a:p/>
          <a:p>
            <a:r>
              <a:t>32–38 min — Aplicación breve: actualizaciones y traza 2 → 5 → 4 → 5.</a:t>
            </a:r>
          </a:p>
          <a:p/>
          <a:p>
            <a:r>
              <a:t>38–43 min — Integrar constante, variable, operación, actualización y salida; ejecutar y explicar discrepancias.</a:t>
            </a:r>
          </a:p>
          <a:p/>
          <a:p>
            <a:r>
              <a:t>43–45 min — Comprobar la comprensión y cerrar.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0–4 min: duración compartida 240 segundos. Trabajo: Presentar la finalidad y activar la distinción entre constante y variable. Función del soporte: explicación.</a:t>
            </a:r>
          </a:p>
          <a:p/>
          <a:p>
            <a:r>
              <a:t>Detalle para la explicación oral · Qué vas a aprender</a:t>
            </a:r>
          </a:p>
          <a:p>
            <a:r>
              <a:t>Al terminar, cada persona debe distinguir constante y variable, reconocer literales, predecir el valor y el tipo de una expresión, utilizar el resultado de una operación y seguir actualizaciones paso a paso. Los contrastes con división, precedencia y resto deben explicarse antes de ejecutarse.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4–12 min: duración compartida 480 segundos. Trabajo: Núcleo práctico guiado: final, mapa de literales y expresiones con resultado y tipo. Función del soporte: apoyo al trabajo.</a:t>
            </a:r>
          </a:p>
          <a:p/>
          <a:p>
            <a:r>
              <a:t>Detalle para la explicación oral · Constante frente a variable</a:t>
            </a:r>
          </a:p>
          <a:p>
            <a:r>
              <a:t>Una variable almacena un dato cuyo valor puede cambiar durante la ejecución. Una constante representa un dato que no debe cambiar; en Java se declara con `final`.</a:t>
            </a:r>
          </a:p>
          <a:p/>
          <a:p>
            <a:r>
              <a:t>`tareas` empieza en cero, pero está pensada para cambiar. Antes de decidir si usar `final`, pregunta si el dato puede o debe cambiar durante la ejecución, no solo cuál es su valor inicial.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4–12 min: duración compartida 480 segundos. Trabajo: Núcleo práctico guiado: final, mapa de literales y expresiones con resultado y tipo. Función del soporte: apoyo al trabajo.</a:t>
            </a:r>
          </a:p>
          <a:p/>
          <a:p>
            <a:r>
              <a:t>Detalle para la explicación oral · Constante frente a variable</a:t>
            </a:r>
          </a:p>
          <a:p>
            <a:r>
              <a:t>Una variable almacena un dato cuyo valor puede cambiar durante la ejecución. Una constante representa un dato que no debe cambiar; en Java se declara con `final`.</a:t>
            </a:r>
          </a:p>
          <a:p/>
          <a:p>
            <a:r>
              <a:t>`tareas` empieza en cero, pero está pensada para cambiar. Antes de decidir si usar `final`, pregunta si el dato puede o debe cambiar durante la ejecución, no solo cuál es su valor inicial.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4–12 min: duración compartida 480 segundos. Trabajo: Núcleo práctico guiado: final, mapa de literales y expresiones con resultado y tipo.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4–12 min: duración compartida 480 segundos. Trabajo: Núcleo práctico guiado: final, mapa de literales y expresiones con resultado y tipo.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4–12 min: duración compartida 480 segundos. Trabajo: Núcleo práctico guiado: final, mapa de literales y expresiones con resultado y tipo. Función del soporte: apoyo al trabajo.</a:t>
            </a:r>
          </a:p>
          <a:p/>
          <a:p>
            <a:r>
              <a:t>Detalle para la explicación oral · Una expresión produce un resultado</a:t>
            </a:r>
          </a:p>
          <a:p>
            <a:r>
              <a:t>Una expresión combina valores, variables u operadores y produce un resultado. Ese resultado también tiene un tipo.</a:t>
            </a:r>
          </a:p>
          <a:p/>
          <a:p>
            <a:r>
              <a:t>Antes de ejecutar, pregunta por el valor y el tipo esperado. Las expresiones booleanas se utilizan aquí solo para reconocer que una expresión produce un resultado tipado; la comparación obligatoria se integra en S212 y las decisiones con control de flujo comienzan en H2.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4–12 min: duración compartida 480 segundos. Trabajo: Núcleo práctico guiado: final, mapa de literales y expresiones con resultado y tipo. Función del soporte: apoyo al trabajo.</a:t>
            </a:r>
          </a:p>
          <a:p/>
          <a:p>
            <a:r>
              <a:t>Detalle para la explicación oral · Una expresión produce un resultado</a:t>
            </a:r>
          </a:p>
          <a:p>
            <a:r>
              <a:t>Una expresión combina valores, variables u operadores y produce un resultado. Ese resultado también tiene un tipo.</a:t>
            </a:r>
          </a:p>
          <a:p/>
          <a:p>
            <a:r>
              <a:t>Antes de ejecutar, pregunta por el valor y el tipo esperado. Las expresiones booleanas se utilizan aquí solo para reconocer que una expresión produce un resultado tipado; la comparación obligatoria se integra en S212 y las decisiones con control de flujo comienzan en H2.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12–23 min: duración compartida 660 segundos. Trabajo: Núcleo práctico individual: predecir operaciones, almacenar o mostrar resultados y justificar una constante. Función del soporte: apoyo al trabajo.</a:t>
            </a:r>
          </a:p>
          <a:p/>
          <a:p>
            <a:r>
              <a:t>Facilitación docente · Operar, almacenar y utilizar</a:t>
            </a:r>
          </a:p>
          <a:p>
            <a:r>
              <a:t>Muestra después un resultado utilizado en la salida:</a:t>
            </a:r>
          </a:p>
          <a:p/>
          <a:p>
            <a:r>
              <a:t>Aclara que, tal como está escrito, Java no acepta esa expresión aislada como una instrucción válida. Además de provocar un error de compilación, revela el problema de diseño que se quiere analizar: un cálculo sin almacenamiento, salida ni uso posterior no aporta un resultado utilizable.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12–23 min: duración compartida 660 segundos. Trabajo: Núcleo práctico individual: predecir operaciones, almacenar o mostrar resultados y justificar una constante. Función del soporte: apoyo al trabajo.</a:t>
            </a:r>
          </a:p>
          <a:p/>
          <a:p>
            <a:r>
              <a:t>Facilitación docente · Operar, almacenar y utilizar</a:t>
            </a:r>
          </a:p>
          <a:p>
            <a:r>
              <a:t>Muestra después un resultado utilizado en la salida:</a:t>
            </a:r>
          </a:p>
          <a:p/>
          <a:p>
            <a:r>
              <a:t>Aclara que, tal como está escrito, Java no acepta esa expresión aislada como una instrucción válida. Además de provocar un error de compilación, revela el problema de diseño que se quiere analizar: un cálculo sin almacenamiento, salida ni uso posterior no aporta un resultado utilizable.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12–23 min: duración compartida 660 segundos. Trabajo: Núcleo práctico individual: predecir operaciones, almacenar o mostrar resultados y justificar una constante. Función del soporte: actividad.</a:t>
            </a:r>
          </a:p>
          <a:p/>
          <a:p>
            <a:r>
              <a:t>Detalle para la explicación oral · Predecir y construir — INDIVIDUAL</a:t>
            </a:r>
          </a:p>
          <a:p>
            <a:r>
              <a:t>&gt; En MiniJarvis o en una micropráctica, usa una constante con sentido, una variable, al menos un literal, una operación cuyo resultado se guarde o se muestre, una actualización y una salida que permita comprobarlo. Escribe primero la predicción y explica después el resultado.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12–23 min: duración compartida 660 segundos. Trabajo: Núcleo práctico individual: predecir operaciones, almacenar o mostrar resultados y justificar una constante. Función del soporte: actividad.</a:t>
            </a:r>
          </a:p>
          <a:p/>
          <a:p>
            <a:r>
              <a:t>Detalle para la explicación oral · Predecir y construir — INDIVIDUAL</a:t>
            </a:r>
          </a:p>
          <a:p>
            <a:r>
              <a:t>&gt; En MiniJarvis o en una micropráctica, usa una constante con sentido, una variable, al menos un literal, una operación cuyo resultado se guarde o se muestre, una actualización y una salida que permita comprobarlo. Escribe primero la predicción y explica después el resultado.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23–32 min: duración compartida 540 segundos. Trabajo: Contrastes guiados por parejas: división entera/real, precedencia, paréntesis y %. Función del soporte: apoyo al trabajo.</a:t>
            </a:r>
          </a:p>
          <a:p/>
          <a:p>
            <a:r>
              <a:t>Detalle para la explicación oral · División entera y división real</a:t>
            </a:r>
          </a:p>
          <a:p>
            <a:r>
              <a:t>Con enteros, `5 / 2` da `2`, no `2.5`. La parte decimal no aparece porque los dos operandos de esa división son enteros. En `5 / 2.0`, el literal decimal hace que la operación produzca un resultado real.</a:t>
            </a:r>
          </a:p>
          <a:p/>
          <a:p>
            <a:r>
              <a:t>No adelantes casting ni conversión de entrada: se trabajarán en S212. Aquí basta con razonar sobre los tipos de los operandos escritos en la expresión.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23–32 min: duración compartida 540 segundos. Trabajo: Contrastes guiados por parejas: división entera/real, precedencia, paréntesis y %.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23–32 min: duración compartida 540 segundos. Trabajo: Contrastes guiados por parejas: división entera/real, precedencia, paréntesis y %.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23–32 min: duración compartida 540 segundos. Trabajo: Contrastes guiados por parejas: división entera/real, precedencia, paréntesis y %.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23–32 min: duración compartida 540 segundos. Trabajo: Contrastes guiados por parejas: división entera/real, precedencia, paréntesis y %.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32–38 min: duración compartida 360 segundos. Trabajo: Aplicación breve: actualizaciones y traza 2 → 5 → 4 → 5.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32–38 min: duración compartida 360 segundos. Trabajo: Aplicación breve: actualizaciones y traza 2 → 5 → 4 → 5.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38–43 min: duración compartida 300 segundos. Trabajo: Integrar constante, variable, operación, actualización y salida; ejecutar y explicar discrepancias. Función del soporte: actividad.</a:t>
            </a:r>
          </a:p>
          <a:p/>
          <a:p>
            <a:r>
              <a:t>Detalle para la explicación oral · Contrastar, ejecutar e integrar — PAREJAS</a:t>
            </a:r>
          </a:p>
          <a:p>
            <a:r>
              <a:t>El contraste por parejas no sustituye el intento individual. No todos los ejemplos necesitan convertirse en ejercicios: algunos sirven para explicación o contraste guiado.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38–43 min: duración compartida 300 segundos. Trabajo: Integrar constante, variable, operación, actualización y salida; ejecutar y explicar discrepancias. Función del soporte: actividad.</a:t>
            </a:r>
          </a:p>
          <a:p/>
          <a:p>
            <a:r>
              <a:t>Detalle para la explicación oral · Contrastar, ejecutar e integrar — PAREJAS</a:t>
            </a:r>
          </a:p>
          <a:p>
            <a:r>
              <a:t>El contraste por parejas no sustituye el intento individual. No todos los ejemplos necesitan convertirse en ejercicios: algunos sirven para explicación o contraste guiado.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38–43 min: duración compartida 300 segundos. Trabajo: Integrar constante, variable, operación, actualización y salida; ejecutar y explicar discrepancias. Función del soporte: apoyo al trabajo.</a:t>
            </a:r>
          </a:p>
          <a:p/>
          <a:p>
            <a:r>
              <a:t>Detalle para la explicación oral · Evidencia que permanece</a:t>
            </a:r>
          </a:p>
          <a:p>
            <a:r>
              <a:t>La predicción es obligatoria como actividad pedagógica, no como documento. No se crean capturas rutinarias, documentos paralelos ni microentregas.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38–43 min: duración compartida 300 segundos. Trabajo: Integrar constante, variable, operación, actualización y salida; ejecutar y explicar discrepancias. Función del soporte: apoyo al trabajo.</a:t>
            </a:r>
          </a:p>
          <a:p/>
          <a:p>
            <a:r>
              <a:t>Detalle para la explicación oral · Evidencia que permanece</a:t>
            </a:r>
          </a:p>
          <a:p>
            <a:r>
              <a:t>La predicción es obligatoria como actividad pedagógica, no como documento. No se crean capturas rutinarias, documentos paralelos ni microentregas.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43–45 min: duración compartida 120 segundos. Trabajo: Comprobar la comprensión y cerrar. Función del soporte: comprobación individual.</a:t>
            </a:r>
          </a:p>
          <a:p/>
          <a:p>
            <a:r>
              <a:t>Transición · Al terminar</a:t>
            </a:r>
          </a:p>
          <a:p>
            <a:r>
              <a:t>Anota solo lo necesario para la continuidad docente: confusión que conviene retomar, alumnado que necesita apoyo, bloqueo pendiente con su siguiente paso y ajuste de tiempo necesario.</a:t>
            </a:r>
          </a:p>
          <a:p/>
          <a:p>
            <a:r>
              <a:t>Detalle para la explicación oral · Comprueba lo aprendido</a:t>
            </a:r>
          </a:p>
          <a:p>
            <a:r>
              <a:t>&gt; Una operación no está demostrada porque el código compile. Está demostrada cuando puedo predecir el resultado, ejecutarla y explicar de dónde sale. Una constante tampoco se decide solo por su valor inicial, sino por si el dato debe cambiar.</a:t>
            </a:r>
          </a:p>
          <a:p/>
          <a:p>
            <a:r>
              <a:t>Facilitación docente · Comprueba lo aprendido</a:t>
            </a:r>
          </a:p>
          <a:p>
            <a:r>
              <a:t>&gt; ¿Qué dato has tratado como constante y por qué, qué expresión has calculado, dónde queda su resultado y cómo sabes que la salida coincide con tu predicción?</a:t>
            </a:r>
          </a:p>
          <a:p/>
          <a:p>
            <a:r>
              <a:t>&gt; ¿Por qué `5 / 2` produce `2`, qué cambian los paréntesis, qué significa `%` y cómo evoluciona una variable con `+=`, `-=`, `++` o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824"/>
        </a:solidFill>
        <a:effectLst/>
      </p:bgPr>
    </p:bg>
    <p:spTree>
      <p:nvGrpSpPr>
        <p:cNvPr id="1" name=""/>
        <p:cNvGrpSpPr/>
        <p:nvPr/>
      </p:nvGrpSpPr>
      <p:grpSpPr/>
      <p:sp>
        <p:nvSpPr>
          <p:cNvPr id="2" name="Código de sesión" descr="Código de sesión"/>
          <p:cNvSpPr txBox="1"/>
          <p:nvPr/>
        </p:nvSpPr>
        <p:spPr>
          <a:xfrm>
            <a:off x="640080" y="548640"/>
            <a:ext cx="10881360" cy="527812"/>
          </a:xfrm>
          <a:prstGeom prst="rect">
            <a:avLst/>
          </a:prstGeom>
          <a:noFill/>
        </p:spPr>
        <p:txBody>
          <a:bodyPr wrap="square" lIns="109728" rIns="109728" tIns="73152" bIns="73152">
            <a:noAutofit/>
          </a:bodyPr>
          <a:lstStyle/>
          <a:p>
            <a:pPr>
              <a:lnSpc>
                <a:spcPts val="2860"/>
              </a:lnSpc>
              <a:spcAft>
                <a:spcPts val="0"/>
              </a:spcAft>
              <a:defRPr sz="2600" b="1">
                <a:solidFill>
                  <a:srgbClr val="FFFFFF"/>
                </a:solidFill>
                <a:latin typeface="Liberation Sans"/>
              </a:defRPr>
            </a:pPr>
            <a:r>
              <a:t>H1.6 · H1 — Primer asistente ejecutable</a:t>
            </a:r>
          </a:p>
        </p:txBody>
      </p:sp>
      <p:sp>
        <p:nvSpPr>
          <p:cNvPr id="3" name="Título" descr="Título"/>
          <p:cNvSpPr txBox="1"/>
          <p:nvPr/>
        </p:nvSpPr>
        <p:spPr>
          <a:xfrm>
            <a:off x="640080" y="1508760"/>
            <a:ext cx="10881360" cy="1840991"/>
          </a:xfrm>
          <a:prstGeom prst="rect">
            <a:avLst/>
          </a:prstGeom>
          <a:noFill/>
        </p:spPr>
        <p:txBody>
          <a:bodyPr wrap="square" lIns="109728" rIns="109728" tIns="73152" bIns="73152">
            <a:noAutofit/>
          </a:bodyPr>
          <a:lstStyle/>
          <a:p>
            <a:pPr>
              <a:lnSpc>
                <a:spcPts val="4400"/>
              </a:lnSpc>
              <a:spcAft>
                <a:spcPts val="0"/>
              </a:spcAft>
              <a:defRPr sz="4000" b="1">
                <a:solidFill>
                  <a:srgbClr val="FFFFFF"/>
                </a:solidFill>
                <a:latin typeface="Liberation Sans"/>
              </a:defRPr>
            </a:pPr>
            <a:r>
              <a:t>Constantes, literales, expresiones, operaciones y actualizaciones</a:t>
            </a:r>
          </a:p>
        </p:txBody>
      </p:sp>
      <p:sp>
        <p:nvSpPr>
          <p:cNvPr id="4" name="Fase HEXA" descr="Fase HEXA"/>
          <p:cNvSpPr txBox="1"/>
          <p:nvPr/>
        </p:nvSpPr>
        <p:spPr>
          <a:xfrm>
            <a:off x="640080" y="3657600"/>
            <a:ext cx="10881360" cy="731520"/>
          </a:xfrm>
          <a:prstGeom prst="rect">
            <a:avLst/>
          </a:prstGeom>
          <a:noFill/>
        </p:spPr>
        <p:txBody>
          <a:bodyPr wrap="square" lIns="109728" rIns="109728" tIns="73152" bIns="73152">
            <a:noAutofit/>
          </a:bodyPr>
          <a:lstStyle/>
          <a:p>
            <a:pPr>
              <a:lnSpc>
                <a:spcPts val="3080"/>
              </a:lnSpc>
              <a:spcAft>
                <a:spcPts val="0"/>
              </a:spcAft>
              <a:defRPr sz="2800" b="0">
                <a:solidFill>
                  <a:srgbClr val="FFFFFF"/>
                </a:solidFill>
                <a:latin typeface="Liberation Sans"/>
              </a:defRPr>
            </a:pPr>
            <a:r>
              <a:t>Fase HEXA: Ejecutar — crear</a:t>
            </a:r>
          </a:p>
        </p:txBody>
      </p:sp>
      <p:sp>
        <p:nvSpPr>
          <p:cNvPr id="5" name="Modalidad del alumnado" descr="Modalidad del alumnado"/>
          <p:cNvSpPr txBox="1"/>
          <p:nvPr/>
        </p:nvSpPr>
        <p:spPr>
          <a:xfrm>
            <a:off x="640080" y="4617720"/>
            <a:ext cx="10881360" cy="502920"/>
          </a:xfrm>
          <a:prstGeom prst="rect">
            <a:avLst/>
          </a:prstGeom>
          <a:noFill/>
        </p:spPr>
        <p:txBody>
          <a:bodyPr wrap="square" lIns="109728" rIns="109728" tIns="73152" bIns="73152">
            <a:noAutofit/>
          </a:bodyPr>
          <a:lstStyle/>
          <a:p>
            <a:pPr>
              <a:lnSpc>
                <a:spcPts val="2420"/>
              </a:lnSpc>
              <a:spcAft>
                <a:spcPts val="0"/>
              </a:spcAft>
              <a:defRPr sz="2200" b="1">
                <a:solidFill>
                  <a:srgbClr val="FFFFFF"/>
                </a:solidFill>
                <a:latin typeface="Liberation Sans"/>
              </a:defRPr>
            </a:pPr>
            <a:r>
              <a:t>Modalidad publicada: Individual → contraste por parejas</a:t>
            </a:r>
          </a:p>
        </p:txBody>
      </p:sp>
      <p:sp>
        <p:nvSpPr>
          <p:cNvPr id="6" name="Organización docente" descr="Organización docente"/>
          <p:cNvSpPr txBox="1"/>
          <p:nvPr/>
        </p:nvSpPr>
        <p:spPr>
          <a:xfrm>
            <a:off x="640080" y="5230368"/>
            <a:ext cx="10881360" cy="868680"/>
          </a:xfrm>
          <a:prstGeom prst="rect">
            <a:avLst/>
          </a:prstGeom>
          <a:noFill/>
        </p:spPr>
        <p:txBody>
          <a:bodyPr wrap="square" lIns="109728" rIns="109728" tIns="73152" bIns="73152">
            <a:noAutofit/>
          </a:bodyPr>
          <a:lstStyle/>
          <a:p>
            <a:pPr>
              <a:lnSpc>
                <a:spcPts val="2200"/>
              </a:lnSpc>
              <a:spcAft>
                <a:spcPts val="0"/>
              </a:spcAft>
              <a:defRPr sz="2000" b="0">
                <a:solidFill>
                  <a:srgbClr val="FFFFFF"/>
                </a:solidFill>
                <a:latin typeface="Liberation Sans"/>
              </a:defRPr>
            </a:pPr>
            <a:r>
              <a:t>Organización docente: INDIVIDUAL → PAREJAS</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"title", "plan_index": 0, "recognition": false, "unit_ids": ["unit-0", "unit-1", "unit-2", "unit-3", "unit-15", "unit-16", "unit-18", "unit-20", "unit-21", "unit-22", "unit-23", "unit-24", "unit-25", "unit-26"], "roles": {"unit-0": "core", "unit-1": "core", "unit-2": "core", "unit-3": "core", "unit-15": "core", "unit-16": "core", "unit-18": "recognition", "unit-20": "core", "unit-21": "core", "unit-22": "core", "unit-23": "core", "unit-24": "core", "unit-25": "core", "unit-26": "core"}, "source_refs": [{"source": "teacher", "heading": "Qué vas a aprender", "block_index": 0, "fragment": 0}, {"source": "teacher", "heading": "Antes de entrar en clase", "block_index": 1, "fragment": 0}, {"source": "teacher", "heading": "Apertura docente", "block_index": 2, "fragment": 0}, {"source": "teacher", "heading": "Temporalización orientativa", "block_index": 3, "fragment": 0}, {"source": "teacher", "heading": "Observación docente", "block_index": 17, "fragment": 0}, {"source": "teacher", "heading": "Andamiaje ante bloqueos", "block_index": 18, "fragment": 0}, {"source": "teacher", "heading": "Límite de la sesión", "block_index": 20, "fragment": 0}, {"source": "teacher", "heading": "Temporalización orientativa", "block_index": 3, "fragment": 0}, {"source": "teacher", "heading": "Temporalización orientativa", "block_index": 3, "fragment": 0}, {"source": "teacher", "heading": "Temporalización orientativa", "block_index": 3, "fragment": 0}, {"source": "teacher", "heading": "Temporalización orientativa", "block_index": 3, "fragment": 0}, {"source": "teacher", "heading": "Temporalización orientativa", "block_index": 3, "fragment": 0}, {"source": "teacher", "heading": "Temporalización orientativa", "block_index": 3, "fragment": 0}, {"source": "teacher", "heading": "Temporalización orientativa", "block_index": 3, "fragment": 0}], "visible_sources": [], "notes_sources": [{"function": "preparation", "heading": "Antes de entrar en clase", "sha256": "976b9dd451159130e5e327555cce74c5829765b52ef33716ad6ec408a2a66923"}, {"function": "explanations", "heading": "Apertura docente", "sha256": "aba648f76cad8b1cc54e87b4d9c0aad7a74096e41f45c6a5d82acb961899719f"}, {"function": "explanations", "heading": "Apertura docente", "sha256": "ce1f0857d26380a2db4fa3a708eee1789fad11e95e032b739b314d5785066212"}, {"function": "explanations", "heading": "Apertura docente", "sha256": "e5ec778dc0ff64fe2d17b41ac3e208cabc9e51f34e3a91c25c0177b1e98ae9fc"}, {"function": "explanations", "heading": "Apertura docente", "sha256": "961a36ac1093894fee007ef1fca1e4742fada4cd15b2c78a5cc5f7df8caa61e0"}, {"function": "timeline_context", "heading": "Temporalización orientativa", "sha256": "fe7ede0a952730893372452faa99dcdd09289ad68a28cafc3370de385ab020cf"}, {"function": "observation", "heading": "Observación docente", "sha256": "2e9c80d870522826e7567ba0fa7d8a1669df1afe27478998cd1b11535b2abe46"}, {"function": "observation", "heading": "Observación docente", "sha256": "fa109026666097671080037117c7e72c68714fb73a51af0ac09a6985d1f72a45"}, {"function": "scaffolding", "heading": "Andamiaje ante bloqueos", "sha256": "6789281f6c65eb1a281db9f861b5fe884cd2684b0bb07e471d4695b1e147117b"}, {"function": "scaffolding", "heading": "Andamiaje ante bloqueos", "sha256": "8a89977cd43faa597bf663e19509ffd2ec73e08d2c319f000d9305609d0e1af0"}, {"function": "other", "heading": "Límite de la sesión", "sha256": "0c0ef4d0a8bb3c359f10b5dec3783be078434c8000ac882f3555d973cde300b1"}, {"function": "timeline", "heading": "Temporalización orientativa", "sha256": "1438698420b4a98ebec8c1855fabce3d38d909f53a7e1e2949621ebe18cfc959"}, {"function": "timeline", "heading": "Temporalización orientativa", "sha256": "58d50d4294551b88f78c9303d7711d397b47b690440dcc99e389af91bd2ffc07"}, {"function": "timeline", "heading": "Temporalización orientativa", "sha256": "9202f15c35c34e4e90d85c432ae6933d117a77998f2ff75a5f566b6596d5a685"}, {"function": "timeline", "heading": "Temporalización orientativa", "sha256": "851bee345c95146bb1aafb34e50d13d32354b6c6f9a119250a9dd1934d6321b6"}, {"function": "timeline", "heading": "Temporalización orientativa", "sha256": "7e82f258f01736ed53a434714f4ea5a933384e48b0daa55b060500394a4adf4f"}, {"function": "timeline", "heading": "Temporalización orientativa", "sha256": "153023fd4fa29421d4abec6e167e5d52536d026d7952dd7c48977f004753a8b4"}, {"function": "timeline", "heading": "Temporalización orientativa", "sha256": "b121a354998520337bdf6f25824e9cd13b9daf9d17db016db960266b765e3399"}], "relations": {"source_supports_enriched": true}, "timeline_refs": [0], "composition": {"origin_slides": [1]}, "timing": {"seconds": 0, "allocations": [{"source_index": 0, "seconds": 0, "decision": "Intervalo compartido íntegro; propietario contable seleccionado por función de actividad y referencia timeline de unidad (identidad semántica en empates). Soporte, sin duplicación contable. Portada limitada a la apertura inicial: las referencias timeline presenter-only no convierten la portada en soporte de todos los tramos.", "source_time": "0–4 min", "source_seconds": 240, "is_owner": false, "function": "concepts"}], "clock_intervals": [0], "presenter_notes": "Reloj fuente 0–4 min: duración compartida 240 segundos. Trabajo: Presentar la finalidad y activar la distinción entre constante y variable. Función del soporte: explicación.", "shared_intervals": [{"source_index": 0, "source_time": "0–4 min", "seconds": 240, "is_owner": false, "function": "concepts", "action": "Presentar la finalidad y activar la distinción entre constante y variable.", "concurrent": false, "parallel_work": ""}]}, "code_blocks": [], "representation_needs": []}</ns0:renderMetadata>
    </p:ext>
  </p:extLs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Qué vas a aprender</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212039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t>Al terminar, cada persona debe distinguir constante y variable, reconocer literales, predecir el valor y el tipo de una expresión, utilizar el resultado de una operación y seguir actualizaciones paso a paso.</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"concept", "plan_index": 0, "recognition": false, "unit_ids": ["unit-0"], "roles": {"unit-0": "core"}, "source_refs": [{"source": "teacher", "heading": "Qué vas a aprender", "block_index": 0, "fragment": 0}], "visible_sources": [{"index": 0, "sha256": "69f778b86f2f00b265dc0042eb17f20299a204fce8d83e62002d4a67140efc48"}], "notes_sources": [{"function": "visible_detail", "heading": "Qué vas a aprender", "sha256": "69f778b86f2f00b265dc0042eb17f20299a204fce8d83e62002d4a67140efc48"}], "relations": {"unit_relations": {"unit-0": {}}, "schedule": null, "source_supports_enriched": true}, "timeline_refs": [0], "composition": {"origin_slides": [2]}, "timing": {"seconds": 240, "allocations": [{"source_index": 0, "seconds": 240, "decision": "Intervalo compartido íntegro; propietario contable seleccionado por función de actividad y referencia timeline de unidad (identidad semántica en empates). Propietario. ", "source_time": "0–4 min", "source_seconds": 240, "is_owner": true, "function": "concepts"}], "clock_intervals": [0], "presenter_notes": "Reloj fuente 0–4 min: duración compartida 240 segundos. Trabajo: Presentar la finalidad y activar la distinción entre constante y variable. Función del soporte: explicación.", "shared_intervals": [{"source_index": 0, "source_time": "0–4 min", "seconds": 240, "is_owner": true, "function": "concepts", "action": "Presentar la finalidad y activar la distinción entre constante y variable.", "concurrent": false, "parallel_work": ""}]}, "code_blocks": [], "representation_needs": []}</ns0:renderMetadata>
    </p:ext>
  </p:extLs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Constante frente a variable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Una variable almacena un dato cuyo valor puede cambiar durante la ejecución.</a:t>
            </a:r>
          </a:p>
        </p:txBody>
      </p:sp>
      <p:sp>
        <p:nvSpPr>
          <p:cNvPr id="6" name="Código editable" descr="Código editable"/>
          <p:cNvSpPr txBox="1"/>
          <p:nvPr/>
        </p:nvSpPr>
        <p:spPr>
          <a:xfrm>
            <a:off x="640080" y="2455672"/>
            <a:ext cx="10881360" cy="75133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final String NOMBRE_ASISTENTE = "MiniJarvis";</a:t>
            </a:r>
          </a:p>
          <a:p>
            <a:pPr marL="335280" indent="-335280">
              <a:lnSpc>
                <a:spcPts val="2310"/>
              </a:lnSpc>
              <a:spcAft>
                <a:spcPts val="0"/>
              </a:spcAft>
              <a:defRPr sz="2200" b="0">
                <a:solidFill>
                  <a:srgbClr val="1C2330"/>
                </a:solidFill>
                <a:latin typeface="Liberation Mono"/>
              </a:defRPr>
            </a:pPr>
            <a:r>
              <a:t>final int ANIO_INICIO = 2026;</a:t>
            </a:r>
          </a:p>
        </p:txBody>
      </p:sp>
      <p:sp>
        <p:nvSpPr>
          <p:cNvPr id="7" name="Contenido" descr="Contenido"/>
          <p:cNvSpPr txBox="1"/>
          <p:nvPr/>
        </p:nvSpPr>
        <p:spPr>
          <a:xfrm>
            <a:off x="640080" y="3298444"/>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¿Esperamos que el nombre del asistente o el año de inicio cambien mientras se ejecuta esta versión? ¿Qué expresa final sobre esa intención?</a:t>
            </a:r>
          </a:p>
        </p:txBody>
      </p:sp>
      <p:sp>
        <p:nvSpPr>
          <p:cNvPr id="8" name="Código editable" descr="Código editable"/>
          <p:cNvSpPr txBox="1"/>
          <p:nvPr/>
        </p:nvSpPr>
        <p:spPr>
          <a:xfrm>
            <a:off x="640080" y="4727956"/>
            <a:ext cx="10881360" cy="1044701"/>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final String NOMBRE_ASISTENTE = "MiniJarvis";</a:t>
            </a:r>
          </a:p>
          <a:p>
            <a:pPr marL="335280" indent="-335280">
              <a:lnSpc>
                <a:spcPts val="2310"/>
              </a:lnSpc>
              <a:spcAft>
                <a:spcPts val="0"/>
              </a:spcAft>
              <a:defRPr sz="2200" b="0">
                <a:solidFill>
                  <a:srgbClr val="1C2330"/>
                </a:solidFill>
                <a:latin typeface="Liberation Mono"/>
              </a:defRPr>
            </a:pPr>
            <a:r>
              <a:t>int horasEstudio = 3;</a:t>
            </a:r>
          </a:p>
          <a:p>
            <a:pPr marL="335280" indent="-335280">
              <a:lnSpc>
                <a:spcPts val="2310"/>
              </a:lnSpc>
              <a:spcAft>
                <a:spcPts val="0"/>
              </a:spcAft>
              <a:defRPr sz="2200" b="0">
                <a:solidFill>
                  <a:srgbClr val="1C2330"/>
                </a:solidFill>
                <a:latin typeface="Liberation Mono"/>
              </a:defRPr>
            </a:pPr>
            <a:r>
              <a:t>horasEstudio = 4;</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"code", "plan_index": 1, "recognition": false, "unit_ids": ["unit-4"], "roles": {"unit-4": "unknown"}, "source_refs": [{"source": "teacher", "heading": "Constante frente a variable", "block_index": 5, "fragment": 0}, {"source": "teacher", "heading": "Ideas y ejemplos", "block_index": 4, "fragment": 0}], "visible_sources": [{"index": 0, "sha256": "6bf5fbdc0bf73fa560cec17551d598bb6da83c71b7cbefe6aebeea5651f0b6da"}, {"index": 2, "sha256": "11f7c44d9af69373cace24e4ff69e5ead128ec62bbb00d54882c1a1aad81d26f"}, {"index": 3, "sha256": "7d234eff4f7a7bfddcd7e83e68433cb796018fded2036405c5c20b1c2dcdea45"}, {"index": 5, "sha256": "53f33afbfe2f693b00c26ef29f080662bad02ed77fe3c794fbecc1fcaf44083a"}], "notes_sources": [{"function": "other", "heading": "Constante frente a variable", "sha256": "df9acf2e0cc9e2f7147f4ae4b90b1e1f9eeda1377e5dbfd9739ecfa79384031d"}, {"function": "visible_detail", "heading": "Constante frente a variable", "sha256": "6bf5fbdc0bf73fa560cec17551d598bb6da83c71b7cbefe6aebeea5651f0b6da"}, {"function": "facilitation", "heading": "Constante frente a variable", "sha256": "75e84d283c8e8157e2a6abd821f06e60c1ea30cd38ded2c9e728147d268e48cf"}, {"function": "facilitation", "heading": "Constante frente a variable", "sha256": "e92f1f9987259ae5e9c783474163edcb83775d843963fcc7b90707440907ff42"}, {"function": "facilitation", "heading": "Constante frente a variable", "sha256": "400962c6f20a908942a8f5e9223f13865cf461f1e050bb87de7700f06eb6def2"}, {"function": "facilitation", "heading": "Constante frente a variable", "sha256": "3fd1a73fdcefd7def35515c3823f81a3190b77a9679a19cc2e15a4045a4c6522"}, {"function": "visible_detail", "heading": "Constante frente a variable", "sha256": "c8c59bb63f24496d2d1969ca887f5b5e48f3a6c8e3e8a2f3365b023a82c70be2"}], "relations": {"unit_relations": {"unit-4": {"question_context": ["context", "question"]}}, "schedule": null, "source_supports_enriched": true}, "timeline_refs": [1], "composition": {"origin_slides": [3, 4, 5]}, "timing": {"seconds": 0, "allocations": [{"source_index": 1, "seconds": 0, "decision": "Intervalo compartido íntegro; propietario contable seleccionado por función de actividad y referencia timeline de unidad (identidad semántica en empates). Soporte, sin duplicación contable. ", "source_time": "4–12 min", "source_seconds": 480, "is_owner": false, "function": "other"}], "clock_intervals": [1], "presenter_notes": "Reloj fuente 4–12 min: duración compartida 480 segundos. Trabajo: Núcleo práctico guiado: final, mapa de literales y expresiones con resultado y tipo. Función del soporte: apoyo al trabajo.", "shared_intervals": [{"source_index": 1, "source_time": "4–12 min", "seconds": 480, "is_owner": false, "function": "other", "action": "Núcleo práctico guiado: final, mapa de literales y expresiones con resultado y tipo.", "concurrent": false, "parallel_work": ""}]}, "code_blocks": ["final String NOMBRE_ASISTENTE = \"MiniJarvis\";\nfinal int ANIO_INICIO = 2026;", "final String NOMBRE_ASISTENTE = \"MiniJarvis\";\nint horasEstudio = 3;\nhorasEstudio = 4;"], "representation_needs": [{"source_need": "Representación especial de unidades completas; no truncar", "status": "resolved", "resolution": "Vistas por unidad y fronteras fuente; código íntegro y tipografía fija"}]}</ns0:renderMetadata>
    </p:ext>
  </p:extLs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Constante frente a variable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NOMBRE_ASISTENTE no debe reasignarse. horasEstudio representa un dato que sí puede actualizarse.</a:t>
            </a:r>
          </a:p>
        </p:txBody>
      </p:sp>
      <p:sp>
        <p:nvSpPr>
          <p:cNvPr id="6" name="Contenido" descr="Contenido"/>
          <p:cNvSpPr txBox="1"/>
          <p:nvPr/>
        </p:nvSpPr>
        <p:spPr>
          <a:xfrm>
            <a:off x="640080" y="2846832"/>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Que un dato empiece siempre con el mismo valor no significa automáticamente que conceptualmente sea una constante.</a:t>
            </a:r>
          </a:p>
        </p:txBody>
      </p:sp>
      <p:sp>
        <p:nvSpPr>
          <p:cNvPr id="7" name="Código editable" descr="Código editable"/>
          <p:cNvSpPr txBox="1"/>
          <p:nvPr/>
        </p:nvSpPr>
        <p:spPr>
          <a:xfrm>
            <a:off x="640080" y="4276344"/>
            <a:ext cx="10881360" cy="45796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tareas = 0;</a:t>
            </a:r>
          </a:p>
        </p:txBody>
      </p:sp>
      <p:sp>
        <p:nvSpPr>
          <p:cNvPr id="8" name="Contenido" descr="Contenido"/>
          <p:cNvSpPr txBox="1"/>
          <p:nvPr/>
        </p:nvSpPr>
        <p:spPr>
          <a:xfrm>
            <a:off x="640080" y="4825746"/>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tareas empieza en cero, pero está pensada para cambiar.</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"code", "plan_index": 1, "recognition": false, "unit_ids": ["unit-4"], "roles": {"unit-4": "unknown"}, "source_refs": [{"source": "teacher", "heading": "Constante frente a variable", "block_index": 5, "fragment": 0}, {"source": "teacher", "heading": "Ideas y ejemplos", "block_index": 4, "fragment": 0}], "visible_sources": [{"index": 6, "sha256": "a4d1c90e99c6fab5f79a8a124434560370fcc50069627d995c0576b9d09447b4"}, {"index": 8, "sha256": "2746707ffe51bd5f66370da88339d22eaa0887c3f1b3827cb2daef26d4167e5b"}, {"index": 10, "sha256": "cdfa23745fda5921698ea84abcb4f2c01aaded392b7eaf07233c211fafd0a242"}, {"index": 11, "sha256": "c8c59bb63f24496d2d1969ca887f5b5e48f3a6c8e3e8a2f3365b023a82c70be2"}], "notes_sources": [{"function": "other", "heading": "Constante frente a variable", "sha256": "df9acf2e0cc9e2f7147f4ae4b90b1e1f9eeda1377e5dbfd9739ecfa79384031d"}, {"function": "visible_detail", "heading": "Constante frente a variable", "sha256": "6bf5fbdc0bf73fa560cec17551d598bb6da83c71b7cbefe6aebeea5651f0b6da"}, {"function": "facilitation", "heading": "Constante frente a variable", "sha256": "75e84d283c8e8157e2a6abd821f06e60c1ea30cd38ded2c9e728147d268e48cf"}, {"function": "facilitation", "heading": "Constante frente a variable", "sha256": "e92f1f9987259ae5e9c783474163edcb83775d843963fcc7b90707440907ff42"}, {"function": "facilitation", "heading": "Constante frente a variable", "sha256": "400962c6f20a908942a8f5e9223f13865cf461f1e050bb87de7700f06eb6def2"}, {"function": "facilitation", "heading": "Constante frente a variable", "sha256": "3fd1a73fdcefd7def35515c3823f81a3190b77a9679a19cc2e15a4045a4c6522"}, {"function": "visible_detail", "heading": "Constante frente a variable", "sha256": "c8c59bb63f24496d2d1969ca887f5b5e48f3a6c8e3e8a2f3365b023a82c70be2"}], "relations": {"unit_relations": {"unit-4": {"question_context": ["context", "question"]}}, "schedule": null, "source_supports_enriched": true}, "timeline_refs": [1], "composition": {"origin_slides": [3, 4, 5]}, "timing": {"seconds": 0, "allocations": [{"source_index": 1, "seconds": 0, "decision": "Intervalo compartido íntegro; propietario contable seleccionado por función de actividad y referencia timeline de unidad (identidad semántica en empates). Soporte, sin duplicación contable. ", "source_time": "4–12 min", "source_seconds": 480, "is_owner": false, "function": "other"}], "clock_intervals": [1], "presenter_notes": "Reloj fuente 4–12 min: duración compartida 480 segundos. Trabajo: Núcleo práctico guiado: final, mapa de literales y expresiones con resultado y tipo. Función del soporte: apoyo al trabajo.", "shared_intervals": [{"source_index": 1, "source_time": "4–12 min", "seconds": 480, "is_owner": false, "function": "other", "action": "Núcleo práctico guiado: final, mapa de literales y expresiones con resultado y tipo.", "concurrent": false, "parallel_work": ""}]}, "code_blocks": ["int tareas = 0;"], "representation_needs": [{"source_need": "Representación especial de unidades completas; no truncar", "status": "resolved", "resolution": "Vistas por unidad y fronteras fuente; código íntegro y tipografía fija"}]}</ns0:renderMetadata>
    </p:ext>
  </p:extLs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Literales: valores escritos directamente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ódigo editable" descr="Código editable"/>
          <p:cNvSpPr txBox="1"/>
          <p:nvPr/>
        </p:nvSpPr>
        <p:spPr>
          <a:xfrm>
            <a:off x="640080" y="1874519"/>
            <a:ext cx="6629400" cy="163144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horas = 5;</a:t>
            </a:r>
          </a:p>
          <a:p>
            <a:pPr marL="335280" indent="-335280">
              <a:lnSpc>
                <a:spcPts val="2310"/>
              </a:lnSpc>
              <a:spcAft>
                <a:spcPts val="0"/>
              </a:spcAft>
              <a:defRPr sz="2200" b="0">
                <a:solidFill>
                  <a:srgbClr val="1C2330"/>
                </a:solidFill>
                <a:latin typeface="Liberation Mono"/>
              </a:defRPr>
            </a:pPr>
            <a:r>
              <a:t>double nota = 7.5;</a:t>
            </a:r>
          </a:p>
          <a:p>
            <a:pPr marL="335280" indent="-335280">
              <a:lnSpc>
                <a:spcPts val="2310"/>
              </a:lnSpc>
              <a:spcAft>
                <a:spcPts val="0"/>
              </a:spcAft>
              <a:defRPr sz="2200" b="0">
                <a:solidFill>
                  <a:srgbClr val="1C2330"/>
                </a:solidFill>
                <a:latin typeface="Liberation Mono"/>
              </a:defRPr>
            </a:pPr>
            <a:r>
              <a:t>String mensaje = "Hola";</a:t>
            </a:r>
          </a:p>
          <a:p>
            <a:pPr marL="335280" indent="-335280">
              <a:lnSpc>
                <a:spcPts val="2310"/>
              </a:lnSpc>
              <a:spcAft>
                <a:spcPts val="0"/>
              </a:spcAft>
              <a:defRPr sz="2200" b="0">
                <a:solidFill>
                  <a:srgbClr val="1C2330"/>
                </a:solidFill>
                <a:latin typeface="Liberation Mono"/>
              </a:defRPr>
            </a:pPr>
            <a:r>
              <a:t>char inicial = 'L';</a:t>
            </a:r>
          </a:p>
          <a:p>
            <a:pPr marL="335280" indent="-335280">
              <a:lnSpc>
                <a:spcPts val="2310"/>
              </a:lnSpc>
              <a:spcAft>
                <a:spcPts val="0"/>
              </a:spcAft>
              <a:defRPr sz="2200" b="0">
                <a:solidFill>
                  <a:srgbClr val="1C2330"/>
                </a:solidFill>
                <a:latin typeface="Liberation Mono"/>
              </a:defRPr>
            </a:pPr>
            <a:r>
              <a:t>boolean terminada = false;</a:t>
            </a:r>
          </a:p>
        </p:txBody>
      </p:sp>
      <p:sp>
        <p:nvSpPr>
          <p:cNvPr id="6" name="Referente o acción" descr="Referente o acción"/>
          <p:cNvSpPr txBox="1"/>
          <p:nvPr/>
        </p:nvSpPr>
        <p:spPr>
          <a:xfrm>
            <a:off x="7680960" y="1874519"/>
            <a:ext cx="3840480" cy="217627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5        → entero</a:t>
            </a:r>
          </a:p>
          <a:p>
            <a:pPr>
              <a:lnSpc>
                <a:spcPts val="2640"/>
              </a:lnSpc>
              <a:spcAft>
                <a:spcPts val="0"/>
              </a:spcAft>
              <a:defRPr sz="2400" b="0">
                <a:solidFill>
                  <a:srgbClr val="1C2330"/>
                </a:solidFill>
                <a:latin typeface="Liberation Sans"/>
              </a:defRPr>
            </a:pPr>
            <a:r>
              <a:t>3.5      → decimal</a:t>
            </a:r>
          </a:p>
          <a:p>
            <a:pPr>
              <a:lnSpc>
                <a:spcPts val="2640"/>
              </a:lnSpc>
              <a:spcAft>
                <a:spcPts val="0"/>
              </a:spcAft>
              <a:defRPr sz="2400" b="0">
                <a:solidFill>
                  <a:srgbClr val="1C2330"/>
                </a:solidFill>
                <a:latin typeface="Liberation Sans"/>
              </a:defRPr>
            </a:pPr>
            <a:r>
              <a:t>"Hola"   → texto</a:t>
            </a:r>
          </a:p>
          <a:p>
            <a:pPr>
              <a:lnSpc>
                <a:spcPts val="2640"/>
              </a:lnSpc>
              <a:spcAft>
                <a:spcPts val="0"/>
              </a:spcAft>
              <a:defRPr sz="2400" b="0">
                <a:solidFill>
                  <a:srgbClr val="1C2330"/>
                </a:solidFill>
                <a:latin typeface="Liberation Sans"/>
              </a:defRPr>
            </a:pPr>
            <a:r>
              <a:t>'A'      → carácter</a:t>
            </a:r>
          </a:p>
          <a:p>
            <a:pPr>
              <a:lnSpc>
                <a:spcPts val="2640"/>
              </a:lnSpc>
              <a:spcAft>
                <a:spcPts val="0"/>
              </a:spcAft>
              <a:defRPr sz="2400" b="0">
                <a:solidFill>
                  <a:srgbClr val="1C2330"/>
                </a:solidFill>
                <a:latin typeface="Liberation Sans"/>
              </a:defRPr>
            </a:pPr>
            <a:r>
              <a:t>true     → booleano</a:t>
            </a:r>
          </a:p>
          <a:p>
            <a:pPr>
              <a:lnSpc>
                <a:spcPts val="2640"/>
              </a:lnSpc>
              <a:spcAft>
                <a:spcPts val="0"/>
              </a:spcAft>
              <a:defRPr sz="2400" b="0">
                <a:solidFill>
                  <a:srgbClr val="1C2330"/>
                </a:solidFill>
                <a:latin typeface="Liberation Sans"/>
              </a:defRPr>
            </a:pPr>
            <a:r>
              <a:t>false    → booleano</a:t>
            </a:r>
          </a:p>
        </p:txBody>
      </p:sp>
      <p:sp>
        <p:nvSpPr>
          <p:cNvPr id="7" name="Referente o acción" descr="Referente o acción"/>
          <p:cNvSpPr txBox="1"/>
          <p:nvPr/>
        </p:nvSpPr>
        <p:spPr>
          <a:xfrm>
            <a:off x="7680960" y="4142232"/>
            <a:ext cx="3840480" cy="1840991"/>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'L'  → char: un carácter</a:t>
            </a:r>
          </a:p>
          <a:p>
            <a:pPr>
              <a:lnSpc>
                <a:spcPts val="2640"/>
              </a:lnSpc>
              <a:spcAft>
                <a:spcPts val="0"/>
              </a:spcAft>
              <a:defRPr sz="2400" b="0">
                <a:solidFill>
                  <a:srgbClr val="1C2330"/>
                </a:solidFill>
                <a:latin typeface="Liberation Sans"/>
              </a:defRPr>
            </a:pPr>
            <a:r>
              <a:t>"L"  → String: texto de un carácter</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"study", "plan_index": 1, "recognition": false, "unit_ids": ["unit-5"], "roles": {"unit-5": "unknown"}, "source_refs": [{"source": "teacher", "heading": "Literales: valores escritos directamente", "block_index": 6, "fragment": 0}, {"source": "teacher", "heading": "Ideas y ejemplos", "block_index": 4, "fragment": 0}], "visible_sources": [{"index": 13, "sha256": "7e59f6c8ae5cdf1e08a29cab3018d44aa7cb7442464f8377d3ea64644ed62e61"}, {"index": 15, "sha256": "308ef14d9cad1b669be38075981d4542fd25f06211fb94f7a01c272c122a35d7"}, {"index": 17, "sha256": "420024c14f5770535325875d95365f77fc1e2a3ab41e2d9779d330f05e6f8357"}], "notes_sources": [{"function": "facilitation", "heading": "Literales: valores escritos directamente", "sha256": "7746fa37aaf7d7b1e15647b4a6cd1b10d4c7bd175ca71f218442e1cc666d0a2f"}, {"function": "facilitation", "heading": "Literales: valores escritos directamente", "sha256": "6eed6cd3946ca47cd8ea45d742d7ef4e08d75d5921f3484912f4a59ed71d8f46"}, {"function": "facilitation", "heading": "Literales: valores escritos directamente", "sha256": "3c169563e6e4ded658d814956ac1c8a91616b90a7349c12489e394e6f4e00240"}], "relations": {"unit_relations": {"unit-5": {"question_context": ["context", "question"]}}, "schedule": null, "presentation_normalizations": {"5        -&gt; entero\n3.5      -&gt; decimal\n\"Hola\"   -&gt; texto\n'A'      -&gt; carácter\ntrue     -&gt; booleano\nfalse    -&gt; booleano": "5        → entero\n3.5      → decimal\n\"Hola\"   → texto\n'A'      → carácter\ntrue     → booleano\nfalse    → booleano", "'L'  -&gt; char: un carácter\n\"L\"  -&gt; String: texto de un carácter": "'L'  → char: un carácter\n\"L\"  → String: texto de un carácter"}, "source_supports_enriched": true}, "timeline_refs": [1], "composition": {"origin_slides": [6, 7]}, "timing": {"seconds": 0, "allocations": [{"source_index": 1, "seconds": 0, "decision": "Intervalo compartido íntegro; propietario contable seleccionado por función de actividad y referencia timeline de unidad (identidad semántica en empates). Soporte, sin duplicación contable. ", "source_time": "4–12 min", "source_seconds": 480, "is_owner": false, "function": "other"}], "clock_intervals": [1], "presenter_notes": "Reloj fuente 4–12 min: duración compartida 480 segundos. Trabajo: Núcleo práctico guiado: final, mapa de literales y expresiones con resultado y tipo. Función del soporte: apoyo al trabajo.", "shared_intervals": [{"source_index": 1, "source_time": "4–12 min", "seconds": 480, "is_owner": false, "function": "other", "action": "Núcleo práctico guiado: final, mapa de literales y expresiones con resultado y tipo.", "concurrent": false, "parallel_work": ""}]}, "code_blocks": ["int horas = 5;\ndouble nota = 7.5;\nString mensaje = \"Hola\";\nchar inicial = 'L';\nboolean terminada = false;"], "representation_needs": [{"source_need": "Representación especial de unidades completas; no truncar", "status": "resolved", "resolution": "Vistas por unidad y fronteras fuente; código íntegro y tipografía fija"}]}</ns0:renderMetadata>
    </p:ext>
  </p:extLs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Literales: valores escritos directamente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Aunque ambos muestran la letra L, ¿qué tipo representa cada literal y qué delimitador permite distinguirlos?</a:t>
            </a:r>
          </a:p>
        </p:txBody>
      </p:sp>
      <p:sp>
        <p:nvSpPr>
          <p:cNvPr id="6" name="Contenido" descr="Contenido"/>
          <p:cNvSpPr txBox="1"/>
          <p:nvPr/>
        </p:nvSpPr>
        <p:spPr>
          <a:xfrm>
            <a:off x="640080" y="2846832"/>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No reduzcas la respuesta a «uno usa comillas simples y otro dobles»: deben relacionar el delimitador con char y String.</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"code", "plan_index": 1, "recognition": false, "unit_ids": ["unit-5"], "roles": {"unit-5": "unknown"}, "source_refs": [{"source": "teacher", "heading": "Literales: valores escritos directamente", "block_index": 6, "fragment": 0}, {"source": "teacher", "heading": "Ideas y ejemplos", "block_index": 4, "fragment": 0}], "visible_sources": [{"index": 18, "sha256": "c67db09475f5fb1b053374a1441826694e006da92e0b8d9d2d0a0e4f910c8e2f"}, {"index": 19, "sha256": "d59ba27c1e90e5d9c281748e807e19c402cd68e3253acc125e364c11dbc233db"}], "notes_sources": [{"function": "facilitation", "heading": "Literales: valores escritos directamente", "sha256": "7746fa37aaf7d7b1e15647b4a6cd1b10d4c7bd175ca71f218442e1cc666d0a2f"}, {"function": "facilitation", "heading": "Literales: valores escritos directamente", "sha256": "6eed6cd3946ca47cd8ea45d742d7ef4e08d75d5921f3484912f4a59ed71d8f46"}, {"function": "facilitation", "heading": "Literales: valores escritos directamente", "sha256": "3c169563e6e4ded658d814956ac1c8a91616b90a7349c12489e394e6f4e00240"}], "relations": {"unit_relations": {"unit-5": {"question_context": ["context", "question"]}}, "schedule": null, "source_supports_enriched": true}, "timeline_refs": [1], "composition": {"origin_slides": [6, 7]}, "timing": {"seconds": 480, "allocations": [{"source_index": 1, "seconds": 480, "decision": "Intervalo compartido íntegro; propietario contable seleccionado por función de actividad y referencia timeline de unidad (identidad semántica en empates). Propietario. ", "source_time": "4–12 min", "source_seconds": 480, "is_owner": true, "function": "other"}], "clock_intervals": [1], "presenter_notes": "Reloj fuente 4–12 min: duración compartida 480 segundos. Trabajo: Núcleo práctico guiado: final, mapa de literales y expresiones con resultado y tipo. Función del soporte: apoyo al trabajo.", "shared_intervals": [{"source_index": 1, "source_time": "4–12 min", "seconds": 480, "is_owner": true, "function": "other", "action": "Núcleo práctico guiado: final, mapa de literales y expresiones con resultado y tipo.", "concurrent": false, "parallel_work": ""}]}, "code_blocks": [], "representation_needs": [{"source_need": "Representación especial de unidades completas; no truncar", "status": "resolved", "resolution": "Vistas por unidad y fronteras fuente; código íntegro y tipografía fija"}]}</ns0:renderMetadata>
    </p:ext>
  </p:extLs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Para reconocer · leer, no ampliar la práctica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Una expresión produce un resultado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83515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Una expresión combina valores, variables u operadores y produce un resultado.</a:t>
            </a:r>
          </a:p>
        </p:txBody>
      </p:sp>
      <p:sp>
        <p:nvSpPr>
          <p:cNvPr id="6" name="Código editable" descr="Código editable"/>
          <p:cNvSpPr txBox="1"/>
          <p:nvPr/>
        </p:nvSpPr>
        <p:spPr>
          <a:xfrm>
            <a:off x="640080" y="2343912"/>
            <a:ext cx="10881360" cy="163144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3 + 2</a:t>
            </a:r>
          </a:p>
          <a:p>
            <a:pPr marL="335280" indent="-335280">
              <a:lnSpc>
                <a:spcPts val="2310"/>
              </a:lnSpc>
              <a:spcAft>
                <a:spcPts val="0"/>
              </a:spcAft>
              <a:defRPr sz="2200" b="0">
                <a:solidFill>
                  <a:srgbClr val="1C2330"/>
                </a:solidFill>
                <a:latin typeface="Liberation Mono"/>
              </a:defRPr>
            </a:pPr>
            <a:r>
              <a:t>horas * 60</a:t>
            </a:r>
          </a:p>
          <a:p>
            <a:pPr marL="335280" indent="-335280">
              <a:lnSpc>
                <a:spcPts val="2310"/>
              </a:lnSpc>
              <a:spcAft>
                <a:spcPts val="0"/>
              </a:spcAft>
              <a:defRPr sz="2200" b="0">
                <a:solidFill>
                  <a:srgbClr val="1C2330"/>
                </a:solidFill>
                <a:latin typeface="Liberation Mono"/>
              </a:defRPr>
            </a:pPr>
            <a:r>
              <a:t>horas &gt;= 4</a:t>
            </a:r>
          </a:p>
          <a:p>
            <a:pPr marL="335280" indent="-335280">
              <a:lnSpc>
                <a:spcPts val="2310"/>
              </a:lnSpc>
              <a:spcAft>
                <a:spcPts val="0"/>
              </a:spcAft>
              <a:defRPr sz="2200" b="0">
                <a:solidFill>
                  <a:srgbClr val="1C2330"/>
                </a:solidFill>
                <a:latin typeface="Liberation Mono"/>
              </a:defRPr>
            </a:pPr>
            <a:r>
              <a:t>tieneNombre &amp;&amp; tieneObjetivo</a:t>
            </a:r>
          </a:p>
          <a:p>
            <a:pPr marL="335280" indent="-335280">
              <a:lnSpc>
                <a:spcPts val="2310"/>
              </a:lnSpc>
              <a:spcAft>
                <a:spcPts val="0"/>
              </a:spcAft>
              <a:defRPr sz="2200" b="0">
                <a:solidFill>
                  <a:srgbClr val="1C2330"/>
                </a:solidFill>
                <a:latin typeface="Liberation Mono"/>
              </a:defRPr>
            </a:pPr>
            <a:r>
              <a:t>"Hola, " + nombreUsuario</a:t>
            </a:r>
          </a:p>
        </p:txBody>
      </p:sp>
      <p:sp>
        <p:nvSpPr>
          <p:cNvPr id="7" name="Contenido" descr="Contenido"/>
          <p:cNvSpPr txBox="1"/>
          <p:nvPr/>
        </p:nvSpPr>
        <p:spPr>
          <a:xfrm>
            <a:off x="640080" y="4066794"/>
            <a:ext cx="10881360" cy="150571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3 + 2                       → int</a:t>
            </a:r>
          </a:p>
          <a:p>
            <a:pPr>
              <a:lnSpc>
                <a:spcPts val="2640"/>
              </a:lnSpc>
              <a:spcAft>
                <a:spcPts val="0"/>
              </a:spcAft>
              <a:defRPr sz="2400" b="0">
                <a:solidFill>
                  <a:srgbClr val="1C2330"/>
                </a:solidFill>
                <a:latin typeface="Liberation Sans"/>
              </a:defRPr>
            </a:pPr>
            <a:r>
              <a:t>5 / 2.0                     → double</a:t>
            </a:r>
          </a:p>
          <a:p>
            <a:pPr>
              <a:lnSpc>
                <a:spcPts val="2640"/>
              </a:lnSpc>
              <a:spcAft>
                <a:spcPts val="0"/>
              </a:spcAft>
              <a:defRPr sz="2400" b="0">
                <a:solidFill>
                  <a:srgbClr val="1C2330"/>
                </a:solidFill>
                <a:latin typeface="Liberation Sans"/>
              </a:defRPr>
            </a:pPr>
            <a:r>
              <a:t>horas &gt;= 4                  → boolean</a:t>
            </a:r>
          </a:p>
          <a:p>
            <a:pPr>
              <a:lnSpc>
                <a:spcPts val="2640"/>
              </a:lnSpc>
              <a:spcAft>
                <a:spcPts val="0"/>
              </a:spcAft>
              <a:defRPr sz="2400" b="0">
                <a:solidFill>
                  <a:srgbClr val="1C2330"/>
                </a:solidFill>
                <a:latin typeface="Liberation Sans"/>
              </a:defRPr>
            </a:pPr>
            <a:r>
              <a:t>"Hola, " + nombreUsuario    → String</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"recognition", "plan_index": 1, "recognition": true, "unit_ids": ["unit-6"], "roles": {"unit-6": "recognition"}, "source_refs": [{"source": "teacher", "heading": "Una expresión produce un resultado", "block_index": 7, "fragment": 0}, {"source": "teacher", "heading": "Ideas y ejemplos", "block_index": 4, "fragment": 0}], "visible_sources": [{"index": 20, "sha256": "562859ea1a4afbd61aaea042d301bfd191eb570e4b86f6b2584eb895ee625bde"}, {"index": 21, "sha256": "379433b7200354cefb196f05aed38d7c5233dae0d804528f62fb886300908929"}, {"index": 23, "sha256": "4456aad91c236cb26dfc892dec8d8e079d6f125ca2e3155c3da9198533319b28"}], "notes_sources": [{"function": "visible_detail", "heading": "Una expresión produce un resultado", "sha256": "562859ea1a4afbd61aaea042d301bfd191eb570e4b86f6b2584eb895ee625bde"}, {"function": "facilitation", "heading": "Una expresión produce un resultado", "sha256": "843c52d28a05bcb423518b94511c89e3c448a851556ca2152b0e6dfe1f779ed0"}, {"function": "visible_detail", "heading": "Una expresión produce un resultado", "sha256": "7b968c98e67987d31f981a91c23a492010cb5c5a4c203c8e0f7d7a52146f26a5"}], "relations": {"unit_relations": {"unit-6": {}}, "schedule": null, "presentation_normalizations": {"3 + 2                       -&gt; int\n5 / 2.0                     -&gt; double\nhoras &gt;= 4                  -&gt; boolean\n\"Hola, \" + nombreUsuario    -&gt; String": "3 + 2                       → int\n5 / 2.0                     → double\nhoras &gt;= 4                  → boolean\n\"Hola, \" + nombreUsuario    → String"}, "source_supports_enriched": true}, "timeline_refs": [1], "composition": {"origin_slides": [8, 9]}, "timing": {"seconds": 0, "allocations": [{"source_index": 1, "seconds": 0, "decision": "Intervalo compartido íntegro; propietario contable seleccionado por función de actividad y referencia timeline de unidad (identidad semántica en empates). Soporte, sin duplicación contable. ", "source_time": "4–12 min", "source_seconds": 480, "is_owner": false, "function": "other"}], "clock_intervals": [1], "presenter_notes": "Reloj fuente 4–12 min: duración compartida 480 segundos. Trabajo: Núcleo práctico guiado: final, mapa de literales y expresiones con resultado y tipo. Función del soporte: apoyo al trabajo.", "shared_intervals": [{"source_index": 1, "source_time": "4–12 min", "seconds": 480, "is_owner": false, "function": "other", "action": "Núcleo práctico guiado: final, mapa de literales y expresiones con resultado y tipo.", "concurrent": false, "parallel_work": ""}]}, "code_blocks": ["3 + 2\nhoras * 60\nhoras &gt;= 4\ntieneNombre &amp;&amp; tieneObjetivo\n\"Hola, \" + nombreUsuario"], "representation_needs": [{"source_need": "Representación especial de unidades completas; no truncar", "status": "resolved", "resolution": "Vistas por unidad y fronteras fuente; código íntegro y tipografía fija"}]}</ns0:renderMetadata>
    </p:ext>
  </p:extLs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Para reconocer · leer, no ampliar la práctica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Una expresión produce un resultado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83515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Antes de ejecutar, pregunta por el valor y el tipo esperado.</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"recognition", "plan_index": 1, "recognition": true, "unit_ids": ["unit-6"], "roles": {"unit-6": "recognition"}, "source_refs": [{"source": "teacher", "heading": "Una expresión produce un resultado", "block_index": 7, "fragment": 0}, {"source": "teacher", "heading": "Ideas y ejemplos", "block_index": 4, "fragment": 0}], "visible_sources": [{"index": 24, "sha256": "7b968c98e67987d31f981a91c23a492010cb5c5a4c203c8e0f7d7a52146f26a5"}], "notes_sources": [{"function": "visible_detail", "heading": "Una expresión produce un resultado", "sha256": "562859ea1a4afbd61aaea042d301bfd191eb570e4b86f6b2584eb895ee625bde"}, {"function": "facilitation", "heading": "Una expresión produce un resultado", "sha256": "843c52d28a05bcb423518b94511c89e3c448a851556ca2152b0e6dfe1f779ed0"}, {"function": "visible_detail", "heading": "Una expresión produce un resultado", "sha256": "7b968c98e67987d31f981a91c23a492010cb5c5a4c203c8e0f7d7a52146f26a5"}], "relations": {"unit_relations": {"unit-6": {}}, "schedule": null, "source_supports_enriched": true}, "timeline_refs": [1], "composition": {"origin_slides": [8, 9]}, "timing": {"seconds": 0, "allocations": [{"source_index": 1, "seconds": 0, "decision": "Intervalo compartido íntegro; propietario contable seleccionado por función de actividad y referencia timeline de unidad (identidad semántica en empates). Soporte, sin duplicación contable. ", "source_time": "4–12 min", "source_seconds": 480, "is_owner": false, "function": "other"}], "clock_intervals": [1], "presenter_notes": "Reloj fuente 4–12 min: duración compartida 480 segundos. Trabajo: Núcleo práctico guiado: final, mapa de literales y expresiones con resultado y tipo. Función del soporte: apoyo al trabajo.", "shared_intervals": [{"source_index": 1, "source_time": "4–12 min", "seconds": 480, "is_owner": false, "function": "other", "action": "Núcleo práctico guiado: final, mapa de literales y expresiones con resultado y tipo.", "concurrent": false, "parallel_work": ""}]}, "code_blocks": [], "representation_needs": [{"source_need": "Representación especial de unidades completas; no truncar", "status": "resolved", "resolution": "Vistas por unidad y fronteras fuente; código íntegro y tipografía fija"}]}</ns0:renderMetadata>
    </p:ext>
  </p:extLs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Operar, almacenar y utilizar</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Etiqueta alternativa 0" descr="Etiqueta alternativa 0"/>
          <p:cNvSpPr txBox="1"/>
          <p:nvPr/>
        </p:nvSpPr>
        <p:spPr>
          <a:xfrm>
            <a:off x="640080" y="1417320"/>
            <a:ext cx="5166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Versión A</a:t>
            </a:r>
          </a:p>
        </p:txBody>
      </p:sp>
      <p:sp>
        <p:nvSpPr>
          <p:cNvPr id="6" name="Contraste 0" descr="Contraste 0"/>
          <p:cNvSpPr txBox="1"/>
          <p:nvPr/>
        </p:nvSpPr>
        <p:spPr>
          <a:xfrm>
            <a:off x="640080" y="1920240"/>
            <a:ext cx="5166360" cy="45796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horasTotales = 3 + 2;</a:t>
            </a:r>
          </a:p>
        </p:txBody>
      </p:sp>
      <p:sp>
        <p:nvSpPr>
          <p:cNvPr id="7" name="Pregunta o límite del contraste" descr="Pregunta o límite del contraste"/>
          <p:cNvSpPr txBox="1"/>
          <p:nvPr/>
        </p:nvSpPr>
        <p:spPr>
          <a:xfrm>
            <a:off x="640080" y="2469642"/>
            <a:ext cx="5166360" cy="150571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expresión se evalúa, qué resultado produce, qué tipo tiene y dónde queda guardado?</a:t>
            </a:r>
          </a:p>
        </p:txBody>
      </p:sp>
      <p:sp>
        <p:nvSpPr>
          <p:cNvPr id="8" name="Código editable" descr="Código editable"/>
          <p:cNvSpPr txBox="1"/>
          <p:nvPr/>
        </p:nvSpPr>
        <p:spPr>
          <a:xfrm>
            <a:off x="640080" y="4066794"/>
            <a:ext cx="5166360" cy="751332"/>
          </a:xfrm>
          <a:prstGeom prst="rect">
            <a:avLst/>
          </a:prstGeom>
          <a:no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minutos = 4 * 60;</a:t>
            </a:r>
          </a:p>
          <a:p>
            <a:pPr marL="335280" indent="-335280">
              <a:lnSpc>
                <a:spcPts val="2310"/>
              </a:lnSpc>
              <a:spcAft>
                <a:spcPts val="0"/>
              </a:spcAft>
              <a:defRPr sz="2200" b="0">
                <a:solidFill>
                  <a:srgbClr val="1C2330"/>
                </a:solidFill>
                <a:latin typeface="Liberation Mono"/>
              </a:defRPr>
            </a:pPr>
            <a:r>
              <a:t>System.out.println(minutos);</a:t>
            </a:r>
          </a:p>
        </p:txBody>
      </p:sp>
      <p:sp>
        <p:nvSpPr>
          <p:cNvPr id="9" name="Pregunta o límite del contraste" descr="Pregunta o límite del contraste"/>
          <p:cNvSpPr txBox="1"/>
          <p:nvPr/>
        </p:nvSpPr>
        <p:spPr>
          <a:xfrm>
            <a:off x="640080" y="4909566"/>
            <a:ext cx="5166360" cy="117043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literales → expresión → resultado → variable → salida</a:t>
            </a:r>
          </a:p>
        </p:txBody>
      </p:sp>
      <p:sp>
        <p:nvSpPr>
          <p:cNvPr id="10" name="Etiqueta alternativa 1" descr="Etiqueta alternativa 1"/>
          <p:cNvSpPr txBox="1"/>
          <p:nvPr/>
        </p:nvSpPr>
        <p:spPr>
          <a:xfrm>
            <a:off x="6263640" y="1417320"/>
            <a:ext cx="5166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Versión B</a:t>
            </a:r>
          </a:p>
        </p:txBody>
      </p:sp>
      <p:sp>
        <p:nvSpPr>
          <p:cNvPr id="11" name="Contraste 1" descr="Contraste 1"/>
          <p:cNvSpPr txBox="1"/>
          <p:nvPr/>
        </p:nvSpPr>
        <p:spPr>
          <a:xfrm>
            <a:off x="6263640" y="1920240"/>
            <a:ext cx="5166360" cy="133807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dias = 5;</a:t>
            </a:r>
          </a:p>
          <a:p>
            <a:pPr marL="335280" indent="-335280">
              <a:lnSpc>
                <a:spcPts val="2310"/>
              </a:lnSpc>
              <a:spcAft>
                <a:spcPts val="0"/>
              </a:spcAft>
              <a:defRPr sz="2200" b="0">
                <a:solidFill>
                  <a:srgbClr val="1C2330"/>
                </a:solidFill>
                <a:latin typeface="Liberation Mono"/>
              </a:defRPr>
            </a:pPr>
            <a:r>
              <a:t>int horasPorDia = 2;</a:t>
            </a:r>
          </a:p>
          <a:p>
            <a:pPr marL="335280" indent="-335280">
              <a:lnSpc>
                <a:spcPts val="2310"/>
              </a:lnSpc>
              <a:spcAft>
                <a:spcPts val="0"/>
              </a:spcAft>
              <a:defRPr sz="2200" b="0">
                <a:solidFill>
                  <a:srgbClr val="1C2330"/>
                </a:solidFill>
                <a:latin typeface="Liberation Mono"/>
              </a:defRPr>
            </a:pPr>
            <a:r>
              <a:t>int horasTotales = dias * horasPorDia;</a:t>
            </a:r>
          </a:p>
        </p:txBody>
      </p:sp>
      <p:sp>
        <p:nvSpPr>
          <p:cNvPr id="12" name="Pregunta o límite del contraste" descr="Pregunta o límite del contraste"/>
          <p:cNvSpPr txBox="1"/>
          <p:nvPr/>
        </p:nvSpPr>
        <p:spPr>
          <a:xfrm>
            <a:off x="6263640" y="3349752"/>
            <a:ext cx="5166360" cy="150571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Pide predecir horasTotales antes de ejecutar y explicar qué representa cada operando.</a:t>
            </a:r>
          </a:p>
        </p:txBody>
      </p:sp>
      <p:sp>
        <p:nvSpPr>
          <p:cNvPr id="13" name="Código editable" descr="Código editable"/>
          <p:cNvSpPr txBox="1"/>
          <p:nvPr/>
        </p:nvSpPr>
        <p:spPr>
          <a:xfrm>
            <a:off x="6263640" y="4946904"/>
            <a:ext cx="5166360" cy="457962"/>
          </a:xfrm>
          <a:prstGeom prst="rect">
            <a:avLst/>
          </a:prstGeom>
          <a:no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4 * 60;</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"comparison", "plan_index": 2, "recognition": false, "unit_ids": ["unit-7"], "roles": {"unit-7": "unknown"}, "source_refs": [{"source": "teacher", "heading": "Operar, almacenar y utilizar", "block_index": 8, "fragment": 0}, {"source": "teacher", "heading": "Ideas y ejemplos", "block_index": 4, "fragment": 0}], "visible_sources": [{"index": 1, "sha256": "8856ed15b95ae3b7d3f9018e039a7ab5102a42a97cf1f34dc7d7814f4ac14d13"}, {"index": 2, "sha256": "3c80db683e1d498d20dbc8614dc36a282036d09d78cdfea75f22968fbc0379b6"}, {"index": 4, "sha256": "a8e3209ceb903bd102a3c00851df2801e328542256710570884d22ae3efd8c64"}, {"index": 5, "sha256": "eaef89a69b4ca44a9652c0fe61192fd1563f929dce4f8f2633a0d2fa7fdcdbd6"}, {"index": 6, "sha256": "7362f4f6dc85e783666117bbfd8d32af566c3d99bd6251081c434ad807610cbb"}, {"index": 8, "sha256": "90c5a6b576c6c2e46d15d359788de72a94c7904d01a931ffd4a4213273ba3624"}, {"index": 10, "sha256": "592fe72ac81c3b450ebb141ab23cb1d83aee5dcae7d8488bfd69a3f598315325"}], "notes_sources": [{"function": "other", "heading": "Operar, almacenar y utilizar", "sha256": "4a03c7a3c1d3a53dbea492e850c8adb6b7b81ec1546f4001ba96e15a88c09a71"}, {"function": "other", "heading": "Operar, almacenar y utilizar", "sha256": "d6322dfb841c639e11b33948eb435af26338644d5fd96eac18699f2f18240067"}, {"function": "other", "heading": "Operar, almacenar y utilizar", "sha256": "df9acf2e0cc9e2f7147f4ae4b90b1e1f9eeda1377e5dbfd9739ecfa79384031d"}, {"function": "facilitation", "heading": "Operar, almacenar y utilizar", "sha256": "4a806ee451f8225f6091474f3e1b30dc461b15e533531aa5d721c1ed07924fc0"}, {"function": "facilitation", "heading": "Operar, almacenar y utilizar", "sha256": "7fc839f7e5d8ea136c77c57e6b321442c0d5951d1d62e13aaaadc5c56f1336ea"}, {"function": "facilitation", "heading": "Operar, almacenar y utilizar", "sha256": "e87d5764e73232d09980a32d6e2b5dffc2231f7209e61cbcc28f4f8e80e47266"}, {"function": "facilitation", "heading": "Operar, almacenar y utilizar", "sha256": "7d790e864dea8acd24f4962c1068ca6ec47c69dd7649b0380f4942ea6f8461ad"}], "relations": {"unit_relations": {"unit-7": {"question_context": ["context", "question"], "contrast": ["example", "counterexample"]}}, "schedule": null, "presentation_normalizations": {"literales -&gt; expresión -&gt; resultado -&gt; variable -&gt; salida": "literales → expresión → resultado → variable → salida"}, "source_supports_enriched": true}, "timeline_refs": [2], "composition": {"origin_slides": [10, 11, 12]}, "timing": {"seconds": 0, "allocations": [{"source_index": 2, "seconds": 0, "decision": "Intervalo compartido íntegro; propietario contable seleccionado por función de actividad y referencia timeline de unidad (identidad semántica en empates). Soporte, sin duplicación contable. ", "source_time": "12–23 min", "source_seconds": 660, "is_owner": false, "function": "other"}], "clock_intervals": [2], "presenter_notes": "Reloj fuente 12–23 min: duración compartida 660 segundos. Trabajo: Núcleo práctico individual: predecir operaciones, almacenar o mostrar resultados y justificar una constante. Función del soporte: apoyo al trabajo.", "shared_intervals": [{"source_index": 2, "source_time": "12–23 min", "seconds": 660, "is_owner": false, "function": "other", "action": "Núcleo práctico individual: predecir operaciones, almacenar o mostrar resultados y justificar una constante.", "concurrent": false, "parallel_work": ""}]}, "code_blocks": ["int horasTotales = 3 + 2;", "int dias = 5;\nint horasPorDia = 2;\nint horasTotales = dias * horasPorDia;", "int minutos = 4 * 60;\nSystem.out.println(minutos);", "4 * 60;"], "representation_needs": []}</ns0:renderMetadata>
    </p:ext>
  </p:extLs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Operar, almacenar y utilizar</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¿Dónde se guardaría el resultado y para qué se utilizaría? ¿Aceptará Java esta expresión aritmética aislada como una instrucción completa?</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"contrast", "plan_index": 2, "recognition": false, "unit_ids": ["unit-7"], "roles": {"unit-7": "unknown"}, "source_refs": [{"source": "teacher", "heading": "Operar, almacenar y utilizar", "block_index": 8, "fragment": 0}, {"source": "teacher", "heading": "Ideas y ejemplos", "block_index": 4, "fragment": 0}], "visible_sources": [{"index": 11, "sha256": "c0de38cc486488f00c336f058565030849075d9ebd71fffe73fe72ef15a20796"}], "notes_sources": [{"function": "other", "heading": "Operar, almacenar y utilizar", "sha256": "4a03c7a3c1d3a53dbea492e850c8adb6b7b81ec1546f4001ba96e15a88c09a71"}, {"function": "other", "heading": "Operar, almacenar y utilizar", "sha256": "d6322dfb841c639e11b33948eb435af26338644d5fd96eac18699f2f18240067"}, {"function": "other", "heading": "Operar, almacenar y utilizar", "sha256": "df9acf2e0cc9e2f7147f4ae4b90b1e1f9eeda1377e5dbfd9739ecfa79384031d"}, {"function": "facilitation", "heading": "Operar, almacenar y utilizar", "sha256": "4a806ee451f8225f6091474f3e1b30dc461b15e533531aa5d721c1ed07924fc0"}, {"function": "facilitation", "heading": "Operar, almacenar y utilizar", "sha256": "7fc839f7e5d8ea136c77c57e6b321442c0d5951d1d62e13aaaadc5c56f1336ea"}, {"function": "facilitation", "heading": "Operar, almacenar y utilizar", "sha256": "e87d5764e73232d09980a32d6e2b5dffc2231f7209e61cbcc28f4f8e80e47266"}, {"function": "facilitation", "heading": "Operar, almacenar y utilizar", "sha256": "7d790e864dea8acd24f4962c1068ca6ec47c69dd7649b0380f4942ea6f8461ad"}], "relations": {"unit_relations": {"unit-7": {"question_context": ["context", "question"], "contrast": ["example", "counterexample"]}}, "schedule": null, "source_supports_enriched": true}, "timeline_refs": [2], "composition": {"origin_slides": [10, 11, 12]}, "timing": {"seconds": 0, "allocations": [{"source_index": 2, "seconds": 0, "decision": "Intervalo compartido íntegro; propietario contable seleccionado por función de actividad y referencia timeline de unidad (identidad semántica en empates). Soporte, sin duplicación contable. ", "source_time": "12–23 min", "source_seconds": 660, "is_owner": false, "function": "other"}], "clock_intervals": [2], "presenter_notes": "Reloj fuente 12–23 min: duración compartida 660 segundos. Trabajo: Núcleo práctico individual: predecir operaciones, almacenar o mostrar resultados y justificar una constante. Función del soporte: apoyo al trabajo.", "shared_intervals": [{"source_index": 2, "source_time": "12–23 min", "seconds": 660, "is_owner": false, "function": "other", "action": "Núcleo práctico individual: predecir operaciones, almacenar o mostrar resultados y justificar una constante.", "concurrent": false, "parallel_work": ""}]}, "code_blocks": [], "representation_needs": []}</ns0:renderMetadata>
    </p:ext>
  </p:extLs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Proceso: PREDICE → EJECUTA → CONTRASTA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Predecir y construir — INDIVIDUAL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Acción o criterio 0" descr="Acción o criterio 0"/>
          <p:cNvSpPr txBox="1"/>
          <p:nvPr/>
        </p:nvSpPr>
        <p:spPr>
          <a:xfrm>
            <a:off x="640080" y="1417320"/>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decide si un dato propuesto debe ser constante o variable y justifica por qué;</a:t>
            </a:r>
          </a:p>
        </p:txBody>
      </p:sp>
      <p:sp>
        <p:nvSpPr>
          <p:cNvPr id="6" name="Acción o criterio 1" descr="Acción o criterio 1"/>
          <p:cNvSpPr txBox="1"/>
          <p:nvPr/>
        </p:nvSpPr>
        <p:spPr>
          <a:xfrm>
            <a:off x="6080760" y="1417320"/>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clasifica al menos un literal entero, decimal, textual, carácter y booleano;</a:t>
            </a:r>
          </a:p>
        </p:txBody>
      </p:sp>
      <p:sp>
        <p:nvSpPr>
          <p:cNvPr id="7" name="Acción o criterio 2" descr="Acción o criterio 2"/>
          <p:cNvSpPr txBox="1"/>
          <p:nvPr/>
        </p:nvSpPr>
        <p:spPr>
          <a:xfrm>
            <a:off x="640080" y="3014472"/>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explica la diferencia entre 'L' y "L";</a:t>
            </a:r>
          </a:p>
        </p:txBody>
      </p:sp>
      <p:sp>
        <p:nvSpPr>
          <p:cNvPr id="8" name="Acción o criterio 3" descr="Acción o criterio 3"/>
          <p:cNvSpPr txBox="1"/>
          <p:nvPr/>
        </p:nvSpPr>
        <p:spPr>
          <a:xfrm>
            <a:off x="6080760" y="3014472"/>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predice el valor y el tipo de una expresión;</a:t>
            </a:r>
          </a:p>
        </p:txBody>
      </p:sp>
      <p:sp>
        <p:nvSpPr>
          <p:cNvPr id="9" name="Acción o criterio 0" descr="Acción o criterio 0"/>
          <p:cNvSpPr txBox="1"/>
          <p:nvPr/>
        </p:nvSpPr>
        <p:spPr>
          <a:xfrm>
            <a:off x="640080" y="394106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anticipa 5 / 2 y 5 / 2.0;</a:t>
            </a:r>
          </a:p>
        </p:txBody>
      </p:sp>
      <p:sp>
        <p:nvSpPr>
          <p:cNvPr id="10" name="Acción o criterio 1" descr="Acción o criterio 1"/>
          <p:cNvSpPr txBox="1"/>
          <p:nvPr/>
        </p:nvSpPr>
        <p:spPr>
          <a:xfrm>
            <a:off x="6080760" y="394106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calcula el efecto de los paréntesis;</a:t>
            </a:r>
          </a:p>
        </p:txBody>
      </p:sp>
      <p:sp>
        <p:nvSpPr>
          <p:cNvPr id="11" name="Acción o criterio 2" descr="Acción o criterio 2"/>
          <p:cNvSpPr txBox="1"/>
          <p:nvPr/>
        </p:nvSpPr>
        <p:spPr>
          <a:xfrm>
            <a:off x="640080" y="486765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razona sobre un ejemplo con %;</a:t>
            </a:r>
          </a:p>
        </p:txBody>
      </p:sp>
      <p:sp>
        <p:nvSpPr>
          <p:cNvPr id="12" name="Acción o criterio 3" descr="Acción o criterio 3"/>
          <p:cNvSpPr txBox="1"/>
          <p:nvPr/>
        </p:nvSpPr>
        <p:spPr>
          <a:xfrm>
            <a:off x="6080760" y="486765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completa la traza de una actualización sin ejecutar.</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"linked_prediction", "plan_index": 3, "recognition": false, "unit_ids": ["unit-12"], "roles": {"unit-12": "core"}, "source_refs": [{"source": "teacher", "heading": "Predecir y construir — INDIVIDUAL", "block_index": 14, "fragment": 0}, {"source": "teacher", "heading": "Secuencia de trabajo y modalidad", "block_index": 13, "fragment": 0}], "visible_sources": [{"index": 1, "sha256": "9aafbc1f86cc6ebe51f79843eb003c94c3e676abf4bbabc113182ce18e8f0b7e"}], "notes_sources": [{"function": "facilitation", "heading": "Predecir y construir — INDIVIDUAL", "sha256": "aa5f096de190b6b3f0bdba6f96de30e1b1e410ea40f6b2570dd9b88bdcb51c34"}, {"function": "facilitation", "heading": "Predecir y construir — INDIVIDUAL", "sha256": "0e4567b052a19f682036bb0fcd98aa647ec644e82b3e265c0bb87241253e4a83"}, {"function": "visible_detail", "heading": "Predecir y construir — INDIVIDUAL", "sha256": "536783ea88b6f498909b9bf9a4ce7c6af1250ec55218b9cf2d7bc6f4a1409ff1"}], "relations": {"unit_relations": {"unit-12": {"prediction_cycle": ["prediction", "execution", "contrast"]}}, "schedule": null, "source_supports_enriched": true}, "timeline_refs": [2], "composition": {"origin_slides": [13, 14]}, "timing": {"seconds": 660, "allocations": [{"source_index": 2, "seconds": 660, "decision": "Intervalo compartido íntegro; propietario contable seleccionado por función de actividad y referencia timeline de unidad (identidad semántica en empates). Propietario. ", "source_time": "12–23 min", "source_seconds": 660, "is_owner": true, "function": "activity"}], "clock_intervals": [2], "presenter_notes": "Reloj fuente 12–23 min: duración compartida 660 segundos. Trabajo: Núcleo práctico individual: predecir operaciones, almacenar o mostrar resultados y justificar una constante. Función del soporte: actividad.", "shared_intervals": [{"source_index": 2, "source_time": "12–23 min", "seconds": 660, "is_owner": true, "function": "activity", "action": "Núcleo práctico individual: predecir operaciones, almacenar o mostrar resultados y justificar una constante.", "concurrent": false, "parallel_work": ""}]}, "code_blocks": [], "representation_needs": []}</ns0:renderMetadata>
    </p:ext>
  </p:extLs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Proceso: PREDICE → EJECUTA → CONTRASTA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Predecir y construir — INDIVIDUAL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212039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En MiniJarvis o en una micropráctica, usa una constante con sentido, una variable, al menos un literal, una operación cuyo resultado se guarde o se muestre, una actualización y una salida que permita comprobarlo.</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"linked_prediction", "plan_index": 3, "recognition": false, "unit_ids": ["unit-12"], "roles": {"unit-12": "core"}, "source_refs": [{"source": "teacher", "heading": "Predecir y construir — INDIVIDUAL", "block_index": 14, "fragment": 0}, {"source": "teacher", "heading": "Secuencia de trabajo y modalidad", "block_index": 13, "fragment": 0}], "visible_sources": [{"index": 3, "sha256": "536783ea88b6f498909b9bf9a4ce7c6af1250ec55218b9cf2d7bc6f4a1409ff1"}], "notes_sources": [{"function": "facilitation", "heading": "Predecir y construir — INDIVIDUAL", "sha256": "aa5f096de190b6b3f0bdba6f96de30e1b1e410ea40f6b2570dd9b88bdcb51c34"}, {"function": "facilitation", "heading": "Predecir y construir — INDIVIDUAL", "sha256": "0e4567b052a19f682036bb0fcd98aa647ec644e82b3e265c0bb87241253e4a83"}, {"function": "visible_detail", "heading": "Predecir y construir — INDIVIDUAL", "sha256": "536783ea88b6f498909b9bf9a4ce7c6af1250ec55218b9cf2d7bc6f4a1409ff1"}], "relations": {"unit_relations": {"unit-12": {"prediction_cycle": ["prediction", "execution", "contrast"]}}, "schedule": null, "source_supports_enriched": true}, "timeline_refs": [2], "composition": {"origin_slides": [13, 14]}, "timing": {"seconds": 0, "allocations": [{"source_index": 2, "seconds": 0, "decision": "Intervalo compartido íntegro; propietario contable seleccionado por función de actividad y referencia timeline de unidad (identidad semántica en empates). Soporte, sin duplicación contable. ", "source_time": "12–23 min", "source_seconds": 660, "is_owner": false, "function": "activity"}], "clock_intervals": [2], "presenter_notes": "Reloj fuente 12–23 min: duración compartida 660 segundos. Trabajo: Núcleo práctico individual: predecir operaciones, almacenar o mostrar resultados y justificar una constante. Función del soporte: actividad.", "shared_intervals": [{"source_index": 2, "source_time": "12–23 min", "seconds": 660, "is_owner": false, "function": "activity", "action": "Núcleo práctico individual: predecir operaciones, almacenar o mostrar resultados y justificar una constante.", "concurrent": false, "parallel_work": ""}]}, "code_blocks": [], "representation_needs": []}</ns0:renderMetadata>
    </p:ext>
  </p:extLs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División entera y división real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Acción o criterio 0" descr="Acción o criterio 0"/>
          <p:cNvSpPr txBox="1"/>
          <p:nvPr/>
        </p:nvSpPr>
        <p:spPr>
          <a:xfrm>
            <a:off x="640080" y="1417320"/>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valor esperas en divisionEntera?</a:t>
            </a:r>
          </a:p>
        </p:txBody>
      </p:sp>
      <p:sp>
        <p:nvSpPr>
          <p:cNvPr id="6" name="Acción o criterio 1" descr="Acción o criterio 1"/>
          <p:cNvSpPr txBox="1"/>
          <p:nvPr/>
        </p:nvSpPr>
        <p:spPr>
          <a:xfrm>
            <a:off x="6080760" y="1417320"/>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valor esperas en divisionReal?</a:t>
            </a:r>
          </a:p>
        </p:txBody>
      </p:sp>
      <p:sp>
        <p:nvSpPr>
          <p:cNvPr id="7" name="Acción o criterio 2" descr="Acción o criterio 2"/>
          <p:cNvSpPr txBox="1"/>
          <p:nvPr/>
        </p:nvSpPr>
        <p:spPr>
          <a:xfrm>
            <a:off x="640080" y="2343912"/>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diferencia hay entre los operandos de ambas expresiones?</a:t>
            </a:r>
          </a:p>
        </p:txBody>
      </p:sp>
      <p:sp>
        <p:nvSpPr>
          <p:cNvPr id="8" name="Acción o criterio 3" descr="Acción o criterio 3"/>
          <p:cNvSpPr txBox="1"/>
          <p:nvPr/>
        </p:nvSpPr>
        <p:spPr>
          <a:xfrm>
            <a:off x="6080760" y="2343912"/>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ADVERTENCIA · No adelantes casting ni conversión de entrada: se trabajarán en H1.7.</a:t>
            </a:r>
          </a:p>
        </p:txBody>
      </p:sp>
      <p:sp>
        <p:nvSpPr>
          <p:cNvPr id="9" name="Código editable" descr="Código editable"/>
          <p:cNvSpPr txBox="1"/>
          <p:nvPr/>
        </p:nvSpPr>
        <p:spPr>
          <a:xfrm>
            <a:off x="640080" y="3941064"/>
            <a:ext cx="10881360" cy="75133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divisionEntera = 5 / 2;</a:t>
            </a:r>
          </a:p>
          <a:p>
            <a:pPr marL="335280" indent="-335280">
              <a:lnSpc>
                <a:spcPts val="2310"/>
              </a:lnSpc>
              <a:spcAft>
                <a:spcPts val="0"/>
              </a:spcAft>
              <a:defRPr sz="2200" b="0">
                <a:solidFill>
                  <a:srgbClr val="1C2330"/>
                </a:solidFill>
                <a:latin typeface="Liberation Mono"/>
              </a:defRPr>
            </a:pPr>
            <a:r>
              <a:t>double divisionReal = 5 / 2.0;</a:t>
            </a:r>
          </a:p>
        </p:txBody>
      </p:sp>
      <p:sp>
        <p:nvSpPr>
          <p:cNvPr id="10" name="Contenido" descr="Contenido"/>
          <p:cNvSpPr txBox="1"/>
          <p:nvPr/>
        </p:nvSpPr>
        <p:spPr>
          <a:xfrm>
            <a:off x="640080" y="4783836"/>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Con enteros, 5 / 2 da 2, no 2.5.</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"code", "plan_index": 4, "recognition": false, "unit_ids": ["unit-8"], "roles": {"unit-8": "unknown"}, "source_refs": [{"source": "teacher", "heading": "División entera y división real", "block_index": 9, "fragment": 0}, {"source": "teacher", "heading": "Ideas y ejemplos", "block_index": 4, "fragment": 0}], "visible_sources": [{"index": 1, "sha256": "d225517f5c72c7db351f5a21156f564ddb8aabe0674d62bd872229151af79a71"}, {"index": 2, "sha256": "2ad1194ac89c339a2298481005ab5799cf23d02ff8027676289a5d55dda1c16b"}, {"index": 3, "sha256": "c7148ffbc49b8ba68e737fb2fdd711a36cdb436a7e5ae8fd16ec07053286de51"}, {"index": 4, "sha256": "9a4d581903541de01190848e1505242bc2658f7f46a1c840a482293f2dc04a71"}], "notes_sources": [{"function": "other", "heading": "División entera y división real", "sha256": "0e92c1a0b0f790609b2aa4190ccc459101de670292059667de1b24ab2d47ee8a"}, {"function": "facilitation", "heading": "División entera y división real", "sha256": "41ecbb1284d923ef42f5a17cc20a49b58bf22a8100dc6fca8a8a2fde6f7c2344"}, {"function": "visible_detail", "heading": "División entera y división real", "sha256": "c7148ffbc49b8ba68e737fb2fdd711a36cdb436a7e5ae8fd16ec07053286de51"}, {"function": "visible_detail", "heading": "División entera y división real", "sha256": "9a4d581903541de01190848e1505242bc2658f7f46a1c840a482293f2dc04a71"}], "relations": {"unit_relations": {"unit-8": {"question_context": ["context", "question"]}}, "schedule": null, "source_supports_enriched": true}, "timeline_refs": [3], "composition": {"origin_slides": [15, 16]}, "timing": {"seconds": 540, "allocations": [{"source_index": 3, "seconds": 540, "decision": "Intervalo compartido íntegro; propietario contable seleccionado por función de actividad y referencia timeline de unidad (identidad semántica en empates). Propietario. ", "source_time": "23–32 min", "source_seconds": 540, "is_owner": true, "function": "other"}], "clock_intervals": [3], "presenter_notes": "Reloj fuente 23–32 min: duración compartida 540 segundos. Trabajo: Contrastes guiados por parejas: división entera/real, precedencia, paréntesis y %. Función del soporte: apoyo al trabajo.", "shared_intervals": [{"source_index": 3, "source_time": "23–32 min", "seconds": 540, "is_owner": true, "function": "other", "action": "Contrastes guiados por parejas: división entera/real, precedencia, paréntesis y %.", "concurrent": false, "parallel_work": ""}]}, "code_blocks": ["int divisionEntera = 5 / 2;\ndouble divisionReal = 5 / 2.0;"], "representation_needs": []}</ns0:renderMetadata>
    </p:ext>
  </p:extLs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Proceso: PREDICE → EJECUTA → CONTRASTA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Precedencia y paréntesis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ódigo editable" descr="Código editable"/>
          <p:cNvSpPr txBox="1"/>
          <p:nvPr/>
        </p:nvSpPr>
        <p:spPr>
          <a:xfrm>
            <a:off x="640080" y="1417320"/>
            <a:ext cx="10881360" cy="1044701"/>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resultadoSinParentesis = 2 + 3 * 4;      // 14</a:t>
            </a:r>
          </a:p>
          <a:p>
            <a:pPr marL="335280" indent="-335280">
              <a:lnSpc>
                <a:spcPts val="2310"/>
              </a:lnSpc>
              <a:spcAft>
                <a:spcPts val="0"/>
              </a:spcAft>
              <a:defRPr sz="2200" b="0">
                <a:solidFill>
                  <a:srgbClr val="1C2330"/>
                </a:solidFill>
                <a:latin typeface="Liberation Mono"/>
              </a:defRPr>
            </a:pPr>
            <a:r>
              <a:t>int resultadoConParentesis = (2 + 3) * 4;    // 20</a:t>
            </a:r>
          </a:p>
          <a:p>
            <a:pPr marL="335280" indent="-335280">
              <a:lnSpc>
                <a:spcPts val="2310"/>
              </a:lnSpc>
              <a:spcAft>
                <a:spcPts val="0"/>
              </a:spcAft>
              <a:defRPr sz="2200" b="0">
                <a:solidFill>
                  <a:srgbClr val="1C2330"/>
                </a:solidFill>
                <a:latin typeface="Liberation Mono"/>
              </a:defRPr>
            </a:pPr>
            <a:r>
              <a:t>double resultado = 10 + 6 / 2.0; // 13.0</a:t>
            </a:r>
          </a:p>
        </p:txBody>
      </p:sp>
      <p:sp>
        <p:nvSpPr>
          <p:cNvPr id="6" name="Acción o criterio 0" descr="Acción o criterio 0"/>
          <p:cNvSpPr txBox="1"/>
          <p:nvPr/>
        </p:nvSpPr>
        <p:spPr>
          <a:xfrm>
            <a:off x="640080" y="2553462"/>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 la primera expresión, la multiplicación ocurre antes que la suma;</a:t>
            </a:r>
          </a:p>
        </p:txBody>
      </p:sp>
      <p:sp>
        <p:nvSpPr>
          <p:cNvPr id="7" name="Acción o criterio 1" descr="Acción o criterio 1"/>
          <p:cNvSpPr txBox="1"/>
          <p:nvPr/>
        </p:nvSpPr>
        <p:spPr>
          <a:xfrm>
            <a:off x="6080760" y="2553462"/>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 la segunda, los paréntesis cambian el orden;</a:t>
            </a:r>
          </a:p>
        </p:txBody>
      </p:sp>
      <p:sp>
        <p:nvSpPr>
          <p:cNvPr id="8" name="Acción o criterio 2" descr="Acción o criterio 2"/>
          <p:cNvSpPr txBox="1"/>
          <p:nvPr/>
        </p:nvSpPr>
        <p:spPr>
          <a:xfrm>
            <a:off x="640080" y="381533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 la tercera, la división ocurre antes que la suma y produce un resultado real.</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"linked_prediction", "plan_index": 4, "recognition": false, "unit_ids": ["unit-9"], "roles": {"unit-9": "unknown"}, "source_refs": [{"source": "teacher", "heading": "Precedencia y paréntesis", "block_index": 10, "fragment": 0}, {"source": "teacher", "heading": "Ideas y ejemplos", "block_index": 4, "fragment": 0}], "visible_sources": [{"index": 6, "sha256": "4cc045ec83af08ccbe02f153e87d47d6c99ee583547a266ca9018f3e6125699e"}, {"index": 8, "sha256": "41a3e7848ba062ad60a3d505d15574ca8b0c96ff55177e8acd65b69207bb2d26"}], "notes_sources": [{"function": "other", "heading": "Precedencia y paréntesis", "sha256": "df9acf2e0cc9e2f7147f4ae4b90b1e1f9eeda1377e5dbfd9739ecfa79384031d"}, {"function": "facilitation", "heading": "Precedencia y paréntesis", "sha256": "2f5cfeacc67de697239cb3d5e1a2dd96f281d6f2cc46a6f49f9f3c150d6a1d82"}, {"function": "facilitation", "heading": "Precedencia y paréntesis", "sha256": "4738e002d9460d781e98690fc6bafd64c5e4b05aa21a8586b869eae3c1c2ffed"}, {"function": "facilitation", "heading": "Precedencia y paréntesis", "sha256": "3f3b829d7329af0be08f753e8f3c10e7f4351ade357574e1a30044282f92affe"}], "relations": {"unit_relations": {"unit-9": {"prediction_cycle": ["prediction", "execution", "contrast"], "question_context": ["context", "question"]}}, "schedule": null, "source_supports_enriched": true}, "timeline_refs": [3], "composition": {"origin_slides": [17, 18]}, "timing": {"seconds": 0, "allocations": [{"source_index": 3, "seconds": 0, "decision": "Intervalo compartido íntegro; propietario contable seleccionado por función de actividad y referencia timeline de unidad (identidad semántica en empates). Soporte, sin duplicación contable. ", "source_time": "23–32 min", "source_seconds": 540, "is_owner": false, "function": "other"}], "clock_intervals": [3], "presenter_notes": "Reloj fuente 23–32 min: duración compartida 540 segundos. Trabajo: Contrastes guiados por parejas: división entera/real, precedencia, paréntesis y %. Función del soporte: apoyo al trabajo.", "shared_intervals": [{"source_index": 3, "source_time": "23–32 min", "seconds": 540, "is_owner": false, "function": "other", "action": "Contrastes guiados por parejas: división entera/real, precedencia, paréntesis y %.", "concurrent": false, "parallel_work": ""}]}, "code_blocks": ["int resultadoSinParentesis = 2 + 3 * 4;      // 14\nint resultadoConParentesis = (2 + 3) * 4;    // 20\ndouble resultado = 10 + 6 / 2.0; // 13.0"], "representation_needs": []}</ns0:renderMetadata>
    </p:ext>
  </p:extLs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Proceso: PREDICE → EJECUTA → CONTRASTA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Precedencia y paréntesis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172923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¿Qué operación se realiza primero en cada línea? ¿Dónde cambian los paréntesis el resultado y dónde solo podrían hacer más explícita la intención?</a:t>
            </a:r>
          </a:p>
        </p:txBody>
      </p:sp>
      <p:sp>
        <p:nvSpPr>
          <p:cNvPr id="6" name="Contenido" descr="Contenido"/>
          <p:cNvSpPr txBox="1"/>
          <p:nvPr/>
        </p:nvSpPr>
        <p:spPr>
          <a:xfrm>
            <a:off x="640080" y="3237992"/>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Si el orden puede generar dudas, usa paréntesis para expresar la intención y contrasta el resultado con una predicción.</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"linked_prediction", "plan_index": 4, "recognition": false, "unit_ids": ["unit-9"], "roles": {"unit-9": "unknown"}, "source_refs": [{"source": "teacher", "heading": "Precedencia y paréntesis", "block_index": 10, "fragment": 0}, {"source": "teacher", "heading": "Ideas y ejemplos", "block_index": 4, "fragment": 0}], "visible_sources": [{"index": 9, "sha256": "01fa7f723bc196edbc69952efe8bfbb76539b2c6ab198f3c65a8801b7d610e2f"}, {"index": 11, "sha256": "f3af46891491e52f2677a094cdb0d0dac8d2369d44086ed60184c22e353ab4f4"}], "notes_sources": [{"function": "other", "heading": "Precedencia y paréntesis", "sha256": "df9acf2e0cc9e2f7147f4ae4b90b1e1f9eeda1377e5dbfd9739ecfa79384031d"}, {"function": "facilitation", "heading": "Precedencia y paréntesis", "sha256": "2f5cfeacc67de697239cb3d5e1a2dd96f281d6f2cc46a6f49f9f3c150d6a1d82"}, {"function": "facilitation", "heading": "Precedencia y paréntesis", "sha256": "4738e002d9460d781e98690fc6bafd64c5e4b05aa21a8586b869eae3c1c2ffed"}, {"function": "facilitation", "heading": "Precedencia y paréntesis", "sha256": "3f3b829d7329af0be08f753e8f3c10e7f4351ade357574e1a30044282f92affe"}], "relations": {"unit_relations": {"unit-9": {"prediction_cycle": ["prediction", "execution", "contrast"], "question_context": ["context", "question"]}}, "schedule": null, "source_supports_enriched": true}, "timeline_refs": [3], "composition": {"origin_slides": [17, 18]}, "timing": {"seconds": 0, "allocations": [{"source_index": 3, "seconds": 0, "decision": "Intervalo compartido íntegro; propietario contable seleccionado por función de actividad y referencia timeline de unidad (identidad semántica en empates). Soporte, sin duplicación contable. ", "source_time": "23–32 min", "source_seconds": 540, "is_owner": false, "function": "other"}], "clock_intervals": [3], "presenter_notes": "Reloj fuente 23–32 min: duración compartida 540 segundos. Trabajo: Contrastes guiados por parejas: división entera/real, precedencia, paréntesis y %. Función del soporte: apoyo al trabajo.", "shared_intervals": [{"source_index": 3, "source_time": "23–32 min", "seconds": 540, "is_owner": false, "function": "other", "action": "Contrastes guiados por parejas: división entera/real, precedencia, paréntesis y %.", "concurrent": false, "parallel_work": ""}]}, "code_blocks": [], "representation_needs": []}</ns0:renderMetadata>
    </p:ext>
  </p:extLs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 significa resto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25115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10 / 4 → 2</a:t>
            </a:r>
          </a:p>
          <a:p>
            <a:pPr>
              <a:lnSpc>
                <a:spcPts val="3080"/>
              </a:lnSpc>
              <a:spcAft>
                <a:spcPts val="0"/>
              </a:spcAft>
              <a:defRPr sz="2800" b="0">
                <a:solidFill>
                  <a:srgbClr val="1C2330"/>
                </a:solidFill>
                <a:latin typeface="Liberation Sans"/>
              </a:defRPr>
            </a:pPr>
            <a:r>
              <a:t>10 % 4 → 2</a:t>
            </a:r>
          </a:p>
          <a:p>
            <a:pPr>
              <a:lnSpc>
                <a:spcPts val="3080"/>
              </a:lnSpc>
              <a:spcAft>
                <a:spcPts val="0"/>
              </a:spcAft>
              <a:defRPr sz="2800" b="0">
                <a:solidFill>
                  <a:srgbClr val="1C2330"/>
                </a:solidFill>
                <a:latin typeface="Liberation Sans"/>
              </a:defRPr>
            </a:pPr>
            <a:r>
              <a:t>8 % 2 → 0</a:t>
            </a:r>
          </a:p>
          <a:p>
            <a:pPr>
              <a:lnSpc>
                <a:spcPts val="3080"/>
              </a:lnSpc>
              <a:spcAft>
                <a:spcPts val="0"/>
              </a:spcAft>
              <a:defRPr sz="2800" b="0">
                <a:solidFill>
                  <a:srgbClr val="1C2330"/>
                </a:solidFill>
                <a:latin typeface="Liberation Sans"/>
              </a:defRPr>
            </a:pPr>
            <a:r>
              <a:t>9 % 2 → 1</a:t>
            </a:r>
          </a:p>
          <a:p>
            <a:pPr>
              <a:lnSpc>
                <a:spcPts val="3080"/>
              </a:lnSpc>
              <a:spcAft>
                <a:spcPts val="0"/>
              </a:spcAft>
              <a:defRPr sz="2800" b="0">
                <a:solidFill>
                  <a:srgbClr val="1C2330"/>
                </a:solidFill>
                <a:latin typeface="Liberation Sans"/>
              </a:defRPr>
            </a:pPr>
            <a:r>
              <a:t>17 / 5 → 3</a:t>
            </a:r>
          </a:p>
          <a:p>
            <a:pPr>
              <a:lnSpc>
                <a:spcPts val="3080"/>
              </a:lnSpc>
              <a:spcAft>
                <a:spcPts val="0"/>
              </a:spcAft>
              <a:defRPr sz="2800" b="0">
                <a:solidFill>
                  <a:srgbClr val="1C2330"/>
                </a:solidFill>
                <a:latin typeface="Liberation Sans"/>
              </a:defRPr>
            </a:pPr>
            <a:r>
              <a:t>17 % 5 → 2</a:t>
            </a:r>
          </a:p>
        </p:txBody>
      </p:sp>
      <p:sp>
        <p:nvSpPr>
          <p:cNvPr id="6" name="Contenido" descr="Contenido"/>
          <p:cNvSpPr txBox="1"/>
          <p:nvPr/>
        </p:nvSpPr>
        <p:spPr>
          <a:xfrm>
            <a:off x="640080" y="4020312"/>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Diez objetos entre cuatro personas: dos para cada una y sobran dos. % expresa lo que sobra.</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"code", "plan_index": 4, "recognition": false, "unit_ids": ["unit-10"], "roles": {"unit-10": "unknown"}, "source_refs": [{"source": "teacher", "heading": "% significa resto", "block_index": 11, "fragment": 0}, {"source": "teacher", "heading": "Ideas y ejemplos", "block_index": 4, "fragment": 0}], "visible_sources": [{"index": 12, "sha256": "b583bccbd070e152007838dddd39869e69c7e21fa40e7ff6375f38543b54d1a5"}, {"index": 14, "sha256": "b545eef941bee201a32567a2a692a355e62cba5b185c49fc27dba3c9b5d04840"}], "notes_sources": [{"function": "other", "heading": "% significa resto", "sha256": "645b660a4d14870c4c09097d9bc14ba87f75f1a33321d0aa00d9203fafff1a77"}, {"function": "facilitation", "heading": "% significa resto", "sha256": "5a31956c2f0282e24bb743ec777728429fdda35d8f0f14c7e04f98174bacf111"}], "relations": {"unit_relations": {"unit-10": {"question_context": ["context", "question"]}}, "schedule": null, "presentation_normalizations": {"10 / 4 -&gt; 2\n10 % 4 -&gt; 2\n8 % 2 -&gt; 0\n9 % 2 -&gt; 1\n17 / 5 -&gt; 3\n17 % 5 -&gt; 2": "10 / 4 → 2\n10 % 4 → 2\n8 % 2 → 0\n9 % 2 → 1\n17 / 5 → 3\n17 % 5 → 2"}, "source_supports_enriched": true}, "timeline_refs": [3], "composition": {"origin_slides": [19, 20]}, "timing": {"seconds": 0, "allocations": [{"source_index": 3, "seconds": 0, "decision": "Intervalo compartido íntegro; propietario contable seleccionado por función de actividad y referencia timeline de unidad (identidad semántica en empates). Soporte, sin duplicación contable. ", "source_time": "23–32 min", "source_seconds": 540, "is_owner": false, "function": "other"}], "clock_intervals": [3], "presenter_notes": "Reloj fuente 23–32 min: duración compartida 540 segundos. Trabajo: Contrastes guiados por parejas: división entera/real, precedencia, paréntesis y %. Función del soporte: apoyo al trabajo.", "shared_intervals": [{"source_index": 3, "source_time": "23–32 min", "seconds": 540, "is_owner": false, "function": "other", "action": "Contrastes guiados por parejas: división entera/real, precedencia, paréntesis y %.", "concurrent": false, "parallel_work": ""}]}, "code_blocks": [], "representation_needs": []}</ns0:renderMetadata>
    </p:ext>
  </p:extLs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 significa resto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Acción o criterio 0" descr="Acción o criterio 0"/>
          <p:cNvSpPr txBox="1"/>
          <p:nvPr/>
        </p:nvSpPr>
        <p:spPr>
          <a:xfrm>
            <a:off x="640080" y="1417320"/>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significan el cociente y el resto en 10 / 4 y 10 % 4?</a:t>
            </a:r>
          </a:p>
        </p:txBody>
      </p:sp>
      <p:sp>
        <p:nvSpPr>
          <p:cNvPr id="6" name="Acción o criterio 1" descr="Acción o criterio 1"/>
          <p:cNvSpPr txBox="1"/>
          <p:nvPr/>
        </p:nvSpPr>
        <p:spPr>
          <a:xfrm>
            <a:off x="6080760" y="1417320"/>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patrón observas en 8 % 2 y 9 % 2?</a:t>
            </a:r>
          </a:p>
        </p:txBody>
      </p:sp>
      <p:sp>
        <p:nvSpPr>
          <p:cNvPr id="7" name="Acción o criterio 2" descr="Acción o criterio 2"/>
          <p:cNvSpPr txBox="1"/>
          <p:nvPr/>
        </p:nvSpPr>
        <p:spPr>
          <a:xfrm>
            <a:off x="640080" y="2679192"/>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¿Cuánto esperas que valga 17 % 5 antes de mirar el ejemplo?</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"code", "plan_index": 4, "recognition": false, "unit_ids": ["unit-10"], "roles": {"unit-10": "unknown"}, "source_refs": [{"source": "teacher", "heading": "% significa resto", "block_index": 11, "fragment": 0}, {"source": "teacher", "heading": "Ideas y ejemplos", "block_index": 4, "fragment": 0}], "visible_sources": [{"index": 15, "sha256": "dd4661221b0c5643a6f4607f92880d2bab6f5d19219ec7e70b6b2ad184923fbe"}], "notes_sources": [{"function": "other", "heading": "% significa resto", "sha256": "645b660a4d14870c4c09097d9bc14ba87f75f1a33321d0aa00d9203fafff1a77"}, {"function": "facilitation", "heading": "% significa resto", "sha256": "5a31956c2f0282e24bb743ec777728429fdda35d8f0f14c7e04f98174bacf111"}], "relations": {"unit_relations": {"unit-10": {"question_context": ["context", "question"]}}, "schedule": null, "source_supports_enriched": true}, "timeline_refs": [3], "composition": {"origin_slides": [19, 20]}, "timing": {"seconds": 0, "allocations": [{"source_index": 3, "seconds": 0, "decision": "Intervalo compartido íntegro; propietario contable seleccionado por función de actividad y referencia timeline de unidad (identidad semántica en empates). Soporte, sin duplicación contable. ", "source_time": "23–32 min", "source_seconds": 540, "is_owner": false, "function": "other"}], "clock_intervals": [3], "presenter_notes": "Reloj fuente 23–32 min: duración compartida 540 segundos. Trabajo: Contrastes guiados por parejas: división entera/real, precedencia, paréntesis y %. Función del soporte: apoyo al trabajo.", "shared_intervals": [{"source_index": 3, "source_time": "23–32 min", "seconds": 540, "is_owner": false, "function": "other", "action": "Contrastes guiados por parejas: división entera/real, precedencia, paréntesis y %.", "concurrent": false, "parallel_work": ""}]}, "code_blocks": [], "representation_needs": []}</ns0:renderMetadata>
    </p:ext>
  </p:extLs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Actualizaciones y estado paso a paso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ódigo editable" descr="Código editable"/>
          <p:cNvSpPr txBox="1"/>
          <p:nvPr/>
        </p:nvSpPr>
        <p:spPr>
          <a:xfrm>
            <a:off x="640080" y="1874519"/>
            <a:ext cx="6629400" cy="192481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tareas = 3;</a:t>
            </a:r>
          </a:p>
          <a:p>
            <a:pPr marL="335280" indent="-335280">
              <a:lnSpc>
                <a:spcPts val="2310"/>
              </a:lnSpc>
              <a:spcAft>
                <a:spcPts val="0"/>
              </a:spcAft>
              <a:defRPr sz="2200" b="0">
                <a:solidFill>
                  <a:srgbClr val="1C2330"/>
                </a:solidFill>
                <a:latin typeface="Liberation Mono"/>
              </a:defRPr>
            </a:pPr>
            <a:r>
              <a:t>tareas = tareas + 2;</a:t>
            </a:r>
          </a:p>
          <a:p>
            <a:pPr marL="335280" indent="-335280">
              <a:lnSpc>
                <a:spcPts val="2310"/>
              </a:lnSpc>
              <a:spcAft>
                <a:spcPts val="0"/>
              </a:spcAft>
              <a:defRPr sz="2200" b="0">
                <a:solidFill>
                  <a:srgbClr val="1C2330"/>
                </a:solidFill>
                <a:latin typeface="Liberation Mono"/>
              </a:defRPr>
            </a:pPr>
            <a:r>
              <a:t>tareas += 2;</a:t>
            </a:r>
          </a:p>
          <a:p>
            <a:pPr marL="335280" indent="-335280">
              <a:lnSpc>
                <a:spcPts val="2310"/>
              </a:lnSpc>
              <a:spcAft>
                <a:spcPts val="0"/>
              </a:spcAft>
              <a:defRPr sz="2200" b="0">
                <a:solidFill>
                  <a:srgbClr val="1C2330"/>
                </a:solidFill>
                <a:latin typeface="Liberation Mono"/>
              </a:defRPr>
            </a:pPr>
            <a:r>
              <a:t>tareas -= 1;</a:t>
            </a:r>
          </a:p>
          <a:p>
            <a:pPr marL="335280" indent="-335280">
              <a:lnSpc>
                <a:spcPts val="2310"/>
              </a:lnSpc>
              <a:spcAft>
                <a:spcPts val="0"/>
              </a:spcAft>
              <a:defRPr sz="2200" b="0">
                <a:solidFill>
                  <a:srgbClr val="1C2330"/>
                </a:solidFill>
                <a:latin typeface="Liberation Mono"/>
              </a:defRPr>
            </a:pPr>
            <a:r>
              <a:t>tareas++;</a:t>
            </a:r>
          </a:p>
          <a:p>
            <a:pPr marL="335280" indent="-335280">
              <a:lnSpc>
                <a:spcPts val="2310"/>
              </a:lnSpc>
              <a:spcAft>
                <a:spcPts val="0"/>
              </a:spcAft>
              <a:defRPr sz="2200" b="0">
                <a:solidFill>
                  <a:srgbClr val="1C2330"/>
                </a:solidFill>
                <a:latin typeface="Liberation Mono"/>
              </a:defRPr>
            </a:pPr>
            <a:r>
              <a:t>tareas--;</a:t>
            </a:r>
          </a:p>
        </p:txBody>
      </p:sp>
      <p:sp>
        <p:nvSpPr>
          <p:cNvPr id="6" name="Código editable" descr="Código editable"/>
          <p:cNvSpPr txBox="1"/>
          <p:nvPr/>
        </p:nvSpPr>
        <p:spPr>
          <a:xfrm>
            <a:off x="640080" y="3890772"/>
            <a:ext cx="6629400" cy="133807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tareas = 2;</a:t>
            </a:r>
          </a:p>
          <a:p>
            <a:pPr marL="335280" indent="-335280">
              <a:lnSpc>
                <a:spcPts val="2310"/>
              </a:lnSpc>
              <a:spcAft>
                <a:spcPts val="0"/>
              </a:spcAft>
              <a:defRPr sz="2200" b="0">
                <a:solidFill>
                  <a:srgbClr val="1C2330"/>
                </a:solidFill>
                <a:latin typeface="Liberation Mono"/>
              </a:defRPr>
            </a:pPr>
            <a:r>
              <a:t>tareas += 3;</a:t>
            </a:r>
          </a:p>
          <a:p>
            <a:pPr marL="335280" indent="-335280">
              <a:lnSpc>
                <a:spcPts val="2310"/>
              </a:lnSpc>
              <a:spcAft>
                <a:spcPts val="0"/>
              </a:spcAft>
              <a:defRPr sz="2200" b="0">
                <a:solidFill>
                  <a:srgbClr val="1C2330"/>
                </a:solidFill>
                <a:latin typeface="Liberation Mono"/>
              </a:defRPr>
            </a:pPr>
            <a:r>
              <a:t>tareas--;</a:t>
            </a:r>
          </a:p>
          <a:p>
            <a:pPr marL="335280" indent="-335280">
              <a:lnSpc>
                <a:spcPts val="2310"/>
              </a:lnSpc>
              <a:spcAft>
                <a:spcPts val="0"/>
              </a:spcAft>
              <a:defRPr sz="2200" b="0">
                <a:solidFill>
                  <a:srgbClr val="1C2330"/>
                </a:solidFill>
                <a:latin typeface="Liberation Mono"/>
              </a:defRPr>
            </a:pPr>
            <a:r>
              <a:t>tareas++;</a:t>
            </a:r>
          </a:p>
        </p:txBody>
      </p:sp>
      <p:sp>
        <p:nvSpPr>
          <p:cNvPr id="7" name="Referente o acción" descr="Referente o acción"/>
          <p:cNvSpPr txBox="1"/>
          <p:nvPr/>
        </p:nvSpPr>
        <p:spPr>
          <a:xfrm>
            <a:off x="7680960" y="1874519"/>
            <a:ext cx="3840480" cy="418795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tareas = tareas + 2 calcula con el valor actual y reasigna;</a:t>
            </a:r>
          </a:p>
          <a:p>
            <a:pPr>
              <a:lnSpc>
                <a:spcPts val="2640"/>
              </a:lnSpc>
              <a:spcAft>
                <a:spcPts val="0"/>
              </a:spcAft>
              <a:defRPr sz="2400" b="0">
                <a:solidFill>
                  <a:srgbClr val="1C2330"/>
                </a:solidFill>
                <a:latin typeface="Liberation Sans"/>
              </a:defRPr>
            </a:pPr>
            <a:r>
              <a:t>tareas += 2 suma y actualiza;</a:t>
            </a:r>
          </a:p>
          <a:p>
            <a:pPr>
              <a:lnSpc>
                <a:spcPts val="2640"/>
              </a:lnSpc>
              <a:spcAft>
                <a:spcPts val="0"/>
              </a:spcAft>
              <a:defRPr sz="2400" b="0">
                <a:solidFill>
                  <a:srgbClr val="1C2330"/>
                </a:solidFill>
                <a:latin typeface="Liberation Sans"/>
              </a:defRPr>
            </a:pPr>
            <a:r>
              <a:t>tareas -= 1 resta y actualiza;</a:t>
            </a:r>
          </a:p>
          <a:p>
            <a:pPr>
              <a:lnSpc>
                <a:spcPts val="2640"/>
              </a:lnSpc>
              <a:spcAft>
                <a:spcPts val="0"/>
              </a:spcAft>
              <a:defRPr sz="2400" b="0">
                <a:solidFill>
                  <a:srgbClr val="1C2330"/>
                </a:solidFill>
                <a:latin typeface="Liberation Sans"/>
              </a:defRPr>
            </a:pPr>
            <a:r>
              <a:t>tareas++ incrementa una unidad;</a:t>
            </a:r>
          </a:p>
          <a:p>
            <a:pPr>
              <a:lnSpc>
                <a:spcPts val="2640"/>
              </a:lnSpc>
              <a:spcAft>
                <a:spcPts val="0"/>
              </a:spcAft>
              <a:defRPr sz="2400" b="0">
                <a:solidFill>
                  <a:srgbClr val="1C2330"/>
                </a:solidFill>
                <a:latin typeface="Liberation Sans"/>
              </a:defRPr>
            </a:pPr>
            <a:r>
              <a:t>tareas-- decrementa una unidad.</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"study", "plan_index": 5, "recognition": false, "unit_ids": ["unit-11"], "roles": {"unit-11": "unknown"}, "source_refs": [{"source": "teacher", "heading": "Actualizaciones y estado paso a paso", "block_index": 12, "fragment": 0}, {"source": "teacher", "heading": "Ideas y ejemplos", "block_index": 4, "fragment": 0}], "visible_sources": [{"index": 0, "sha256": "ded28000994d4492d6fd1af762b23e02a444796d6e4795adcc8cca161c877204"}, {"index": 2, "sha256": "c52cd2963fa3be622db2d3a39839eaec651791813a123b392acccd5896d6762a"}, {"index": 4, "sha256": "f9d70972ce7a8a1753982c0d58f0dfd20faf40b111255655078aa383d52a7f0b"}], "notes_sources": [{"function": "other", "heading": "Actualizaciones y estado paso a paso", "sha256": "db78bd3495a28713cf2a725600295a4e482968114eadbabd8bcdbebb8b686483"}, {"function": "other", "heading": "Actualizaciones y estado paso a paso", "sha256": "56f16df0097e92c7fba05004dfbcfce82ea92080e045e62b56cfa3e7ebd79479"}, {"function": "facilitation", "heading": "Actualizaciones y estado paso a paso", "sha256": "ea4444aa66a0668574bbf897f89b9082d5d645849b147c8ddbbed402f954837b"}, {"function": "facilitation", "heading": "Actualizaciones y estado paso a paso", "sha256": "efe8921589495936799682e195bbde9d23e0b9235468d866a4ad90eb09cc06b3"}, {"function": "facilitation", "heading": "Actualizaciones y estado paso a paso", "sha256": "63a4f2acb9d50d412ea3a9ca89b9f7b06df1a2edb00d6f78139b52aebe89994d"}], "relations": {"unit_relations": {"unit-11": {"question_context": ["context", "question"]}}, "schedule": null, "source_supports_enriched": true}, "timeline_refs": [4], "composition": {"origin_slides": [21, 22, 23]}, "timing": {"seconds": 0, "allocations": [{"source_index": 4, "seconds": 0, "decision": "Intervalo compartido íntegro; propietario contable seleccionado por función de actividad y referencia timeline de unidad (identidad semántica en empates). Soporte, sin duplicación contable. ", "source_time": "32–38 min", "source_seconds": 360, "is_owner": false, "function": "other"}], "clock_intervals": [4], "presenter_notes": "Reloj fuente 32–38 min: duración compartida 360 segundos. Trabajo: Aplicación breve: actualizaciones y traza 2 → 5 → 4 → 5. Función del soporte: apoyo al trabajo.", "shared_intervals": [{"source_index": 4, "source_time": "32–38 min", "seconds": 360, "is_owner": false, "function": "other", "action": "Aplicación breve: actualizaciones y traza 2 → 5 → 4 → 5.", "concurrent": false, "parallel_work": ""}]}, "code_blocks": ["int tareas = 3;\ntareas = tareas + 2;\ntareas += 2;\ntareas -= 1;\ntareas++;\ntareas--;", "int tareas = 2;\ntareas += 3;\ntareas--;\ntareas++;"], "representation_needs": []}</ns0:renderMetadata>
    </p:ext>
  </p:extLs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Actualizaciones y estado paso a paso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2 → 5 → 4 → 5</a:t>
            </a:r>
          </a:p>
        </p:txBody>
      </p:sp>
      <p:sp>
        <p:nvSpPr>
          <p:cNvPr id="6" name="Contenido" descr="Contenido"/>
          <p:cNvSpPr txBox="1"/>
          <p:nvPr/>
        </p:nvSpPr>
        <p:spPr>
          <a:xfrm>
            <a:off x="640080" y="2064512"/>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¿Qué instrucción se ha aplicado y sobre qué valor anterior?</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"code", "plan_index": 5, "recognition": false, "unit_ids": ["unit-11"], "roles": {"unit-11": "unknown"}, "source_refs": [{"source": "teacher", "heading": "Actualizaciones y estado paso a paso", "block_index": 12, "fragment": 0}, {"source": "teacher", "heading": "Ideas y ejemplos", "block_index": 4, "fragment": 0}], "visible_sources": [{"index": 6, "sha256": "469b6c7c1b6fc443bc7c742da5ea2e439d6f6dd5e322539a8bbc80bf3da745ee"}, {"index": 7, "sha256": "2ae4fe7ed1549f68c3715dc43c38537103df952943c93fcf3f05c1064cb3baba"}], "notes_sources": [{"function": "other", "heading": "Actualizaciones y estado paso a paso", "sha256": "db78bd3495a28713cf2a725600295a4e482968114eadbabd8bcdbebb8b686483"}, {"function": "other", "heading": "Actualizaciones y estado paso a paso", "sha256": "56f16df0097e92c7fba05004dfbcfce82ea92080e045e62b56cfa3e7ebd79479"}, {"function": "facilitation", "heading": "Actualizaciones y estado paso a paso", "sha256": "ea4444aa66a0668574bbf897f89b9082d5d645849b147c8ddbbed402f954837b"}, {"function": "facilitation", "heading": "Actualizaciones y estado paso a paso", "sha256": "efe8921589495936799682e195bbde9d23e0b9235468d866a4ad90eb09cc06b3"}, {"function": "facilitation", "heading": "Actualizaciones y estado paso a paso", "sha256": "63a4f2acb9d50d412ea3a9ca89b9f7b06df1a2edb00d6f78139b52aebe89994d"}], "relations": {"unit_relations": {"unit-11": {"question_context": ["context", "question"]}}, "schedule": null, "presentation_normalizations": {"2 -&gt; 5 -&gt; 4 -&gt; 5": "2 → 5 → 4 → 5"}, "source_supports_enriched": true}, "timeline_refs": [4], "composition": {"origin_slides": [21, 22, 23]}, "timing": {"seconds": 360, "allocations": [{"source_index": 4, "seconds": 360, "decision": "Intervalo compartido íntegro; propietario contable seleccionado por función de actividad y referencia timeline de unidad (identidad semántica en empates). Propietario. ", "source_time": "32–38 min", "source_seconds": 360, "is_owner": true, "function": "other"}], "clock_intervals": [4], "presenter_notes": "Reloj fuente 32–38 min: duración compartida 360 segundos. Trabajo: Aplicación breve: actualizaciones y traza 2 → 5 → 4 → 5. Función del soporte: apoyo al trabajo.", "shared_intervals": [{"source_index": 4, "source_time": "32–38 min", "seconds": 360, "is_owner": true, "function": "other", "action": "Aplicación breve: actualizaciones y traza 2 → 5 → 4 → 5.", "concurrent": false, "parallel_work": ""}]}, "code_blocks": [], "representation_needs": []}</ns0:renderMetadata>
    </p:ext>
  </p:extLs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Proceso: PREDICE → EJECUTA → CONTRASTA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Contrastar, ejecutar e integrar — PAREJAS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Acción o criterio 0" descr="Acción o criterio 0"/>
          <p:cNvSpPr txBox="1"/>
          <p:nvPr/>
        </p:nvSpPr>
        <p:spPr>
          <a:xfrm>
            <a:off x="640080" y="1417320"/>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comparan qué datos han considerado constantes o variables;</a:t>
            </a:r>
          </a:p>
        </p:txBody>
      </p:sp>
      <p:sp>
        <p:nvSpPr>
          <p:cNvPr id="6" name="Acción o criterio 1" descr="Acción o criterio 1"/>
          <p:cNvSpPr txBox="1"/>
          <p:nvPr/>
        </p:nvSpPr>
        <p:spPr>
          <a:xfrm>
            <a:off x="6080760" y="1417320"/>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contrastan predicciones sin ejecutar primero;</a:t>
            </a:r>
          </a:p>
        </p:txBody>
      </p:sp>
      <p:sp>
        <p:nvSpPr>
          <p:cNvPr id="7" name="Acción o criterio 2" descr="Acción o criterio 2"/>
          <p:cNvSpPr txBox="1"/>
          <p:nvPr/>
        </p:nvSpPr>
        <p:spPr>
          <a:xfrm>
            <a:off x="640080" y="2679192"/>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ejecutan los ejemplos seleccionados;</a:t>
            </a:r>
          </a:p>
        </p:txBody>
      </p:sp>
      <p:sp>
        <p:nvSpPr>
          <p:cNvPr id="8" name="Acción o criterio 3" descr="Acción o criterio 3"/>
          <p:cNvSpPr txBox="1"/>
          <p:nvPr/>
        </p:nvSpPr>
        <p:spPr>
          <a:xfrm>
            <a:off x="6080760" y="2679192"/>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explican las discrepancias entre predicción y resultado;</a:t>
            </a:r>
          </a:p>
        </p:txBody>
      </p:sp>
      <p:sp>
        <p:nvSpPr>
          <p:cNvPr id="9" name="Acción o criterio 4" descr="Acción o criterio 4"/>
          <p:cNvSpPr txBox="1"/>
          <p:nvPr/>
        </p:nvSpPr>
        <p:spPr>
          <a:xfrm>
            <a:off x="640080" y="394106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revisan dónde se almacena o utiliza cada operación;</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"linked_prediction", "plan_index": 6, "recognition": false, "unit_ids": ["unit-13"], "roles": {"unit-13": "core"}, "source_refs": [{"source": "teacher", "heading": "Contrastar, ejecutar e integrar — PAREJAS", "block_index": 15, "fragment": 0}, {"source": "teacher", "heading": "Secuencia de trabajo y modalidad", "block_index": 13, "fragment": 0}], "visible_sources": [{"index": 1, "sha256": "047f97e0db4c3ec38e8da6e746884a57a1fafe7b1bb294c0bf07bf5dd7ba7fda"}], "notes_sources": [{"function": "facilitation", "heading": "Contrastar, ejecutar e integrar — PAREJAS", "sha256": "eb92a2b4be6c112c0307bb5e3b53f8fc607a707f2f96a31c9530fa1a862c1a92"}, {"function": "visible_detail", "heading": "Contrastar, ejecutar e integrar — PAREJAS", "sha256": "13e557fdcfa47363381c362646b6f6d908967753db529b7fac47322800ef207b"}], "relations": {"unit_relations": {"unit-13": {"prediction_cycle": ["prediction", "execution", "contrast"]}}, "schedule": null, "source_supports_enriched": true}, "timeline_refs": [5], "composition": {"origin_slides": [24, 25, 26]}, "timing": {"seconds": 300, "allocations": [{"source_index": 5, "seconds": 300, "decision": "Intervalo compartido íntegro; propietario contable seleccionado por función de actividad y referencia timeline de unidad (identidad semántica en empates). Propietario. ", "source_time": "38–43 min", "source_seconds": 300, "is_owner": true, "function": "activity"}], "clock_intervals": [5], "presenter_notes": "Reloj fuente 38–43 min: duración compartida 300 segundos. Trabajo: Integrar constante, variable, operación, actualización y salida; ejecutar y explicar discrepancias. Función del soporte: actividad.", "shared_intervals": [{"source_index": 5, "source_time": "38–43 min", "seconds": 300, "is_owner": true, "function": "activity", "action": "Integrar constante, variable, operación, actualización y salida; ejecutar y explicar discrepancias.", "concurrent": false, "parallel_work": ""}]}, "code_blocks": [], "representation_needs": []}</ns0:renderMetadata>
    </p:ext>
  </p:extLs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Proceso: PREDICE → EJECUTA → CONTRASTA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Contrastar, ejecutar e integrar — PAREJAS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Acción o criterio 0" descr="Acción o criterio 0"/>
          <p:cNvSpPr txBox="1"/>
          <p:nvPr/>
        </p:nvSpPr>
        <p:spPr>
          <a:xfrm>
            <a:off x="640080" y="1417320"/>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comparan división entera y real;</a:t>
            </a:r>
          </a:p>
        </p:txBody>
      </p:sp>
      <p:sp>
        <p:nvSpPr>
          <p:cNvPr id="6" name="Acción o criterio 1" descr="Acción o criterio 1"/>
          <p:cNvSpPr txBox="1"/>
          <p:nvPr/>
        </p:nvSpPr>
        <p:spPr>
          <a:xfrm>
            <a:off x="6080760" y="1417320"/>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justifican el efecto de los paréntesis;</a:t>
            </a:r>
          </a:p>
        </p:txBody>
      </p:sp>
      <p:sp>
        <p:nvSpPr>
          <p:cNvPr id="7" name="Acción o criterio 2" descr="Acción o criterio 2"/>
          <p:cNvSpPr txBox="1"/>
          <p:nvPr/>
        </p:nvSpPr>
        <p:spPr>
          <a:xfrm>
            <a:off x="640080" y="2343912"/>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explican % como resto;</a:t>
            </a:r>
          </a:p>
        </p:txBody>
      </p:sp>
      <p:sp>
        <p:nvSpPr>
          <p:cNvPr id="8" name="Acción o criterio 3" descr="Acción o criterio 3"/>
          <p:cNvSpPr txBox="1"/>
          <p:nvPr/>
        </p:nvSpPr>
        <p:spPr>
          <a:xfrm>
            <a:off x="6080760" y="2343912"/>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recorren las actualizaciones estado por estado;</a:t>
            </a:r>
          </a:p>
        </p:txBody>
      </p:sp>
      <p:sp>
        <p:nvSpPr>
          <p:cNvPr id="9" name="Acción o criterio 4" descr="Acción o criterio 4"/>
          <p:cNvSpPr txBox="1"/>
          <p:nvPr/>
        </p:nvSpPr>
        <p:spPr>
          <a:xfrm>
            <a:off x="640080" y="360578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integran una solución técnica común cuando resulte útil.</a:t>
            </a:r>
          </a:p>
        </p:txBody>
      </p:sp>
      <p:sp>
        <p:nvSpPr>
          <p:cNvPr id="10" name="Contenido" descr="Contenido"/>
          <p:cNvSpPr txBox="1"/>
          <p:nvPr/>
        </p:nvSpPr>
        <p:spPr>
          <a:xfrm>
            <a:off x="640080" y="4867656"/>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El contraste por parejas no sustituye el intento individual.</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"linked_prediction", "plan_index": 6, "recognition": false, "unit_ids": ["unit-13"], "roles": {"unit-13": "core"}, "source_refs": [{"source": "teacher", "heading": "Contrastar, ejecutar e integrar — PAREJAS", "block_index": 15, "fragment": 0}, {"source": "teacher", "heading": "Secuencia de trabajo y modalidad", "block_index": 13, "fragment": 0}], "visible_sources": [{"index": 1, "sha256": "047f97e0db4c3ec38e8da6e746884a57a1fafe7b1bb294c0bf07bf5dd7ba7fda"}, {"index": 2, "sha256": "13e557fdcfa47363381c362646b6f6d908967753db529b7fac47322800ef207b"}], "notes_sources": [{"function": "facilitation", "heading": "Contrastar, ejecutar e integrar — PAREJAS", "sha256": "eb92a2b4be6c112c0307bb5e3b53f8fc607a707f2f96a31c9530fa1a862c1a92"}, {"function": "visible_detail", "heading": "Contrastar, ejecutar e integrar — PAREJAS", "sha256": "13e557fdcfa47363381c362646b6f6d908967753db529b7fac47322800ef207b"}], "relations": {"unit_relations": {"unit-13": {"prediction_cycle": ["prediction", "execution", "contrast"]}}, "schedule": null, "source_supports_enriched": true}, "timeline_refs": [5], "composition": {"origin_slides": [24, 25, 26]}, "timing": {"seconds": 0, "allocations": [{"source_index": 5, "seconds": 0, "decision": "Intervalo compartido íntegro; propietario contable seleccionado por función de actividad y referencia timeline de unidad (identidad semántica en empates). Soporte, sin duplicación contable. ", "source_time": "38–43 min", "source_seconds": 300, "is_owner": false, "function": "activity"}], "clock_intervals": [5], "presenter_notes": "Reloj fuente 38–43 min: duración compartida 300 segundos. Trabajo: Integrar constante, variable, operación, actualización y salida; ejecutar y explicar discrepancias. Función del soporte: actividad.", "shared_intervals": [{"source_index": 5, "source_time": "38–43 min", "seconds": 300, "is_owner": false, "function": "activity", "action": "Integrar constante, variable, operación, actualización y salida; ejecutar y explicar discrepancias.", "concurrent": false, "parallel_work": ""}]}, "code_blocks": [], "representation_needs": []}</ns0:renderMetadata>
    </p:ext>
  </p:extLst>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Evidencia que permanece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GitHub: código integrado o micropráctica con resultado reproducible.</a:t>
            </a:r>
          </a:p>
        </p:txBody>
      </p:sp>
      <p:sp>
        <p:nvSpPr>
          <p:cNvPr id="7" name="Acción o criterio 1" descr="Acción o criterio 1"/>
          <p:cNvSpPr txBox="1"/>
          <p:nvPr/>
        </p:nvSpPr>
        <p:spPr>
          <a:xfrm>
            <a:off x="608076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Scrum: solo si existe una tarea, decisión, cambio o bloqueo real.</a:t>
            </a:r>
          </a:p>
        </p:txBody>
      </p:sp>
      <p:sp>
        <p:nvSpPr>
          <p:cNvPr id="8" name="Acción o criterio 2" descr="Acción o criterio 2"/>
          <p:cNvSpPr txBox="1"/>
          <p:nvPr/>
        </p:nvSpPr>
        <p:spPr>
          <a:xfrm>
            <a:off x="640080" y="3249676"/>
            <a:ext cx="5257800" cy="184099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Diario individual: solo si una predicción errónea, un error o un descubrimiento produjo aprendizaje individual significativo.</a:t>
            </a:r>
          </a:p>
        </p:txBody>
      </p:sp>
      <p:sp>
        <p:nvSpPr>
          <p:cNvPr id="9" name="Acción o criterio 3" descr="Acción o criterio 3"/>
          <p:cNvSpPr txBox="1"/>
          <p:nvPr/>
        </p:nvSpPr>
        <p:spPr>
          <a:xfrm>
            <a:off x="6080760" y="3249676"/>
            <a:ext cx="5257800" cy="184099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README / Moodle / Drive / Site: sin actualización o entrega específica en H1.6.</a:t>
            </a:r>
          </a:p>
        </p:txBody>
      </p:sp>
      <p:sp>
        <p:nvSpPr>
          <p:cNvPr id="10" name="Contenido" descr="Contenido"/>
          <p:cNvSpPr txBox="1"/>
          <p:nvPr/>
        </p:nvSpPr>
        <p:spPr>
          <a:xfrm>
            <a:off x="640080" y="5182108"/>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La predicción es obligatoria como actividad pedagógica, no como documento.</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"activity", "plan_index": 6, "recognition": false, "unit_ids": ["unit-14"], "roles": {"unit-14": "core"}, "source_refs": [{"source": "teacher", "heading": "Evidencia que permanece", "block_index": 16, "fragment": 0}], "visible_sources": [{"index": 3, "sha256": "100ae4e73ff39b864803c2ab845c15934f4e8f053381d3a0692ec43b35f4d333"}, {"index": 4, "sha256": "c2631b77f8c828f99086b20cde59973ab7177d2a3ca322e96e69e1249b4d0336"}], "notes_sources": [{"function": "visible_detail", "heading": "Evidencia que permanece", "sha256": "c2631b77f8c828f99086b20cde59973ab7177d2a3ca322e96e69e1249b4d0336"}, {"function": "facilitation", "heading": "Evidencia que permanece", "sha256": "797f306047cc8caf09d696bbfbea3832f253ebe3306a71f405157dd803298279"}], "relations": {"unit_relations": {"unit-14": {}}, "schedule": null, "source_supports_enriched": true}, "timeline_refs": [5], "composition": {"origin_slides": [27, 28]}, "timing": {"seconds": 0, "allocations": [{"source_index": 5, "seconds": 0, "decision": "Intervalo compartido íntegro; propietario contable seleccionado por función de actividad y referencia timeline de unidad (identidad semántica en empates). Soporte, sin duplicación contable. ", "source_time": "38–43 min", "source_seconds": 300, "is_owner": false, "function": "evidence"}], "clock_intervals": [5], "presenter_notes": "Reloj fuente 38–43 min: duración compartida 300 segundos. Trabajo: Integrar constante, variable, operación, actualización y salida; ejecutar y explicar discrepancias. Función del soporte: apoyo al trabajo.", "shared_intervals": [{"source_index": 5, "source_time": "38–43 min", "seconds": 300, "is_owner": false, "function": "evidence", "action": "Integrar constante, variable, operación, actualización y salida; ejecutar y explicar discrepancias.", "concurrent": false, "parallel_work": ""}]}, "code_blocks": [], "representation_needs": []}</ns0:renderMetadata>
    </p:ext>
  </p:extLst>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Evidencia que permanece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Código editable" descr="Código editable"/>
          <p:cNvSpPr txBox="1"/>
          <p:nvPr/>
        </p:nvSpPr>
        <p:spPr>
          <a:xfrm>
            <a:off x="640080" y="1987804"/>
            <a:ext cx="10881360" cy="163144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Predicción: si horas vale 5, minutos será 300.</a:t>
            </a:r>
          </a:p>
          <a:p>
            <a:pPr marL="335280" indent="-335280">
              <a:lnSpc>
                <a:spcPts val="2310"/>
              </a:lnSpc>
              <a:spcAft>
                <a:spcPts val="0"/>
              </a:spcAft>
              <a:defRPr sz="2200" b="0">
                <a:solidFill>
                  <a:srgbClr val="1C2330"/>
                </a:solidFill>
                <a:latin typeface="Liberation Mono"/>
              </a:defRPr>
            </a:pPr>
            <a:r>
              <a:t>Código probado: int minutos = horas * 60;</a:t>
            </a:r>
          </a:p>
          <a:p>
            <a:pPr marL="335280" indent="-335280">
              <a:lnSpc>
                <a:spcPts val="2310"/>
              </a:lnSpc>
              <a:spcAft>
                <a:spcPts val="0"/>
              </a:spcAft>
              <a:defRPr sz="2200" b="0">
                <a:solidFill>
                  <a:srgbClr val="1C2330"/>
                </a:solidFill>
                <a:latin typeface="Liberation Mono"/>
              </a:defRPr>
            </a:pPr>
            <a:r>
              <a:t>Resultado observado: la consola muestra 300.</a:t>
            </a:r>
          </a:p>
          <a:p>
            <a:pPr marL="335280" indent="-335280">
              <a:lnSpc>
                <a:spcPts val="2310"/>
              </a:lnSpc>
              <a:spcAft>
                <a:spcPts val="0"/>
              </a:spcAft>
              <a:defRPr sz="2200" b="0">
                <a:solidFill>
                  <a:srgbClr val="1C2330"/>
                </a:solidFill>
                <a:latin typeface="Liberation Mono"/>
              </a:defRPr>
            </a:pPr>
            <a:r>
              <a:t>Explicación: la operación multiplica horas por 60 y guarda el resultado.</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"activity", "plan_index": 6, "recognition": false, "unit_ids": ["unit-14"], "roles": {"unit-14": "core"}, "source_refs": [{"source": "teacher", "heading": "Evidencia que permanece", "block_index": 16, "fragment": 0}], "visible_sources": [{"index": 6, "sha256": "ad3533df5cb6d31c239d404122cf78d6a3461af0369c8dd9f357ce3ff959588f"}], "notes_sources": [{"function": "visible_detail", "heading": "Evidencia que permanece", "sha256": "c2631b77f8c828f99086b20cde59973ab7177d2a3ca322e96e69e1249b4d0336"}, {"function": "facilitation", "heading": "Evidencia que permanece", "sha256": "797f306047cc8caf09d696bbfbea3832f253ebe3306a71f405157dd803298279"}], "relations": {"unit_relations": {"unit-14": {}}, "schedule": null, "source_supports_enriched": true}, "timeline_refs": [5], "composition": {"origin_slides": [27, 28]}, "timing": {"seconds": 0, "allocations": [{"source_index": 5, "seconds": 0, "decision": "Intervalo compartido íntegro; propietario contable seleccionado por función de actividad y referencia timeline de unidad (identidad semántica en empates). Soporte, sin duplicación contable. ", "source_time": "38–43 min", "source_seconds": 300, "is_owner": false, "function": "evidence"}], "clock_intervals": [5], "presenter_notes": "Reloj fuente 38–43 min: duración compartida 300 segundos. Trabajo: Integrar constante, variable, operación, actualización y salida; ejecutar y explicar discrepancias. Función del soporte: apoyo al trabajo.", "shared_intervals": [{"source_index": 5, "source_time": "38–43 min", "seconds": 300, "is_owner": false, "function": "evidence", "action": "Integrar constante, variable, operación, actualización y salida; ejecutar y explicar discrepancias.", "concurrent": false, "parallel_work": ""}]}, "code_blocks": [], "representation_needs": []}</ns0:renderMetadata>
    </p:ext>
  </p:extLst>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Comprueba lo aprendido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H1.6 · H1 — Primer asistente ejecutable</a:t>
            </a:r>
          </a:p>
        </p:txBody>
      </p:sp>
      <p:sp>
        <p:nvSpPr>
          <p:cNvPr id="5" name="Contenido" descr="Contenido"/>
          <p:cNvSpPr txBox="1"/>
          <p:nvPr/>
        </p:nvSpPr>
        <p:spPr>
          <a:xfrm>
            <a:off x="640080" y="1417320"/>
            <a:ext cx="10881360" cy="133807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rPr>
                <a:solidFill>
                  <a:srgbClr val="FFFFFF"/>
                </a:solidFill>
              </a:rPr>
              <a:t>¿Por qué 5 / 2 produce 2, qué cambian los paréntesis, qué significa % y cómo evoluciona una variable con +=, -=, ++ o --?</a:t>
            </a:r>
          </a:p>
        </p:txBody>
      </p:sp>
      <p:sp>
        <p:nvSpPr>
          <p:cNvPr id="6" name="Contenido" descr="Contenido"/>
          <p:cNvSpPr txBox="1"/>
          <p:nvPr/>
        </p:nvSpPr>
        <p:spPr>
          <a:xfrm>
            <a:off x="640080" y="2846832"/>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Una operación no está demostrada porque el código compile.</a:t>
            </a:r>
          </a:p>
        </p:txBody>
      </p:sp>
      <p:sp>
        <p:nvSpPr>
          <p:cNvPr id="7" name="Contenido" descr="Contenido"/>
          <p:cNvSpPr txBox="1"/>
          <p:nvPr/>
        </p:nvSpPr>
        <p:spPr>
          <a:xfrm>
            <a:off x="640080" y="3885184"/>
            <a:ext cx="10881360" cy="172923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rPr>
                <a:solidFill>
                  <a:srgbClr val="FFFFFF"/>
                </a:solidFill>
              </a:rPr>
              <a:t>¿Qué dato has tratado como constante y por qué, qué expresión has calculado, dónde queda su resultado y cómo sabes que la salida coincide con tu predicción?</a:t>
            </a:r>
          </a:p>
        </p:txBody>
      </p:sp>
    </p:spTree>
  </p:cSld>
  <p:clrMapOvr>
    <a:masterClrMapping/>
  </p:clrMapOvr>
  <p:extLst>
    <p:ext uri="urn:minijarvis:semantic-render:v1">
      <ns0:renderMetadata xmlns:ns0="urn:minijarvis:semantic-render:v1">{"session": "211", "source_files": {"teacher": "/mnt/compartido/Programación-26-27/Minijarvis/02-PROFESORADO/02-SESIONES/h1/S211-constantes-docente.md", "student_fallback": "/mnt/compartido/Programación-26-27/Minijarvis/01-ALUMNADO/03-SESIONES/h1/S211-constantes-alumnado.md"}, "layout": "closure", "plan_index": 7, "recognition": false, "unit_ids": ["unit-17", "unit-19"], "roles": {"unit-17": "core", "unit-19": "core"}, "source_refs": [{"source": "teacher", "heading": "Comprueba lo aprendido", "block_index": 19, "fragment": 0}, {"source": "teacher", "heading": "Al terminar", "block_index": 21, "fragment": 0}], "visible_sources": [{"index": 0, "sha256": "d1e883f1f673c17af930de84df20616b0e9672320f9b22c6a8df1e66e398200b"}, {"index": 2, "sha256": "139edc0da4c423e7db0c409a658663d5a0f2456a703f1ea36786e34fff0c98d3"}, {"index": 3, "sha256": "ed77adc5766e0f42b1d6cff68535cbcac28f722a78b754bfa501b904b5075277"}], "notes_sources": [{"function": "individual_check", "heading": "Comprueba lo aprendido", "sha256": "dae03982d930a360cc6f21f6182bdcfffd59c916b3cd04bb2bc0c7f6a450910a"}, {"function": "individual_check", "heading": "Comprueba lo aprendido", "sha256": "c54f205b33bd0dd1f4ec5e9ca0395c54a3e3633b76fe0bb5b87a0f6041c4f4f5"}, {"function": "continuity", "heading": "Al terminar", "sha256": "c5d760b9336aefe6ba9649ec169c61027094be686b87323b8f689f792abbf42a"}, {"function": "facilitation", "heading": "Comprueba lo aprendido", "sha256": "5ac270c14daf9145b5fa6b3260aaee7fce13571ee2fba5f4f556b6f5b86f5a90"}, {"function": "visible_detail", "heading": "Comprueba lo aprendido", "sha256": "139edc0da4c423e7db0c409a658663d5a0f2456a703f1ea36786e34fff0c98d3"}, {"function": "closure", "heading": "Comprueba lo aprendido", "sha256": "ed77adc5766e0f42b1d6cff68535cbcac28f722a78b754bfa501b904b5075277"}, {"function": "closure", "heading": "Comprueba lo aprendido", "sha256": "d1e883f1f673c17af930de84df20616b0e9672320f9b22c6a8df1e66e398200b"}, {"function": "closure", "heading": "Comprueba lo aprendido", "sha256": "ed77adc5766e0f42b1d6cff68535cbcac28f722a78b754bfa501b904b5075277"}, {"function": "closure", "heading": "Comprueba lo aprendido", "sha256": "d1e883f1f673c17af930de84df20616b0e9672320f9b22c6a8df1e66e398200b"}], "relations": {"unit_relations": {"unit-17": {"question_context": ["context", "question"]}}, "schedule": null, "source_supports_enriched": true}, "timeline_refs": [6], "composition": {"origin_slides": [29]}, "timing": {"seconds": 120, "allocations": [{"source_index": 6, "seconds": 120, "decision": "Intervalo compartido íntegro; propietario contable seleccionado por función de actividad y referencia timeline de unidad (identidad semántica en empates). Propietario. ", "source_time": "43–45 min", "source_seconds": 120, "is_owner": true, "function": "individual_check"}], "clock_intervals": [6], "presenter_notes": "Reloj fuente 43–45 min: duración compartida 120 segundos. Trabajo: Comprobar la comprensión y cerrar. Función del soporte: comprobación individual.", "shared_intervals": [{"source_index": 6, "source_time": "43–45 min", "seconds": 120, "is_owner": true, "function": "individual_check", "action": "Comprobar la comprensión y cerrar.", "concurrent": false, "parallel_work": ""}]}, "code_blocks": [], "representation_needs": []}</ns0:renderMetadata>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