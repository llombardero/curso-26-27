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Objetivo docente: Al terminar, debes usar constantes, literales y operaciones aritméticas con predicción y prueba.</a:t>
            </a:r>
          </a:p>
          <a:p>
            <a:r>
              <a:t>Diapositiva 1 de 9: Qué vas a aprender</a:t>
            </a:r>
          </a:p>
          <a:p>
            <a:r>
              <a:t>Fase HEXA: Ejecutar — crear</a:t>
            </a:r>
          </a:p>
          <a:p>
            <a:r>
              <a:t>Presenta el producto y anticipa la evidencia: Conservad el ejercicio o el código integrado y registrad una predicción que haya sido confirmada o corregida.</a:t>
            </a:r>
          </a:p>
          <a:p>
            <a:r>
              <a:t>Secuencia docente:</a:t>
            </a:r>
          </a:p>
          <a:p>
            <a:r>
              <a:t>- 45 minutos: En vuestro MiniJarvis o en un ejercicio, usad una constante, una variable, una operación, una actualización y una salida que permita comprobar el resultado.</a:t>
            </a:r>
          </a:p>
          <a:p>
            <a:r>
              <a:t>Claves docentes:</a:t>
            </a:r>
          </a:p>
          <a:p>
            <a:r>
              <a:t>- Úsala antes de introducir final, división entera, % y actualización.</a:t>
            </a:r>
          </a:p>
          <a:p>
            <a:r>
              <a:t>- Una constante representa un dato que no debe cambiar durante la ejecución. Un literal es un valor escrito directamente. Una operación produce un resultado, pero ese resultado se pierde si no lo guardamos, mostramos o usamos.</a:t>
            </a:r>
          </a:p>
          <a:p>
            <a:r>
              <a:t>- Empieza con constantes y variables:</a:t>
            </a:r>
          </a:p>
          <a:p>
            <a:r>
              <a:t>- final String NOMBRE_ASISTENTE = "MiniJarvis";</a:t>
            </a:r>
          </a:p>
          <a:p>
            <a:r>
              <a:t>- final int ANIO_INICIO = 2026;</a:t>
            </a:r>
          </a:p>
          <a:p>
            <a:r>
              <a:t>- Pregunta al alumnado:</a:t>
            </a:r>
          </a:p>
          <a:p>
            <a:r>
              <a:t>- Esperamos que estos datos cambien durante la ejecución.</a:t>
            </a:r>
          </a:p>
          <a:p>
            <a:r>
              <a:t>- Contrasta constante y variable:</a:t>
            </a:r>
          </a:p>
          <a:p>
            <a:r>
              <a:t>- int horasEstudio = 3;</a:t>
            </a:r>
          </a:p>
          <a:p>
            <a:r>
              <a:t>- horasEstudio = 4;</a:t>
            </a:r>
          </a:p>
          <a:p>
            <a:r>
              <a:t>- Aclara:</a:t>
            </a:r>
          </a:p>
          <a:p>
            <a:r>
              <a:t>- Un dato puede empezar siempre igual y no ser constante si está pensado para cambiar.</a:t>
            </a:r>
          </a:p>
          <a:p>
            <a:r>
              <a:t>- int tareas = 0;</a:t>
            </a:r>
          </a:p>
          <a:p>
            <a:r>
              <a:t>- Presenta literales:</a:t>
            </a:r>
          </a:p>
          <a:p>
            <a:r>
              <a:t>- 5</a:t>
            </a:r>
          </a:p>
          <a:p>
            <a:r>
              <a:t>- 3.5</a:t>
            </a:r>
          </a:p>
          <a:p>
            <a:r>
              <a:t>- "Hola"</a:t>
            </a:r>
          </a:p>
          <a:p>
            <a:r>
              <a:t>- 'A'</a:t>
            </a:r>
          </a:p>
          <a:p>
            <a:r>
              <a:t>- true</a:t>
            </a:r>
          </a:p>
          <a:p>
            <a:r>
              <a:t>- false</a:t>
            </a:r>
          </a:p>
          <a:p>
            <a:r>
              <a:t>- Clasifica con ejemplos:</a:t>
            </a:r>
          </a:p>
          <a:p>
            <a:r>
              <a:t>- int horas = 5;</a:t>
            </a:r>
          </a:p>
          <a:p>
            <a:r>
              <a:t>- double nota = 7.5;</a:t>
            </a:r>
          </a:p>
          <a:p>
            <a:r>
              <a:t>- String mensaje = "Hola";</a:t>
            </a:r>
          </a:p>
          <a:p>
            <a:r>
              <a:t>Fuente docente: /mnt/compartido/Programación-26-27/Minijarvis/02-PROFESORADO/02-SESIONES/h1/S211-constantes-docente.md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Objetivo docente: Al terminar, debes usar constantes, literales y operaciones aritméticas con predicción y prueba.</a:t>
            </a:r>
          </a:p>
          <a:p>
            <a:r>
              <a:t>Diapositiva 2 de 9: Qué aprenderás y cómo lo demostrarás</a:t>
            </a:r>
          </a:p>
          <a:p>
            <a:r>
              <a:t>Fase HEXA: Ejecutar — crear</a:t>
            </a:r>
          </a:p>
          <a:p>
            <a:r>
              <a:t>- Objetivo: Al terminar, debes usar constantes, literales y operaciones aritméticas con predicción y prueba.</a:t>
            </a:r>
          </a:p>
          <a:p>
            <a:r>
              <a:t>- Comprobación: Conservad el ejercicio o el código integrado y registrad una predicción que haya sido confirmada o corregida.</a:t>
            </a:r>
          </a:p>
          <a:p>
            <a:r>
              <a:t>Fuente docente: /mnt/compartido/Programación-26-27/Minijarvis/02-PROFESORADO/02-SESIONES/h1/S211-constantes-docente.md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Objetivo docente: Al terminar, debes usar constantes, literales y operaciones aritméticas con predicción y prueba.</a:t>
            </a:r>
          </a:p>
          <a:p>
            <a:r>
              <a:t>Diapositiva 3 de 9: Constante, variable y literal</a:t>
            </a:r>
          </a:p>
          <a:p>
            <a:r>
              <a:t>Fase HEXA: Ejecutar — crear</a:t>
            </a:r>
          </a:p>
          <a:p>
            <a:r>
              <a:t>Explica con predicción y ejemplo mínimo; comprueba comprensión antes de continuar.</a:t>
            </a:r>
          </a:p>
          <a:p>
            <a:r>
              <a:t>- final String ASSISTANT_NAME = "MiniJarvis";</a:t>
            </a:r>
          </a:p>
          <a:p>
            <a:r>
              <a:t>int studyHours = 5;</a:t>
            </a:r>
          </a:p>
          <a:p>
            <a:r>
              <a:t>int minutes = studyHours * 60;</a:t>
            </a:r>
          </a:p>
          <a:p>
            <a:r>
              <a:t>System.out.println(ASSISTANT_NAME + ": " + minutes);</a:t>
            </a:r>
          </a:p>
          <a:p>
            <a:r>
              <a:t>- final impide reasignar la variable; el nombre de constante usa UPPER_SNAKE_CASE.</a:t>
            </a:r>
          </a:p>
          <a:p>
            <a:r>
              <a:t>- Los literales del ejemplo son "MiniJarvis", 5 y 60.</a:t>
            </a:r>
          </a:p>
          <a:p>
            <a:r>
              <a:t>Fuente docente: /mnt/compartido/Programación-26-27/Minijarvis/02-PROFESORADO/02-SESIONES/h1/S211-constantes-docente.md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Objetivo docente: Al terminar, debes usar constantes, literales y operaciones aritméticas con predicción y prueba.</a:t>
            </a:r>
          </a:p>
          <a:p>
            <a:r>
              <a:t>Diapositiva 4 de 9: La división depende de los operandos</a:t>
            </a:r>
          </a:p>
          <a:p>
            <a:r>
              <a:t>Fase HEXA: Ejecutar — crear</a:t>
            </a:r>
          </a:p>
          <a:p>
            <a:r>
              <a:t>Explica con predicción y ejemplo mínimo; comprueba comprensión antes de continuar.</a:t>
            </a:r>
          </a:p>
          <a:p>
            <a:r>
              <a:t>- ENTERA · int result = 5 / 2;</a:t>
            </a:r>
          </a:p>
          <a:p>
            <a:r>
              <a:t>Resultado: 2</a:t>
            </a:r>
          </a:p>
          <a:p>
            <a:r>
              <a:t>- REAL · double result = 5 / 2.0;</a:t>
            </a:r>
          </a:p>
          <a:p>
            <a:r>
              <a:t>Resultado: 2.5</a:t>
            </a:r>
          </a:p>
          <a:p>
            <a:r>
              <a:t>- Si ambos operandos son enteros, la parte decimal no aparece.</a:t>
            </a:r>
          </a:p>
          <a:p>
            <a:r>
              <a:t>Fuente docente: /mnt/compartido/Programación-26-27/Minijarvis/02-PROFESORADO/02-SESIONES/h1/S211-constantes-docente.md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Objetivo docente: Al terminar, debes usar constantes, literales y operaciones aritméticas con predicción y prueba.</a:t>
            </a:r>
          </a:p>
          <a:p>
            <a:r>
              <a:t>Diapositiva 5 de 9: Resto, precedencia y actualización</a:t>
            </a:r>
          </a:p>
          <a:p>
            <a:r>
              <a:t>Fase HEXA: Ejecutar — crear</a:t>
            </a:r>
          </a:p>
          <a:p>
            <a:r>
              <a:t>Explica con predicción y ejemplo mínimo; comprueba comprensión antes de continuar.</a:t>
            </a:r>
          </a:p>
          <a:p>
            <a:r>
              <a:t>- int remainder = 10 % 4;       // 2</a:t>
            </a:r>
          </a:p>
          <a:p>
            <a:r>
              <a:t>int a = 8 * 4 + 2;            // 34</a:t>
            </a:r>
          </a:p>
          <a:p>
            <a:r>
              <a:t>int b = 8 * (4 + 2);          // 48</a:t>
            </a:r>
          </a:p>
          <a:p>
            <a:r>
              <a:t>int tasks = 3;</a:t>
            </a:r>
          </a:p>
          <a:p>
            <a:r>
              <a:t>tasks += 2;                    // 5</a:t>
            </a:r>
          </a:p>
          <a:p>
            <a:r>
              <a:t>tasks++;                       // 6</a:t>
            </a:r>
          </a:p>
          <a:p>
            <a:r>
              <a:t>tasks--;                       // 5</a:t>
            </a:r>
          </a:p>
          <a:p>
            <a:r>
              <a:t>- % devuelve el resto; no calcula un porcentaje.</a:t>
            </a:r>
          </a:p>
          <a:p>
            <a:r>
              <a:t>- tasks++ y tasks-- cambian exactamente una unidad.</a:t>
            </a:r>
          </a:p>
          <a:p>
            <a:r>
              <a:t>Fuente docente: /mnt/compartido/Programación-26-27/Minijarvis/02-PROFESORADO/02-SESIONES/h1/S211-constantes-docente.md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Objetivo docente: Al terminar, debes usar constantes, literales y operaciones aritméticas con predicción y prueba.</a:t>
            </a:r>
          </a:p>
          <a:p>
            <a:r>
              <a:t>Diapositiva 6 de 9: Predice antes de ejecutar</a:t>
            </a:r>
          </a:p>
          <a:p>
            <a:r>
              <a:t>Fase HEXA: Ejecutar — crear</a:t>
            </a:r>
          </a:p>
          <a:p>
            <a:r>
              <a:t>Entrega la consigna, observa decisiones y pide una prueba reproducible.</a:t>
            </a:r>
          </a:p>
          <a:p>
            <a:r>
              <a:t>- Predice 7 / 2, 7 / 2.0 y 7 % 2.</a:t>
            </a:r>
          </a:p>
          <a:p>
            <a:r>
              <a:t>- Construye un microprograma con una constante, una variable y una operación.</a:t>
            </a:r>
          </a:p>
          <a:p>
            <a:r>
              <a:t>- Actualiza la variable y muestra el resultado.</a:t>
            </a:r>
          </a:p>
          <a:p>
            <a:r>
              <a:t>- Intenta reasignar la constante, lee el error y deshazlo.</a:t>
            </a:r>
          </a:p>
          <a:p>
            <a:r>
              <a:t>Fuente docente: /mnt/compartido/Programación-26-27/Minijarvis/02-PROFESORADO/02-SESIONES/h1/S211-constantes-docente.md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Objetivo docente: Al terminar, debes usar constantes, literales y operaciones aritméticas con predicción y prueba.</a:t>
            </a:r>
          </a:p>
          <a:p>
            <a:r>
              <a:t>Diapositiva 7 de 9: Resultados que debes poder explicar</a:t>
            </a:r>
          </a:p>
          <a:p>
            <a:r>
              <a:t>Fase HEXA: Ejecutar — crear</a:t>
            </a:r>
          </a:p>
          <a:p>
            <a:r>
              <a:t>Comprueba la evidencia en su fuente canónica: Conservad el ejercicio o el código integrado y registrad una predicción que haya sido confirmada o corregida.</a:t>
            </a:r>
          </a:p>
          <a:p>
            <a:r>
              <a:t>- Distingo variable, constante y literal.</a:t>
            </a:r>
          </a:p>
          <a:p>
            <a:r>
              <a:t>- Explico división entera y real.</a:t>
            </a:r>
          </a:p>
          <a:p>
            <a:r>
              <a:t>- Explico qué devuelve %.</a:t>
            </a:r>
          </a:p>
          <a:p>
            <a:r>
              <a:t>- Justifico un resultado con precedencia y paréntesis.</a:t>
            </a:r>
          </a:p>
          <a:p>
            <a:r>
              <a:t>Fuente docente: /mnt/compartido/Programación-26-27/Minijarvis/02-PROFESORADO/02-SESIONES/h1/S211-constantes-docente.md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Objetivo docente: Al terminar, debes usar constantes, literales y operaciones aritméticas con predicción y prueba.</a:t>
            </a:r>
          </a:p>
          <a:p>
            <a:r>
              <a:t>Diapositiva 8 de 9: Salida diagnóstica</a:t>
            </a:r>
          </a:p>
          <a:p>
            <a:r>
              <a:t>Fase HEXA: Ejecutar — crear</a:t>
            </a:r>
          </a:p>
          <a:p>
            <a:r>
              <a:t>Cierra con explicación individual, prueba observable y siguiente paso concreto.</a:t>
            </a:r>
          </a:p>
          <a:p>
            <a:r>
              <a:t>- Sin ejecutar: ¿qué producen 5 / 2, 5 / 2.0 y 10 % 4, y por qué?</a:t>
            </a:r>
          </a:p>
          <a:p>
            <a:r>
              <a:t>Fuente docente: /mnt/compartido/Programación-26-27/Minijarvis/02-PROFESORADO/02-SESIONES/h1/S211-constantes-docente.md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Objetivo docente: Al terminar, debes usar constantes, literales y operaciones aritméticas con predicción y prueba.</a:t>
            </a:r>
          </a:p>
          <a:p>
            <a:r>
              <a:t>Diapositiva 9 de 9: Fuentes diferenciadas</a:t>
            </a:r>
          </a:p>
          <a:p>
            <a:r>
              <a:t>Fase HEXA: Ejecutar — crear</a:t>
            </a:r>
          </a:p>
          <a:p>
            <a:r>
              <a:t>Indica al alumnado dónde ampliar el contenido y qué fragmentos se han adaptado.</a:t>
            </a:r>
          </a:p>
          <a:p>
            <a:r>
              <a:t>- Libro por hitos · Capítulo 02: constantes y operadores</a:t>
            </a:r>
          </a:p>
          <a:p>
            <a:r>
              <a:t>- PDF Tema 1 · §§4-5: literales, constantes y operaciones</a:t>
            </a:r>
          </a:p>
          <a:p>
            <a:r>
              <a:t>- Proyecto MiniJarvis · fichas S206-S215, píldoras H1 y criterios de evidencia</a:t>
            </a:r>
          </a:p>
          <a:p>
            <a:r>
              <a:t>Fuente docente: /mnt/compartido/Programación-26-27/Minijarvis/02-PROFESORADO/02-SESIONES/h1/S211-constantes-docente.md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218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2F5B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658368" y="566928"/>
            <a:ext cx="1874519" cy="566928"/>
          </a:xfrm>
          <a:prstGeom prst="roundRect">
            <a:avLst/>
          </a:prstGeom>
          <a:solidFill>
            <a:srgbClr val="2F5BA8"/>
          </a:solidFill>
          <a:ln>
            <a:solidFill>
              <a:srgbClr val="2F5BA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685800"/>
            <a:ext cx="1719072" cy="228600"/>
          </a:xfrm>
          <a:prstGeom prst="rect">
            <a:avLst/>
          </a:prstGeom>
          <a:noFill/>
        </p:spPr>
        <p:txBody>
          <a:bodyPr wrap="square" lIns="45720" rIns="45720" tIns="36576" bIns="36576" anchor="t">
            <a:spAutoFit/>
          </a:bodyPr>
          <a:lstStyle/>
          <a:p>
            <a:pPr algn="ctr">
              <a:defRPr sz="1400" b="1">
                <a:solidFill>
                  <a:srgbClr val="FFFFFF"/>
                </a:solidFill>
                <a:latin typeface="Aptos"/>
              </a:defRPr>
            </a:pPr>
            <a:r>
              <a:t>SESIÓN 211</a:t>
            </a:r>
          </a:p>
        </p:txBody>
      </p:sp>
      <p:sp>
        <p:nvSpPr>
          <p:cNvPr id="6" name="TextBox 5"/>
          <p:cNvSpPr txBox="1"/>
          <p:nvPr/>
        </p:nvSpPr>
        <p:spPr>
          <a:xfrm>
            <a:off x="685800" y="1481328"/>
            <a:ext cx="10789920" cy="1691640"/>
          </a:xfrm>
          <a:prstGeom prst="rect">
            <a:avLst/>
          </a:prstGeom>
          <a:noFill/>
        </p:spPr>
        <p:txBody>
          <a:bodyPr wrap="square" lIns="45720" rIns="45720" tIns="36576" bIns="36576" anchor="t">
            <a:spAutoFit/>
          </a:bodyPr>
          <a:lstStyle/>
          <a:p>
            <a:pPr algn="l">
              <a:defRPr sz="3800" b="1">
                <a:solidFill>
                  <a:srgbClr val="FFFFFF"/>
                </a:solidFill>
                <a:latin typeface="Aptos"/>
              </a:defRPr>
            </a:pPr>
            <a:r>
              <a:t>Qué vas a aprender</a:t>
            </a:r>
          </a:p>
        </p:txBody>
      </p:sp>
      <p:sp>
        <p:nvSpPr>
          <p:cNvPr id="7" name="TextBox 6"/>
          <p:cNvSpPr txBox="1"/>
          <p:nvPr/>
        </p:nvSpPr>
        <p:spPr>
          <a:xfrm>
            <a:off x="713232" y="3703320"/>
            <a:ext cx="10424160" cy="411480"/>
          </a:xfrm>
          <a:prstGeom prst="rect">
            <a:avLst/>
          </a:prstGeom>
          <a:noFill/>
        </p:spPr>
        <p:txBody>
          <a:bodyPr wrap="square" lIns="45720" rIns="45720" tIns="36576" bIns="36576" anchor="t">
            <a:spAutoFit/>
          </a:bodyPr>
          <a:lstStyle/>
          <a:p>
            <a:pPr algn="l">
              <a:defRPr sz="1900" b="1">
                <a:solidFill>
                  <a:srgbClr val="BEC8D6"/>
                </a:solidFill>
                <a:latin typeface="Aptos"/>
              </a:defRPr>
            </a:pPr>
            <a:r>
              <a:t>H1 — Primer asistente ejecutable</a:t>
            </a:r>
          </a:p>
        </p:txBody>
      </p:sp>
      <p:sp>
        <p:nvSpPr>
          <p:cNvPr id="8" name="TextBox 7"/>
          <p:cNvSpPr txBox="1"/>
          <p:nvPr/>
        </p:nvSpPr>
        <p:spPr>
          <a:xfrm>
            <a:off x="713232" y="4315968"/>
            <a:ext cx="10241280" cy="502920"/>
          </a:xfrm>
          <a:prstGeom prst="rect">
            <a:avLst/>
          </a:prstGeom>
          <a:noFill/>
        </p:spPr>
        <p:txBody>
          <a:bodyPr wrap="square" lIns="45720" rIns="45720" tIns="36576" bIns="36576" anchor="t">
            <a:spAutoFit/>
          </a:bodyPr>
          <a:lstStyle/>
          <a:p>
            <a:pPr algn="l">
              <a:defRPr sz="1900" b="0">
                <a:solidFill>
                  <a:srgbClr val="FFFFFF"/>
                </a:solidFill>
                <a:latin typeface="Aptos"/>
              </a:defRPr>
            </a:pPr>
            <a:r>
              <a:t>Fase HEXA: Ejecutar — crear</a:t>
            </a:r>
          </a:p>
        </p:txBody>
      </p:sp>
      <p:sp>
        <p:nvSpPr>
          <p:cNvPr id="9" name="TextBox 8"/>
          <p:cNvSpPr txBox="1"/>
          <p:nvPr/>
        </p:nvSpPr>
        <p:spPr>
          <a:xfrm>
            <a:off x="713232" y="6272784"/>
            <a:ext cx="10607040" cy="201168"/>
          </a:xfrm>
          <a:prstGeom prst="rect">
            <a:avLst/>
          </a:prstGeom>
          <a:noFill/>
        </p:spPr>
        <p:txBody>
          <a:bodyPr wrap="square" lIns="45720" rIns="45720" tIns="36576" bIns="36576" anchor="t">
            <a:spAutoFit/>
          </a:bodyPr>
          <a:lstStyle/>
          <a:p>
            <a:pPr algn="l">
              <a:defRPr sz="1000" b="1">
                <a:solidFill>
                  <a:srgbClr val="A0AAB9"/>
                </a:solidFill>
                <a:latin typeface="Aptos"/>
              </a:defRPr>
            </a:pPr>
            <a:r>
              <a:t>MINIJARVIS · PROGRAMACIÓN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9F7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2F5B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74320"/>
            <a:ext cx="5486400" cy="256032"/>
          </a:xfrm>
          <a:prstGeom prst="rect">
            <a:avLst/>
          </a:prstGeom>
          <a:noFill/>
        </p:spPr>
        <p:txBody>
          <a:bodyPr wrap="square" lIns="45720" rIns="45720" tIns="36576" bIns="36576" anchor="t">
            <a:spAutoFit/>
          </a:bodyPr>
          <a:lstStyle/>
          <a:p>
            <a:pPr algn="l">
              <a:defRPr sz="1000" b="1">
                <a:solidFill>
                  <a:srgbClr val="2F5BA8"/>
                </a:solidFill>
                <a:latin typeface="Aptos"/>
              </a:defRPr>
            </a:pPr>
            <a:r>
              <a:t>PUNTO DE PARTIDA</a:t>
            </a:r>
          </a:p>
        </p:txBody>
      </p:sp>
      <p:sp>
        <p:nvSpPr>
          <p:cNvPr id="5" name="TextBox 4"/>
          <p:cNvSpPr txBox="1"/>
          <p:nvPr/>
        </p:nvSpPr>
        <p:spPr>
          <a:xfrm>
            <a:off x="502920" y="603504"/>
            <a:ext cx="11064240" cy="530352"/>
          </a:xfrm>
          <a:prstGeom prst="rect">
            <a:avLst/>
          </a:prstGeom>
          <a:noFill/>
        </p:spPr>
        <p:txBody>
          <a:bodyPr wrap="square" lIns="45720" rIns="45720" tIns="36576" bIns="36576" anchor="t">
            <a:spAutoFit/>
          </a:bodyPr>
          <a:lstStyle/>
          <a:p>
            <a:pPr algn="l">
              <a:defRPr sz="2800" b="1">
                <a:solidFill>
                  <a:srgbClr val="1C2330"/>
                </a:solidFill>
                <a:latin typeface="Aptos"/>
              </a:defRPr>
            </a:pPr>
            <a:r>
              <a:t>Qué aprenderás y cómo lo demostrarás</a:t>
            </a:r>
          </a:p>
        </p:txBody>
      </p:sp>
      <p:sp>
        <p:nvSpPr>
          <p:cNvPr id="6" name="Rectangle 5"/>
          <p:cNvSpPr/>
          <p:nvPr/>
        </p:nvSpPr>
        <p:spPr>
          <a:xfrm>
            <a:off x="0" y="6601968"/>
            <a:ext cx="12191695" cy="256032"/>
          </a:xfrm>
          <a:prstGeom prst="rect">
            <a:avLst/>
          </a:prstGeom>
          <a:solidFill>
            <a:srgbClr val="2F5B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629400"/>
            <a:ext cx="11247120" cy="164592"/>
          </a:xfrm>
          <a:prstGeom prst="rect">
            <a:avLst/>
          </a:prstGeom>
          <a:noFill/>
        </p:spPr>
        <p:txBody>
          <a:bodyPr wrap="square" lIns="45720" rIns="45720" tIns="36576" bIns="36576" anchor="t">
            <a:spAutoFit/>
          </a:bodyPr>
          <a:lstStyle/>
          <a:p>
            <a:pPr algn="l">
              <a:defRPr sz="900" b="0">
                <a:solidFill>
                  <a:srgbClr val="FFFFFF"/>
                </a:solidFill>
                <a:latin typeface="Aptos"/>
              </a:defRPr>
            </a:pPr>
            <a:r>
              <a:t>MiniJarvis · 1.º DAW · Sesión 211 · H1 — Primer asistente ejecutable</a:t>
            </a:r>
          </a:p>
        </p:txBody>
      </p:sp>
      <p:sp>
        <p:nvSpPr>
          <p:cNvPr id="8" name="Rounded Rectangle 7"/>
          <p:cNvSpPr/>
          <p:nvPr/>
        </p:nvSpPr>
        <p:spPr>
          <a:xfrm>
            <a:off x="594360" y="1389888"/>
            <a:ext cx="5184648" cy="4297680"/>
          </a:xfrm>
          <a:prstGeom prst="roundRect">
            <a:avLst/>
          </a:prstGeom>
          <a:solidFill>
            <a:srgbClr val="FFFFFF"/>
          </a:solidFill>
          <a:ln>
            <a:solidFill>
              <a:srgbClr val="E5E9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1618488"/>
            <a:ext cx="4727448" cy="3840480"/>
          </a:xfrm>
          <a:prstGeom prst="rect">
            <a:avLst/>
          </a:prstGeom>
          <a:noFill/>
        </p:spPr>
        <p:txBody>
          <a:bodyPr wrap="square" lIns="45720" rIns="45720" tIns="36576" bIns="36576" anchor="t">
            <a:spAutoFit/>
          </a:bodyPr>
          <a:lstStyle/>
          <a:p>
            <a:pPr algn="l">
              <a:defRPr sz="2100" b="1">
                <a:solidFill>
                  <a:srgbClr val="1C2330"/>
                </a:solidFill>
                <a:latin typeface="Aptos"/>
              </a:defRPr>
            </a:pPr>
            <a:r>
              <a:t>Objetivo: Al terminar, debes usar constantes, literales y operaciones aritméticas con predicción y prueba.</a:t>
            </a:r>
          </a:p>
        </p:txBody>
      </p:sp>
      <p:sp>
        <p:nvSpPr>
          <p:cNvPr id="10" name="Rounded Rectangle 9"/>
          <p:cNvSpPr/>
          <p:nvPr/>
        </p:nvSpPr>
        <p:spPr>
          <a:xfrm>
            <a:off x="6035040" y="1389888"/>
            <a:ext cx="5184648" cy="4297680"/>
          </a:xfrm>
          <a:prstGeom prst="roundRect">
            <a:avLst/>
          </a:prstGeom>
          <a:solidFill>
            <a:srgbClr val="FFFFFF"/>
          </a:solidFill>
          <a:ln>
            <a:solidFill>
              <a:srgbClr val="E5E9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263640" y="1618488"/>
            <a:ext cx="4727448" cy="3840480"/>
          </a:xfrm>
          <a:prstGeom prst="rect">
            <a:avLst/>
          </a:prstGeom>
          <a:noFill/>
        </p:spPr>
        <p:txBody>
          <a:bodyPr wrap="square" lIns="45720" rIns="45720" tIns="36576" bIns="36576" anchor="t">
            <a:spAutoFit/>
          </a:bodyPr>
          <a:lstStyle/>
          <a:p>
            <a:pPr algn="l">
              <a:defRPr sz="2100" b="1">
                <a:solidFill>
                  <a:srgbClr val="1C2330"/>
                </a:solidFill>
                <a:latin typeface="Aptos"/>
              </a:defRPr>
            </a:pPr>
            <a:r>
              <a:t>Comprobación: Conservad el ejercicio o el código integrado y registrad una predicción que haya sido confirmada o corregida.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9F7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2F5B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74320"/>
            <a:ext cx="5486400" cy="256032"/>
          </a:xfrm>
          <a:prstGeom prst="rect">
            <a:avLst/>
          </a:prstGeom>
          <a:noFill/>
        </p:spPr>
        <p:txBody>
          <a:bodyPr wrap="square" lIns="45720" rIns="45720" tIns="36576" bIns="36576" anchor="t">
            <a:spAutoFit/>
          </a:bodyPr>
          <a:lstStyle/>
          <a:p>
            <a:pPr algn="l">
              <a:defRPr sz="1000" b="1">
                <a:solidFill>
                  <a:srgbClr val="2F5BA8"/>
                </a:solidFill>
                <a:latin typeface="Aptos"/>
              </a:defRPr>
            </a:pPr>
            <a:r>
              <a:t>CÓDIGO EXPLICADO</a:t>
            </a:r>
          </a:p>
        </p:txBody>
      </p:sp>
      <p:sp>
        <p:nvSpPr>
          <p:cNvPr id="5" name="TextBox 4"/>
          <p:cNvSpPr txBox="1"/>
          <p:nvPr/>
        </p:nvSpPr>
        <p:spPr>
          <a:xfrm>
            <a:off x="502920" y="603504"/>
            <a:ext cx="11064240" cy="530352"/>
          </a:xfrm>
          <a:prstGeom prst="rect">
            <a:avLst/>
          </a:prstGeom>
          <a:noFill/>
        </p:spPr>
        <p:txBody>
          <a:bodyPr wrap="square" lIns="45720" rIns="45720" tIns="36576" bIns="36576" anchor="t">
            <a:spAutoFit/>
          </a:bodyPr>
          <a:lstStyle/>
          <a:p>
            <a:pPr algn="l">
              <a:defRPr sz="2800" b="1">
                <a:solidFill>
                  <a:srgbClr val="1C2330"/>
                </a:solidFill>
                <a:latin typeface="Aptos"/>
              </a:defRPr>
            </a:pPr>
            <a:r>
              <a:t>Constante, variable y literal</a:t>
            </a:r>
          </a:p>
        </p:txBody>
      </p:sp>
      <p:sp>
        <p:nvSpPr>
          <p:cNvPr id="6" name="Rectangle 5"/>
          <p:cNvSpPr/>
          <p:nvPr/>
        </p:nvSpPr>
        <p:spPr>
          <a:xfrm>
            <a:off x="0" y="6601968"/>
            <a:ext cx="12191695" cy="256032"/>
          </a:xfrm>
          <a:prstGeom prst="rect">
            <a:avLst/>
          </a:prstGeom>
          <a:solidFill>
            <a:srgbClr val="2F5B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629400"/>
            <a:ext cx="11247120" cy="164592"/>
          </a:xfrm>
          <a:prstGeom prst="rect">
            <a:avLst/>
          </a:prstGeom>
          <a:noFill/>
        </p:spPr>
        <p:txBody>
          <a:bodyPr wrap="square" lIns="45720" rIns="45720" tIns="36576" bIns="36576" anchor="t">
            <a:spAutoFit/>
          </a:bodyPr>
          <a:lstStyle/>
          <a:p>
            <a:pPr algn="l">
              <a:defRPr sz="900" b="0">
                <a:solidFill>
                  <a:srgbClr val="FFFFFF"/>
                </a:solidFill>
                <a:latin typeface="Aptos"/>
              </a:defRPr>
            </a:pPr>
            <a:r>
              <a:t>MiniJarvis · 1.º DAW · Sesión 211 · H1 — Primer asistente ejecutable</a:t>
            </a:r>
          </a:p>
        </p:txBody>
      </p:sp>
      <p:sp>
        <p:nvSpPr>
          <p:cNvPr id="8" name="Rounded Rectangle 7"/>
          <p:cNvSpPr/>
          <p:nvPr/>
        </p:nvSpPr>
        <p:spPr>
          <a:xfrm>
            <a:off x="621792" y="1325880"/>
            <a:ext cx="7315200" cy="4709160"/>
          </a:xfrm>
          <a:prstGeom prst="roundRect">
            <a:avLst/>
          </a:prstGeom>
          <a:solidFill>
            <a:srgbClr val="121824"/>
          </a:solidFill>
          <a:ln>
            <a:solidFill>
              <a:srgbClr val="12182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1572768"/>
            <a:ext cx="6903720" cy="4251960"/>
          </a:xfrm>
          <a:prstGeom prst="rect">
            <a:avLst/>
          </a:prstGeom>
          <a:noFill/>
        </p:spPr>
        <p:txBody>
          <a:bodyPr wrap="none" lIns="164592" rIns="164592" tIns="109728" bIns="109728">
            <a:spAutoFit/>
          </a:bodyPr>
          <a:lstStyle/>
          <a:p>
            <a:pPr>
              <a:spcAft>
                <a:spcPts val="0"/>
              </a:spcAft>
              <a:defRPr sz="1600">
                <a:solidFill>
                  <a:srgbClr val="FFFFFF"/>
                </a:solidFill>
                <a:latin typeface="Liberation Mono"/>
              </a:defRPr>
            </a:pPr>
            <a:r>
              <a:t>final String ASSISTANT_NAME = "MiniJarvis";</a:t>
            </a:r>
            <a:br/>
            <a:r>
              <a:t>int studyHours = 5;</a:t>
            </a:r>
            <a:br/>
            <a:r>
              <a:t>int minutes = studyHours * 60;</a:t>
            </a:r>
            <a:br/>
            <a:r>
              <a:t>System.out.println(ASSISTANT_NAME + ": " + minutes);</a:t>
            </a:r>
          </a:p>
        </p:txBody>
      </p:sp>
      <p:sp>
        <p:nvSpPr>
          <p:cNvPr id="10" name="Rounded Rectangle 9"/>
          <p:cNvSpPr/>
          <p:nvPr/>
        </p:nvSpPr>
        <p:spPr>
          <a:xfrm>
            <a:off x="8156448" y="1325880"/>
            <a:ext cx="3401568" cy="4709160"/>
          </a:xfrm>
          <a:prstGeom prst="roundRect">
            <a:avLst/>
          </a:prstGeom>
          <a:solidFill>
            <a:srgbClr val="FFFFFF"/>
          </a:solidFill>
          <a:ln>
            <a:solidFill>
              <a:srgbClr val="E5E9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0" y="1627632"/>
            <a:ext cx="2880360" cy="320040"/>
          </a:xfrm>
          <a:prstGeom prst="rect">
            <a:avLst/>
          </a:prstGeom>
          <a:noFill/>
        </p:spPr>
        <p:txBody>
          <a:bodyPr wrap="square" lIns="45720" rIns="45720" tIns="36576" bIns="36576" anchor="t">
            <a:spAutoFit/>
          </a:bodyPr>
          <a:lstStyle/>
          <a:p>
            <a:pPr algn="l">
              <a:defRPr sz="1200" b="1">
                <a:solidFill>
                  <a:srgbClr val="2F5BA8"/>
                </a:solidFill>
                <a:latin typeface="Aptos"/>
              </a:defRPr>
            </a:pPr>
            <a:r>
              <a:t>LEE Y PREDICE</a:t>
            </a:r>
          </a:p>
        </p:txBody>
      </p:sp>
      <p:sp>
        <p:nvSpPr>
          <p:cNvPr id="12" name="TextBox 11"/>
          <p:cNvSpPr txBox="1"/>
          <p:nvPr/>
        </p:nvSpPr>
        <p:spPr>
          <a:xfrm>
            <a:off x="8394192" y="2103120"/>
            <a:ext cx="2788920" cy="3474720"/>
          </a:xfrm>
          <a:prstGeom prst="rect">
            <a:avLst/>
          </a:prstGeom>
          <a:noFill/>
        </p:spPr>
        <p:txBody>
          <a:bodyPr wrap="square" lIns="73152" rIns="45720" tIns="36576">
            <a:spAutoFit/>
          </a:bodyPr>
          <a:lstStyle/>
          <a:p>
            <a:pPr>
              <a:spcAft>
                <a:spcPts val="900"/>
              </a:spcAft>
              <a:defRPr sz="1700">
                <a:solidFill>
                  <a:srgbClr val="1C2330"/>
                </a:solidFill>
                <a:latin typeface="Aptos"/>
              </a:defRPr>
            </a:pPr>
            <a:r>
              <a:t>•  final impide reasignar la variable; el nombre de constante usa UPPER_SNAKE_CASE.</a:t>
            </a:r>
          </a:p>
          <a:p>
            <a:pPr>
              <a:spcAft>
                <a:spcPts val="900"/>
              </a:spcAft>
              <a:defRPr sz="1700">
                <a:solidFill>
                  <a:srgbClr val="1C2330"/>
                </a:solidFill>
                <a:latin typeface="Aptos"/>
              </a:defRPr>
            </a:pPr>
            <a:r>
              <a:t>•  Los literales del ejemplo son "MiniJarvis", 5 y 60.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9F7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2F5B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74320"/>
            <a:ext cx="5486400" cy="256032"/>
          </a:xfrm>
          <a:prstGeom prst="rect">
            <a:avLst/>
          </a:prstGeom>
          <a:noFill/>
        </p:spPr>
        <p:txBody>
          <a:bodyPr wrap="square" lIns="45720" rIns="45720" tIns="36576" bIns="36576" anchor="t">
            <a:spAutoFit/>
          </a:bodyPr>
          <a:lstStyle/>
          <a:p>
            <a:pPr algn="l">
              <a:defRPr sz="1000" b="1">
                <a:solidFill>
                  <a:srgbClr val="2F5BA8"/>
                </a:solidFill>
                <a:latin typeface="Aptos"/>
              </a:defRPr>
            </a:pPr>
            <a:r>
              <a:t>CONTRASTAR PARA DECIDIR</a:t>
            </a:r>
          </a:p>
        </p:txBody>
      </p:sp>
      <p:sp>
        <p:nvSpPr>
          <p:cNvPr id="5" name="TextBox 4"/>
          <p:cNvSpPr txBox="1"/>
          <p:nvPr/>
        </p:nvSpPr>
        <p:spPr>
          <a:xfrm>
            <a:off x="502920" y="603504"/>
            <a:ext cx="11064240" cy="530352"/>
          </a:xfrm>
          <a:prstGeom prst="rect">
            <a:avLst/>
          </a:prstGeom>
          <a:noFill/>
        </p:spPr>
        <p:txBody>
          <a:bodyPr wrap="square" lIns="45720" rIns="45720" tIns="36576" bIns="36576" anchor="t">
            <a:spAutoFit/>
          </a:bodyPr>
          <a:lstStyle/>
          <a:p>
            <a:pPr algn="l">
              <a:defRPr sz="2800" b="1">
                <a:solidFill>
                  <a:srgbClr val="1C2330"/>
                </a:solidFill>
                <a:latin typeface="Aptos"/>
              </a:defRPr>
            </a:pPr>
            <a:r>
              <a:t>La división depende de los operandos</a:t>
            </a:r>
          </a:p>
        </p:txBody>
      </p:sp>
      <p:sp>
        <p:nvSpPr>
          <p:cNvPr id="6" name="Rectangle 5"/>
          <p:cNvSpPr/>
          <p:nvPr/>
        </p:nvSpPr>
        <p:spPr>
          <a:xfrm>
            <a:off x="0" y="6601968"/>
            <a:ext cx="12191695" cy="256032"/>
          </a:xfrm>
          <a:prstGeom prst="rect">
            <a:avLst/>
          </a:prstGeom>
          <a:solidFill>
            <a:srgbClr val="2F5B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629400"/>
            <a:ext cx="11247120" cy="164592"/>
          </a:xfrm>
          <a:prstGeom prst="rect">
            <a:avLst/>
          </a:prstGeom>
          <a:noFill/>
        </p:spPr>
        <p:txBody>
          <a:bodyPr wrap="square" lIns="45720" rIns="45720" tIns="36576" bIns="36576" anchor="t">
            <a:spAutoFit/>
          </a:bodyPr>
          <a:lstStyle/>
          <a:p>
            <a:pPr algn="l">
              <a:defRPr sz="900" b="0">
                <a:solidFill>
                  <a:srgbClr val="FFFFFF"/>
                </a:solidFill>
                <a:latin typeface="Aptos"/>
              </a:defRPr>
            </a:pPr>
            <a:r>
              <a:t>MiniJarvis · 1.º DAW · Sesión 211 · H1 — Primer asistente ejecutable</a:t>
            </a:r>
          </a:p>
        </p:txBody>
      </p:sp>
      <p:sp>
        <p:nvSpPr>
          <p:cNvPr id="8" name="Rounded Rectangle 7"/>
          <p:cNvSpPr/>
          <p:nvPr/>
        </p:nvSpPr>
        <p:spPr>
          <a:xfrm>
            <a:off x="621792" y="1325880"/>
            <a:ext cx="5230368" cy="3401568"/>
          </a:xfrm>
          <a:prstGeom prst="roundRect">
            <a:avLst/>
          </a:prstGeom>
          <a:solidFill>
            <a:srgbClr val="FFFFFF"/>
          </a:solidFill>
          <a:ln>
            <a:solidFill>
              <a:srgbClr val="445B8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850392" y="1572768"/>
            <a:ext cx="566928" cy="475488"/>
          </a:xfrm>
          <a:prstGeom prst="roundRect">
            <a:avLst/>
          </a:prstGeom>
          <a:solidFill>
            <a:srgbClr val="445B80"/>
          </a:solidFill>
          <a:ln>
            <a:solidFill>
              <a:srgbClr val="445B8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0392" y="1682496"/>
            <a:ext cx="566928" cy="182880"/>
          </a:xfrm>
          <a:prstGeom prst="rect">
            <a:avLst/>
          </a:prstGeom>
          <a:noFill/>
        </p:spPr>
        <p:txBody>
          <a:bodyPr wrap="square" lIns="45720" rIns="45720" tIns="36576" bIns="36576" anchor="t">
            <a:spAutoFit/>
          </a:bodyPr>
          <a:lstStyle/>
          <a:p>
            <a:pPr algn="ctr">
              <a:defRPr sz="1300" b="1">
                <a:solidFill>
                  <a:srgbClr val="FFFFFF"/>
                </a:solidFill>
                <a:latin typeface="Aptos"/>
              </a:defRPr>
            </a:pPr>
            <a:r>
              <a:t>A</a:t>
            </a:r>
          </a:p>
        </p:txBody>
      </p:sp>
      <p:sp>
        <p:nvSpPr>
          <p:cNvPr id="11" name="TextBox 10"/>
          <p:cNvSpPr txBox="1"/>
          <p:nvPr/>
        </p:nvSpPr>
        <p:spPr>
          <a:xfrm>
            <a:off x="896112" y="2304288"/>
            <a:ext cx="4663440" cy="2011680"/>
          </a:xfrm>
          <a:prstGeom prst="rect">
            <a:avLst/>
          </a:prstGeom>
          <a:noFill/>
        </p:spPr>
        <p:txBody>
          <a:bodyPr wrap="none" lIns="164592" rIns="164592" tIns="109728" bIns="109728">
            <a:spAutoFit/>
          </a:bodyPr>
          <a:lstStyle/>
          <a:p>
            <a:pPr>
              <a:spcAft>
                <a:spcPts val="0"/>
              </a:spcAft>
              <a:defRPr sz="1600">
                <a:solidFill>
                  <a:srgbClr val="1C2330"/>
                </a:solidFill>
                <a:latin typeface="Liberation Mono"/>
              </a:defRPr>
            </a:pPr>
            <a:r>
              <a:t>ENTERA · int result = 5 / 2;</a:t>
            </a:r>
            <a:br/>
            <a:r>
              <a:t>Resultado: 2</a:t>
            </a:r>
          </a:p>
        </p:txBody>
      </p:sp>
      <p:sp>
        <p:nvSpPr>
          <p:cNvPr id="12" name="Rounded Rectangle 11"/>
          <p:cNvSpPr/>
          <p:nvPr/>
        </p:nvSpPr>
        <p:spPr>
          <a:xfrm>
            <a:off x="6153912" y="1325880"/>
            <a:ext cx="5230368" cy="3401568"/>
          </a:xfrm>
          <a:prstGeom prst="roundRect">
            <a:avLst/>
          </a:prstGeom>
          <a:solidFill>
            <a:srgbClr val="FFFFFF"/>
          </a:solidFill>
          <a:ln>
            <a:solidFill>
              <a:srgbClr val="2F5BA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382512" y="1572768"/>
            <a:ext cx="566928" cy="475488"/>
          </a:xfrm>
          <a:prstGeom prst="roundRect">
            <a:avLst/>
          </a:prstGeom>
          <a:solidFill>
            <a:srgbClr val="2F5BA8"/>
          </a:solidFill>
          <a:ln>
            <a:solidFill>
              <a:srgbClr val="2F5BA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82512" y="1682496"/>
            <a:ext cx="566928" cy="182880"/>
          </a:xfrm>
          <a:prstGeom prst="rect">
            <a:avLst/>
          </a:prstGeom>
          <a:noFill/>
        </p:spPr>
        <p:txBody>
          <a:bodyPr wrap="square" lIns="45720" rIns="45720" tIns="36576" bIns="36576" anchor="t">
            <a:spAutoFit/>
          </a:bodyPr>
          <a:lstStyle/>
          <a:p>
            <a:pPr algn="ctr">
              <a:defRPr sz="1300" b="1">
                <a:solidFill>
                  <a:srgbClr val="FFFFFF"/>
                </a:solidFill>
                <a:latin typeface="Aptos"/>
              </a:defRPr>
            </a:pPr>
            <a:r>
              <a:t>B</a:t>
            </a:r>
          </a:p>
        </p:txBody>
      </p:sp>
      <p:sp>
        <p:nvSpPr>
          <p:cNvPr id="15" name="TextBox 14"/>
          <p:cNvSpPr txBox="1"/>
          <p:nvPr/>
        </p:nvSpPr>
        <p:spPr>
          <a:xfrm>
            <a:off x="6428232" y="2304288"/>
            <a:ext cx="4663440" cy="2011680"/>
          </a:xfrm>
          <a:prstGeom prst="rect">
            <a:avLst/>
          </a:prstGeom>
          <a:noFill/>
        </p:spPr>
        <p:txBody>
          <a:bodyPr wrap="none" lIns="164592" rIns="164592" tIns="109728" bIns="109728">
            <a:spAutoFit/>
          </a:bodyPr>
          <a:lstStyle/>
          <a:p>
            <a:pPr>
              <a:spcAft>
                <a:spcPts val="0"/>
              </a:spcAft>
              <a:defRPr sz="1600">
                <a:solidFill>
                  <a:srgbClr val="1C2330"/>
                </a:solidFill>
                <a:latin typeface="Liberation Mono"/>
              </a:defRPr>
            </a:pPr>
            <a:r>
              <a:t>REAL · double result = 5 / 2.0;</a:t>
            </a:r>
            <a:br/>
            <a:r>
              <a:t>Resultado: 2.5</a:t>
            </a:r>
          </a:p>
        </p:txBody>
      </p:sp>
      <p:sp>
        <p:nvSpPr>
          <p:cNvPr id="16" name="Rounded Rectangle 15"/>
          <p:cNvSpPr/>
          <p:nvPr/>
        </p:nvSpPr>
        <p:spPr>
          <a:xfrm>
            <a:off x="621792" y="5010912"/>
            <a:ext cx="10762488" cy="932688"/>
          </a:xfrm>
          <a:prstGeom prst="roundRect">
            <a:avLst/>
          </a:prstGeom>
          <a:solidFill>
            <a:srgbClr val="121824"/>
          </a:solidFill>
          <a:ln>
            <a:solidFill>
              <a:srgbClr val="12182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96112" y="5230368"/>
            <a:ext cx="10204704" cy="475488"/>
          </a:xfrm>
          <a:prstGeom prst="rect">
            <a:avLst/>
          </a:prstGeom>
          <a:noFill/>
        </p:spPr>
        <p:txBody>
          <a:bodyPr wrap="square" lIns="45720" rIns="45720" tIns="36576" bIns="36576" anchor="t">
            <a:spAutoFit/>
          </a:bodyPr>
          <a:lstStyle/>
          <a:p>
            <a:pPr algn="ctr">
              <a:defRPr sz="1700" b="1">
                <a:solidFill>
                  <a:srgbClr val="FFFFFF"/>
                </a:solidFill>
                <a:latin typeface="Aptos"/>
              </a:defRPr>
            </a:pPr>
            <a:r>
              <a:t>Si ambos operandos son enteros, la parte decimal no aparece.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9F7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2F5B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74320"/>
            <a:ext cx="5486400" cy="256032"/>
          </a:xfrm>
          <a:prstGeom prst="rect">
            <a:avLst/>
          </a:prstGeom>
          <a:noFill/>
        </p:spPr>
        <p:txBody>
          <a:bodyPr wrap="square" lIns="45720" rIns="45720" tIns="36576" bIns="36576" anchor="t">
            <a:spAutoFit/>
          </a:bodyPr>
          <a:lstStyle/>
          <a:p>
            <a:pPr algn="l">
              <a:defRPr sz="1000" b="1">
                <a:solidFill>
                  <a:srgbClr val="2F5BA8"/>
                </a:solidFill>
                <a:latin typeface="Aptos"/>
              </a:defRPr>
            </a:pPr>
            <a:r>
              <a:t>CÓDIGO EXPLICADO</a:t>
            </a:r>
          </a:p>
        </p:txBody>
      </p:sp>
      <p:sp>
        <p:nvSpPr>
          <p:cNvPr id="5" name="TextBox 4"/>
          <p:cNvSpPr txBox="1"/>
          <p:nvPr/>
        </p:nvSpPr>
        <p:spPr>
          <a:xfrm>
            <a:off x="502920" y="603504"/>
            <a:ext cx="11064240" cy="530352"/>
          </a:xfrm>
          <a:prstGeom prst="rect">
            <a:avLst/>
          </a:prstGeom>
          <a:noFill/>
        </p:spPr>
        <p:txBody>
          <a:bodyPr wrap="square" lIns="45720" rIns="45720" tIns="36576" bIns="36576" anchor="t">
            <a:spAutoFit/>
          </a:bodyPr>
          <a:lstStyle/>
          <a:p>
            <a:pPr algn="l">
              <a:defRPr sz="2800" b="1">
                <a:solidFill>
                  <a:srgbClr val="1C2330"/>
                </a:solidFill>
                <a:latin typeface="Aptos"/>
              </a:defRPr>
            </a:pPr>
            <a:r>
              <a:t>Resto, precedencia y actualización</a:t>
            </a:r>
          </a:p>
        </p:txBody>
      </p:sp>
      <p:sp>
        <p:nvSpPr>
          <p:cNvPr id="6" name="Rectangle 5"/>
          <p:cNvSpPr/>
          <p:nvPr/>
        </p:nvSpPr>
        <p:spPr>
          <a:xfrm>
            <a:off x="0" y="6601968"/>
            <a:ext cx="12191695" cy="256032"/>
          </a:xfrm>
          <a:prstGeom prst="rect">
            <a:avLst/>
          </a:prstGeom>
          <a:solidFill>
            <a:srgbClr val="2F5B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629400"/>
            <a:ext cx="11247120" cy="164592"/>
          </a:xfrm>
          <a:prstGeom prst="rect">
            <a:avLst/>
          </a:prstGeom>
          <a:noFill/>
        </p:spPr>
        <p:txBody>
          <a:bodyPr wrap="square" lIns="45720" rIns="45720" tIns="36576" bIns="36576" anchor="t">
            <a:spAutoFit/>
          </a:bodyPr>
          <a:lstStyle/>
          <a:p>
            <a:pPr algn="l">
              <a:defRPr sz="900" b="0">
                <a:solidFill>
                  <a:srgbClr val="FFFFFF"/>
                </a:solidFill>
                <a:latin typeface="Aptos"/>
              </a:defRPr>
            </a:pPr>
            <a:r>
              <a:t>MiniJarvis · 1.º DAW · Sesión 211 · H1 — Primer asistente ejecutable</a:t>
            </a:r>
          </a:p>
        </p:txBody>
      </p:sp>
      <p:sp>
        <p:nvSpPr>
          <p:cNvPr id="8" name="Rounded Rectangle 7"/>
          <p:cNvSpPr/>
          <p:nvPr/>
        </p:nvSpPr>
        <p:spPr>
          <a:xfrm>
            <a:off x="621792" y="1325880"/>
            <a:ext cx="7315200" cy="4709160"/>
          </a:xfrm>
          <a:prstGeom prst="roundRect">
            <a:avLst/>
          </a:prstGeom>
          <a:solidFill>
            <a:srgbClr val="121824"/>
          </a:solidFill>
          <a:ln>
            <a:solidFill>
              <a:srgbClr val="12182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1572768"/>
            <a:ext cx="6903720" cy="4251960"/>
          </a:xfrm>
          <a:prstGeom prst="rect">
            <a:avLst/>
          </a:prstGeom>
          <a:noFill/>
        </p:spPr>
        <p:txBody>
          <a:bodyPr wrap="none" lIns="164592" rIns="164592" tIns="109728" bIns="109728">
            <a:spAutoFit/>
          </a:bodyPr>
          <a:lstStyle/>
          <a:p>
            <a:pPr>
              <a:spcAft>
                <a:spcPts val="0"/>
              </a:spcAft>
              <a:defRPr sz="1800">
                <a:solidFill>
                  <a:srgbClr val="FFFFFF"/>
                </a:solidFill>
                <a:latin typeface="Liberation Mono"/>
              </a:defRPr>
            </a:pPr>
            <a:r>
              <a:t>int remainder = 10 % 4;       // 2</a:t>
            </a:r>
            <a:br/>
            <a:r>
              <a:t>int a = 8 * 4 + 2;            // 34</a:t>
            </a:r>
            <a:br/>
            <a:r>
              <a:t>int b = 8 * (4 + 2);          // 48</a:t>
            </a:r>
            <a:br/>
            <a:r>
              <a:t>int tasks = 3;</a:t>
            </a:r>
            <a:br/>
            <a:r>
              <a:t>tasks += 2;                    // 5</a:t>
            </a:r>
            <a:br/>
            <a:r>
              <a:t>tasks++;                       // 6</a:t>
            </a:r>
            <a:br/>
            <a:r>
              <a:t>tasks--;                       // 5</a:t>
            </a:r>
          </a:p>
        </p:txBody>
      </p:sp>
      <p:sp>
        <p:nvSpPr>
          <p:cNvPr id="10" name="Rounded Rectangle 9"/>
          <p:cNvSpPr/>
          <p:nvPr/>
        </p:nvSpPr>
        <p:spPr>
          <a:xfrm>
            <a:off x="8156448" y="1325880"/>
            <a:ext cx="3401568" cy="4709160"/>
          </a:xfrm>
          <a:prstGeom prst="roundRect">
            <a:avLst/>
          </a:prstGeom>
          <a:solidFill>
            <a:srgbClr val="FFFFFF"/>
          </a:solidFill>
          <a:ln>
            <a:solidFill>
              <a:srgbClr val="E5E9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0" y="1627632"/>
            <a:ext cx="2880360" cy="320040"/>
          </a:xfrm>
          <a:prstGeom prst="rect">
            <a:avLst/>
          </a:prstGeom>
          <a:noFill/>
        </p:spPr>
        <p:txBody>
          <a:bodyPr wrap="square" lIns="45720" rIns="45720" tIns="36576" bIns="36576" anchor="t">
            <a:spAutoFit/>
          </a:bodyPr>
          <a:lstStyle/>
          <a:p>
            <a:pPr algn="l">
              <a:defRPr sz="1200" b="1">
                <a:solidFill>
                  <a:srgbClr val="2F5BA8"/>
                </a:solidFill>
                <a:latin typeface="Aptos"/>
              </a:defRPr>
            </a:pPr>
            <a:r>
              <a:t>LEE Y PREDICE</a:t>
            </a:r>
          </a:p>
        </p:txBody>
      </p:sp>
      <p:sp>
        <p:nvSpPr>
          <p:cNvPr id="12" name="TextBox 11"/>
          <p:cNvSpPr txBox="1"/>
          <p:nvPr/>
        </p:nvSpPr>
        <p:spPr>
          <a:xfrm>
            <a:off x="8394192" y="2103120"/>
            <a:ext cx="2788920" cy="3474720"/>
          </a:xfrm>
          <a:prstGeom prst="rect">
            <a:avLst/>
          </a:prstGeom>
          <a:noFill/>
        </p:spPr>
        <p:txBody>
          <a:bodyPr wrap="square" lIns="73152" rIns="45720" tIns="36576">
            <a:spAutoFit/>
          </a:bodyPr>
          <a:lstStyle/>
          <a:p>
            <a:pPr>
              <a:spcAft>
                <a:spcPts val="900"/>
              </a:spcAft>
              <a:defRPr sz="1700">
                <a:solidFill>
                  <a:srgbClr val="1C2330"/>
                </a:solidFill>
                <a:latin typeface="Aptos"/>
              </a:defRPr>
            </a:pPr>
            <a:r>
              <a:t>•  % devuelve el resto; no calcula un porcentaje.</a:t>
            </a:r>
          </a:p>
          <a:p>
            <a:pPr>
              <a:spcAft>
                <a:spcPts val="900"/>
              </a:spcAft>
              <a:defRPr sz="1700">
                <a:solidFill>
                  <a:srgbClr val="1C2330"/>
                </a:solidFill>
                <a:latin typeface="Aptos"/>
              </a:defRPr>
            </a:pPr>
            <a:r>
              <a:t>•  tasks++ y tasks-- cambian exactamente una unidad.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9F7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2F5B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74320"/>
            <a:ext cx="5486400" cy="256032"/>
          </a:xfrm>
          <a:prstGeom prst="rect">
            <a:avLst/>
          </a:prstGeom>
          <a:noFill/>
        </p:spPr>
        <p:txBody>
          <a:bodyPr wrap="square" lIns="45720" rIns="45720" tIns="36576" bIns="36576" anchor="t">
            <a:spAutoFit/>
          </a:bodyPr>
          <a:lstStyle/>
          <a:p>
            <a:pPr algn="l">
              <a:defRPr sz="1000" b="1">
                <a:solidFill>
                  <a:srgbClr val="2F5BA8"/>
                </a:solidFill>
                <a:latin typeface="Aptos"/>
              </a:defRPr>
            </a:pPr>
            <a:r>
              <a:t>APLICAR Y DECIDIR</a:t>
            </a:r>
          </a:p>
        </p:txBody>
      </p:sp>
      <p:sp>
        <p:nvSpPr>
          <p:cNvPr id="5" name="TextBox 4"/>
          <p:cNvSpPr txBox="1"/>
          <p:nvPr/>
        </p:nvSpPr>
        <p:spPr>
          <a:xfrm>
            <a:off x="502920" y="603504"/>
            <a:ext cx="11064240" cy="530352"/>
          </a:xfrm>
          <a:prstGeom prst="rect">
            <a:avLst/>
          </a:prstGeom>
          <a:noFill/>
        </p:spPr>
        <p:txBody>
          <a:bodyPr wrap="square" lIns="45720" rIns="45720" tIns="36576" bIns="36576" anchor="t">
            <a:spAutoFit/>
          </a:bodyPr>
          <a:lstStyle/>
          <a:p>
            <a:pPr algn="l">
              <a:defRPr sz="2800" b="1">
                <a:solidFill>
                  <a:srgbClr val="1C2330"/>
                </a:solidFill>
                <a:latin typeface="Aptos"/>
              </a:defRPr>
            </a:pPr>
            <a:r>
              <a:t>Predice antes de ejecutar</a:t>
            </a:r>
          </a:p>
        </p:txBody>
      </p:sp>
      <p:sp>
        <p:nvSpPr>
          <p:cNvPr id="6" name="Rectangle 5"/>
          <p:cNvSpPr/>
          <p:nvPr/>
        </p:nvSpPr>
        <p:spPr>
          <a:xfrm>
            <a:off x="0" y="6601968"/>
            <a:ext cx="12191695" cy="256032"/>
          </a:xfrm>
          <a:prstGeom prst="rect">
            <a:avLst/>
          </a:prstGeom>
          <a:solidFill>
            <a:srgbClr val="2F5B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629400"/>
            <a:ext cx="11247120" cy="164592"/>
          </a:xfrm>
          <a:prstGeom prst="rect">
            <a:avLst/>
          </a:prstGeom>
          <a:noFill/>
        </p:spPr>
        <p:txBody>
          <a:bodyPr wrap="square" lIns="45720" rIns="45720" tIns="36576" bIns="36576" anchor="t">
            <a:spAutoFit/>
          </a:bodyPr>
          <a:lstStyle/>
          <a:p>
            <a:pPr algn="l">
              <a:defRPr sz="900" b="0">
                <a:solidFill>
                  <a:srgbClr val="FFFFFF"/>
                </a:solidFill>
                <a:latin typeface="Aptos"/>
              </a:defRPr>
            </a:pPr>
            <a:r>
              <a:t>MiniJarvis · 1.º DAW · Sesión 211 · H1 — Primer asistente ejecutable</a:t>
            </a:r>
          </a:p>
        </p:txBody>
      </p:sp>
      <p:sp>
        <p:nvSpPr>
          <p:cNvPr id="8" name="Rounded Rectangle 7"/>
          <p:cNvSpPr/>
          <p:nvPr/>
        </p:nvSpPr>
        <p:spPr>
          <a:xfrm>
            <a:off x="658368" y="1307592"/>
            <a:ext cx="10835640" cy="1049274"/>
          </a:xfrm>
          <a:prstGeom prst="roundRect">
            <a:avLst/>
          </a:prstGeom>
          <a:solidFill>
            <a:srgbClr val="FFFFFF"/>
          </a:solidFill>
          <a:ln>
            <a:solidFill>
              <a:srgbClr val="E5E9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0392" y="1453895"/>
            <a:ext cx="685800" cy="384048"/>
          </a:xfrm>
          <a:prstGeom prst="rect">
            <a:avLst/>
          </a:prstGeom>
          <a:noFill/>
        </p:spPr>
        <p:txBody>
          <a:bodyPr wrap="square" lIns="45720" rIns="45720" tIns="36576" bIns="36576" anchor="t">
            <a:spAutoFit/>
          </a:bodyPr>
          <a:lstStyle/>
          <a:p>
            <a:pPr algn="l">
              <a:defRPr sz="1200" b="1">
                <a:solidFill>
                  <a:srgbClr val="2F5BA8"/>
                </a:solidFill>
                <a:latin typeface="Aptos"/>
              </a:defRPr>
            </a:pPr>
            <a:r>
              <a:t>PASO 1</a:t>
            </a:r>
          </a:p>
        </p:txBody>
      </p:sp>
      <p:sp>
        <p:nvSpPr>
          <p:cNvPr id="10" name="TextBox 9"/>
          <p:cNvSpPr txBox="1"/>
          <p:nvPr/>
        </p:nvSpPr>
        <p:spPr>
          <a:xfrm>
            <a:off x="1664208" y="1417319"/>
            <a:ext cx="9464040" cy="829818"/>
          </a:xfrm>
          <a:prstGeom prst="rect">
            <a:avLst/>
          </a:prstGeom>
          <a:noFill/>
        </p:spPr>
        <p:txBody>
          <a:bodyPr wrap="square" lIns="45720" rIns="45720" tIns="36576" bIns="36576" anchor="t">
            <a:spAutoFit/>
          </a:bodyPr>
          <a:lstStyle/>
          <a:p>
            <a:pPr algn="l">
              <a:defRPr sz="2000" b="0">
                <a:solidFill>
                  <a:srgbClr val="1C2330"/>
                </a:solidFill>
                <a:latin typeface="Aptos"/>
              </a:defRPr>
            </a:pPr>
            <a:r>
              <a:t>Predice 7 / 2, 7 / 2.0 y 7 % 2.</a:t>
            </a:r>
          </a:p>
        </p:txBody>
      </p:sp>
      <p:sp>
        <p:nvSpPr>
          <p:cNvPr id="11" name="Rounded Rectangle 10"/>
          <p:cNvSpPr/>
          <p:nvPr/>
        </p:nvSpPr>
        <p:spPr>
          <a:xfrm>
            <a:off x="658368" y="2542032"/>
            <a:ext cx="10835640" cy="1049274"/>
          </a:xfrm>
          <a:prstGeom prst="roundRect">
            <a:avLst/>
          </a:prstGeom>
          <a:solidFill>
            <a:srgbClr val="FFFFFF"/>
          </a:solidFill>
          <a:ln>
            <a:solidFill>
              <a:srgbClr val="E5E9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0392" y="2688336"/>
            <a:ext cx="685800" cy="384048"/>
          </a:xfrm>
          <a:prstGeom prst="rect">
            <a:avLst/>
          </a:prstGeom>
          <a:noFill/>
        </p:spPr>
        <p:txBody>
          <a:bodyPr wrap="square" lIns="45720" rIns="45720" tIns="36576" bIns="36576" anchor="t">
            <a:spAutoFit/>
          </a:bodyPr>
          <a:lstStyle/>
          <a:p>
            <a:pPr algn="l">
              <a:defRPr sz="1200" b="1">
                <a:solidFill>
                  <a:srgbClr val="2F5BA8"/>
                </a:solidFill>
                <a:latin typeface="Aptos"/>
              </a:defRPr>
            </a:pPr>
            <a:r>
              <a:t>PASO 2</a:t>
            </a:r>
          </a:p>
        </p:txBody>
      </p:sp>
      <p:sp>
        <p:nvSpPr>
          <p:cNvPr id="13" name="TextBox 12"/>
          <p:cNvSpPr txBox="1"/>
          <p:nvPr/>
        </p:nvSpPr>
        <p:spPr>
          <a:xfrm>
            <a:off x="1664208" y="2651760"/>
            <a:ext cx="9464040" cy="829818"/>
          </a:xfrm>
          <a:prstGeom prst="rect">
            <a:avLst/>
          </a:prstGeom>
          <a:noFill/>
        </p:spPr>
        <p:txBody>
          <a:bodyPr wrap="square" lIns="45720" rIns="45720" tIns="36576" bIns="36576" anchor="t">
            <a:spAutoFit/>
          </a:bodyPr>
          <a:lstStyle/>
          <a:p>
            <a:pPr algn="l">
              <a:defRPr sz="2000" b="0">
                <a:solidFill>
                  <a:srgbClr val="1C2330"/>
                </a:solidFill>
                <a:latin typeface="Aptos"/>
              </a:defRPr>
            </a:pPr>
            <a:r>
              <a:t>Construye un microprograma con una constante, una variable y una operación.</a:t>
            </a:r>
          </a:p>
        </p:txBody>
      </p:sp>
      <p:sp>
        <p:nvSpPr>
          <p:cNvPr id="14" name="Rounded Rectangle 13"/>
          <p:cNvSpPr/>
          <p:nvPr/>
        </p:nvSpPr>
        <p:spPr>
          <a:xfrm>
            <a:off x="658368" y="3776472"/>
            <a:ext cx="10835640" cy="1049274"/>
          </a:xfrm>
          <a:prstGeom prst="roundRect">
            <a:avLst/>
          </a:prstGeom>
          <a:solidFill>
            <a:srgbClr val="FFFFFF"/>
          </a:solidFill>
          <a:ln>
            <a:solidFill>
              <a:srgbClr val="E5E9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0392" y="3922776"/>
            <a:ext cx="685800" cy="384048"/>
          </a:xfrm>
          <a:prstGeom prst="rect">
            <a:avLst/>
          </a:prstGeom>
          <a:noFill/>
        </p:spPr>
        <p:txBody>
          <a:bodyPr wrap="square" lIns="45720" rIns="45720" tIns="36576" bIns="36576" anchor="t">
            <a:spAutoFit/>
          </a:bodyPr>
          <a:lstStyle/>
          <a:p>
            <a:pPr algn="l">
              <a:defRPr sz="1200" b="1">
                <a:solidFill>
                  <a:srgbClr val="2F5BA8"/>
                </a:solidFill>
                <a:latin typeface="Aptos"/>
              </a:defRPr>
            </a:pPr>
            <a:r>
              <a:t>PASO 3</a:t>
            </a:r>
          </a:p>
        </p:txBody>
      </p:sp>
      <p:sp>
        <p:nvSpPr>
          <p:cNvPr id="16" name="TextBox 15"/>
          <p:cNvSpPr txBox="1"/>
          <p:nvPr/>
        </p:nvSpPr>
        <p:spPr>
          <a:xfrm>
            <a:off x="1664208" y="3886200"/>
            <a:ext cx="9464040" cy="829818"/>
          </a:xfrm>
          <a:prstGeom prst="rect">
            <a:avLst/>
          </a:prstGeom>
          <a:noFill/>
        </p:spPr>
        <p:txBody>
          <a:bodyPr wrap="square" lIns="45720" rIns="45720" tIns="36576" bIns="36576" anchor="t">
            <a:spAutoFit/>
          </a:bodyPr>
          <a:lstStyle/>
          <a:p>
            <a:pPr algn="l">
              <a:defRPr sz="2000" b="0">
                <a:solidFill>
                  <a:srgbClr val="1C2330"/>
                </a:solidFill>
                <a:latin typeface="Aptos"/>
              </a:defRPr>
            </a:pPr>
            <a:r>
              <a:t>Actualiza la variable y muestra el resultado.</a:t>
            </a:r>
          </a:p>
        </p:txBody>
      </p:sp>
      <p:sp>
        <p:nvSpPr>
          <p:cNvPr id="17" name="Rounded Rectangle 16"/>
          <p:cNvSpPr/>
          <p:nvPr/>
        </p:nvSpPr>
        <p:spPr>
          <a:xfrm>
            <a:off x="658368" y="5010912"/>
            <a:ext cx="10835640" cy="1049274"/>
          </a:xfrm>
          <a:prstGeom prst="roundRect">
            <a:avLst/>
          </a:prstGeom>
          <a:solidFill>
            <a:srgbClr val="FFFFFF"/>
          </a:solidFill>
          <a:ln>
            <a:solidFill>
              <a:srgbClr val="E5E9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392" y="5157216"/>
            <a:ext cx="685800" cy="384048"/>
          </a:xfrm>
          <a:prstGeom prst="rect">
            <a:avLst/>
          </a:prstGeom>
          <a:noFill/>
        </p:spPr>
        <p:txBody>
          <a:bodyPr wrap="square" lIns="45720" rIns="45720" tIns="36576" bIns="36576" anchor="t">
            <a:spAutoFit/>
          </a:bodyPr>
          <a:lstStyle/>
          <a:p>
            <a:pPr algn="l">
              <a:defRPr sz="1200" b="1">
                <a:solidFill>
                  <a:srgbClr val="2F5BA8"/>
                </a:solidFill>
                <a:latin typeface="Aptos"/>
              </a:defRPr>
            </a:pPr>
            <a:r>
              <a:t>PASO 4</a:t>
            </a:r>
          </a:p>
        </p:txBody>
      </p:sp>
      <p:sp>
        <p:nvSpPr>
          <p:cNvPr id="19" name="TextBox 18"/>
          <p:cNvSpPr txBox="1"/>
          <p:nvPr/>
        </p:nvSpPr>
        <p:spPr>
          <a:xfrm>
            <a:off x="1664208" y="5120640"/>
            <a:ext cx="9464040" cy="829818"/>
          </a:xfrm>
          <a:prstGeom prst="rect">
            <a:avLst/>
          </a:prstGeom>
          <a:noFill/>
        </p:spPr>
        <p:txBody>
          <a:bodyPr wrap="square" lIns="45720" rIns="45720" tIns="36576" bIns="36576" anchor="t">
            <a:spAutoFit/>
          </a:bodyPr>
          <a:lstStyle/>
          <a:p>
            <a:pPr algn="l">
              <a:defRPr sz="2000" b="0">
                <a:solidFill>
                  <a:srgbClr val="1C2330"/>
                </a:solidFill>
                <a:latin typeface="Aptos"/>
              </a:defRPr>
            </a:pPr>
            <a:r>
              <a:t>Intenta reasignar la constante, lee el error y deshazlo.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9F7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2F5B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74320"/>
            <a:ext cx="5486400" cy="256032"/>
          </a:xfrm>
          <a:prstGeom prst="rect">
            <a:avLst/>
          </a:prstGeom>
          <a:noFill/>
        </p:spPr>
        <p:txBody>
          <a:bodyPr wrap="square" lIns="45720" rIns="45720" tIns="36576" bIns="36576" anchor="t">
            <a:spAutoFit/>
          </a:bodyPr>
          <a:lstStyle/>
          <a:p>
            <a:pPr algn="l">
              <a:defRPr sz="1000" b="1">
                <a:solidFill>
                  <a:srgbClr val="2F5BA8"/>
                </a:solidFill>
                <a:latin typeface="Aptos"/>
              </a:defRPr>
            </a:pPr>
            <a:r>
              <a:t>COMPROBAR</a:t>
            </a:r>
          </a:p>
        </p:txBody>
      </p:sp>
      <p:sp>
        <p:nvSpPr>
          <p:cNvPr id="5" name="TextBox 4"/>
          <p:cNvSpPr txBox="1"/>
          <p:nvPr/>
        </p:nvSpPr>
        <p:spPr>
          <a:xfrm>
            <a:off x="502920" y="603504"/>
            <a:ext cx="11064240" cy="530352"/>
          </a:xfrm>
          <a:prstGeom prst="rect">
            <a:avLst/>
          </a:prstGeom>
          <a:noFill/>
        </p:spPr>
        <p:txBody>
          <a:bodyPr wrap="square" lIns="45720" rIns="45720" tIns="36576" bIns="36576" anchor="t">
            <a:spAutoFit/>
          </a:bodyPr>
          <a:lstStyle/>
          <a:p>
            <a:pPr algn="l">
              <a:defRPr sz="2800" b="1">
                <a:solidFill>
                  <a:srgbClr val="1C2330"/>
                </a:solidFill>
                <a:latin typeface="Aptos"/>
              </a:defRPr>
            </a:pPr>
            <a:r>
              <a:t>Resultados que debes poder explicar</a:t>
            </a:r>
          </a:p>
        </p:txBody>
      </p:sp>
      <p:sp>
        <p:nvSpPr>
          <p:cNvPr id="6" name="Rectangle 5"/>
          <p:cNvSpPr/>
          <p:nvPr/>
        </p:nvSpPr>
        <p:spPr>
          <a:xfrm>
            <a:off x="0" y="6601968"/>
            <a:ext cx="12191695" cy="256032"/>
          </a:xfrm>
          <a:prstGeom prst="rect">
            <a:avLst/>
          </a:prstGeom>
          <a:solidFill>
            <a:srgbClr val="2F5B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629400"/>
            <a:ext cx="11247120" cy="164592"/>
          </a:xfrm>
          <a:prstGeom prst="rect">
            <a:avLst/>
          </a:prstGeom>
          <a:noFill/>
        </p:spPr>
        <p:txBody>
          <a:bodyPr wrap="square" lIns="45720" rIns="45720" tIns="36576" bIns="36576" anchor="t">
            <a:spAutoFit/>
          </a:bodyPr>
          <a:lstStyle/>
          <a:p>
            <a:pPr algn="l">
              <a:defRPr sz="900" b="0">
                <a:solidFill>
                  <a:srgbClr val="FFFFFF"/>
                </a:solidFill>
                <a:latin typeface="Aptos"/>
              </a:defRPr>
            </a:pPr>
            <a:r>
              <a:t>MiniJarvis · 1.º DAW · Sesión 211 · H1 — Primer asistente ejecutable</a:t>
            </a:r>
          </a:p>
        </p:txBody>
      </p:sp>
      <p:sp>
        <p:nvSpPr>
          <p:cNvPr id="8" name="Rounded Rectangle 7"/>
          <p:cNvSpPr/>
          <p:nvPr/>
        </p:nvSpPr>
        <p:spPr>
          <a:xfrm>
            <a:off x="713232" y="1298448"/>
            <a:ext cx="420624" cy="420624"/>
          </a:xfrm>
          <a:prstGeom prst="roundRect">
            <a:avLst/>
          </a:prstGeom>
          <a:solidFill>
            <a:srgbClr val="FFFFFF"/>
          </a:solidFill>
          <a:ln>
            <a:solidFill>
              <a:srgbClr val="2F5BA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389888" y="1280160"/>
            <a:ext cx="9829800" cy="1209294"/>
          </a:xfrm>
          <a:prstGeom prst="rect">
            <a:avLst/>
          </a:prstGeom>
          <a:noFill/>
        </p:spPr>
        <p:txBody>
          <a:bodyPr wrap="square" lIns="45720" rIns="45720" tIns="36576" bIns="36576" anchor="t">
            <a:spAutoFit/>
          </a:bodyPr>
          <a:lstStyle/>
          <a:p>
            <a:pPr algn="l">
              <a:defRPr sz="1900" b="0">
                <a:solidFill>
                  <a:srgbClr val="1C2330"/>
                </a:solidFill>
                <a:latin typeface="Aptos"/>
              </a:defRPr>
            </a:pPr>
            <a:r>
              <a:t>Distingo variable, constante y literal.</a:t>
            </a:r>
          </a:p>
        </p:txBody>
      </p:sp>
      <p:sp>
        <p:nvSpPr>
          <p:cNvPr id="10" name="Rounded Rectangle 9"/>
          <p:cNvSpPr/>
          <p:nvPr/>
        </p:nvSpPr>
        <p:spPr>
          <a:xfrm>
            <a:off x="713232" y="2544318"/>
            <a:ext cx="420624" cy="420624"/>
          </a:xfrm>
          <a:prstGeom prst="roundRect">
            <a:avLst/>
          </a:prstGeom>
          <a:solidFill>
            <a:srgbClr val="FFFFFF"/>
          </a:solidFill>
          <a:ln>
            <a:solidFill>
              <a:srgbClr val="2F5BA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389888" y="2526029"/>
            <a:ext cx="9829800" cy="1209294"/>
          </a:xfrm>
          <a:prstGeom prst="rect">
            <a:avLst/>
          </a:prstGeom>
          <a:noFill/>
        </p:spPr>
        <p:txBody>
          <a:bodyPr wrap="square" lIns="45720" rIns="45720" tIns="36576" bIns="36576" anchor="t">
            <a:spAutoFit/>
          </a:bodyPr>
          <a:lstStyle/>
          <a:p>
            <a:pPr algn="l">
              <a:defRPr sz="1900" b="0">
                <a:solidFill>
                  <a:srgbClr val="1C2330"/>
                </a:solidFill>
                <a:latin typeface="Aptos"/>
              </a:defRPr>
            </a:pPr>
            <a:r>
              <a:t>Explico división entera y real.</a:t>
            </a:r>
          </a:p>
        </p:txBody>
      </p:sp>
      <p:sp>
        <p:nvSpPr>
          <p:cNvPr id="12" name="Rounded Rectangle 11"/>
          <p:cNvSpPr/>
          <p:nvPr/>
        </p:nvSpPr>
        <p:spPr>
          <a:xfrm>
            <a:off x="713232" y="3790187"/>
            <a:ext cx="420624" cy="420624"/>
          </a:xfrm>
          <a:prstGeom prst="roundRect">
            <a:avLst/>
          </a:prstGeom>
          <a:solidFill>
            <a:srgbClr val="FFFFFF"/>
          </a:solidFill>
          <a:ln>
            <a:solidFill>
              <a:srgbClr val="2F5BA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389888" y="3771900"/>
            <a:ext cx="9829800" cy="1209294"/>
          </a:xfrm>
          <a:prstGeom prst="rect">
            <a:avLst/>
          </a:prstGeom>
          <a:noFill/>
        </p:spPr>
        <p:txBody>
          <a:bodyPr wrap="square" lIns="45720" rIns="45720" tIns="36576" bIns="36576" anchor="t">
            <a:spAutoFit/>
          </a:bodyPr>
          <a:lstStyle/>
          <a:p>
            <a:pPr algn="l">
              <a:defRPr sz="1900" b="0">
                <a:solidFill>
                  <a:srgbClr val="1C2330"/>
                </a:solidFill>
                <a:latin typeface="Aptos"/>
              </a:defRPr>
            </a:pPr>
            <a:r>
              <a:t>Explico qué devuelve %.</a:t>
            </a:r>
          </a:p>
        </p:txBody>
      </p:sp>
      <p:sp>
        <p:nvSpPr>
          <p:cNvPr id="14" name="Rounded Rectangle 13"/>
          <p:cNvSpPr/>
          <p:nvPr/>
        </p:nvSpPr>
        <p:spPr>
          <a:xfrm>
            <a:off x="713232" y="5036057"/>
            <a:ext cx="420624" cy="420624"/>
          </a:xfrm>
          <a:prstGeom prst="roundRect">
            <a:avLst/>
          </a:prstGeom>
          <a:solidFill>
            <a:srgbClr val="FFFFFF"/>
          </a:solidFill>
          <a:ln>
            <a:solidFill>
              <a:srgbClr val="2F5BA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389888" y="5017770"/>
            <a:ext cx="9829800" cy="1209294"/>
          </a:xfrm>
          <a:prstGeom prst="rect">
            <a:avLst/>
          </a:prstGeom>
          <a:noFill/>
        </p:spPr>
        <p:txBody>
          <a:bodyPr wrap="square" lIns="45720" rIns="45720" tIns="36576" bIns="36576" anchor="t">
            <a:spAutoFit/>
          </a:bodyPr>
          <a:lstStyle/>
          <a:p>
            <a:pPr algn="l">
              <a:defRPr sz="1900" b="0">
                <a:solidFill>
                  <a:srgbClr val="1C2330"/>
                </a:solidFill>
                <a:latin typeface="Aptos"/>
              </a:defRPr>
            </a:pPr>
            <a:r>
              <a:t>Justifico un resultado con precedencia y paréntesis.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9F7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2F5B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74320"/>
            <a:ext cx="5486400" cy="256032"/>
          </a:xfrm>
          <a:prstGeom prst="rect">
            <a:avLst/>
          </a:prstGeom>
          <a:noFill/>
        </p:spPr>
        <p:txBody>
          <a:bodyPr wrap="square" lIns="45720" rIns="45720" tIns="36576" bIns="36576" anchor="t">
            <a:spAutoFit/>
          </a:bodyPr>
          <a:lstStyle/>
          <a:p>
            <a:pPr algn="l">
              <a:defRPr sz="1000" b="1">
                <a:solidFill>
                  <a:srgbClr val="2F5BA8"/>
                </a:solidFill>
                <a:latin typeface="Aptos"/>
              </a:defRPr>
            </a:pPr>
            <a:r>
              <a:t>EXPLICAR Y DEFENDER</a:t>
            </a:r>
          </a:p>
        </p:txBody>
      </p:sp>
      <p:sp>
        <p:nvSpPr>
          <p:cNvPr id="5" name="TextBox 4"/>
          <p:cNvSpPr txBox="1"/>
          <p:nvPr/>
        </p:nvSpPr>
        <p:spPr>
          <a:xfrm>
            <a:off x="502920" y="603504"/>
            <a:ext cx="11064240" cy="530352"/>
          </a:xfrm>
          <a:prstGeom prst="rect">
            <a:avLst/>
          </a:prstGeom>
          <a:noFill/>
        </p:spPr>
        <p:txBody>
          <a:bodyPr wrap="square" lIns="45720" rIns="45720" tIns="36576" bIns="36576" anchor="t">
            <a:spAutoFit/>
          </a:bodyPr>
          <a:lstStyle/>
          <a:p>
            <a:pPr algn="l">
              <a:defRPr sz="2800" b="1">
                <a:solidFill>
                  <a:srgbClr val="1C2330"/>
                </a:solidFill>
                <a:latin typeface="Aptos"/>
              </a:defRPr>
            </a:pPr>
            <a:r>
              <a:t>Salida diagnóstica</a:t>
            </a:r>
          </a:p>
        </p:txBody>
      </p:sp>
      <p:sp>
        <p:nvSpPr>
          <p:cNvPr id="6" name="Rectangle 5"/>
          <p:cNvSpPr/>
          <p:nvPr/>
        </p:nvSpPr>
        <p:spPr>
          <a:xfrm>
            <a:off x="0" y="6601968"/>
            <a:ext cx="12191695" cy="256032"/>
          </a:xfrm>
          <a:prstGeom prst="rect">
            <a:avLst/>
          </a:prstGeom>
          <a:solidFill>
            <a:srgbClr val="2F5B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629400"/>
            <a:ext cx="11247120" cy="164592"/>
          </a:xfrm>
          <a:prstGeom prst="rect">
            <a:avLst/>
          </a:prstGeom>
          <a:noFill/>
        </p:spPr>
        <p:txBody>
          <a:bodyPr wrap="square" lIns="45720" rIns="45720" tIns="36576" bIns="36576" anchor="t">
            <a:spAutoFit/>
          </a:bodyPr>
          <a:lstStyle/>
          <a:p>
            <a:pPr algn="l">
              <a:defRPr sz="900" b="0">
                <a:solidFill>
                  <a:srgbClr val="FFFFFF"/>
                </a:solidFill>
                <a:latin typeface="Aptos"/>
              </a:defRPr>
            </a:pPr>
            <a:r>
              <a:t>MiniJarvis · 1.º DAW · Sesión 211 · H1 — Primer asistente ejecutable</a:t>
            </a:r>
          </a:p>
        </p:txBody>
      </p:sp>
      <p:sp>
        <p:nvSpPr>
          <p:cNvPr id="8" name="Rounded Rectangle 7"/>
          <p:cNvSpPr/>
          <p:nvPr/>
        </p:nvSpPr>
        <p:spPr>
          <a:xfrm>
            <a:off x="621792" y="1298448"/>
            <a:ext cx="10927080" cy="1828800"/>
          </a:xfrm>
          <a:prstGeom prst="roundRect">
            <a:avLst/>
          </a:prstGeom>
          <a:solidFill>
            <a:srgbClr val="2F5BA8"/>
          </a:solidFill>
          <a:ln>
            <a:solidFill>
              <a:srgbClr val="2F5BA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32688" y="1591056"/>
            <a:ext cx="10241280" cy="256032"/>
          </a:xfrm>
          <a:prstGeom prst="rect">
            <a:avLst/>
          </a:prstGeom>
          <a:noFill/>
        </p:spPr>
        <p:txBody>
          <a:bodyPr wrap="square" lIns="45720" rIns="45720" tIns="36576" bIns="36576" anchor="t">
            <a:spAutoFit/>
          </a:bodyPr>
          <a:lstStyle/>
          <a:p>
            <a:pPr algn="l">
              <a:defRPr sz="1300" b="1">
                <a:solidFill>
                  <a:srgbClr val="FFFFFF"/>
                </a:solidFill>
                <a:latin typeface="Aptos"/>
              </a:defRPr>
            </a:pPr>
            <a:r>
              <a:t>PREGUNTA O DECISIÓN DE SALIDA</a:t>
            </a:r>
          </a:p>
        </p:txBody>
      </p:sp>
      <p:sp>
        <p:nvSpPr>
          <p:cNvPr id="10" name="TextBox 9"/>
          <p:cNvSpPr txBox="1"/>
          <p:nvPr/>
        </p:nvSpPr>
        <p:spPr>
          <a:xfrm>
            <a:off x="932688" y="1975104"/>
            <a:ext cx="10058400" cy="822960"/>
          </a:xfrm>
          <a:prstGeom prst="rect">
            <a:avLst/>
          </a:prstGeom>
          <a:noFill/>
        </p:spPr>
        <p:txBody>
          <a:bodyPr wrap="square" lIns="45720" rIns="45720" tIns="36576" bIns="36576" anchor="t">
            <a:spAutoFit/>
          </a:bodyPr>
          <a:lstStyle/>
          <a:p>
            <a:pPr algn="l">
              <a:defRPr sz="2500" b="1">
                <a:solidFill>
                  <a:srgbClr val="FFFFFF"/>
                </a:solidFill>
                <a:latin typeface="Aptos"/>
              </a:defRPr>
            </a:pPr>
            <a:r>
              <a:t>Sin ejecutar: ¿qué producen 5 / 2, 5 / 2.0 y 10 % 4, y por qué?</a:t>
            </a:r>
          </a:p>
        </p:txBody>
      </p:sp>
      <p:sp>
        <p:nvSpPr>
          <p:cNvPr id="11" name="TextBox 10"/>
          <p:cNvSpPr txBox="1"/>
          <p:nvPr/>
        </p:nvSpPr>
        <p:spPr>
          <a:xfrm>
            <a:off x="749808" y="3886200"/>
            <a:ext cx="10607040" cy="1280160"/>
          </a:xfrm>
          <a:prstGeom prst="rect">
            <a:avLst/>
          </a:prstGeom>
          <a:noFill/>
        </p:spPr>
        <p:txBody>
          <a:bodyPr wrap="square" lIns="45720" rIns="45720" tIns="36576" bIns="36576" anchor="ctr">
            <a:spAutoFit/>
          </a:bodyPr>
          <a:lstStyle/>
          <a:p>
            <a:pPr algn="ctr">
              <a:defRPr sz="2300" b="1">
                <a:solidFill>
                  <a:srgbClr val="247E5C"/>
                </a:solidFill>
                <a:latin typeface="Aptos"/>
              </a:defRPr>
            </a:pPr>
            <a:r>
              <a:t>La sesión termina cuando la evidencia existe, está comprobada y puede defenderse.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9F7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2F5B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74320"/>
            <a:ext cx="5486400" cy="256032"/>
          </a:xfrm>
          <a:prstGeom prst="rect">
            <a:avLst/>
          </a:prstGeom>
          <a:noFill/>
        </p:spPr>
        <p:txBody>
          <a:bodyPr wrap="square" lIns="45720" rIns="45720" tIns="36576" bIns="36576" anchor="t">
            <a:spAutoFit/>
          </a:bodyPr>
          <a:lstStyle/>
          <a:p>
            <a:pPr algn="l">
              <a:defRPr sz="1000" b="1">
                <a:solidFill>
                  <a:srgbClr val="2F5BA8"/>
                </a:solidFill>
                <a:latin typeface="Aptos"/>
              </a:defRPr>
            </a:pPr>
            <a:r>
              <a:t>TRAZABILIDAD DEL CONTENIDO</a:t>
            </a:r>
          </a:p>
        </p:txBody>
      </p:sp>
      <p:sp>
        <p:nvSpPr>
          <p:cNvPr id="5" name="TextBox 4"/>
          <p:cNvSpPr txBox="1"/>
          <p:nvPr/>
        </p:nvSpPr>
        <p:spPr>
          <a:xfrm>
            <a:off x="502920" y="603504"/>
            <a:ext cx="11064240" cy="530352"/>
          </a:xfrm>
          <a:prstGeom prst="rect">
            <a:avLst/>
          </a:prstGeom>
          <a:noFill/>
        </p:spPr>
        <p:txBody>
          <a:bodyPr wrap="square" lIns="45720" rIns="45720" tIns="36576" bIns="36576" anchor="t">
            <a:spAutoFit/>
          </a:bodyPr>
          <a:lstStyle/>
          <a:p>
            <a:pPr algn="l">
              <a:defRPr sz="2800" b="1">
                <a:solidFill>
                  <a:srgbClr val="1C2330"/>
                </a:solidFill>
                <a:latin typeface="Aptos"/>
              </a:defRPr>
            </a:pPr>
            <a:r>
              <a:t>Fuentes diferenciadas</a:t>
            </a:r>
          </a:p>
        </p:txBody>
      </p:sp>
      <p:sp>
        <p:nvSpPr>
          <p:cNvPr id="6" name="Rectangle 5"/>
          <p:cNvSpPr/>
          <p:nvPr/>
        </p:nvSpPr>
        <p:spPr>
          <a:xfrm>
            <a:off x="0" y="6601968"/>
            <a:ext cx="12191695" cy="256032"/>
          </a:xfrm>
          <a:prstGeom prst="rect">
            <a:avLst/>
          </a:prstGeom>
          <a:solidFill>
            <a:srgbClr val="2F5B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6629400"/>
            <a:ext cx="11247120" cy="164592"/>
          </a:xfrm>
          <a:prstGeom prst="rect">
            <a:avLst/>
          </a:prstGeom>
          <a:noFill/>
        </p:spPr>
        <p:txBody>
          <a:bodyPr wrap="square" lIns="45720" rIns="45720" tIns="36576" bIns="36576" anchor="t">
            <a:spAutoFit/>
          </a:bodyPr>
          <a:lstStyle/>
          <a:p>
            <a:pPr algn="l">
              <a:defRPr sz="900" b="0">
                <a:solidFill>
                  <a:srgbClr val="FFFFFF"/>
                </a:solidFill>
                <a:latin typeface="Aptos"/>
              </a:defRPr>
            </a:pPr>
            <a:r>
              <a:t>MiniJarvis · 1.º DAW · Sesión 211 · H1 — Primer asistente ejecutable</a:t>
            </a:r>
          </a:p>
        </p:txBody>
      </p:sp>
      <p:sp>
        <p:nvSpPr>
          <p:cNvPr id="8" name="TextBox 7"/>
          <p:cNvSpPr txBox="1"/>
          <p:nvPr/>
        </p:nvSpPr>
        <p:spPr>
          <a:xfrm>
            <a:off x="777240" y="1417320"/>
            <a:ext cx="10515600" cy="658368"/>
          </a:xfrm>
          <a:prstGeom prst="rect">
            <a:avLst/>
          </a:prstGeom>
          <a:noFill/>
        </p:spPr>
        <p:txBody>
          <a:bodyPr wrap="square" lIns="45720" rIns="45720" tIns="36576" bIns="36576" anchor="t">
            <a:spAutoFit/>
          </a:bodyPr>
          <a:lstStyle/>
          <a:p>
            <a:pPr algn="ctr">
              <a:defRPr sz="2300" b="1">
                <a:solidFill>
                  <a:srgbClr val="1C2330"/>
                </a:solidFill>
                <a:latin typeface="Aptos"/>
              </a:defRPr>
            </a:pPr>
            <a:r>
              <a:t>Esta presentación selecciona y adapta contenido; no sustituye al libro ni copia el PDF completo.</a:t>
            </a:r>
          </a:p>
        </p:txBody>
      </p:sp>
      <p:sp>
        <p:nvSpPr>
          <p:cNvPr id="9" name="TextBox 8"/>
          <p:cNvSpPr txBox="1"/>
          <p:nvPr/>
        </p:nvSpPr>
        <p:spPr>
          <a:xfrm>
            <a:off x="1005840" y="2468880"/>
            <a:ext cx="10058400" cy="2331720"/>
          </a:xfrm>
          <a:prstGeom prst="rect">
            <a:avLst/>
          </a:prstGeom>
          <a:noFill/>
        </p:spPr>
        <p:txBody>
          <a:bodyPr wrap="square" lIns="73152" rIns="45720" tIns="36576">
            <a:spAutoFit/>
          </a:bodyPr>
          <a:lstStyle/>
          <a:p>
            <a:pPr>
              <a:spcAft>
                <a:spcPts val="900"/>
              </a:spcAft>
              <a:defRPr sz="2000">
                <a:solidFill>
                  <a:srgbClr val="1C2330"/>
                </a:solidFill>
                <a:latin typeface="Aptos"/>
              </a:defRPr>
            </a:pPr>
            <a:r>
              <a:t>•  Libro por hitos · Capítulo 02: constantes y operadores</a:t>
            </a:r>
          </a:p>
          <a:p>
            <a:pPr>
              <a:spcAft>
                <a:spcPts val="900"/>
              </a:spcAft>
              <a:defRPr sz="2000">
                <a:solidFill>
                  <a:srgbClr val="1C2330"/>
                </a:solidFill>
                <a:latin typeface="Aptos"/>
              </a:defRPr>
            </a:pPr>
            <a:r>
              <a:t>•  PDF Tema 1 · §§4-5: literales, constantes y operaciones</a:t>
            </a:r>
          </a:p>
          <a:p>
            <a:pPr>
              <a:spcAft>
                <a:spcPts val="900"/>
              </a:spcAft>
              <a:defRPr sz="2000">
                <a:solidFill>
                  <a:srgbClr val="1C2330"/>
                </a:solidFill>
                <a:latin typeface="Aptos"/>
              </a:defRPr>
            </a:pPr>
            <a:r>
              <a:t>•  Proyecto MiniJarvis · fichas S206-S215, píldoras H1 y criterios de evidencia</a:t>
            </a:r>
          </a:p>
        </p:txBody>
      </p:sp>
      <p:sp>
        <p:nvSpPr>
          <p:cNvPr id="10" name="TextBox 9"/>
          <p:cNvSpPr txBox="1"/>
          <p:nvPr/>
        </p:nvSpPr>
        <p:spPr>
          <a:xfrm>
            <a:off x="960120" y="5257800"/>
            <a:ext cx="10241280" cy="411480"/>
          </a:xfrm>
          <a:prstGeom prst="rect">
            <a:avLst/>
          </a:prstGeom>
          <a:noFill/>
        </p:spPr>
        <p:txBody>
          <a:bodyPr wrap="square" lIns="45720" rIns="45720" tIns="36576" bIns="36576" anchor="t">
            <a:spAutoFit/>
          </a:bodyPr>
          <a:lstStyle/>
          <a:p>
            <a:pPr algn="ctr">
              <a:defRPr sz="1800" b="1">
                <a:solidFill>
                  <a:srgbClr val="2F5BA8"/>
                </a:solidFill>
                <a:latin typeface="Aptos"/>
              </a:defRPr>
            </a:pPr>
            <a:r>
              <a:t>Consulta el libro para ampliar, practicar y repasar errores frecuentes.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