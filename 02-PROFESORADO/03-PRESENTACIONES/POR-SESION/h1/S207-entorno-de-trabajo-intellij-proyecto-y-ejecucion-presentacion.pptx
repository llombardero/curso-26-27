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Localizar proyecto, Main.java, editor y consola. Función del soporte: apoyo al trabajo.</a:t>
            </a:r>
          </a:p>
          <a:p/>
          <a:p>
            <a:r>
              <a:t>Facilitación docente · Antes de entrar en clase</a:t>
            </a:r>
          </a:p>
          <a:p>
            <a:r>
              <a:t>- [ ] Comprobar que el JDK y el proyecto Java utilizado están configurados.</a:t>
            </a:r>
          </a:p>
          <a:p>
            <a:r>
              <a:t>- [ ] Abrir y ejecutar el `Main.java` de referencia.</a:t>
            </a:r>
          </a:p>
          <a:p>
            <a:r>
              <a:t>- [ ] Preparar una alternativa si algún puesto no puede abrir el proyecto.</a:t>
            </a:r>
          </a:p>
          <a:p>
            <a:r>
              <a:t>- [ ] Verificar dónde muestra IntelliJ el primer diagnóstico y la consola.</a:t>
            </a:r>
          </a:p>
          <a:p>
            <a:r>
              <a:t>- [ ] Evitar que la sesión se convierta en una explicación extensa de configuración.</a:t>
            </a:r>
          </a:p>
          <a:p/>
          <a:p>
            <a:r>
              <a:t>Facilitación docente · Apertura docente</a:t>
            </a:r>
          </a:p>
          <a:p>
            <a:r>
              <a:t>&gt; Hoy estamos en Investigar. Necesitamos entender qué ocurre entre escribir `Main.java` y ver un mensaje. Escribir no es ejecutar, compilar no es ejecutar y la consola no es el código.</a:t>
            </a:r>
          </a:p>
          <a:p/>
          <a:p>
            <a:r>
              <a:t>&gt; Si el texto está escrito dentro de `Main.java`, ¿podemos afirmar ya que el programa se ha ejecutado? ¿Qué tendríamos que observar para comprobarlo?</a:t>
            </a:r>
          </a:p>
          <a:p/>
          <a:p>
            <a:r>
              <a:t>Facilitación docente · Recorrido: del código a la consola</a:t>
            </a:r>
          </a:p>
          <a:p>
            <a:r>
              <a:t>Presenta el recorrido completo como una relación entre cuatro etapas.</a:t>
            </a:r>
          </a:p>
          <a:p/>
          <a:p>
            <a:r>
              <a:t>Facilitación docente · Commit descriptivo, solo cuando proceda</a:t>
            </a:r>
          </a:p>
          <a:p>
            <a:r>
              <a:t>Si el flujo técnico del proyecto incluye un commit real tras la primera ejecución, contrasta:</a:t>
            </a:r>
          </a:p>
          <a:p/>
          <a:p>
            <a:r>
              <a:t>```text</a:t>
            </a:r>
          </a:p>
          <a:p>
            <a:r>
              <a:t>S207: primera ejecución por consola</a:t>
            </a:r>
          </a:p>
          <a:p>
            <a:r>
              <a:t>```</a:t>
            </a:r>
          </a:p>
          <a:p/>
          <a:p>
            <a:r>
              <a:t>con:</a:t>
            </a:r>
          </a:p>
          <a:p/>
          <a:p>
            <a:r>
              <a:t>```text</a:t>
            </a:r>
          </a:p>
          <a:p>
            <a:r>
              <a:t>cambios</a:t>
            </a:r>
          </a:p>
          <a:p>
            <a:r>
              <a:t>```</a:t>
            </a:r>
          </a:p>
          <a:p/>
          <a:p>
            <a:r>
              <a:t>El primer mensaje identifica el cambio realizado; el segundo no permite saber qué ocurrió. No conviertas S207 en una sesión de Git ni crees un commit artificial solo para evidenciarla.</a:t>
            </a:r>
          </a:p>
          <a:p/>
          <a:p>
            <a:r>
              <a:t>Observación · Observación docente</a:t>
            </a:r>
          </a:p>
          <a:p>
            <a:r>
              <a:t>Durante la actividad, comprueba específicamente:</a:t>
            </a:r>
          </a:p>
          <a:p/>
          <a:p>
            <a:r>
              <a:t>- que cada persona encuentra `Main.java`;</a:t>
            </a:r>
          </a:p>
          <a:p>
            <a:r>
              <a:t>- que distingue el código del resultado mostrado;</a:t>
            </a:r>
          </a:p>
          <a:p>
            <a:r>
              <a:t>- que predice antes de ejecutar;</a:t>
            </a:r>
          </a:p>
          <a:p>
            <a:r>
              <a:t>- que explica código fuente → compilación → ejecución → consola;</a:t>
            </a:r>
          </a:p>
          <a:p>
            <a:r>
              <a:t>- que reconoce el papel básico del JDK;</a:t>
            </a:r>
          </a:p>
          <a:p>
            <a:r>
              <a:t>- que distingue el JDK del IDE;</a:t>
            </a:r>
          </a:p>
          <a:p>
            <a:r>
              <a:t>- que relaciona el proyecto con archivos y configuración;</a:t>
            </a:r>
          </a:p>
          <a:p>
            <a:r>
              <a:t>- que valora si un fallo parece de código o configuración;</a:t>
            </a:r>
          </a:p>
          <a:p>
            <a:r>
              <a:t>- que lee el primer diagnóstico antes de cambiar código;</a:t>
            </a:r>
          </a:p>
          <a:p>
            <a:r>
              <a:t>- que formula una hipótesis concreta;</a:t>
            </a:r>
          </a:p>
          <a:p>
            <a:r>
              <a:t>- que valida la corrección mediante una nueva ejecución.</a:t>
            </a:r>
          </a:p>
          <a:p/>
          <a:p>
            <a:r>
              <a:t>Andamiaje y recuperación · Andamiaje ante bloqueos</a:t>
            </a:r>
          </a:p>
          <a:p>
            <a:r>
              <a:t>No resuelvas automáticamente el problema. Utiliza una ayuda específica:</a:t>
            </a:r>
          </a:p>
          <a:p/>
          <a:p>
            <a:r>
              <a:t>- **No encuentra el archivo:** pide localizar primero la estructura del proyecto y después `Main.java`.</a:t>
            </a:r>
          </a:p>
          <a:p>
            <a:r>
              <a:t>- **Pulsa `Run` sin leer:** detén la ejecución y pide la predicción exacta.</a:t>
            </a:r>
          </a:p>
          <a:p>
            <a:r>
              <a:t>- **Confunde IDE con Java:** pregunta qué aporta las herramientas de compilación y ejecución y qué organiza el proyecto.</a:t>
            </a:r>
          </a:p>
          <a:p>
            <a:r>
              <a:t>- **Cambia código al azar:** pide leer en voz alta el primer diagnóstico y señalar la zona asociada.</a:t>
            </a:r>
          </a:p>
          <a:p>
            <a:r>
              <a:t>- **No sabe si ejecutó realmente:** relaciona salida esperada, salida obtenida e instrucción que la produce.</a:t>
            </a:r>
          </a:p>
          <a:p>
            <a:r>
              <a:t>- **Sospecha de configuración:** reduce la prueba al programa mínimo antes de modificar muchas cosas.</a:t>
            </a:r>
          </a:p>
          <a:p>
            <a:r>
              <a:t>- **La pareja resuelve por otra persona:** pide que dé una pista y que la persona afectada formule la hipótesis y ejecute la corrección.</a:t>
            </a:r>
          </a:p>
          <a:p/>
          <a:p>
            <a:r>
              <a:t>Facilitación docente · Límite respecto a S208</a:t>
            </a:r>
          </a:p>
          <a:p>
            <a:r>
              <a:t>S207 introduce el programa mínimo, el recorrido hasta la consola y un primer error sencillo. S208 profundiza en clase, `main`, delimitadores, errores sintácticos, identificadores, comentarios y depuración inicial.</a:t>
            </a:r>
          </a:p>
          <a:p/>
          <a:p>
            <a:r>
              <a:t>Ritmo fuente · Temporalización orientativa</a:t>
            </a:r>
          </a:p>
          <a:p>
            <a:r>
              <a:t>0–5 min — Localizar proyecto, Main.java, editor y consola.</a:t>
            </a:r>
          </a:p>
          <a:p/>
          <a:p>
            <a:r>
              <a:t>5–12 min — Explicar código fuente → compilación → ejecución → consola y el papel de JDK, IDE y proyecto.</a:t>
            </a:r>
          </a:p>
          <a:p/>
          <a:p>
            <a:r>
              <a:t>12–18 min — Leer el programa mínimo, modificar solo el mensaje y formular la predicción individual.</a:t>
            </a:r>
          </a:p>
          <a:p/>
          <a:p>
            <a:r>
              <a:t>18–25 min — Realizar y comprobar la primera ejecución individual.</a:t>
            </a:r>
          </a:p>
          <a:p/>
          <a:p>
            <a:r>
              <a:t>25–33 min — Provocar un error simple, leer el diagnóstico, formular una hipótesis y corregir.</a:t>
            </a:r>
          </a:p>
          <a:p/>
          <a:p>
            <a:r>
              <a:t>33–40 min — Contrastar por parejas predicciones, recorrido y diagnósticos.</a:t>
            </a:r>
          </a:p>
          <a:p/>
          <a:p>
            <a:r>
              <a:t>40–45 min — Volver a ejecutar, explicar la evidencia y cerrar.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Localizar proyecto, Main.java, editor y consola.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Localizar proyecto, Main.java, editor y consola. Función del soporte: apoyo al trabajo.</a:t>
            </a:r>
          </a:p>
          <a:p/>
          <a:p>
            <a:r>
              <a:t>Detalle para la explicación oral · 4. Consola</a:t>
            </a:r>
          </a:p>
          <a:p>
            <a:r>
              <a:t>La consola muestra la salida que el programa produce durante la ejecución y también puede mostrar diagnósticos. No contiene el código fuente: permite observar qué ocurrió al intentar ejecutarlo.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Localizar proyecto, Main.java, editor y consola. Función del soporte: apoyo al trabajo.</a:t>
            </a:r>
          </a:p>
          <a:p/>
          <a:p>
            <a:r>
              <a:t>Detalle para la explicación oral · JDK</a:t>
            </a:r>
          </a:p>
          <a:p>
            <a:r>
              <a:t>El JDK aporta las herramientas necesarias para compilar y ejecutar Java en el nivel trabajado. Si no está disponible o no está asociado correctamente, el proyecto puede no arrancar aunque el fragmento de código sea correcto.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Localizar proyecto, Main.java, editor y consola. Función del soporte: apoyo al trabajo.</a:t>
            </a:r>
          </a:p>
          <a:p/>
          <a:p>
            <a:r>
              <a:t>Detalle para la explicación oral · IntelliJ / IDE</a:t>
            </a:r>
          </a:p>
          <a:p>
            <a:r>
              <a:t>IntelliJ organiza el trabajo: muestra archivos, ofrece el editor, utiliza el JDK configurado, permite solicitar la ejecución y presenta consola y diagnósticos. El IDE facilita el proceso, pero no sustituye al entorno 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Localizar proyecto, Main.java, editor y consola. Función del soporte: apoyo al trabajo.</a:t>
            </a:r>
          </a:p>
          <a:p/>
          <a:p>
            <a:r>
              <a:t>Detalle para la explicación oral · Proyecto</a:t>
            </a:r>
          </a:p>
          <a:p>
            <a:r>
              <a:t>El proyecto reúne los archivos y la configuración con la que se compila y ejecuta. Para poder hacerlo, debe tener disponible y correctamente asociado el JDK necesario.</a:t>
            </a:r>
          </a:p>
          <a:p/>
          <a:p>
            <a:r>
              <a:t>El alumnado no debe resolver configuraciones complejas todavía. Sí debe evitar cambiar código al azar cuando el diagnóstico apunta al entorno.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Localizar proyecto, Main.java, editor y consola. Función del soporte: apoyo al trabajo.</a:t>
            </a:r>
          </a:p>
          <a:p/>
          <a:p>
            <a:r>
              <a:t>Detalle para la explicación oral · Proyecto</a:t>
            </a:r>
          </a:p>
          <a:p>
            <a:r>
              <a:t>El proyecto reúne los archivos y la configuración con la que se compila y ejecuta. Para poder hacerlo, debe tener disponible y correctamente asociado el JDK necesario.</a:t>
            </a:r>
          </a:p>
          <a:p/>
          <a:p>
            <a:r>
              <a:t>El alumnado no debe resolver configuraciones complejas todavía. Sí debe evitar cambiar código al azar cuando el diagnóstico apunta al entorno.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5–12 min: duración compartida 420 segundos. Trabajo: Explicar código fuente → compilación → ejecución → consola y el papel de JDK, IDE y proyecto. Función del soporte: apoyo al trabajo.</a:t>
            </a:r>
          </a:p>
          <a:p/>
          <a:p>
            <a:r>
              <a:t>Detalle para la explicación oral · 1. Código fuente</a:t>
            </a:r>
          </a:p>
          <a:p>
            <a:r>
              <a:t>Es el programa escrito por una persona en un archivo como `Main.java`. Puede leerse y modificarse. En esta sesión el alumnado debe localizar el archivo dentro del proyecto, no limitarse a reconocer el texto mostrado en el editor.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5–12 min: duración compartida 420 segundos. Trabajo: Explicar código fuente → compilación → ejecución → consola y el papel de JDK, IDE y proyecto. Función del soporte: apoyo al trabajo.</a:t>
            </a:r>
          </a:p>
          <a:p/>
          <a:p>
            <a:r>
              <a:t>Detalle para la explicación oral · 2. Compilación</a:t>
            </a:r>
          </a:p>
          <a:p>
            <a:r>
              <a:t>Antes de ejecutar, las herramientas del JDK comprueban y traducen el código fuente a una forma que Java puede poner en marcha. Un error sencillo de escritura puede impedir que esta etapa termine.</a:t>
            </a:r>
          </a:p>
          <a:p/>
          <a:p>
            <a:r>
              <a:t>En este nivel no es necesario desarrollar el funcionamiento interno de la JVM o de una toolchain. Basta con comprender que el código fuente no pasa directamente a la consola.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5–12 min: duración compartida 420 segundos. Trabajo: Explicar código fuente → compilación → ejecución → consola y el papel de JDK, IDE y proyecto. Función del soporte: apoyo al trabajo.</a:t>
            </a:r>
          </a:p>
          <a:p/>
          <a:p>
            <a:r>
              <a:t>Detalle para la explicación oral · 3. Ejecución</a:t>
            </a:r>
          </a:p>
          <a:p>
            <a:r>
              <a:t>Si la compilación permite continuar y el proyecto está configurado, Java pone en marcha el programa. La ejecución comienza en `main` y realiza las instrucciones previstas.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12–18 min: duración compartida 360 segundos. Trabajo: Leer el programa mínimo, modificar solo el mensaje y formular la predicción individual. Función del soporte: apoyo al trabajo.</a:t>
            </a:r>
          </a:p>
          <a:p/>
          <a:p>
            <a:r>
              <a:t>Detalle para la explicación oral · Programa mínimo y salida esperada</a:t>
            </a:r>
          </a:p>
          <a:p>
            <a:r>
              <a:t>No desarrolles aún toda la estructura de clase, delimitadores o identificadores. S208 profundiza en esas reglas.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12–18 min: duración compartida 360 segundos. Trabajo: Leer el programa mínimo, modificar solo el mensaje y formular la predicción individual. Función del soporte: apoyo al trabajo.</a:t>
            </a:r>
          </a:p>
          <a:p/>
          <a:p>
            <a:r>
              <a:t>Detalle para la explicación oral · Programa mínimo y salida esperada</a:t>
            </a:r>
          </a:p>
          <a:p>
            <a:r>
              <a:t>No desarrolles aún toda la estructura de clase, delimitadores o identificadores. S208 profundiza en esas reglas.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18–25 min: duración compartida 420 segundos. Trabajo: Realizar y comprobar la primera ejecución individual. Función del soporte: actividad. Reloj fuente 25–33 min: duración compartida 480 segundos. Trabajo: Provocar un error simple, leer el diagnóstico, formular una hipótesis y corregir.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18–25 min: duración compartida 420 segundos. Trabajo: Realizar y comprobar la primera ejecución individual.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18–25 min: duración compartida 420 segundos. Trabajo: Realizar y comprobar la primera ejecución individual.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18–25 min: duración compartida 420 segundos. Trabajo: Realizar y comprobar la primera ejecución individual.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25–33 min: duración compartida 480 segundos. Trabajo: Provocar un error simple, leer el diagnóstico, formular una hipótesis y corregir. Función del soporte: actividad.</a:t>
            </a:r>
          </a:p>
          <a:p/>
          <a:p>
            <a:r>
              <a:t>Detalle para la explicación oral · Error deliberado y diagnóstico — INDIVIDUAL</a:t>
            </a:r>
          </a:p>
          <a:p>
            <a:r>
              <a:t>Sobre el mismo programa, cada persona elimina temporalmente un punto y coma o una comilla. No añadas varios errores a la vez.</a:t>
            </a:r>
          </a:p>
          <a:p/>
          <a:p>
            <a:r>
              <a:t>&gt; Antes de corregir, lee el primer diagnóstico y localiza la zona señalada. Explica qué crees que impide continuar. Corrige solo ese cambio y vuelve a ejecutar para comprobar la hipótesis.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33–40 min: duración compartida 420 segundos. Trabajo: Contrastar por parejas predicciones, recorrido y diagnósticos.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33–40 min: duración compartida 420 segundos. Trabajo: Contrastar por parejas predicciones, recorrido y diagnósticos.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33–40 min: duración compartida 420 segundos. Trabajo: Contrastar por parejas predicciones, recorrido y diagnósticos. Función del soporte: apoyo al trabajo.</a:t>
            </a:r>
          </a:p>
          <a:p/>
          <a:p>
            <a:r>
              <a:t>Detalle para la explicación oral · Evidencia que permanece</a:t>
            </a:r>
          </a:p>
          <a:p>
            <a:r>
              <a:t>No se crea captura, copia de consola, frase obligatoria, documento de ejecución ni microentrega. La primera ejecución se comprueba ejecutando el código y relacionando predicción, salida y explicación.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33–40 min: duración compartida 420 segundos. Trabajo: Contrastar por parejas predicciones, recorrido y diagnósticos. Función del soporte: apoyo al trabajo.</a:t>
            </a:r>
          </a:p>
          <a:p/>
          <a:p>
            <a:r>
              <a:t>Detalle para la explicación oral · Evidencia que permanece</a:t>
            </a:r>
          </a:p>
          <a:p>
            <a:r>
              <a:t>No se crea captura, copia de consola, frase obligatoria, documento de ejecución ni microentrega. La primera ejecución se comprueba ejecutando el código y relacionando predicción, salida y explicación.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33–40 min: duración compartida 420 segundos. Trabajo: Contrastar por parejas predicciones, recorrido y diagnósticos.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40–45 min: duración compartida 300 segundos. Trabajo: Volver a ejecutar, explicar la evidencia y cerrar. Función del soporte: cierre.</a:t>
            </a:r>
          </a:p>
          <a:p/>
          <a:p>
            <a:r>
              <a:t>Transición · Al terminar</a:t>
            </a:r>
          </a:p>
          <a:p>
            <a:r>
              <a:t>Anota únicamente lo necesario para continuar: alumnado que no pudo ejecutar, problema de configuración pendiente, error común o ajuste temporal para la siguiente sesión.</a:t>
            </a:r>
          </a:p>
          <a:p/>
          <a:p>
            <a:r>
              <a:t>Detalle para la explicación oral · Comprobación y cierre</a:t>
            </a:r>
          </a:p>
          <a:p>
            <a:r>
              <a:t>&gt; Hoy no hemos aprendido solo a pulsar ejecutar. Hemos comprendido el recorrido entre escribir, compilar, ejecutar y observar. Cuando algo falla, primero leemos el diagnóstico, decidimos si apunta al código o a la configuración y formulamos una hipótesis.</a:t>
            </a:r>
          </a:p>
          <a:p/>
          <a:p>
            <a:r>
              <a:t>Facilitación docente · Comprobación y cierre</a:t>
            </a:r>
          </a:p>
          <a:p>
            <a:r>
              <a:t>&gt; ¿Dónde está el código fuente, qué ocurrió antes de ver la consola, qué ejecutaste, qué salida esperabas y qué salida apareció?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ódigo de sesión" descr="Código de sesión"/>
          <p:cNvSpPr txBox="1"/>
          <p:nvPr/>
        </p:nvSpPr>
        <p:spPr>
          <a:xfrm>
            <a:off x="640080" y="548640"/>
            <a:ext cx="10881360" cy="5278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860"/>
              </a:lnSpc>
              <a:spcAft>
                <a:spcPts val="0"/>
              </a:spcAft>
              <a:defRPr sz="2600" b="1">
                <a:solidFill>
                  <a:srgbClr val="FFFFFF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3" name="Título" descr="Título"/>
          <p:cNvSpPr txBox="1"/>
          <p:nvPr/>
        </p:nvSpPr>
        <p:spPr>
          <a:xfrm>
            <a:off x="640080" y="1508760"/>
            <a:ext cx="10881360" cy="1645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4400"/>
              </a:lnSpc>
              <a:spcAft>
                <a:spcPts val="0"/>
              </a:spcAft>
              <a:defRPr sz="4000" b="1">
                <a:solidFill>
                  <a:srgbClr val="FFFFFF"/>
                </a:solidFill>
                <a:latin typeface="Liberation Sans"/>
              </a:defRPr>
            </a:pPr>
            <a:r>
              <a:t>Del código fuente a la primera ejecución</a:t>
            </a:r>
          </a:p>
        </p:txBody>
      </p:sp>
      <p:sp>
        <p:nvSpPr>
          <p:cNvPr id="4" name="Fase HEXA" descr="Fase HEXA"/>
          <p:cNvSpPr txBox="1"/>
          <p:nvPr/>
        </p:nvSpPr>
        <p:spPr>
          <a:xfrm>
            <a:off x="640080" y="3657600"/>
            <a:ext cx="10881360" cy="7315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FFFFFF"/>
                </a:solidFill>
                <a:latin typeface="Liberation Sans"/>
              </a:defRPr>
            </a:pPr>
            <a:r>
              <a:t>Fase HEXA: Investigar — aprender lo necesario</a:t>
            </a:r>
          </a:p>
        </p:txBody>
      </p:sp>
      <p:sp>
        <p:nvSpPr>
          <p:cNvPr id="5" name="Modalidad del alumnado" descr="Modalidad del alumnado"/>
          <p:cNvSpPr txBox="1"/>
          <p:nvPr/>
        </p:nvSpPr>
        <p:spPr>
          <a:xfrm>
            <a:off x="640080" y="4617720"/>
            <a:ext cx="10881360" cy="502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42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Liberation Sans"/>
              </a:defRPr>
            </a:pPr>
            <a:r>
              <a:t>Modalidad publicada: Individual</a:t>
            </a:r>
          </a:p>
        </p:txBody>
      </p:sp>
      <p:sp>
        <p:nvSpPr>
          <p:cNvPr id="6" name="Organización docente" descr="Organización docente"/>
          <p:cNvSpPr txBox="1"/>
          <p:nvPr/>
        </p:nvSpPr>
        <p:spPr>
          <a:xfrm>
            <a:off x="640080" y="5230368"/>
            <a:ext cx="10881360" cy="86868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Liberation Sans"/>
              </a:defRPr>
            </a:pPr>
            <a:r>
              <a:t>Organización docente: INDIVIDUAL → PAREJAS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"title", "plan_index": 0, "recognition": false, "unit_ids": ["unit-0", "unit-1", "unit-2", "unit-3", "unit-16", "unit-18", "unit-19", "unit-21", "unit-24", "unit-25", "unit-26", "unit-27", "unit-28", "unit-29", "unit-30"], "roles": {"unit-0": "core", "unit-1": "core", "unit-2": "core", "unit-3": "unknown", "unit-16": "unknown", "unit-18": "core", "unit-19": "core", "unit-21": "unknown", "unit-24": "core", "unit-25": "core", "unit-26": "core", "unit-27": "core", "unit-28": "core", "unit-29": "core", "unit-30": "core"}, "source_refs": [{"source": "teacher", "heading": "Finalidad de la sesión", "block_index": 0, "fragment": 0}, {"source": "teacher", "heading": "Antes de entrar en clase", "block_index": 1, "fragment": 0}, {"source": "teacher", "heading": "Apertura docente", "block_index": 2, "fragment": 0}, {"source": "teacher", "heading": "Recorrido: del código a la consola", "block_index": 3, "fragment": 0}, {"source": "teacher", "heading": "Commit descriptivo, solo cuando proceda", "block_index": 17, "fragment": 0}, {"source": "teacher", "heading": "Observación docente", "block_index": 19, "fragment": 0}, {"source": "teacher", "heading": "Andamiaje ante bloqueos", "block_index": 20, "fragment": 0}, {"source": "teacher", "heading": "Límite respecto a S208", "block_index": 23, "fragment": 0}, {"source": "teacher", "heading": "Temporalización orientativa", "block_index": 21, "fragment": 0}, {"source": "teacher", "heading": "Temporalización orientativa", "block_index": 21, "fragment": 0}, {"source": "teacher", "heading": "Temporalización orientativa", "block_index": 21, "fragment": 0}, {"source": "teacher", "heading": "Temporalización orientativa", "block_index": 21, "fragment": 0}, {"source": "teacher", "heading": "Temporalización orientativa", "block_index": 21, "fragment": 0}, {"source": "teacher", "heading": "Temporalización orientativa", "block_index": 21, "fragment": 0}, {"source": "teacher", "heading": "Temporalización orientativa", "block_index": 21, "fragment": 0}], "visible_sources": [], "notes_sources": [{"function": "preparation", "heading": "Antes de entrar en clase", "sha256": "ebcca77a32d020eeb2dacf48283e3f6e01dbef6e32bc37a3d2a829785f75151c"}, {"function": "explanations", "heading": "Apertura docente", "sha256": "32cbb33b259f2fb700ae540b0a1f820f85b63bd3ffb204808465e977068b47fa"}, {"function": "explanations", "heading": "Apertura docente", "sha256": "df9acf2e0cc9e2f7147f4ae4b90b1e1f9eeda1377e5dbfd9739ecfa79384031d"}, {"function": "explanations", "heading": "Apertura docente", "sha256": "8addb4273b1bfd990ae0e9d6337d27707ff1bddb270b841daa85755d92644c70"}, {"function": "explanations", "heading": "Apertura docente", "sha256": "961a36ac1093894fee007ef1fca1e4742fada4cd15b2c78a5cc5f7df8caa61e0"}, {"function": "other", "heading": "Recorrido: del código a la consola", "sha256": "0d9c3e4775bac50b090d4df419f4ef16cc548ea4f8d927e75401bd02e5130810"}, {"function": "other", "heading": "Commit descriptivo, solo cuando proceda", "sha256": "5a6ca80cbfc4186ae1375540ed9469217f69a44c455401deb01304e372fdbca7"}, {"function": "other", "heading": "Commit descriptivo, solo cuando proceda", "sha256": "6a56ac6ae35902262a9926c919106408e1965f94a85592500bd9dfaab0278042"}, {"function": "other", "heading": "Commit descriptivo, solo cuando proceda", "sha256": "f45ba2ff941a315e979adb5dd8ad3a187cdfbe65e023ed7a44f4af5b100200e8"}, {"function": "other", "heading": "Commit descriptivo, solo cuando proceda", "sha256": "7d9b74cbb798b8050763126fb35514f9d17e72625aca92997c55ccd4f81d7ce7"}, {"function": "other", "heading": "Commit descriptivo, solo cuando proceda", "sha256": "7adcdecd16cff6d424969dc28af57fd713cc9bf1ba23d8d394ed949e70f0fe25"}, {"function": "observation", "heading": "Observación docente", "sha256": "306061df28881112c6c3719132c7590f21c72459264bec90d211da23ddc37d9e"}, {"function": "observation", "heading": "Observación docente", "sha256": "736eed518edced0eeffb3f1f8c9da1b49e45c97226706a69fb2af669373613e1"}, {"function": "scaffolding", "heading": "Andamiaje ante bloqueos", "sha256": "15118420a5179523462ea9f28b974e4a1a48aae0549e7abb3957998bee450146"}, {"function": "scaffolding", "heading": "Andamiaje ante bloqueos", "sha256": "0f5d5f918e8d9b235136ce3534cd9cd14caf410233e4ee2b8297a4e18a4b3532"}, {"function": "other", "heading": "Límite respecto a S208", "sha256": "a02a40678ae4066ec22ddf03836f856e9a7dce1f0bdb4da69fae704f01411ba8"}, {"function": "timeline", "heading": "Temporalización orientativa", "sha256": "f17a9a9661907f57cc397914ab50de03341169ef72bccb5458fde01c83e96795"}, {"function": "timeline", "heading": "Temporalización orientativa", "sha256": "7aa791515d701d084fe45d51473c677cdace645515b8ef2e6aee5a982afaee09"}, {"function": "timeline", "heading": "Temporalización orientativa", "sha256": "532a3c528e246ea19afef2084d71e3a82c2a3aca3de632dc12f77d45e49d264a"}, {"function": "timeline", "heading": "Temporalización orientativa", "sha256": "04330f0b3b8526f22f32e0063ef53a78863c53faa3a7a41e39cd5b3b1947805a"}, {"function": "timeline", "heading": "Temporalización orientativa", "sha256": "2be1ed71ff28079a8c75edd390cdac12c467fa8b8dca157037a88445b81aba06"}, {"function": "timeline", "heading": "Temporalización orientativa", "sha256": "1b0993d1481e41ed5fd124419567d53d5d5d8c2c3805ce12de584bfa4097daff"}, {"function": "timeline", "heading": "Temporalización orientativa", "sha256": "c474454b888eeabd0add55b9e8843caf24605e18f3340fe5e6d80ba441145b6c"}, {"function": "facilitation", "heading": "Finalidad de la sesión", "sha256": "c0c3bd6cef015401b8cedccb833dc8b32c855607bc4908c14927ba2865dcf918"}], "relations": {"source_supports_enriched": true}, "timeline_refs": [0], "composition": {"origin_slides": [1]},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Portada limitada a la apertura inicial: las referencias timeline presenter-only no convierten la portada en soporte de todos los tramos.", "source_time": "0–5 min", "source_seconds": 300, "is_owner": false, "function": "explanations"}], "clock_intervals": [0], "presenter_notes": "Reloj fuente 0–5 min: duración compartida 300 segundos. Trabajo: Localizar proyecto, Main.java, editor y consola. Función del soporte: apoyo al trabajo.", "shared_intervals": [{"source_index": 0, "source_time": "0–5 min", "seconds": 300, "is_owner": false, "function": "explanations", "action": "Localizar proyecto, Main.java, editor y consola.", "concurrent": false, "parallel_work": ""}]}, "code_blocks": [], "representation_needs": []}</ns0:renderMetadata>
    </p:ext>
  </p:extLs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Finalidad de la sesión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código fuente → compilación → ejecución → consola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66722"/>
            <a:ext cx="10881360" cy="21203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La meta no es aprender a pulsar Run, sino localizar el código, anticipar el resultado, ejecutar, comprobar la consola y explicar por qué la salida demuestra que el programa se ha puesto en marcha.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"code", "plan_index": 0, "recognition": false, "unit_ids": ["unit-0"], "roles": {"unit-0": "core"}, "source_refs": [{"source": "teacher", "heading": "Finalidad de la sesión", "block_index": 0, "fragment": 0}], "visible_sources": [{"index": 1, "sha256": "1917eee587dde9e47ee39780c22d3e1ea60149c9ca8533ed9e851fd1304fc78d"}, {"index": 2, "sha256": "9ed03952197e5a4a54e86d6feaf9c45d0402dc9dc27384f9f3d9887e6cfd57b1"}], "notes_sources": [], "relations": {"unit_relations": {"unit-0": {}}, "schedule": null, "source_supports_enriched": true}, "timeline_refs": [0], "composition": {"origin_slides": [2]}, "timing": {"seconds": 300, "allocations": [{"source_index": 0, "seconds": 300, "decision": "Intervalo compartido íntegro; propietario contable seleccionado por función de actividad y referencia timeline de unidad (identidad semántica en empates). Propietario. ", "source_time": "0–5 min", "source_seconds": 300, "is_owner": true, "function": "explanations"}], "clock_intervals": [0], "presenter_notes": "Reloj fuente 0–5 min: duración compartida 300 segundos. Trabajo: Localizar proyecto, Main.java, editor y consola. Función del soporte: apoyo al trabajo.", "shared_intervals": [{"source_index": 0, "source_time": "0–5 min", "seconds": 300, "is_owner": true, "function": "explanations", "action": "Localizar proyecto, Main.java, editor y consola.", "concurrent": false, "parallel_work": ""}]}, "code_blocks": [], "representation_needs": []}</ns0:renderMetadata>
    </p:ext>
  </p:extLs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4. Consola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La consola muestra la salida que el programa produce durante la ejecución y también puede mostrar diagnósticos.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846832"/>
            <a:ext cx="10881360" cy="17292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etapa estamos observando cuando editamos Main.java, cuál ocurre antes de ejecutar y qué resultado visible esperamos encontrar en la consola?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"concept", "plan_index": 1, "recognition": false, "unit_ids": ["unit-7"], "roles": {"unit-7": "unknown"}, "source_refs": [{"source": "teacher", "heading": "4. Consola", "block_index": 7, "fragment": 0}, {"source": "teacher", "heading": "Recorrido: del código a la consola", "block_index": 3, "fragment": 0}], "visible_sources": [{"index": 0, "sha256": "e22d63e00ff2c51d237666651160d9fb49b05f483189ed95400faad741a2aac0"}, {"index": 1, "sha256": "7501c534bd31f23554e7add5b70f7bb06405f6d9586f6f6299fd42acdd472b24"}], "notes_sources": [{"function": "other", "heading": "4. Consola", "sha256": "b8f5dcb07c3b05ac24b4416964667df406af849935aabc39a9920eb95684013e"}, {"function": "visible_detail", "heading": "4. Consola", "sha256": "e22d63e00ff2c51d237666651160d9fb49b05f483189ed95400faad741a2aac0"}], "relations": {"unit_relations": {"unit-7": {"question_context": ["context", "question"]}}, "schedule": null, "source_supports_enriched": true}, "timeline_refs": [0], "composition": {"origin_slides": [3]},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", "source_time": "0–5 min", "source_seconds": 300, "is_owner": false, "function": "other"}], "clock_intervals": [0], "presenter_notes": "Reloj fuente 0–5 min: duración compartida 300 segundos. Trabajo: Localizar proyecto, Main.java, editor y consola. Función del soporte: apoyo al trabajo.", "shared_intervals": [{"source_index": 0, "source_time": "0–5 min", "seconds": 300, "is_owner": false, "function": "other", "action": "Localizar proyecto, Main.java, editor y consola.", "concurrent": false, "parallel_work": ""}]}, "code_blocks": [], "representation_needs": []}</ns0:renderMetadata>
    </p:ext>
  </p:extLs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JDK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El JDK aporta las herramientas necesarias para compilar y ejecutar Java en el nivel trabajado.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"concept", "plan_index": 2, "recognition": false, "unit_ids": ["unit-8"], "roles": {"unit-8": "unknown"}, "source_refs": [{"source": "teacher", "heading": "JDK", "block_index": 9, "fragment": 0}, {"source": "teacher", "heading": "JDK, IDE y proyecto", "block_index": 8, "fragment": 0}], "visible_sources": [{"index": 0, "sha256": "fea7277191e6c1af45a9249f7083dfbbe1bdd2f367fc411e23c84913b6e395f1"}], "notes_sources": [{"function": "visible_detail", "heading": "JDK", "sha256": "fea7277191e6c1af45a9249f7083dfbbe1bdd2f367fc411e23c84913b6e395f1"}], "relations": {"unit_relations": {"unit-8": {}}, "schedule": null, "source_supports_enriched": true}, "timeline_refs": [0], "composition": {"origin_slides": [4]},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", "source_time": "0–5 min", "source_seconds": 300, "is_owner": false, "function": "other"}], "clock_intervals": [0], "presenter_notes": "Reloj fuente 0–5 min: duración compartida 300 segundos. Trabajo: Localizar proyecto, Main.java, editor y consola. Función del soporte: apoyo al trabajo.", "shared_intervals": [{"source_index": 0, "source_time": "0–5 min", "seconds": 300, "is_owner": false, "function": "other", "action": "Localizar proyecto, Main.java, editor y consola.", "concurrent": false, "parallel_work": ""}]}, "code_blocks": [], "representation_needs": []}</ns0:renderMetadata>
    </p:ext>
  </p:extLs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IntelliJ / IDE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72923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IntelliJ organiza el trabajo: muestra archivos, ofrece el editor, utiliza el JDK configurado, permite solicitar la ejecución y presenta consola y diagnósticos.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"concept", "plan_index": 2, "recognition": false, "unit_ids": ["unit-9"], "roles": {"unit-9": "unknown"}, "source_refs": [{"source": "teacher", "heading": "IntelliJ / IDE", "block_index": 10, "fragment": 0}, {"source": "teacher", "heading": "JDK, IDE y proyecto", "block_index": 8, "fragment": 0}], "visible_sources": [{"index": 1, "sha256": "8d2f0579a81c8375f8226d385754c1a462e1b28dac6e4ef950d1d88dbe318fc3"}], "notes_sources": [{"function": "visible_detail", "heading": "IntelliJ / IDE", "sha256": "8d2f0579a81c8375f8226d385754c1a462e1b28dac6e4ef950d1d88dbe318fc3"}], "relations": {"unit_relations": {"unit-9": {}}, "schedule": null, "source_supports_enriched": true}, "timeline_refs": [0], "composition": {"origin_slides": [5]},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", "source_time": "0–5 min", "source_seconds": 300, "is_owner": false, "function": "other"}], "clock_intervals": [0], "presenter_notes": "Reloj fuente 0–5 min: duración compartida 300 segundos. Trabajo: Localizar proyecto, Main.java, editor y consola. Función del soporte: apoyo al trabajo.", "shared_intervals": [{"source_index": 0, "source_time": "0–5 min", "seconds": 300, "is_owner": false, "function": "other", "action": "Localizar proyecto, Main.java, editor y consola.", "concurrent": false, "parallel_work": ""}]}, "code_blocks": [], "representation_needs": []}</ns0:renderMetadata>
    </p:ext>
  </p:extLs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Proyecto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El proyecto reúne los archivos y la configuración con la que se compila y ejecuta.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455672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problema de código: una regla escrita en Main.java impide compilar o produce un resultado inesperado;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885184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problema de configuración: el proyecto no tiene disponible o correctamente asociado el JDK necesario.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"concept", "plan_index": 2, "recognition": false, "unit_ids": ["unit-10"], "roles": {"unit-10": "unknown"}, "source_refs": [{"source": "teacher", "heading": "Proyecto", "block_index": 11, "fragment": 0}, {"source": "teacher", "heading": "JDK, IDE y proyecto", "block_index": 8, "fragment": 0}], "visible_sources": [{"index": 2, "sha256": "bcd5d0cf5fde79a7606b859aec1bb896ebf3f1ce73d6ac462aa557800a3a4ea4"}, {"index": 4, "sha256": "f33e5ef18ec8871ce84b1caf55991f90596f1e3daf38d1d2a90bd5f6b35e8028"}], "notes_sources": [{"function": "visible_detail", "heading": "Proyecto", "sha256": "bcd5d0cf5fde79a7606b859aec1bb896ebf3f1ce73d6ac462aa557800a3a4ea4"}, {"function": "facilitation", "heading": "Proyecto", "sha256": "6ef8e94c93fd11d4309514ab66bd9a800fc0ddf3dd7548a49634ddf6f9ac17d5"}, {"function": "visible_detail", "heading": "Proyecto", "sha256": "0a1ef29ccb5102e51572a992a19a4d624378ed8ee40bcdd05937e78760fa85bc"}], "relations": {"unit_relations": {"unit-10": {}}, "schedule": null, "source_supports_enriched": true}, "timeline_refs": [0], "composition": {"origin_slides": [6, 7]},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", "source_time": "0–5 min", "source_seconds": 300, "is_owner": false, "function": "other"}], "clock_intervals": [0], "presenter_notes": "Reloj fuente 0–5 min: duración compartida 300 segundos. Trabajo: Localizar proyecto, Main.java, editor y consola. Función del soporte: apoyo al trabajo.", "shared_intervals": [{"source_index": 0, "source_time": "0–5 min", "seconds": 300, "is_owner": false, "function": "other", "action": "Localizar proyecto, Main.java, editor y consola.", "concurrent": false, "parallel_work": ""}]}, "code_blocks": [], "representation_needs": []}</ns0:renderMetadata>
    </p:ext>
  </p:extLs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Proyecto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El alumnado no debe resolver configuraciones complejas todavía.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"concept", "plan_index": 2, "recognition": false, "unit_ids": ["unit-10"], "roles": {"unit-10": "unknown"}, "source_refs": [{"source": "teacher", "heading": "Proyecto", "block_index": 11, "fragment": 0}, {"source": "teacher", "heading": "JDK, IDE y proyecto", "block_index": 8, "fragment": 0}], "visible_sources": [{"index": 5, "sha256": "0a1ef29ccb5102e51572a992a19a4d624378ed8ee40bcdd05937e78760fa85bc"}], "notes_sources": [{"function": "visible_detail", "heading": "Proyecto", "sha256": "bcd5d0cf5fde79a7606b859aec1bb896ebf3f1ce73d6ac462aa557800a3a4ea4"}, {"function": "facilitation", "heading": "Proyecto", "sha256": "6ef8e94c93fd11d4309514ab66bd9a800fc0ddf3dd7548a49634ddf6f9ac17d5"}, {"function": "visible_detail", "heading": "Proyecto", "sha256": "0a1ef29ccb5102e51572a992a19a4d624378ed8ee40bcdd05937e78760fa85bc"}], "relations": {"unit_relations": {"unit-10": {}}, "schedule": null, "source_supports_enriched": true}, "timeline_refs": [0], "composition": {"origin_slides": [6, 7]},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", "source_time": "0–5 min", "source_seconds": 300, "is_owner": false, "function": "other"}], "clock_intervals": [0], "presenter_notes": "Reloj fuente 0–5 min: duración compartida 300 segundos. Trabajo: Localizar proyecto, Main.java, editor y consola. Función del soporte: apoyo al trabajo.", "shared_intervals": [{"source_index": 0, "source_time": "0–5 min", "seconds": 300, "is_owner": false, "function": "other", "action": "Localizar proyecto, Main.java, editor y consola.", "concurrent": false, "parallel_work": ""}]}, "code_blocks": [], "representation_needs": []}</ns0:renderMetadata>
    </p:ext>
  </p:extLs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1. Código fuente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Es el programa escrito por una persona en un archivo como Main.java.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455672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¿En qué archivo está el programa que vamos a ejecutar y dónde aparece ese archivo dentro del proyecto?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"concept", "plan_index": 3, "recognition": false, "unit_ids": ["unit-4"], "roles": {"unit-4": "unknown"}, "source_refs": [{"source": "teacher", "heading": "1. Código fuente", "block_index": 4, "fragment": 0}, {"source": "teacher", "heading": "Recorrido: del código a la consola", "block_index": 3, "fragment": 0}], "visible_sources": [{"index": 0, "sha256": "88afc5a72c22c9e2a87c6e7d51c4962e2234135dca808cc3d574dc4e9a975d20"}, {"index": 1, "sha256": "6b16fb0e53b62d10e34f206dc64f0b09855cf280078ec4317a8b34805a8e4e97"}], "notes_sources": [{"function": "other", "heading": "1. Código fuente", "sha256": "df9acf2e0cc9e2f7147f4ae4b90b1e1f9eeda1377e5dbfd9739ecfa79384031d"}, {"function": "visible_detail", "heading": "1. Código fuente", "sha256": "88afc5a72c22c9e2a87c6e7d51c4962e2234135dca808cc3d574dc4e9a975d20"}], "relations": {"unit_relations": {"unit-4": {"question_context": ["context", "question"]}}, "schedule": null, "source_supports_enriched": true}, "timeline_refs": [1], "composition": {"origin_slides": [8]}, "timing": {"seconds": 420, "allocations": [{"source_index": 1, "seconds": 420, "decision": "Intervalo compartido íntegro; propietario contable seleccionado por función de actividad y referencia timeline de unidad (identidad semántica en empates). Propietario. ", "source_time": "5–12 min", "source_seconds": 420, "is_owner": true, "function": "other"}], "clock_intervals": [1], "presenter_notes": "Reloj fuente 5–12 min: duración compartida 420 segundos. Trabajo: Explicar código fuente → compilación → ejecución → consola y el papel de JDK, IDE y proyecto. Función del soporte: apoyo al trabajo.", "shared_intervals": [{"source_index": 1, "source_time": "5–12 min", "seconds": 420, "is_owner": true, "function": "other", "action": "Explicar código fuente → compilación → ejecución → consola y el papel de JDK, IDE y proyecto.", "concurrent": false, "parallel_work": ""}]}, "code_blocks": [], "representation_needs": []}</ns0:renderMetadata>
    </p:ext>
  </p:extLs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2. Compilación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Antes de ejecutar, las herramientas del JDK comprueban y traducen el código fuente a una forma que Java puede poner en marcha.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846832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En este nivel no es necesario desarrollar el funcionamiento interno de la JVM o de una toolchain.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"concept", "plan_index": 3, "recognition": false, "unit_ids": ["unit-5"], "roles": {"unit-5": "unknown"}, "source_refs": [{"source": "teacher", "heading": "2. Compilación", "block_index": 5, "fragment": 0}, {"source": "teacher", "heading": "Recorrido: del código a la consola", "block_index": 3, "fragment": 0}], "visible_sources": [{"index": 2, "sha256": "064426046b5edf8835420d3e29051c235cee1fd3203b56f863b7ddba19610550"}, {"index": 3, "sha256": "242a48312bb7822cdd839a8411e4b10824d250b7e4a4af34777e09ca82af4bb5"}], "notes_sources": [{"function": "visible_detail", "heading": "2. Compilación", "sha256": "064426046b5edf8835420d3e29051c235cee1fd3203b56f863b7ddba19610550"}, {"function": "visible_detail", "heading": "2. Compilación", "sha256": "242a48312bb7822cdd839a8411e4b10824d250b7e4a4af34777e09ca82af4bb5"}], "relations": {"unit_relations": {"unit-5": {}}, "schedule": null, "source_supports_enriched": true}, "timeline_refs": [1], "composition": {"origin_slides": [9]},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"5–12 min", "source_seconds": 420, "is_owner": false, "function": "other"}], "clock_intervals": [1], "presenter_notes": "Reloj fuente 5–12 min: duración compartida 420 segundos. Trabajo: Explicar código fuente → compilación → ejecución → consola y el papel de JDK, IDE y proyecto. Función del soporte: apoyo al trabajo.", "shared_intervals": [{"source_index": 1, "source_time": "5–12 min", "seconds": 420, "is_owner": false, "function": "other", "action": "Explicar código fuente → compilación → ejecución → consola y el papel de JDK, IDE y proyecto.", "concurrent": false, "parallel_work": ""}]}, "code_blocks": [], "representation_needs": []}</ns0:renderMetadata>
    </p:ext>
  </p:extLs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3. Ejecución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Si la compilación permite continuar y el proyecto está configurado, Java pone en marcha el programa.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846832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La acción de pulsar Run solicita este proceso; no garantiza por sí sola que haya terminado correctamente.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"concept", "plan_index": 3, "recognition": false, "unit_ids": ["unit-6"], "roles": {"unit-6": "unknown"}, "source_refs": [{"source": "teacher", "heading": "3. Ejecución", "block_index": 6, "fragment": 0}, {"source": "teacher", "heading": "Recorrido: del código a la consola", "block_index": 3, "fragment": 0}], "visible_sources": [{"index": 4, "sha256": "d2045616a49a8f1fedfbd6653a5388c882aac7050b34738ec0c3d2c4c142e4e0"}, {"index": 5, "sha256": "c8e46ca4e9ee0fac023b0a2996b9e2e3415e77fbb70a33aff084aa34ef5f252a"}], "notes_sources": [{"function": "visible_detail", "heading": "3. Ejecución", "sha256": "d2045616a49a8f1fedfbd6653a5388c882aac7050b34738ec0c3d2c4c142e4e0"}], "relations": {"unit_relations": {"unit-6": {}}, "schedule": null, "source_supports_enriched": true}, "timeline_refs": [1], "composition": {"origin_slides": [10]},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"5–12 min", "source_seconds": 420, "is_owner": false, "function": "other"}], "clock_intervals": [1], "presenter_notes": "Reloj fuente 5–12 min: duración compartida 420 segundos. Trabajo: Explicar código fuente → compilación → ejecución → consola y el papel de JDK, IDE y proyecto. Función del soporte: apoyo al trabajo.", "shared_intervals": [{"source_index": 1, "source_time": "5–12 min", "seconds": 420, "is_owner": false, "function": "other", "action": "Explicar código fuente → compilación → ejecución → consola y el papel de JDK, IDE y proyecto.", "concurrent": false, "parallel_work": ""}]}, "code_blocks": [], "representation_needs": []}</ns0:renderMetadata>
    </p:ext>
  </p:extLs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Programa mínimo y salida esperada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63144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public class Main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public static void main(String[] argumentos)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System.out.println("MiniJarvis arranca");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}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}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3140202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MiniJarvis arranca</a:t>
            </a:r>
          </a:p>
        </p:txBody>
      </p:sp>
      <p:sp>
        <p:nvSpPr>
          <p:cNvPr id="7" name="Acción o criterio 0" descr="Acción o criterio 0"/>
          <p:cNvSpPr txBox="1"/>
          <p:nvPr/>
        </p:nvSpPr>
        <p:spPr>
          <a:xfrm>
            <a:off x="640080" y="36896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dónde está el código fuente;</a:t>
            </a:r>
          </a:p>
        </p:txBody>
      </p:sp>
      <p:sp>
        <p:nvSpPr>
          <p:cNvPr id="8" name="Acción o criterio 1" descr="Acción o criterio 1"/>
          <p:cNvSpPr txBox="1"/>
          <p:nvPr/>
        </p:nvSpPr>
        <p:spPr>
          <a:xfrm>
            <a:off x="6080760" y="36896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qué instrucción producirá salida;</a:t>
            </a:r>
          </a:p>
        </p:txBody>
      </p:sp>
      <p:sp>
        <p:nvSpPr>
          <p:cNvPr id="9" name="Acción o criterio 2" descr="Acción o criterio 2"/>
          <p:cNvSpPr txBox="1"/>
          <p:nvPr/>
        </p:nvSpPr>
        <p:spPr>
          <a:xfrm>
            <a:off x="640080" y="46161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qué texto espera ver exactamente;</a:t>
            </a:r>
          </a:p>
        </p:txBody>
      </p:sp>
      <p:sp>
        <p:nvSpPr>
          <p:cNvPr id="10" name="Acción o criterio 3" descr="Acción o criterio 3"/>
          <p:cNvSpPr txBox="1"/>
          <p:nvPr/>
        </p:nvSpPr>
        <p:spPr>
          <a:xfrm>
            <a:off x="6080760" y="46161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dónde buscará ese texto.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"code", "plan_index": 4, "recognition": false, "unit_ids": ["unit-11"], "roles": {"unit-11": "unknown"}, "source_refs": [{"source": "teacher", "heading": "Programa mínimo y salida esperada", "block_index": 12, "fragment": 0}], "visible_sources": [{"index": 0, "sha256": "9189c576f72c54c2e35dc40788c1a7edb93ee44512455a5928b6860d03007d52"}, {"index": 2, "sha256": "acf41294060458c3cae97b94f829c46730f7b78ed8aabca20f6d12b994ac256a"}, {"index": 4, "sha256": "967a861b810afb603ec0c9e3ac7bb55e4056ddae31b6b475e2c83f391325eee8"}], "notes_sources": [{"function": "other", "heading": "Programa mínimo y salida esperada", "sha256": "35749afbf4a9867a81116c07538d2215d43d5c820e564acaf4ab68c6fe5f5c9e"}, {"function": "facilitation", "heading": "Programa mínimo y salida esperada", "sha256": "13b08d70dd51a2c82b32fb4b56c5b2f26f529e06ac92b7318e8c68b204fd2f2f"}, {"function": "facilitation", "heading": "Programa mínimo y salida esperada", "sha256": "974f6d8a7b9c4ab2c2f4cbb9cdd07a7c18898b8988ea4596d3e794dadb7d4da0"}, {"function": "visible_detail", "heading": "Programa mínimo y salida esperada", "sha256": "f04c6914cbff598ec1d0c8f247afbce0261a65c1fdc1e2bd8602121de1504fca"}], "relations": {"unit_relations": {"unit-11": {}}, "schedule": null, "source_supports_enriched": true}, "timeline_refs": [2], "composition": {"origin_slides": [11, 12]}, "timing": {"seconds": 360, "allocations": [{"source_index": 2, "seconds": 360, "decision": "Intervalo compartido íntegro; propietario contable seleccionado por función de actividad y referencia timeline de unidad (identidad semántica en empates). Propietario. ", "source_time": "12–18 min", "source_seconds": 360, "is_owner": true, "function": "other"}], "clock_intervals": [2], "presenter_notes": "Reloj fuente 12–18 min: duración compartida 360 segundos. Trabajo: Leer el programa mínimo, modificar solo el mensaje y formular la predicción individual. Función del soporte: apoyo al trabajo.", "shared_intervals": [{"source_index": 2, "source_time": "12–18 min", "seconds": 360, "is_owner": true, "function": "other", "action": "Leer el programa mínimo, modificar solo el mensaje y formular la predicción individual.", "concurrent": false, "parallel_work": ""}]}, "code_blocks": ["public class Main {\n    public static void main(String[] argumentos) {\n        System.out.println(\"MiniJarvis arranca\");\n    }\n}"], "representation_needs": []}</ns0:renderMetadata>
    </p:ext>
  </p:extLs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Programa mínimo y salida esperada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desarrolles aún toda la estructura de clase, delimitadores o identificadores.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"code", "plan_index": 4, "recognition": false, "unit_ids": ["unit-11"], "roles": {"unit-11": "unknown"}, "source_refs": [{"source": "teacher", "heading": "Programa mínimo y salida esperada", "block_index": 12, "fragment": 0}], "visible_sources": [{"index": 5, "sha256": "f04c6914cbff598ec1d0c8f247afbce0261a65c1fdc1e2bd8602121de1504fca"}], "notes_sources": [{"function": "other", "heading": "Programa mínimo y salida esperada", "sha256": "35749afbf4a9867a81116c07538d2215d43d5c820e564acaf4ab68c6fe5f5c9e"}, {"function": "facilitation", "heading": "Programa mínimo y salida esperada", "sha256": "13b08d70dd51a2c82b32fb4b56c5b2f26f529e06ac92b7318e8c68b204fd2f2f"}, {"function": "facilitation", "heading": "Programa mínimo y salida esperada", "sha256": "974f6d8a7b9c4ab2c2f4cbb9cdd07a7c18898b8988ea4596d3e794dadb7d4da0"}, {"function": "visible_detail", "heading": "Programa mínimo y salida esperada", "sha256": "f04c6914cbff598ec1d0c8f247afbce0261a65c1fdc1e2bd8602121de1504fca"}], "relations": {"unit_relations": {"unit-11": {}}, "schedule": null, "source_supports_enriched": true}, "timeline_refs": [2], "composition": {"origin_slides": [11, 12]},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"12–18 min", "source_seconds": 360, "is_owner": false, "function": "other"}], "clock_intervals": [2], "presenter_notes": "Reloj fuente 12–18 min: duración compartida 360 segundos. Trabajo: Leer el programa mínimo, modificar solo el mensaje y formular la predicción individual. Función del soporte: apoyo al trabajo.", "shared_intervals": [{"source_index": 2, "source_time": "12–18 min", "seconds": 360, "is_owner": false, "function": "other", "action": "Leer el programa mínimo, modificar solo el mensaje y formular la predicción individual.", "concurrent": false, "parallel_work": ""}]}, "code_blocks": [], "representation_needs": []}</ns0:renderMetadata>
    </p:ext>
  </p:extLs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Actividad central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localizar → leer → modificar únicamente el mensaje → predecir → ejecutar → comprobar → explicar → provocar un error → diagnosticar → formular una hipótesis → corregir → volver a ejecutar → contrastar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"code", "plan_index": 5, "recognition": false, "unit_ids": ["unit-12"], "roles": {"unit-12": "core"}, "source_refs": [{"source": "teacher", "heading": "Actividad central", "block_index": 13, "fragment": 0}], "visible_sources": [{"index": 1, "sha256": "973d8910527226fda5c923d020b3bea05c6fe1ef27be05bb3f4ced152b4182b0"}], "notes_sources": [{"function": "facilitation", "heading": "Actividad central", "sha256": "ae6c3812f2ecf0f8806da1fce293aaf26c4c57b420d793655d2197e9291e43b9"}], "relations": {"unit_relations": {"unit-12": {}}, "schedule": null, "source_supports_enriched": true}, "timeline_refs": [3, 4], "composition": {"origin_slides": [13]},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"18–25 min", "source_seconds": 420, "is_owner": false, "function": "activity"}, {"source_index": 4, "seconds": 0, "decision": "Intervalo compartido íntegro; propietario contable seleccionado por función de actividad y referencia timeline de unidad (identidad semántica en empates). Soporte, sin duplicación contable. ", "source_time": "25–33 min", "source_seconds": 480, "is_owner": false, "function": "activity"}], "clock_intervals": [3, 4], "presenter_notes": "Reloj fuente 18–25 min: duración compartida 420 segundos. Trabajo: Realizar y comprobar la primera ejecución individual. Función del soporte: actividad. Reloj fuente 25–33 min: duración compartida 480 segundos. Trabajo: Provocar un error simple, leer el diagnóstico, formular una hipótesis y corregir. Función del soporte: actividad.", "shared_intervals": [{"source_index": 3, "source_time": "18–25 min", "seconds": 420, "is_owner": false, "function": "activity", "action": "Realizar y comprobar la primera ejecución individual.", "concurrent": false, "parallel_work": ""}, {"source_index": 4, "source_time": "25–33 min", "seconds": 480, "is_owner": false, "function": "activity", "action": "Provocar un error simple, leer el diagnóstico, formular una hipótesis y corregir.", "concurrent": false, "parallel_work": ""}]}, "code_blocks": [], "representation_needs": []}</ns0:renderMetadata>
    </p:ext>
  </p:extLs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Primera ejecución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localiza el proyecto;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encuentra Main.java;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2579116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lee el programa mínimo;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2579116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modifica únicamente el mensaje de println y utiliza un texto ficticio distinto al ejemplo;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"activity", "plan_index": 5, "recognition": false, "unit_ids": ["unit-13"], "roles": {"unit-13": "core"}, "source_refs": [{"source": "teacher", "heading": "Primera ejecución — INDIVIDUAL", "block_index": 14, "fragment": 0}, {"source": "teacher", "heading": "Actividad central", "block_index": 13, "fragment": 0}], "visible_sources": [{"index": 3, "sha256": "97f5d536aa9c75a6049801975e057df0690656f3f909301bb8b6abd0bd2e6328"}], "notes_sources": [{"function": "facilitation", "heading": "Primera ejecución — INDIVIDUAL", "sha256": "31b072800cbb02c8752173d229040fe1169845ad93d3ba16fb328d6c7baadc6f"}, {"function": "facilitation", "heading": "Primera ejecución — INDIVIDUAL", "sha256": "4bae943e29a47f583a1ea14dcc0533ef86224da64caf5f2008a6e2105d803893"}, {"function": "facilitation", "heading": "Primera ejecución — INDIVIDUAL", "sha256": "16b0b04e329c61729e82f890478ad7895f1504eeeb6590e9ad302f76b144eb93"}], "relations": {"unit_relations": {"unit-13": {}}, "schedule": null, "source_supports_enriched": true}, "timeline_refs": [3], "composition": {"origin_slides": [14, 15]}, "timing": {"seconds": 420, "allocations": [{"source_index": 3, "seconds": 420, "decision": "Intervalo compartido íntegro; propietario contable seleccionado por función de actividad y referencia timeline de unidad (identidad semántica en empates). Propietario. ", "source_time": "18–25 min", "source_seconds": 420, "is_owner": true, "function": "activity"}], "clock_intervals": [3], "presenter_notes": "Reloj fuente 18–25 min: duración compartida 420 segundos. Trabajo: Realizar y comprobar la primera ejecución individual. Función del soporte: actividad.", "shared_intervals": [{"source_index": 3, "source_time": "18–25 min", "seconds": 420, "is_owner": true, "function": "activity", "action": "Realizar y comprobar la primera ejecución individual.", "concurrent": false, "parallel_work": ""}]}, "code_blocks": [], "representation_needs": []}</ns0:renderMetadata>
    </p:ext>
  </p:extLs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Primera ejecución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expresa o anota qué espera ver en consola;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ejecuta;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291439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compara predicción y resultado;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291439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explica qué archivo se ejecutó y qué salida apareció.</a:t>
            </a:r>
          </a:p>
        </p:txBody>
      </p:sp>
      <p:sp>
        <p:nvSpPr>
          <p:cNvPr id="10" name="Contenido" descr="Contenido"/>
          <p:cNvSpPr txBox="1"/>
          <p:nvPr/>
        </p:nvSpPr>
        <p:spPr>
          <a:xfrm>
            <a:off x="640080" y="4176268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La predicción es una actividad pedagógica, no una fila de diario ni un entregable.</a:t>
            </a:r>
          </a:p>
        </p:txBody>
      </p:sp>
      <p:sp>
        <p:nvSpPr>
          <p:cNvPr id="11" name="Contenido" descr="Contenido"/>
          <p:cNvSpPr txBox="1"/>
          <p:nvPr/>
        </p:nvSpPr>
        <p:spPr>
          <a:xfrm>
            <a:off x="640080" y="5214620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Funciona.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"activity", "plan_index": 5, "recognition": false, "unit_ids": ["unit-13"], "roles": {"unit-13": "core"}, "source_refs": [{"source": "teacher", "heading": "Primera ejecución — INDIVIDUAL", "block_index": 14, "fragment": 0}, {"source": "teacher", "heading": "Actividad central", "block_index": 13, "fragment": 0}], "visible_sources": [{"index": 3, "sha256": "97f5d536aa9c75a6049801975e057df0690656f3f909301bb8b6abd0bd2e6328"}, {"index": 4, "sha256": "4cd3169ed043edce8c50fdb524b00240ae581e38998486a2649ec142fa2089bc"}, {"index": 6, "sha256": "0a8ae7c42b0f6f91a1203a7153d50d752c9659c9c49a673dbf7bde9eccfd5dfb"}], "notes_sources": [{"function": "facilitation", "heading": "Primera ejecución — INDIVIDUAL", "sha256": "31b072800cbb02c8752173d229040fe1169845ad93d3ba16fb328d6c7baadc6f"}, {"function": "facilitation", "heading": "Primera ejecución — INDIVIDUAL", "sha256": "4bae943e29a47f583a1ea14dcc0533ef86224da64caf5f2008a6e2105d803893"}, {"function": "facilitation", "heading": "Primera ejecución — INDIVIDUAL", "sha256": "16b0b04e329c61729e82f890478ad7895f1504eeeb6590e9ad302f76b144eb93"}], "relations": {"unit_relations": {"unit-13": {}}, "schedule": null, "source_supports_enriched": true}, "timeline_refs": [3], "composition": {"origin_slides": [14, 15]},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"18–25 min", "source_seconds": 420, "is_owner": false, "function": "activity"}], "clock_intervals": [3], "presenter_notes": "Reloj fuente 18–25 min: duración compartida 420 segundos. Trabajo: Realizar y comprobar la primera ejecución individual. Función del soporte: actividad.", "shared_intervals": [{"source_index": 3, "source_time": "18–25 min", "seconds": 420, "is_owner": false, "function": "activity", "action": "Realizar y comprobar la primera ejecución individual.", "concurrent": false, "parallel_work": ""}]}, "code_blocks": [], "representation_needs": []}</ns0:renderMetadata>
    </p:ext>
  </p:extLs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Primera ejecución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qué se ejecutó;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qué salida se esperaba;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257911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qué salida apareció;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257911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por qué la coincidencia demuestra que se produjo la ejecución.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"activity", "plan_index": 5, "recognition": false, "unit_ids": ["unit-13"], "roles": {"unit-13": "core"}, "source_refs": [{"source": "teacher", "heading": "Primera ejecución — INDIVIDUAL", "block_index": 14, "fragment": 0}, {"source": "teacher", "heading": "Actividad central", "block_index": 13, "fragment": 0}], "visible_sources": [{"index": 8, "sha256": "f877539127812924f909b649ec60369b1141fa751b4ad6e7ccca6fa0fce933e8"}], "notes_sources": [{"function": "facilitation", "heading": "Primera ejecución — INDIVIDUAL", "sha256": "31b072800cbb02c8752173d229040fe1169845ad93d3ba16fb328d6c7baadc6f"}, {"function": "facilitation", "heading": "Primera ejecución — INDIVIDUAL", "sha256": "4bae943e29a47f583a1ea14dcc0533ef86224da64caf5f2008a6e2105d803893"}, {"function": "facilitation", "heading": "Primera ejecución — INDIVIDUAL", "sha256": "16b0b04e329c61729e82f890478ad7895f1504eeeb6590e9ad302f76b144eb93"}], "relations": {"unit_relations": {"unit-13": {}}, "schedule": null, "source_supports_enriched": true}, "timeline_refs": [3], "composition": {"origin_slides": [14, 15]},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"18–25 min", "source_seconds": 420, "is_owner": false, "function": "activity"}], "clock_intervals": [3], "presenter_notes": "Reloj fuente 18–25 min: duración compartida 420 segundos. Trabajo: Realizar y comprobar la primera ejecución individual. Función del soporte: actividad.", "shared_intervals": [{"source_index": 3, "source_time": "18–25 min", "seconds": 420, "is_owner": false, "function": "activity", "action": "Realizar y comprobar la primera ejecución individual.", "concurrent": false, "parallel_work": ""}]}, "code_blocks": [], "representation_needs": []}</ns0:renderMetadata>
    </p:ext>
  </p:extLs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Error deliberado y diagnóstico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Sobre el mismo programa, cada persona elimina temporalmente un punto y coma o una comilla.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455672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provocar → leer diagnóstico → formular hipótesis → corregir → volver a ejecutar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29844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Antes de corregir, lee el primer diagnóstico y localiza la zona señalada.</a:t>
            </a:r>
          </a:p>
        </p:txBody>
      </p:sp>
      <p:sp>
        <p:nvSpPr>
          <p:cNvPr id="8" name="Contenido" descr="Contenido"/>
          <p:cNvSpPr txBox="1"/>
          <p:nvPr/>
        </p:nvSpPr>
        <p:spPr>
          <a:xfrm>
            <a:off x="640080" y="4336796"/>
            <a:ext cx="10881360" cy="17292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La finalidad no es clasificar todos los errores, sino descubrir que el diagnóstico aporta información y que una corrección se valida mediante una nueva ejecución.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"code", "plan_index": 5, "recognition": false, "unit_ids": ["unit-14"], "roles": {"unit-14": "core"}, "source_refs": [{"source": "teacher", "heading": "Error deliberado y diagnóstico — INDIVIDUAL", "block_index": 15, "fragment": 0}, {"source": "teacher", "heading": "Actividad central", "block_index": 13, "fragment": 0}], "visible_sources": [{"index": 9, "sha256": "544030eaa97fa2c4f4dd09dc5d5227229db32d0585d66d4dc83aa9152e5ddf5a"}, {"index": 11, "sha256": "7fad8da2319a6dd951128fc02daa56e140bafe7bbe01ab023bda97fb41248227"}, {"index": 13, "sha256": "af3971f76f6a535a1af06048a985a14004ce7887b558f46934ea27add84c57d5"}, {"index": 14, "sha256": "1b74c62abd3ac0f78e71f8a59a3635f09fe7d3f9ed97bb6a3ad8f1978f9fb749"}], "notes_sources": [{"function": "visible_detail", "heading": "Error deliberado y diagnóstico — INDIVIDUAL", "sha256": "544030eaa97fa2c4f4dd09dc5d5227229db32d0585d66d4dc83aa9152e5ddf5a"}, {"function": "facilitation", "heading": "Error deliberado y diagnóstico — INDIVIDUAL", "sha256": "c9744ac929903167b124e8f7056249f7dabfd51fe6129a50fc7f25a9229f8795"}, {"function": "facilitation", "heading": "Error deliberado y diagnóstico — INDIVIDUAL", "sha256": "f70d44f599c14c96b5f435696198987f30622806a1bbc8cc6f86518c89952216"}, {"function": "visible_detail", "heading": "Error deliberado y diagnóstico — INDIVIDUAL", "sha256": "af3971f76f6a535a1af06048a985a14004ce7887b558f46934ea27add84c57d5"}], "relations": {"unit_relations": {"unit-14": {}}, "schedule": null, "source_supports_enriched": true}, "timeline_refs": [4], "composition": {"origin_slides": [16, 17]}, "timing": {"seconds": 480, "allocations": [{"source_index": 4, "seconds": 480, "decision": "Intervalo compartido íntegro; propietario contable seleccionado por función de actividad y referencia timeline de unidad (identidad semántica en empates). Propietario. ", "source_time": "25–33 min", "source_seconds": 480, "is_owner": true, "function": "activity"}], "clock_intervals": [4], "presenter_notes": "Reloj fuente 25–33 min: duración compartida 480 segundos. Trabajo: Provocar un error simple, leer el diagnóstico, formular una hipótesis y corregir. Función del soporte: actividad.", "shared_intervals": [{"source_index": 4, "source_time": "25–33 min", "seconds": 480, "is_owner": true, "function": "activity", "action": "Provocar un error simple, leer el diagnóstico, formular una hipótesis y corregir.", "concurrent": false, "parallel_work": ""}]}, "code_blocks": [], "representation_needs": []}</ns0:renderMetadata>
    </p:ext>
  </p:extLs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Contraste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41732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comparan sus predicciones y salidas;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41732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explican el recorrido código fuente → compilación → ejecución → consola;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2679192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muestran el primer diagnóstico leído;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080760" y="2679192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contrastan si parece un problema de código o de configuración;</a:t>
            </a:r>
          </a:p>
        </p:txBody>
      </p:sp>
      <p:sp>
        <p:nvSpPr>
          <p:cNvPr id="9" name="Acción o criterio 4" descr="Acción o criterio 4"/>
          <p:cNvSpPr txBox="1"/>
          <p:nvPr/>
        </p:nvSpPr>
        <p:spPr>
          <a:xfrm>
            <a:off x="640080" y="3941064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ayudan a localizar la zona relevante sin escribir la solución de la otra persona;</a:t>
            </a:r>
          </a:p>
        </p:txBody>
      </p:sp>
      <p:sp>
        <p:nvSpPr>
          <p:cNvPr id="10" name="Acción o criterio 5" descr="Acción o criterio 5"/>
          <p:cNvSpPr txBox="1"/>
          <p:nvPr/>
        </p:nvSpPr>
        <p:spPr>
          <a:xfrm>
            <a:off x="6080760" y="3941064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comprueban que la corrección funciona al volver a ejecutar.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"linked_prediction", "plan_index": 6, "recognition": false, "unit_ids": ["unit-15"], "roles": {"unit-15": "core"}, "source_refs": [{"source": "teacher", "heading": "Contraste — PAREJAS", "block_index": 16, "fragment": 0}, {"source": "teacher", "heading": "Actividad central", "block_index": 13, "fragment": 0}], "visible_sources": [{"index": 1, "sha256": "f643a59307aa5d7a0153df0430c00e687ca7bf19628e639fe500897a06c9ebab"}], "notes_sources": [{"function": "facilitation", "heading": "Contraste — PAREJAS", "sha256": "97fc4b02fce228256ee5b23f36460e5f38a794cb960aa9d4ff84493c6c7fd79a"}], "relations": {"unit_relations": {"unit-15": {"prediction_cycle": ["prediction", "execution", "contrast"]}}, "schedule": null, "source_supports_enriched": true}, "timeline_refs": [5], "composition": {"origin_slides": [18, 19]}, "timing": {"seconds": 420, "allocations": [{"source_index": 5, "seconds": 420, "decision": "Intervalo compartido íntegro; propietario contable seleccionado por función de actividad y referencia timeline de unidad (identidad semántica en empates). Propietario. ", "source_time": "33–40 min", "source_seconds": 420, "is_owner": true, "function": "activity"}], "clock_intervals": [5], "presenter_notes": "Reloj fuente 33–40 min: duración compartida 420 segundos. Trabajo: Contrastar por parejas predicciones, recorrido y diagnósticos. Función del soporte: actividad.", "shared_intervals": [{"source_index": 5, "source_time": "33–40 min", "seconds": 420, "is_owner": true, "function": "activity", "action": "Contrastar por parejas predicciones, recorrido y diagnósticos.", "concurrent": false, "parallel_work": ""}]}, "code_blocks": [], "representation_needs": []}</ns0:renderMetadata>
    </p:ext>
  </p:extLs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Contraste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El trabajo por parejas no sustituye la primera ejecución individual.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"linked_prediction", "plan_index": 6, "recognition": false, "unit_ids": ["unit-15"], "roles": {"unit-15": "core"}, "source_refs": [{"source": "teacher", "heading": "Contraste — PAREJAS", "block_index": 16, "fragment": 0}, {"source": "teacher", "heading": "Actividad central", "block_index": 13, "fragment": 0}], "visible_sources": [{"index": 2, "sha256": "851d5a3f866c7869286c0322f64c1b057d4af5c9ef77d85606ca1ac18be68de9"}], "notes_sources": [{"function": "facilitation", "heading": "Contraste — PAREJAS", "sha256": "97fc4b02fce228256ee5b23f36460e5f38a794cb960aa9d4ff84493c6c7fd79a"}], "relations": {"unit_relations": {"unit-15": {"prediction_cycle": ["prediction", "execution", "contrast"]}}, "schedule": null, "source_supports_enriched": true}, "timeline_refs": [5], "composition": {"origin_slides": [18, 19]},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"33–40 min", "source_seconds": 420, "is_owner": false, "function": "activity"}], "clock_intervals": [5], "presenter_notes": "Reloj fuente 33–40 min: duración compartida 420 segundos. Trabajo: Contrastar por parejas predicciones, recorrido y diagnósticos. Función del soporte: actividad.", "shared_intervals": [{"source_index": 5, "source_time": "33–40 min", "seconds": 420, "is_owner": false, "function": "activity", "action": "Contrastar por parejas predicciones, recorrido y diagnósticos.", "concurrent": false, "parallel_work": ""}]}, "code_blocks": [], "representation_needs": []}</ns0:renderMetadata>
    </p:ext>
  </p:extLs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GitHub: código ejecutable y evolución técnica real cuando corresponda al flujo del proyecto.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Scrum: únicamente una tarea o bloqueo técnico real.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584956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Diario individual: solo si el error o descubrimiento produjo aprendizaje significativo.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584956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README / Moodle / Drive / Site: sin actualización o entrega específica en S207.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"activity", "plan_index": 6, "recognition": false, "unit_ids": ["unit-17"], "roles": {"unit-17": "core"}, "source_refs": [{"source": "teacher", "heading": "Evidencia que permanece", "block_index": 18, "fragment": 0}], "visible_sources": [{"index": 3, "sha256": "b47d611f941805b879c23e26d2254d31833cfd614fc36fb6eed9570b1edefccf"}], "notes_sources": [{"function": "visible_detail", "heading": "Evidencia que permanece", "sha256": "20fc563be8c82eabd596396ca90aa03b1a42642ee9dc8c83a7b2e269821892a5"}], "relations": {"unit_relations": {"unit-17": {}}, "schedule": null, "source_supports_enriched": true}, "timeline_refs": [5], "composition": {"origin_slides": [20, 21]},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"33–40 min", "source_seconds": 420, "is_owner": false, "function": "evidence"}], "clock_intervals": [5], "presenter_notes": "Reloj fuente 33–40 min: duración compartida 420 segundos. Trabajo: Contrastar por parejas predicciones, recorrido y diagnósticos. Función del soporte: apoyo al trabajo.", "shared_intervals": [{"source_index": 5, "source_time": "33–40 min", "seconds": 420, "is_owner": false, "function": "evidence", "action": "Contrastar por parejas predicciones, recorrido y diagnósticos.", "concurrent": false, "parallel_work": ""}]}, "code_blocks": [], "representation_needs": []}</ns0:renderMetadata>
    </p:ext>
  </p:extLs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se crea captura, copia de consola, frase obligatoria, documento de ejecución ni microentrega.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"activity", "plan_index": 6, "recognition": false, "unit_ids": ["unit-17"], "roles": {"unit-17": "core"}, "source_refs": [{"source": "teacher", "heading": "Evidencia que permanece", "block_index": 18, "fragment": 0}], "visible_sources": [{"index": 4, "sha256": "20fc563be8c82eabd596396ca90aa03b1a42642ee9dc8c83a7b2e269821892a5"}], "notes_sources": [{"function": "visible_detail", "heading": "Evidencia que permanece", "sha256": "20fc563be8c82eabd596396ca90aa03b1a42642ee9dc8c83a7b2e269821892a5"}], "relations": {"unit_relations": {"unit-17": {}}, "schedule": null, "source_supports_enriched": true}, "timeline_refs": [5], "composition": {"origin_slides": [20, 21]},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"33–40 min", "source_seconds": 420, "is_owner": false, "function": "evidence"}], "clock_intervals": [5], "presenter_notes": "Reloj fuente 33–40 min: duración compartida 420 segundos. Trabajo: Contrastar por parejas predicciones, recorrido y diagnósticos. Función del soporte: apoyo al trabajo.", "shared_intervals": [{"source_index": 5, "source_time": "33–40 min", "seconds": 420, "is_owner": false, "function": "evidence", "action": "Contrastar por parejas predicciones, recorrido y diagnósticos.", "concurrent": false, "parallel_work": ""}]}, "code_blocks": [], "representation_needs": []}</ns0:renderMetadata>
    </p:ext>
  </p:extLs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Seguridad y uso de IA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Trabaja únicamente con datos ficticios.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249676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249676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"activity", "plan_index": 6, "recognition": false, "unit_ids": ["unit-23"], "roles": {"unit-23": "core"}, "source_refs": [{"source": "student_fallback", "heading": "Seguridad y uso de IA", "block_index": null, "fragment": 0}], "visible_sources": [{"index": 5, "sha256": "61337aa7d62b810fc872b64ccf50a7b9620d423d2be91b3dfff6d304f2bec734"}], "notes_sources": [], "relations": {"unit_relations": {"unit-23": {}}, "schedule": null, "source_supports_enriched": true}, "timeline_refs": [5], "composition": {"origin_slides": [22]},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"33–40 min", "source_seconds": 420, "is_owner": false, "function": "security"}], "clock_intervals": [5], "presenter_notes": "Reloj fuente 33–40 min: duración compartida 420 segundos. Trabajo: Contrastar por parejas predicciones, recorrido y diagnósticos. Función del soporte: apoyo al trabajo.", "shared_intervals": [{"source_index": 5, "source_time": "33–40 min", "seconds": 420, "is_owner": false, "function": "security", "action": "Contrastar por parejas predicciones, recorrido y diagnósticos.", "concurrent": false, "parallel_work": ""}]}, "code_blocks": [], "representation_needs": []}</ns0:renderMetadata>
    </p:ext>
  </p:extLs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Comprobación y cierre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S207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Hoy no hemos aprendido solo a pulsar ejecutar.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064512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rPr>
                <a:solidFill>
                  <a:srgbClr val="FFFFFF"/>
                </a:solidFill>
              </a:rPr>
              <a:t>¿Dónde está el código fuente, qué ocurrió antes de ver la consola, qué ejecutaste, qué salida esperabas y qué salida apareció?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"closure", "plan_index": 7, "recognition": false, "unit_ids": ["unit-20", "unit-22"], "roles": {"unit-20": "core", "unit-22": "core"}, "source_refs": [{"source": "teacher", "heading": "Comprobación y cierre", "block_index": 22, "fragment": 0}, {"source": "teacher", "heading": "Al terminar", "block_index": 24, "fragment": 0}], "visible_sources": [{"index": 1, "sha256": "e4907352fa987a5aa34280b225bcc6d7f2bf6e2cf3f6185c4ea5bd9e13d75387"}, {"index": 2, "sha256": "081f87e63498b06fff1cff129adf6a18030478f2ab80043e6cbcbbd9cfc6dc55"}], "notes_sources": [{"function": "closure", "heading": "Comprobación y cierre", "sha256": "df9acf2e0cc9e2f7147f4ae4b90b1e1f9eeda1377e5dbfd9739ecfa79384031d"}, {"function": "continuity", "heading": "Al terminar", "sha256": "3cf32e96e51b0f5a885534b1b9cd3ff74e844977d45fe48c2ac3e3be730ac55e"}, {"function": "facilitation", "heading": "Comprobación y cierre", "sha256": "5ac270c14daf9145b5fa6b3260aaee7fce13571ee2fba5f4f556b6f5b86f5a90"}, {"function": "visible_detail", "heading": "Comprobación y cierre", "sha256": "e4907352fa987a5aa34280b225bcc6d7f2bf6e2cf3f6185c4ea5bd9e13d75387"}, {"function": "closure", "heading": "Comprobación y cierre", "sha256": "081f87e63498b06fff1cff129adf6a18030478f2ab80043e6cbcbbd9cfc6dc55"}, {"function": "closure", "heading": "Comprobación y cierre", "sha256": "081f87e63498b06fff1cff129adf6a18030478f2ab80043e6cbcbbd9cfc6dc55"}], "relations": {"unit_relations": {"unit-20": {"question_context": ["context", "question"]}}, "schedule": null, "source_supports_enriched": true}, "timeline_refs": [6], "composition": {"origin_slides": [23]}, "timing": {"seconds": 300, "allocations": [{"source_index": 6, "seconds": 300, "decision": "Intervalo compartido íntegro; propietario contable seleccionado por función de actividad y referencia timeline de unidad (identidad semántica en empates). Propietario. ", "source_time": "40–45 min", "source_seconds": 300, "is_owner": true, "function": "closure"}], "clock_intervals": [6], "presenter_notes": "Reloj fuente 40–45 min: duración compartida 300 segundos. Trabajo: Volver a ejecutar, explicar la evidencia y cerrar. Función del soporte: cierre.", "shared_intervals": [{"source_index": 6, "source_time": "40–45 min", "seconds": 300, "is_owner": true, "function": "closure", "action": "Volver a ejecutar, explicar la evidencia y cerrar.", "concurrent": false, "parallel_work": ""}]}, "code_blocks": [], "representation_needs": []}</ns0:renderMetadata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