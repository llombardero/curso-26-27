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Documentar H1 y seleccionar evidencias verificables sin duplicar el diario.</a:t>
            </a:r>
          </a:p>
          <a:p>
            <a:r>
              <a:t>Diapositiva 1 de 9: README, evidencia y Site</a:t>
            </a:r>
          </a:p>
          <a:p>
            <a:r>
              <a:t>Fase HEXA: Comunicar — evaluar y reflexionar</a:t>
            </a:r>
          </a:p>
          <a:p>
            <a:r>
              <a:t>Presenta el producto y anticipa la evidencia: Quede H1 listo para defensa.</a:t>
            </a:r>
          </a:p>
          <a:p>
            <a:r>
              <a:t>Secuencia docente:</a:t>
            </a:r>
          </a:p>
          <a:p>
            <a:r>
              <a:t>- 00:00–00:05 / D1: COMUNICAR: Plantea la prueba de usuario de la documentación.</a:t>
            </a:r>
          </a:p>
          <a:p>
            <a:r>
              <a:t>- 00:05–00:11 / D2: PÍLDORA DOCENTE 1/3: Explica estructura mínima sin inventar secciones nuevas ajenas a las plantillas.</a:t>
            </a:r>
          </a:p>
          <a:p>
            <a:r>
              <a:t>- 00:11–00:16 / D3: PÍLDORA DOCENTE 2/3: Explica trazabilidad y enlace profundo.</a:t>
            </a:r>
          </a:p>
          <a:p>
            <a:r>
              <a:t>- 00:16–00:22 / D4: PÍLDORA DOCENTE 3/3: Explica funciones y privacidad. El Site no es copia del diario.</a:t>
            </a:r>
          </a:p>
          <a:p>
            <a:r>
              <a:t>- 00:22–00:36 / D5: ACTIVIDAD: Circula por mesas y pide a una persona explicar un enlace concreto.</a:t>
            </a:r>
          </a:p>
          <a:p>
            <a:r>
              <a:t>- 00:36–00:41 / D6: PRUEBA DE USUARIO: Organiza intercambio.</a:t>
            </a:r>
          </a:p>
          <a:p>
            <a:r>
              <a:t>- 00:41–00:45 / D7: CIERRE: Cierra con privacidad y accesibilidad de enlaces.</a:t>
            </a:r>
          </a:p>
          <a:p>
            <a:r>
              <a:t>Claves docentes:</a:t>
            </a:r>
          </a:p>
          <a:p>
            <a:r>
              <a:t>- PÍLDORA DOCENTE 1/3: Explica estructura mínima sin inventar secciones nuevas ajenas a las plantillas, PÍLDORA DOCENTE 2/3: Explica trazabilidad y enlace profundo, PÍLDORA DOCENTE 3/3: Explica funciones y privacidad. El Site no es copia del diario.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Documentar H1 y seleccionar evidencias verificables sin duplicar el diario.</a:t>
            </a:r>
          </a:p>
          <a:p>
            <a:r>
              <a:t>Diapositiva 2 de 9: Qué aprenderás y cómo lo demostrarás</a:t>
            </a:r>
          </a:p>
          <a:p>
            <a:r>
              <a:t>Fase HEXA: Comunicar — evaluar y reflexionar</a:t>
            </a:r>
          </a:p>
          <a:p>
            <a:r>
              <a:t>- Objetivo: Documentar H1 y seleccionar evidencias verificables sin duplicar el diario.</a:t>
            </a:r>
          </a:p>
          <a:p>
            <a:r>
              <a:t>- Comprobación: Quede H1 listo para defensa.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Documentar H1 y seleccionar evidencias verificables sin duplicar el diario.</a:t>
            </a:r>
          </a:p>
          <a:p>
            <a:r>
              <a:t>Diapositiva 3 de 9: README mínimo y honesto</a:t>
            </a:r>
          </a:p>
          <a:p>
            <a:r>
              <a:t>Fase HEXA: Comunicar — evaluar y reflexionar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## Qué hace</a:t>
            </a:r>
          </a:p>
          <a:p>
            <a:r>
              <a:t>MiniJarvis saluda y pide un nombre ficticio.</a:t>
            </a:r>
          </a:p>
          <a:p/>
          <a:p>
            <a:r>
              <a:t>## Límites de H1</a:t>
            </a:r>
          </a:p>
          <a:p>
            <a:r>
              <a:t>No incluye menú, memoria, ficheros ni IA real.</a:t>
            </a:r>
          </a:p>
          <a:p/>
          <a:p>
            <a:r>
              <a:t>## Cómo ejecutar</a:t>
            </a:r>
          </a:p>
          <a:p>
            <a:r>
              <a:t>1. Abre el proyecto.</a:t>
            </a:r>
          </a:p>
          <a:p>
            <a:r>
              <a:t>2. Ejecuta Main.</a:t>
            </a:r>
          </a:p>
          <a:p>
            <a:r>
              <a:t>3. Introduce datos ficticios.</a:t>
            </a:r>
          </a:p>
          <a:p>
            <a:r>
              <a:t>- Otra persona debe poder reproducir la ejecución sin explicación oral.</a:t>
            </a:r>
          </a:p>
          <a:p>
            <a:r>
              <a:t>- El README describe el producto real, no el futuro.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Documentar H1 y seleccionar evidencias verificables sin duplicar el diario.</a:t>
            </a:r>
          </a:p>
          <a:p>
            <a:r>
              <a:t>Diapositiva 4 de 9: Una evidencia debe demostrar algo</a:t>
            </a:r>
          </a:p>
          <a:p>
            <a:r>
              <a:t>Fase HEXA: Comunicar — evaluar y reflexionar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DÉBIL · Funciona.</a:t>
            </a:r>
          </a:p>
          <a:p>
            <a:r>
              <a:t>Enlace a una carpeta general.</a:t>
            </a:r>
          </a:p>
          <a:p>
            <a:r>
              <a:t>- VERIFICABLE · entrada, salida esperada, salida obtenida, qué demuestra y enlace profundo.</a:t>
            </a:r>
          </a:p>
          <a:p>
            <a:r>
              <a:t>- Una captura aislada no explica qué se probó ni con qué resultado.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Documentar H1 y seleccionar evidencias verificables sin duplicar el diario.</a:t>
            </a:r>
          </a:p>
          <a:p>
            <a:r>
              <a:t>Diapositiva 5 de 9: Cada espacio responde a una pregunta</a:t>
            </a:r>
          </a:p>
          <a:p>
            <a:r>
              <a:t>Fase HEXA: Comunicar — evaluar y reflexionar</a:t>
            </a:r>
          </a:p>
          <a:p>
            <a:r>
              <a:t>Explica con predicción y ejemplo mínimo; comprueba comprensión antes de continuar.</a:t>
            </a:r>
          </a:p>
          <a:p>
            <a:r>
              <a:t>- Diario · proceso individual: objetivo, acción, prueba, bloqueo y siguiente paso.</a:t>
            </a:r>
          </a:p>
          <a:p>
            <a:r>
              <a:t>- Site personal · selección razonada de evidencias y qué demuestran.</a:t>
            </a:r>
          </a:p>
          <a:p>
            <a:r>
              <a:t>- Site de equipo · reto, decisiones, pruebas, review y retrospectiva.</a:t>
            </a:r>
          </a:p>
          <a:p>
            <a:r>
              <a:t>- Moodle · índice de entrega y enlaces solicitados, no otra copia completa.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Documentar H1 y seleccionar evidencias verificables sin duplicar el diario.</a:t>
            </a:r>
          </a:p>
          <a:p>
            <a:r>
              <a:t>Diapositiva 6 de 9: Prueba tu documentación con otra persona</a:t>
            </a:r>
          </a:p>
          <a:p>
            <a:r>
              <a:t>Fase HEXA: Comunicar — evaluar y reflexionar</a:t>
            </a:r>
          </a:p>
          <a:p>
            <a:r>
              <a:t>Entrega la consigna, observa decisiones y pide una prueba reproducible.</a:t>
            </a:r>
          </a:p>
          <a:p>
            <a:r>
              <a:t>- Completa alcance, límites, ejecución y ejemplo del README.</a:t>
            </a:r>
          </a:p>
          <a:p>
            <a:r>
              <a:t>- Crea una evidencia con entrada, salida esperada, observada y explicación.</a:t>
            </a:r>
          </a:p>
          <a:p>
            <a:r>
              <a:t>- Pide a otra persona que ejecute siguiendo solo el README.</a:t>
            </a:r>
          </a:p>
          <a:p>
            <a:r>
              <a:t>- Corrige la primera ambigüedad y verifica enlaces y permisos.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Documentar H1 y seleccionar evidencias verificables sin duplicar el diario.</a:t>
            </a:r>
          </a:p>
          <a:p>
            <a:r>
              <a:t>Diapositiva 7 de 9: Documentación reproducible</a:t>
            </a:r>
          </a:p>
          <a:p>
            <a:r>
              <a:t>Fase HEXA: Comunicar — evaluar y reflexionar</a:t>
            </a:r>
          </a:p>
          <a:p>
            <a:r>
              <a:t>Comprueba la evidencia en su fuente canónica: Quede H1 listo para defensa.</a:t>
            </a:r>
          </a:p>
          <a:p>
            <a:r>
              <a:t>- El README permite ejecutar H1 sin ayuda oral.</a:t>
            </a:r>
          </a:p>
          <a:p>
            <a:r>
              <a:t>- Los enlaces llevan al archivo o prueba concreta.</a:t>
            </a:r>
          </a:p>
          <a:p>
            <a:r>
              <a:t>- Diario y Sites no duplican la misma reflexión.</a:t>
            </a:r>
          </a:p>
          <a:p>
            <a:r>
              <a:t>- No aparecen datos personales, contraseñas, claves o tokens.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Documentar H1 y seleccionar evidencias verificables sin duplicar el diario.</a:t>
            </a:r>
          </a:p>
          <a:p>
            <a:r>
              <a:t>Diapositiva 8 de 9: Comprobación final</a:t>
            </a:r>
          </a:p>
          <a:p>
            <a:r>
              <a:t>Fase HEXA: Comunicar — evaluar y reflexionar</a:t>
            </a:r>
          </a:p>
          <a:p>
            <a:r>
              <a:t>Cierra con explicación individual, prueba observable y siguiente paso concreto.</a:t>
            </a:r>
          </a:p>
          <a:p>
            <a:r>
              <a:t>- ¿Qué cambió después de que otra persona intentara seguir tu README sin ayuda?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Objetivo docente: Documentar H1 y seleccionar evidencias verificables sin duplicar el diario.</a:t>
            </a:r>
          </a:p>
          <a:p>
            <a:r>
              <a:t>Diapositiva 9 de 9: Fuentes utilizadas</a:t>
            </a:r>
          </a:p>
          <a:p>
            <a:r>
              <a:t>Fase HEXA: Comunicar — evaluar y reflexionar</a:t>
            </a:r>
          </a:p>
          <a:p>
            <a:r>
              <a:t>Indica al alumnado dónde ampliar el contenido y qué fragmentos se han adaptado.</a:t>
            </a:r>
          </a:p>
          <a:p>
            <a:r>
              <a:t>- Libro: capítulos 01-02 · Evidencias y README de H1</a:t>
            </a:r>
          </a:p>
          <a:p>
            <a:r>
              <a:t>- Fichas S206-S215 y píldoras H1</a:t>
            </a:r>
          </a:p>
          <a:p>
            <a:r>
              <a:t>- Ejemplos revisados y adaptados a MiniJarvis; no se copian errores ni capturas antiguas del PDF.</a:t>
            </a:r>
          </a:p>
          <a:p>
            <a:r>
              <a:t>Fuente docente: /mnt/compartido/Programación-26-27/Minijarvis/02-PROFESORADO/02-SESIONES/h1/S214-readme-y-evidencia-de-ejecucion-docente.md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README, evidencia y Site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H1 — Primer MiniJarvis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Comunicar — evaluar y reflexionar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4965192"/>
            <a:ext cx="10241280" cy="5943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700" b="0">
                <a:solidFill>
                  <a:srgbClr val="D2D9E4"/>
                </a:solidFill>
                <a:latin typeface="Aptos"/>
              </a:defRPr>
            </a:pPr>
            <a:r>
              <a:t>Individual con contraste por parejas o equipo cuando la práctica lo requiera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aprenderás y cómo lo demostrarás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Documentar H1 y seleccionar evidencias verificables sin duplicar el diario.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Comprobación: Quede H1 listo para defensa.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CÓDIGO EXPLICADO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README mínimo y honesto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7315200" cy="4709160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572768"/>
            <a:ext cx="6903720" cy="425196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FFFFFF"/>
                </a:solidFill>
                <a:latin typeface="Liberation Mono"/>
              </a:defRPr>
            </a:pPr>
            <a:r>
              <a:t>## Qué hace</a:t>
            </a:r>
            <a:br/>
            <a:r>
              <a:t>MiniJarvis saluda y pide un nombre ficticio.</a:t>
            </a:r>
            <a:br/>
            <a:br/>
            <a:r>
              <a:t>## Límites de H1</a:t>
            </a:r>
            <a:br/>
            <a:r>
              <a:t>No incluye menú, memoria, ficheros ni IA real.</a:t>
            </a:r>
            <a:br/>
            <a:br/>
            <a:r>
              <a:t>## Cómo ejecutar</a:t>
            </a:r>
            <a:br/>
            <a:r>
              <a:t>1. Abre el proyecto.</a:t>
            </a:r>
            <a:br/>
            <a:r>
              <a:t>2. Ejecuta Main.</a:t>
            </a:r>
            <a:br/>
            <a:r>
              <a:t>3. Introduce datos ficticios.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325880"/>
            <a:ext cx="3401568" cy="470916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0" y="1627632"/>
            <a:ext cx="2880360" cy="3200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LEE Y PREDICE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94192" y="2103120"/>
            <a:ext cx="2788920" cy="3474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Otra persona debe poder reproducir la ejecución sin explicación oral.</a:t>
            </a:r>
          </a:p>
          <a:p>
            <a:pPr>
              <a:spcAft>
                <a:spcPts val="9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El README describe el producto real, no el futuro.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CONTRASTAR PARA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Una evidencia debe demostrar algo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50392" y="1572768"/>
            <a:ext cx="566928" cy="475488"/>
          </a:xfrm>
          <a:prstGeom prst="roundRect">
            <a:avLst/>
          </a:prstGeom>
          <a:solidFill>
            <a:srgbClr val="445B80"/>
          </a:solidFill>
          <a:ln>
            <a:solidFill>
              <a:srgbClr val="445B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304288"/>
            <a:ext cx="4663440" cy="2011680"/>
          </a:xfrm>
          <a:prstGeom prst="rect">
            <a:avLst/>
          </a:prstGeom>
          <a:noFill/>
        </p:spPr>
        <p:txBody>
          <a:bodyPr wrap="none" lIns="164592" rIns="164592" tIns="109728" bIns="109728">
            <a:spAutoFit/>
          </a:bodyPr>
          <a:lstStyle/>
          <a:p>
            <a:pPr>
              <a:spcAft>
                <a:spcPts val="0"/>
              </a:spcAft>
              <a:defRPr sz="1600">
                <a:solidFill>
                  <a:srgbClr val="1C2330"/>
                </a:solidFill>
                <a:latin typeface="Liberation Mono"/>
              </a:defRPr>
            </a:pPr>
            <a:r>
              <a:t>DÉBIL · Funciona.</a:t>
            </a:r>
            <a:br/>
            <a:r>
              <a:t>Enlace a una carpeta general.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3912" y="1325880"/>
            <a:ext cx="5230368" cy="3401568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82512" y="1572768"/>
            <a:ext cx="566928" cy="475488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82512" y="1682496"/>
            <a:ext cx="566928" cy="1828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8232" y="2267712"/>
            <a:ext cx="4663440" cy="20574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VERIFICABLE · entrada, salida esperada, salida obtenida, qué demuestra y enlace profundo.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" y="5010912"/>
            <a:ext cx="10762488" cy="932688"/>
          </a:xfrm>
          <a:prstGeom prst="roundRect">
            <a:avLst/>
          </a:prstGeom>
          <a:solidFill>
            <a:srgbClr val="121824"/>
          </a:solidFill>
          <a:ln>
            <a:solidFill>
              <a:srgbClr val="12182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5230368"/>
            <a:ext cx="10204704" cy="4754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Una captura aislada no explica qué se probó ni con qué resultado.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Cada espacio responde a una pregunta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2618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809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25295" y="14264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Diario · proceso individual: objetivo, acción, prueba, bloqueo y siguiente paso.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07608" y="12618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08776" y="14264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65976" y="14264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Site personal · selección razonada de evidencias y qué demuestran.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6621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25295" y="38267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Site de equipo · reto, decisiones, pruebas, review y retrospectiva.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07608" y="3662172"/>
            <a:ext cx="5212080" cy="219913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08776" y="3826763"/>
            <a:ext cx="384048" cy="34747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500" b="1">
                <a:solidFill>
                  <a:srgbClr val="2F5BA8"/>
                </a:solidFill>
                <a:latin typeface="Aptos"/>
              </a:defRPr>
            </a:pPr>
            <a: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65976" y="3826763"/>
            <a:ext cx="4434840" cy="196138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800" b="0">
                <a:solidFill>
                  <a:srgbClr val="1C2330"/>
                </a:solidFill>
                <a:latin typeface="Aptos"/>
              </a:defRPr>
            </a:pPr>
            <a:r>
              <a:t>Moodle · índice de entrega y enlaces solicitados, no otra copia completa.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Prueba tu documentación con otra persona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Completa alcance, límites, ejecución y ejemplo del README.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54203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268833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265176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Crea una evidencia con entrada, salida esperada, observada y explicación.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377647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64208" y="388620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Pide a otra persona que ejecute siguiendo solo el README.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8368" y="5010912"/>
            <a:ext cx="10835640" cy="104927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0392" y="515721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2F5BA8"/>
                </a:solidFill>
                <a:latin typeface="Aptos"/>
              </a:defRPr>
            </a:pPr>
            <a:r>
              <a:t>PASO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5120640"/>
            <a:ext cx="9464040" cy="82981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Corrige la primera ambigüedad y verifica enlaces y permisos.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Documentación reproducible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El README permite ejecutar H1 sin ayuda oral.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54431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526029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enlaces llevan al archivo o prueba concreta.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79018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77190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Diario y Sites no duplican la misma reflexión.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5036057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5017770"/>
            <a:ext cx="9829800" cy="120929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aparecen datos personales, contraseñas, claves o tokens.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Comprobación final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MiniJarvis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2F5BA8"/>
          </a:solidFill>
          <a:ln>
            <a:solidFill>
              <a:srgbClr val="2F5B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¿Qué cambió después de que otra persona intentara seguir tu README sin ayuda?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2F5BA8"/>
                </a:solidFill>
                <a:latin typeface="Aptos"/>
              </a:defRPr>
            </a:pPr>
            <a:r>
              <a:t>TRAZABILIDAD DEL CONTENIDO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Fuentes utilizadas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2F5B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214 · H1 — Primer MiniJarvis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417320"/>
            <a:ext cx="10515600" cy="6583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2300" b="1">
                <a:solidFill>
                  <a:srgbClr val="1C2330"/>
                </a:solidFill>
                <a:latin typeface="Aptos"/>
              </a:defRPr>
            </a:pPr>
            <a:r>
              <a:t>Esta presentación selecciona y adapta contenido; no sustituye al libro ni copia el PDF completo.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468880"/>
            <a:ext cx="10058400" cy="233172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Libro: capítulos 01-02 · Evidencias y README de H1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Fichas S206-S215 y píldoras H1</a:t>
            </a:r>
          </a:p>
          <a:p>
            <a:pPr>
              <a:spcAft>
                <a:spcPts val="900"/>
              </a:spcAft>
              <a:defRPr sz="2000">
                <a:solidFill>
                  <a:srgbClr val="1C2330"/>
                </a:solidFill>
                <a:latin typeface="Aptos"/>
              </a:defRPr>
            </a:pPr>
            <a:r>
              <a:t>•  Ejemplos revisados y adaptados a MiniJarvis; no se copian errores ni capturas antiguas del PDF.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5257800"/>
            <a:ext cx="1024128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800" b="1">
                <a:solidFill>
                  <a:srgbClr val="2F5BA8"/>
                </a:solidFill>
                <a:latin typeface="Aptos"/>
              </a:defRPr>
            </a:pPr>
            <a:r>
              <a:t>Consulta el libro para ampliar, practicar y repasar errores frecuentes.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