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0–5 min: duración compartida 300 segundos. Trabajo: Presentar el criterio de documentación reproducible y localizar individualmente las evidencias. Función del soporte: apoyo al trabajo.</a:t>
            </a:r>
          </a:p>
          <a:p/>
          <a:p>
            <a:r>
              <a:t>Facilitación docente · Antes de entrar en clase</a:t>
            </a:r>
          </a:p>
          <a:p>
            <a:r>
              <a:t>- [ ] Abrir el repositorio y comprobar si ya existe un README H1: localizarlo o, si no existe, preparar su creación.</a:t>
            </a:r>
          </a:p>
          <a:p>
            <a:r>
              <a:t>- [ ] Ejecutar el incremento para contrastar las instrucciones y los casos documentados.</a:t>
            </a:r>
          </a:p>
          <a:p>
            <a:r>
              <a:t>- [ ] Preparar el modelo de README y de prueba reproducible.</a:t>
            </a:r>
          </a:p>
          <a:p>
            <a:r>
              <a:t>- [ ] Comprobar cómo abrir un enlace técnico en ventana privada o mediante otra cuenta.</a:t>
            </a:r>
          </a:p>
          <a:p>
            <a:r>
              <a:t>- [ ] Organizar el intercambio para que una persona externa pruebe la documentación sin explicación previa.</a:t>
            </a:r>
          </a:p>
          <a:p/>
          <a:p>
            <a:r>
              <a:t>Facilitación docente · Apertura docente</a:t>
            </a:r>
          </a:p>
          <a:p>
            <a:r>
              <a:t>&gt; Hoy pasamos a Comunicar. Comunicar no es decorar el proyecto al final. Significa que otra persona puede entender qué hace H1, ejecutarlo, comprobar una prueba y reconocer sus límites sin que el equipo tenga que explicárselo paso a paso.</a:t>
            </a:r>
          </a:p>
          <a:p/>
          <a:p>
            <a:r>
              <a:t>Contrasta dos afirmaciones:</a:t>
            </a:r>
          </a:p>
          <a:p/>
          <a:p>
            <a:r>
              <a:t>```text</a:t>
            </a:r>
          </a:p>
          <a:p>
            <a:r>
              <a:t>Funciona.</a:t>
            </a:r>
          </a:p>
          <a:p>
            <a:r>
              <a:t>```</a:t>
            </a:r>
          </a:p>
          <a:p/>
          <a:p>
            <a:r>
              <a:t>```text</a:t>
            </a:r>
          </a:p>
          <a:p>
            <a:r>
              <a:t>Con esta entrada esperábamos este resultado; lo obtuvimos y eso demuestra este comportamiento concreto.</a:t>
            </a:r>
          </a:p>
          <a:p>
            <a:r>
              <a:t>```</a:t>
            </a:r>
          </a:p>
          <a:p/>
          <a:p>
            <a:r>
              <a:t>&gt; ¿Cuál de las dos permitiría a otra persona comprobar el proyecto y por qué?</a:t>
            </a:r>
          </a:p>
          <a:p/>
          <a:p>
            <a:r>
              <a:t>Observación · Observación docente</a:t>
            </a:r>
          </a:p>
          <a:p>
            <a:r>
              <a:t>Durante la sesión, comprueba específicamente si:</a:t>
            </a:r>
          </a:p>
          <a:p/>
          <a:p>
            <a:r>
              <a:t>- cada persona sabe localizar una evidencia técnica;</a:t>
            </a:r>
          </a:p>
          <a:p>
            <a:r>
              <a:t>- el equipo documenta lo que H1 hace realmente;</a:t>
            </a:r>
          </a:p>
          <a:p>
            <a:r>
              <a:t>- los límites están expresados con honestidad;</a:t>
            </a:r>
          </a:p>
          <a:p>
            <a:r>
              <a:t>- las instrucciones permiten ejecutar sin ayuda oral;</a:t>
            </a:r>
          </a:p>
          <a:p>
            <a:r>
              <a:t>- las pruebas indican entrada, resultado esperado, resultado obtenido y significado;</a:t>
            </a:r>
          </a:p>
          <a:p>
            <a:r>
              <a:t>- el README permite actuar y no solo leer una descripción;</a:t>
            </a:r>
          </a:p>
          <a:p>
            <a:r>
              <a:t>- los enlaces conducen al recurso concreto;</a:t>
            </a:r>
          </a:p>
          <a:p>
            <a:r>
              <a:t>- otra persona puede abrirlos;</a:t>
            </a:r>
          </a:p>
          <a:p>
            <a:r>
              <a:t>- no aparecen credenciales ni datos personales;</a:t>
            </a:r>
          </a:p>
          <a:p>
            <a:r>
              <a:t>- una persona explica qué demuestra una prueba;</a:t>
            </a:r>
          </a:p>
          <a:p>
            <a:r>
              <a:t>- el equipo distingue documentación y defensa.</a:t>
            </a:r>
          </a:p>
          <a:p/>
          <a:p>
            <a:r>
              <a:t>Ritmo fuente · Temporalización orientativa</a:t>
            </a:r>
          </a:p>
          <a:p>
            <a:r>
              <a:t>0–5 min — Presentar el criterio de documentación reproducible y localizar individualmente las evidencias.</a:t>
            </a:r>
          </a:p>
          <a:p/>
          <a:p>
            <a:r>
              <a:t>5–10 min — Analizar el modelo de README y la diferencia entre “funciona” y una prueba explicada.</a:t>
            </a:r>
          </a:p>
          <a:p/>
          <a:p>
            <a:r>
              <a:t>10–18 min — Comprobación individual: localizar código, entrada, esperado, obtenido, significado y límite.</a:t>
            </a:r>
          </a:p>
          <a:p/>
          <a:p>
            <a:r>
              <a:t>18–30 min — Consolidar en equipo README, instrucciones, límites, pruebas y enlaces profundos.</a:t>
            </a:r>
          </a:p>
          <a:p/>
          <a:p>
            <a:r>
              <a:t>30–38 min — Intercambiar por parejas y probar la documentación sin explicación oral previa.</a:t>
            </a:r>
          </a:p>
          <a:p/>
          <a:p>
            <a:r>
              <a:t>38–42 min — Corregir bloqueos, enlaces y permisos descubiertos.</a:t>
            </a:r>
          </a:p>
          <a:p/>
          <a:p>
            <a:r>
              <a:t>42–45 min — Comprobar el cierre y preparar la transición hacia la defensa.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0–5 min: duración compartida 300 segundos. Trabajo: Presentar el criterio de documentación reproducible y localizar individualmente las evidencias. Función del soporte: apoyo al trabajo.</a:t>
            </a:r>
          </a:p>
          <a:p/>
          <a:p>
            <a:r>
              <a:t>Detalle para la explicación oral · Finalidad de la sesión</a:t>
            </a:r>
          </a:p>
          <a:p>
            <a:r>
              <a:t>S214 prepara el cierre mediante documentación y pruebas accesibles. Documentar bien no sustituye la defensa práctica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5–10 min: duración compartida 300 segundos. Trabajo: Analizar el modelo de README y la diferencia entre “funciona” y una prueba explicada. Función del soporte: explicación.</a:t>
            </a:r>
          </a:p>
          <a:p/>
          <a:p>
            <a:r>
              <a:t>Andamiaje y recuperación · Andamiaje ante bloqueos</a:t>
            </a:r>
          </a:p>
          <a:p>
            <a:r>
              <a:t>No reescribas el README por el equipo. Utiliza una pregunta específica:</a:t>
            </a:r>
          </a:p>
          <a:p/>
          <a:p>
            <a:r>
              <a:t>- **README demasiado vago:** «¿Podría ejecutarlo alguien que no estuvo en clase?»</a:t>
            </a:r>
          </a:p>
          <a:p>
            <a:r>
              <a:t>- **Solo aparece “funciona”:** «¿Qué entrada usaste y qué demuestra el resultado?»</a:t>
            </a:r>
          </a:p>
          <a:p>
            <a:r>
              <a:t>- **Prueba sin resultado esperado:** pide una predicción antes de aceptarla.</a:t>
            </a:r>
          </a:p>
          <a:p>
            <a:r>
              <a:t>- **Enlace a una carpeta raíz:** pide el enlace al recurso concreto.</a:t>
            </a:r>
          </a:p>
          <a:p>
            <a:r>
              <a:t>- **Enlace que solo abre la persona propietaria:** compruébalo desde otra sesión, cuenta o persona.</a:t>
            </a:r>
          </a:p>
          <a:p>
            <a:r>
              <a:t>- **Documentación extensa pero no ejecutable:** pide pasos concretos y en orden.</a:t>
            </a:r>
          </a:p>
          <a:p>
            <a:r>
              <a:t>- **Prueba que no demuestra lo afirmado:** pregunta qué comportamiento se está verificando.</a:t>
            </a:r>
          </a:p>
          <a:p>
            <a:r>
              <a:t>- **La persona autora explica continuamente:** pídele que deje de intervenir y observe dónde se atasca la otra persona.</a:t>
            </a:r>
          </a:p>
          <a:p/>
          <a:p>
            <a:r>
              <a:t>Detalle para la explicación oral · Qué debe comunicar el README de H1</a:t>
            </a:r>
          </a:p>
          <a:p>
            <a:r>
              <a:t>El README debe responder claramente a cuatro preguntas:</a:t>
            </a:r>
          </a:p>
          <a:p/>
          <a:p>
            <a:r>
              <a:t>```text</a:t>
            </a:r>
          </a:p>
          <a:p>
            <a:r>
              <a:t>1. ¿Qué hace?</a:t>
            </a:r>
          </a:p>
          <a:p>
            <a:r>
              <a:t>2. ¿Qué límites tiene?</a:t>
            </a:r>
          </a:p>
          <a:p>
            <a:r>
              <a:t>3. ¿Cómo se ejecuta?</a:t>
            </a:r>
          </a:p>
          <a:p>
            <a:r>
              <a:t>4. ¿Qué pruebas demuestran que funciona?</a:t>
            </a:r>
          </a:p>
          <a:p>
            <a:r>
              <a:t>```</a:t>
            </a:r>
          </a:p>
          <a:p/>
          <a:p>
            <a:r>
              <a:t>Detalle para la explicación oral · Andamiaje ante bloqueos</a:t>
            </a:r>
          </a:p>
          <a:p>
            <a:r>
              <a:t>No reescribas el README por el equipo. Utiliza una pregunta específica:</a:t>
            </a:r>
          </a:p>
          <a:p/>
          <a:p>
            <a:r>
              <a:t>- **README demasiado vago:** «¿Podría ejecutarlo alguien que no estuvo en clase?»</a:t>
            </a:r>
          </a:p>
          <a:p>
            <a:r>
              <a:t>- **Solo aparece “funciona”:** «¿Qué entrada usaste y qué demuestra el resultado?»</a:t>
            </a:r>
          </a:p>
          <a:p>
            <a:r>
              <a:t>- **Prueba sin resultado esperado:** pide una predicción antes de aceptarla.</a:t>
            </a:r>
          </a:p>
          <a:p>
            <a:r>
              <a:t>- **Enlace a una carpeta raíz:** pide el enlace al recurso concreto.</a:t>
            </a:r>
          </a:p>
          <a:p>
            <a:r>
              <a:t>- **Enlace que solo abre la persona propietaria:** compruébalo desde otra sesión, cuenta o persona.</a:t>
            </a:r>
          </a:p>
          <a:p>
            <a:r>
              <a:t>- **Documentación extensa pero no ejecutable:** pide pasos concretos y en orden.</a:t>
            </a:r>
          </a:p>
          <a:p>
            <a:r>
              <a:t>- **Prueba que no demuestra lo afirmado:** pregunta qué comportamiento se está verificando.</a:t>
            </a:r>
          </a:p>
          <a:p>
            <a:r>
              <a:t>- **La persona autora explica continuamente:** pídele que deje de intervenir y observe dónde se atasca la otra persona.</a:t>
            </a:r>
          </a:p>
          <a:p/>
          <a:p>
            <a:r>
              <a:t>Detalle para la explicación oral · Qué hace</a:t>
            </a:r>
          </a:p>
          <a:p>
            <a:r>
              <a:t>Describe únicamente comportamientos presentes en el incremento. No atribuye a MiniJarvis memoria, ficheros, menú o inteligencia artificial si todavía no existen.</a:t>
            </a:r>
          </a:p>
          <a:p/>
          <a:p>
            <a:r>
              <a:t>Detalle para la explicación oral · Qué límites tiene</a:t>
            </a:r>
          </a:p>
          <a:p>
            <a:r>
              <a:t>Explica de forma honesta lo que queda fuera de H1. Un límite bien documentado evita que la persona lectora espere capacidades que el programa no ofrece.</a:t>
            </a:r>
          </a:p>
          <a:p/>
          <a:p>
            <a:r>
              <a:t>Detalle para la explicación oral · Cómo se ejecuta</a:t>
            </a:r>
          </a:p>
          <a:p>
            <a:r>
              <a:t>Da pasos concretos y ordenados. Deben permitir localizar el proyecto, ejecutar el punto de entrada e introducir datos ficticios sin depender de instrucciones orales.</a:t>
            </a:r>
          </a:p>
          <a:p/>
          <a:p>
            <a:r>
              <a:t>Detalle para la explicación oral · Qué pruebas demuestran que funciona</a:t>
            </a:r>
          </a:p>
          <a:p>
            <a:r>
              <a:t>No basta con pegar una salida. Cada prueba debe indicar la entrada, lo esperado, lo obtenido y el comportamiento que permite verificar.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5–10 min: duración compartida 300 segundos. Trabajo: Analizar el modelo de README y la diferencia entre “funciona” y una prueba explicada. Función del soporte: explicación.</a:t>
            </a:r>
          </a:p>
          <a:p/>
          <a:p>
            <a:r>
              <a:t>Andamiaje y recuperación · Andamiaje ante bloqueos</a:t>
            </a:r>
          </a:p>
          <a:p>
            <a:r>
              <a:t>No reescribas el README por el equipo. Utiliza una pregunta específica:</a:t>
            </a:r>
          </a:p>
          <a:p/>
          <a:p>
            <a:r>
              <a:t>- **README demasiado vago:** «¿Podría ejecutarlo alguien que no estuvo en clase?»</a:t>
            </a:r>
          </a:p>
          <a:p>
            <a:r>
              <a:t>- **Solo aparece “funciona”:** «¿Qué entrada usaste y qué demuestra el resultado?»</a:t>
            </a:r>
          </a:p>
          <a:p>
            <a:r>
              <a:t>- **Prueba sin resultado esperado:** pide una predicción antes de aceptarla.</a:t>
            </a:r>
          </a:p>
          <a:p>
            <a:r>
              <a:t>- **Enlace a una carpeta raíz:** pide el enlace al recurso concreto.</a:t>
            </a:r>
          </a:p>
          <a:p>
            <a:r>
              <a:t>- **Enlace que solo abre la persona propietaria:** compruébalo desde otra sesión, cuenta o persona.</a:t>
            </a:r>
          </a:p>
          <a:p>
            <a:r>
              <a:t>- **Documentación extensa pero no ejecutable:** pide pasos concretos y en orden.</a:t>
            </a:r>
          </a:p>
          <a:p>
            <a:r>
              <a:t>- **Prueba que no demuestra lo afirmado:** pregunta qué comportamiento se está verificando.</a:t>
            </a:r>
          </a:p>
          <a:p>
            <a:r>
              <a:t>- **La persona autora explica continuamente:** pídele que deje de intervenir y observe dónde se atasca la otra persona.</a:t>
            </a:r>
          </a:p>
          <a:p/>
          <a:p>
            <a:r>
              <a:t>Detalle para la explicación oral · Qué debe comunicar el README de H1</a:t>
            </a:r>
          </a:p>
          <a:p>
            <a:r>
              <a:t>El README debe responder claramente a cuatro preguntas:</a:t>
            </a:r>
          </a:p>
          <a:p/>
          <a:p>
            <a:r>
              <a:t>```text</a:t>
            </a:r>
          </a:p>
          <a:p>
            <a:r>
              <a:t>1. ¿Qué hace?</a:t>
            </a:r>
          </a:p>
          <a:p>
            <a:r>
              <a:t>2. ¿Qué límites tiene?</a:t>
            </a:r>
          </a:p>
          <a:p>
            <a:r>
              <a:t>3. ¿Cómo se ejecuta?</a:t>
            </a:r>
          </a:p>
          <a:p>
            <a:r>
              <a:t>4. ¿Qué pruebas demuestran que funciona?</a:t>
            </a:r>
          </a:p>
          <a:p>
            <a:r>
              <a:t>```</a:t>
            </a:r>
          </a:p>
          <a:p/>
          <a:p>
            <a:r>
              <a:t>Detalle para la explicación oral · Andamiaje ante bloqueos</a:t>
            </a:r>
          </a:p>
          <a:p>
            <a:r>
              <a:t>No reescribas el README por el equipo. Utiliza una pregunta específica:</a:t>
            </a:r>
          </a:p>
          <a:p/>
          <a:p>
            <a:r>
              <a:t>- **README demasiado vago:** «¿Podría ejecutarlo alguien que no estuvo en clase?»</a:t>
            </a:r>
          </a:p>
          <a:p>
            <a:r>
              <a:t>- **Solo aparece “funciona”:** «¿Qué entrada usaste y qué demuestra el resultado?»</a:t>
            </a:r>
          </a:p>
          <a:p>
            <a:r>
              <a:t>- **Prueba sin resultado esperado:** pide una predicción antes de aceptarla.</a:t>
            </a:r>
          </a:p>
          <a:p>
            <a:r>
              <a:t>- **Enlace a una carpeta raíz:** pide el enlace al recurso concreto.</a:t>
            </a:r>
          </a:p>
          <a:p>
            <a:r>
              <a:t>- **Enlace que solo abre la persona propietaria:** compruébalo desde otra sesión, cuenta o persona.</a:t>
            </a:r>
          </a:p>
          <a:p>
            <a:r>
              <a:t>- **Documentación extensa pero no ejecutable:** pide pasos concretos y en orden.</a:t>
            </a:r>
          </a:p>
          <a:p>
            <a:r>
              <a:t>- **Prueba que no demuestra lo afirmado:** pregunta qué comportamiento se está verificando.</a:t>
            </a:r>
          </a:p>
          <a:p>
            <a:r>
              <a:t>- **La persona autora explica continuamente:** pídele que deje de intervenir y observe dónde se atasca la otra persona.</a:t>
            </a:r>
          </a:p>
          <a:p/>
          <a:p>
            <a:r>
              <a:t>Detalle para la explicación oral · Qué hace</a:t>
            </a:r>
          </a:p>
          <a:p>
            <a:r>
              <a:t>Describe únicamente comportamientos presentes en el incremento. No atribuye a MiniJarvis memoria, ficheros, menú o inteligencia artificial si todavía no existen.</a:t>
            </a:r>
          </a:p>
          <a:p/>
          <a:p>
            <a:r>
              <a:t>Detalle para la explicación oral · Qué límites tiene</a:t>
            </a:r>
          </a:p>
          <a:p>
            <a:r>
              <a:t>Explica de forma honesta lo que queda fuera de H1. Un límite bien documentado evita que la persona lectora espere capacidades que el programa no ofrece.</a:t>
            </a:r>
          </a:p>
          <a:p/>
          <a:p>
            <a:r>
              <a:t>Detalle para la explicación oral · Cómo se ejecuta</a:t>
            </a:r>
          </a:p>
          <a:p>
            <a:r>
              <a:t>Da pasos concretos y ordenados. Deben permitir localizar el proyecto, ejecutar el punto de entrada e introducir datos ficticios sin depender de instrucciones orales.</a:t>
            </a:r>
          </a:p>
          <a:p/>
          <a:p>
            <a:r>
              <a:t>Detalle para la explicación oral · Qué pruebas demuestran que funciona</a:t>
            </a:r>
          </a:p>
          <a:p>
            <a:r>
              <a:t>No basta con pegar una salida. Cada prueba debe indicar la entrada, lo esperado, lo obtenido y el comportamiento que permite verificar.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5–10 min: duración compartida 300 segundos. Trabajo: Analizar el modelo de README y la diferencia entre “funciona” y una prueba explicada. Función del soporte: apoyo al trabajo.</a:t>
            </a:r>
          </a:p>
          <a:p/>
          <a:p>
            <a:r>
              <a:t>Detalle para la explicación oral · Modelo pedagógico de README</a:t>
            </a:r>
          </a:p>
          <a:p>
            <a:r>
              <a:t>Los casos del modelo muestran dos recorridos de una decisión y una entrada no convertible. Solo deben documentarse como pruebas del equipo si esos comportamientos existen realmente en su incremento y pueden reproducirse. S214 no vuelve a enseñar decisiones, `Scanner` o conversiones.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5–10 min: duración compartida 300 segundos. Trabajo: Analizar el modelo de README y la diferencia entre “funciona” y una prueba explicada. Función del soporte: apoyo al trabajo.</a:t>
            </a:r>
          </a:p>
          <a:p/>
          <a:p>
            <a:r>
              <a:t>Detalle para la explicación oral · Modelo pedagógico de README</a:t>
            </a:r>
          </a:p>
          <a:p>
            <a:r>
              <a:t>Los casos del modelo muestran dos recorridos de una decisión y una entrada no convertible. Solo deben documentarse como pruebas del equipo si esos comportamientos existen realmente en su incremento y pueden reproducirse. S214 no vuelve a enseñar decisiones, `Scanner` o conversiones.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5–10 min: duración compartida 300 segundos. Trabajo: Analizar el modelo de README y la diferencia entre “funciona” y una prueba explicada. Función del soporte: apoyo al trabajo.</a:t>
            </a:r>
          </a:p>
          <a:p/>
          <a:p>
            <a:r>
              <a:t>Detalle para la explicación oral · Modelo pedagógico de README</a:t>
            </a:r>
          </a:p>
          <a:p>
            <a:r>
              <a:t>Los casos del modelo muestran dos recorridos de una decisión y una entrada no convertible. Solo deben documentarse como pruebas del equipo si esos comportamientos existen realmente en su incremento y pueden reproducirse. S214 no vuelve a enseñar decisiones, `Scanner` o conversiones.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5–10 min: duración compartida 300 segundos. Trabajo: Analizar el modelo de README y la diferencia entre “funciona” y una prueba explicada. Función del soporte: apoyo al trabajo.</a:t>
            </a:r>
          </a:p>
          <a:p/>
          <a:p>
            <a:r>
              <a:t>Detalle para la explicación oral · Modelo pedagógico de README</a:t>
            </a:r>
          </a:p>
          <a:p>
            <a:r>
              <a:t>Los casos del modelo muestran dos recorridos de una decisión y una entrada no convertible. Solo deben documentarse como pruebas del equipo si esos comportamientos existen realmente en su incremento y pueden reproducirse. S214 no vuelve a enseñar decisiones, `Scanner` o conversiones.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5–10 min: duración compartida 300 segundos. Trabajo: Analizar el modelo de README y la diferencia entre “funciona” y una prueba explicada. Función del soporte: apoyo al trabajo.</a:t>
            </a:r>
          </a:p>
          <a:p/>
          <a:p>
            <a:r>
              <a:t>Detalle para la explicación oral · Qué convierte una prueba en reproducible</a:t>
            </a:r>
          </a:p>
          <a:p>
            <a:r>
              <a:t>Una salida coincidente no demuestra cualquier afirmación. El equipo debe nombrar el comportamiento concreto que el caso recorre.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5–10 min: duración compartida 300 segundos. Trabajo: Analizar el modelo de README y la diferencia entre “funciona” y una prueba explicada. Función del soporte: apoyo al trabajo.</a:t>
            </a:r>
          </a:p>
          <a:p/>
          <a:p>
            <a:r>
              <a:t>Detalle para la explicación oral · Qué convierte una prueba en reproducible</a:t>
            </a:r>
          </a:p>
          <a:p>
            <a:r>
              <a:t>Una salida coincidente no demuestra cualquier afirmación. El equipo debe nombrar el comportamiento concreto que el caso recorre.</a:t>
            </a:r>
          </a:p>
          <a:p/>
          <a:p>
            <a:r>
              <a:t>Una prueba verificable permite seguir esta relación:</a:t>
            </a:r>
          </a:p>
          <a:p/>
          <a:p>
            <a:r>
              <a:t>Cuando ayude a localizarla, añade un enlace profundo al archivo, prueba o sección concreta del repositorio.</a:t>
            </a:r>
          </a:p>
          <a:p/>
          <a:p>
            <a:r>
              <a:t>Modelo:</a:t>
            </a:r>
          </a:p>
          <a:p/>
          <a:p>
            <a:r>
              <a:t>```text</a:t>
            </a:r>
          </a:p>
          <a:p>
            <a:r>
              <a:t>Prueba:</a:t>
            </a:r>
          </a:p>
          <a:p>
            <a:r>
              <a:t>Entrada usada:</a:t>
            </a:r>
          </a:p>
          <a:p>
            <a:r>
              <a:t>Resultado esperado:</a:t>
            </a:r>
          </a:p>
          <a:p>
            <a:r>
              <a:t>Resultado obtenido:</a:t>
            </a:r>
          </a:p>
          <a:p>
            <a:r>
              <a:t>Demuestra:</a:t>
            </a:r>
          </a:p>
          <a:p>
            <a:r>
              <a:t>Dónde comprobarlo:</a:t>
            </a:r>
          </a:p>
          <a:p>
            <a:r>
              <a:t>```</a:t>
            </a:r>
          </a:p>
          <a:p/>
          <a:p>
            <a:r>
              <a:t>Distingue:</a:t>
            </a:r>
          </a:p>
          <a:p/>
          <a:p>
            <a:r>
              <a:t>- **ejecutar algo:** poner el programa en marcha;</a:t>
            </a:r>
          </a:p>
          <a:p>
            <a:r>
              <a:t>- **observar un resultado:** registrar qué ocurrió;</a:t>
            </a:r>
          </a:p>
          <a:p>
            <a:r>
              <a:t>- **explicar una prueba:** relacionar entrada, predicción, resultado y propiedad comprobada.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5–10 min: duración compartida 300 segundos. Trabajo: Analizar el modelo de README y la diferencia entre “funciona” y una prueba explicada. Función del soporte: apoyo al trabajo.</a:t>
            </a:r>
          </a:p>
          <a:p/>
          <a:p>
            <a:r>
              <a:t>Detalle para la explicación oral · Qué convierte una prueba en reproducible</a:t>
            </a:r>
          </a:p>
          <a:p>
            <a:r>
              <a:t>Una salida coincidente no demuestra cualquier afirmación. El equipo debe nombrar el comportamiento concreto que el caso recorre.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10–18 min: duración compartida 480 segundos. Trabajo: Comprobación individual: localizar código, entrada, esperado, obtenido, significado y límite. Función del soporte: actividad.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10–18 min: duración compartida 480 segundos. Trabajo: Comprobación individual: localizar código, entrada, esperado, obtenido, significado y límite. Función del soporte: actividad.</a:t>
            </a:r>
          </a:p>
          <a:p/>
          <a:p>
            <a:r>
              <a:t>Detalle para la explicación oral · Localización y comprensión — INDIVIDUAL</a:t>
            </a:r>
          </a:p>
          <a:p>
            <a:r>
              <a:t>La persona no necesita memorizar el README. Debe saber encontrar la evidencia y comprenderla.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18–30 min: duración compartida 720 segundos. Trabajo: Consolidar en equipo README, instrucciones, límites, pruebas y enlaces profundos. Función del soporte: explicación.</a:t>
            </a:r>
          </a:p>
          <a:p/>
          <a:p>
            <a:r>
              <a:t>Detalle para la explicación oral · Enlace profundo y permiso útil</a:t>
            </a:r>
          </a:p>
          <a:p>
            <a:r>
              <a:t>Un enlace profundo lleva directamente al archivo, prueba o sección relevante. Un enlace a la raíz de una carpeta obliga a buscar y puede ocultar la evidencia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18–30 min: duración compartida 720 segundos. Trabajo: Consolidar en equipo README, instrucciones, límites, pruebas y enlaces profundos. Función del soporte: explicación.</a:t>
            </a:r>
          </a:p>
          <a:p/>
          <a:p>
            <a:r>
              <a:t>Detalle para la explicación oral · Enlace profundo y permiso útil</a:t>
            </a:r>
          </a:p>
          <a:p>
            <a:r>
              <a:t>Un enlace profundo lleva directamente al archivo, prueba o sección relevante. Un enlace a la raíz de una carpeta obliga a buscar y puede ocultar la evidencia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18–30 min: duración compartida 720 segundos. Trabajo: Consolidar en equipo README, instrucciones, límites, pruebas y enlaces profundos. Función del soporte: actividad.</a:t>
            </a:r>
          </a:p>
          <a:p/>
          <a:p>
            <a:r>
              <a:t>Detalle para la explicación oral · Consolidación — EQUIPO</a:t>
            </a:r>
          </a:p>
          <a:p>
            <a:r>
              <a:t>No se escribe documentación para aparentar más alcance. Si una prueba falla o un comportamiento no existe, se corrige el programa o la afirmación antes de presentarlo como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18–30 min: duración compartida 720 segundos. Trabajo: Consolidar en equipo README, instrucciones, límites, pruebas y enlaces profundos. Función del soporte: actividad.</a:t>
            </a:r>
          </a:p>
          <a:p/>
          <a:p>
            <a:r>
              <a:t>Detalle para la explicación oral · Consolidación — EQUIPO</a:t>
            </a:r>
          </a:p>
          <a:p>
            <a:r>
              <a:t>No se escribe documentación para aparentar más alcance. Si una prueba falla o un comportamiento no existe, se corrige el programa o la afirmación antes de presentarlo como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30–38 min: duración compartida 480 segundos. Trabajo: Intercambiar por parejas y probar la documentación sin explicación oral previa. Función del soporte: actividad. Reloj fuente 38–42 min: duración compartida 240 segundos. Trabajo: Corregir bloqueos, enlaces y permisos descubiertos. Función del soporte: actividad.</a:t>
            </a:r>
          </a:p>
          <a:p/>
          <a:p>
            <a:r>
              <a:t>Detalle para la explicación oral · Comprobación externa — PAREJAS</a:t>
            </a:r>
          </a:p>
          <a:p>
            <a:r>
              <a:t>La persona autora observa y anota mentalmente dónde aparece el bloqueo, pero no dirige cada paso. Al terminar puede preguntar qué resultó ambiguo y corregirlo con el equipo.</a:t>
            </a:r>
          </a:p>
          <a:p/>
          <a:p>
            <a:r>
              <a:t>1. abrir el enlace;</a:t>
            </a:r>
          </a:p>
          <a:p>
            <a:r>
              <a:t>2. encontrar el README;</a:t>
            </a:r>
          </a:p>
          <a:p>
            <a:r>
              <a:t>3. entender qué hace H1;</a:t>
            </a:r>
          </a:p>
          <a:p>
            <a:r>
              <a:t>4. entender sus límites;</a:t>
            </a:r>
          </a:p>
          <a:p>
            <a:r>
              <a:t>5. seguir las instrucciones de ejecución;</a:t>
            </a:r>
          </a:p>
          <a:p>
            <a:r>
              <a:t>6. localizar las pruebas;</a:t>
            </a:r>
          </a:p>
          <a:p>
            <a:r>
              <a:t>7. comprender qué demuestra al menos una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30–38 min: duración compartida 480 segundos. Trabajo: Intercambiar por parejas y probar la documentación sin explicación oral previa. Función del soporte: actividad.</a:t>
            </a:r>
          </a:p>
          <a:p/>
          <a:p>
            <a:r>
              <a:t>Detalle para la explicación oral · Comprobación externa — PAREJAS</a:t>
            </a:r>
          </a:p>
          <a:p>
            <a:r>
              <a:t>La persona autora observa y anota mentalmente dónde aparece el bloqueo, pero no dirige cada paso. Al terminar puede preguntar qué resultó ambiguo y corregirlo con el equipo.</a:t>
            </a:r>
          </a:p>
          <a:p/>
          <a:p>
            <a:r>
              <a:t>La pregunta de control es:</a:t>
            </a:r>
          </a:p>
          <a:p/>
          <a:p>
            <a:r>
              <a:t>&gt; ¿Podría otra persona ejecutar y comprobar el proyecto siguiendo únicamente la documentación?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30–38 min: duración compartida 480 segundos. Trabajo: Intercambiar por parejas y probar la documentación sin explicación oral previa. Función del soporte: actividad.</a:t>
            </a:r>
          </a:p>
          <a:p/>
          <a:p>
            <a:r>
              <a:t>Detalle para la explicación oral · Comprobación externa — PAREJAS</a:t>
            </a:r>
          </a:p>
          <a:p>
            <a:r>
              <a:t>La persona autora observa y anota mentalmente dónde aparece el bloqueo, pero no dirige cada paso. Al terminar puede preguntar qué resultó ambiguo y corregirlo con 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30–38 min: duración compartida 480 segundos. Trabajo: Intercambiar por parejas y probar la documentación sin explicación oral previa. Función del soporte: apoyo al trabajo.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30–38 min: duración compartida 480 segundos. Trabajo: Intercambiar por parejas y probar la documentación sin explicación oral previa. Función del soporte: apoyo al trabajo.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30–38 min: duración compartida 480 segundos. Trabajo: Intercambiar por parejas y probar la documentación sin explicación oral previa. Función del soporte: apoyo al trabajo.</a:t>
            </a:r>
          </a:p>
          <a:p/>
          <a:p>
            <a:r>
              <a:t>Detalle para la explicación oral · Arquitectura de evidencias y límite de S214</a:t>
            </a:r>
          </a:p>
          <a:p>
            <a:r>
              <a:t>- **GitHub:** fuente canónica para código, README, evolución técnica, pruebas localizables y enlaces técnicos.</a:t>
            </a:r>
          </a:p>
          <a:p>
            <a:r>
              <a:t>- **Scrum:** solo registra una tarea, decisión, cambio, bloqueo o planificación real; no se actualiza para demostrar que ocurrió S214.</a:t>
            </a:r>
          </a:p>
          <a:p>
            <a:r>
              <a:t>- **Diario individual:** únicamente si surge un aprendizaje, dificultad o decisión personal significativa; no se exige fila S214 ni revisión administrativa.</a:t>
            </a:r>
          </a:p>
          <a:p>
            <a:r>
              <a:t>- **Drive:** solo para una evidencia excepcional no-code sin una ubicación más natural; no duplica código, consola, capturas, pruebas técnicas o README.</a:t>
            </a:r>
          </a:p>
          <a:p>
            <a:r>
              <a:t>- **Sites:** no se crean ni actualizan durante H1. Una evidencia significativa podrá seleccionarse posteriormente durante C1.</a:t>
            </a:r>
          </a:p>
          <a:p>
            <a:r>
              <a:t>- **Moodle:** S214 prepara enlaces, permisos y documentación; S215 realiza la entrega oficial de H1.</a:t>
            </a:r>
          </a:p>
          <a:p/>
          <a:p>
            <a:r>
              <a:t>No se crea una evidencia de ejecución separada cuando las pruebas y su explicación ya están localizadas desde GitHub o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30–38 min: duración compartida 480 segundos. Trabajo: Intercambiar por parejas y probar la documentación sin explicación oral previa. Función del soporte: apoyo al trabajo.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PRESENTADOR</a:t>
            </a:r>
          </a:p>
          <a:p/>
          <a:p>
            <a:r>
              <a:t>TIEMPO ORIENTATIVO (no proyectado)</a:t>
            </a:r>
          </a:p>
          <a:p>
            <a:r>
              <a:t>Reloj fuente 42–45 min: duración compartida 180 segundos. Trabajo: Comprobar el cierre y preparar la transición hacia la defensa. Función del soporte: cierre.</a:t>
            </a:r>
          </a:p>
          <a:p/>
          <a:p>
            <a:r>
              <a:t>Facilitación docente · Transición a S215</a:t>
            </a:r>
          </a:p>
          <a:p>
            <a:r>
              <a:t>Como reflexión breve, sin crear una tarea adicional:</a:t>
            </a:r>
          </a:p>
          <a:p/>
          <a:p>
            <a:r>
              <a:t>&gt; Si en la defensa te pido que señales una prueba, ejecutes, predigas una salida o modifiques una parte pequeña, ¿sabes dónde está y qué demuestra?</a:t>
            </a:r>
          </a:p>
          <a:p/>
          <a:p>
            <a:r>
              <a:t>&gt; ¿Qué evidencia de H1 podría ser suficientemente significativa como para seleccionarla posteriormente durante C1?</a:t>
            </a:r>
          </a:p>
          <a:p/>
          <a:p>
            <a:r>
              <a:t>Transición · Al terminar</a:t>
            </a:r>
          </a:p>
          <a:p>
            <a:r>
              <a:t>Anota únicamente lo necesario para la continuidad docente: documentación que otra persona no pudo seguir, enlace inaccesible, prueba débil, persona que no localiza su evidencia o ajuste temporal para la próxima aplicación.</a:t>
            </a:r>
          </a:p>
          <a:p/>
          <a:p>
            <a:r>
              <a:t>Detalle para la explicación oral · Transición a S215</a:t>
            </a:r>
          </a:p>
          <a:p>
            <a:r>
              <a:t>Documentar no sustituye defender. La documentación preparada debe permitir encontrar rápidamente aquello que después habrá que señalar, explicar, ejecutar y comprobar.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ódigo de sesión" descr="Código de sesión"/>
          <p:cNvSpPr txBox="1"/>
          <p:nvPr/>
        </p:nvSpPr>
        <p:spPr>
          <a:xfrm>
            <a:off x="640080" y="548640"/>
            <a:ext cx="10881360" cy="5278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86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3" name="Título" descr="Título"/>
          <p:cNvSpPr txBox="1"/>
          <p:nvPr/>
        </p:nvSpPr>
        <p:spPr>
          <a:xfrm>
            <a:off x="640080" y="1508760"/>
            <a:ext cx="10881360" cy="164592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44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Liberation Sans"/>
              </a:defRPr>
            </a:pPr>
            <a:r>
              <a:t>README, pruebas reproducibles y preparación del cierre</a:t>
            </a:r>
          </a:p>
        </p:txBody>
      </p:sp>
      <p:sp>
        <p:nvSpPr>
          <p:cNvPr id="4" name="Fase HEXA" descr="Fase HEXA"/>
          <p:cNvSpPr txBox="1"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Liberation Sans"/>
              </a:defRPr>
            </a:pPr>
            <a:r>
              <a:t>Fase HEXA: Comunicar — evaluar y reflexionar</a:t>
            </a:r>
          </a:p>
        </p:txBody>
      </p:sp>
      <p:sp>
        <p:nvSpPr>
          <p:cNvPr id="5" name="Modalidad del alumnado" descr="Modalidad del alumnado"/>
          <p:cNvSpPr txBox="1"/>
          <p:nvPr/>
        </p:nvSpPr>
        <p:spPr>
          <a:xfrm>
            <a:off x="640080" y="4617720"/>
            <a:ext cx="10881360" cy="50292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42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Liberation Sans"/>
              </a:defRPr>
            </a:pPr>
            <a:r>
              <a:t>Modalidad publicada: Equipo</a:t>
            </a:r>
          </a:p>
        </p:txBody>
      </p:sp>
      <p:sp>
        <p:nvSpPr>
          <p:cNvPr id="6" name="Organización docente" descr="Organización docente"/>
          <p:cNvSpPr txBox="1"/>
          <p:nvPr/>
        </p:nvSpPr>
        <p:spPr>
          <a:xfrm>
            <a:off x="640080" y="5230368"/>
            <a:ext cx="10881360" cy="86868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Liberation Sans"/>
              </a:defRPr>
            </a:pPr>
            <a:r>
              <a:t>Organización docente: INDIVIDUAL → EQUIPO → PAREJAS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"title", "plan_index": 0, "recognition": false, "unit_ids": ["unit-0", "unit-1", "unit-2", "unit-16", "unit-21", "unit-22", "unit-23", "unit-24", "unit-25", "unit-26", "unit-27"], "roles": {"unit-0": "core", "unit-1": "core", "unit-2": "core", "unit-16": "core", "unit-21": "core", "unit-22": "core", "unit-23": "core", "unit-24": "core", "unit-25": "core", "unit-26": "core", "unit-27": "core"}, "source_refs": [{"source": "teacher", "heading": "Finalidad de la sesión", "block_index": 0, "fragment": 0}, {"source": "teacher", "heading": "Antes de entrar en clase", "block_index": 1, "fragment": 0}, {"source": "teacher", "heading": "Apertura docente", "block_index": 2, "fragment": 0}, {"source": "teacher", "heading": "Observación docente", "block_index": 16, "fragment": 0}, {"source": "teacher", "heading": "Temporalización orientativa", "block_index": 18, "fragment": 0}, {"source": "teacher", "heading": "Temporalización orientativa", "block_index": 18, "fragment": 0}, {"source": "teacher", "heading": "Temporalización orientativa", "block_index": 18, "fragment": 0}, {"source": "teacher", "heading": "Temporalización orientativa", "block_index": 18, "fragment": 0}, {"source": "teacher", "heading": "Temporalización orientativa", "block_index": 18, "fragment": 0}, {"source": "teacher", "heading": "Temporalización orientativa", "block_index": 18, "fragment": 0}, {"source": "teacher", "heading": "Temporalización orientativa", "block_index": 18, "fragment": 0}], "visible_sources": [], "notes_sources": [{"function": "preparation", "heading": "Antes de entrar en clase", "sha256": "672142f6536104e432a8eeb04ca9666956d6fc26ba5009b623635e4c92023016"}, {"function": "explanations", "heading": "Apertura docente", "sha256": "4aabf171aaebb333c04dbd65f8e4c0f3ceec1f42ca5e3eb181a6dad00399d475"}, {"function": "explanations", "heading": "Apertura docente", "sha256": "4bab25506677e86bddf9ad160246bc40b122a325216701d35cb50c474136c84c"}, {"function": "explanations", "heading": "Apertura docente", "sha256": "4147cb5e735d174814d20206040b7d6b9ef4c4461d05b349582db92f73d981b8"}, {"function": "explanations", "heading": "Apertura docente", "sha256": "b5f1211e4f836a12b7f1e5539ab90031ebb2734c1434e62152d280a020645128"}, {"function": "explanations", "heading": "Apertura docente", "sha256": "df9acf2e0cc9e2f7147f4ae4b90b1e1f9eeda1377e5dbfd9739ecfa79384031d"}, {"function": "explanations", "heading": "Apertura docente", "sha256": "0f9e7483f2d401b0099f29f5170dfecedf0c60e8dd4cf20001a4b89f7dd36ce4"}, {"function": "explanations", "heading": "Apertura docente", "sha256": "961a36ac1093894fee007ef1fca1e4742fada4cd15b2c78a5cc5f7df8caa61e0"}, {"function": "observation", "heading": "Observación docente", "sha256": "702e542d8c7901d3c49ae5b49a35dde7c118ade7c15860965b391370d50b2825"}, {"function": "observation", "heading": "Observación docente", "sha256": "ef9a6b24ae8072a9ebe4f78d6315ab3feb947a3b9d801006a8fb3a63098c897f"}, {"function": "timeline", "heading": "Temporalización orientativa", "sha256": "af3853f24d20cb0ae7b9991cee848636ac8e766d6c6fba9eb8fcf0ef98ffc1b8"}, {"function": "timeline", "heading": "Temporalización orientativa", "sha256": "0e4a942f2cd9ec380385d8a16f5a6b4010e6867a528c61ff8c7003dc594d82ab"}, {"function": "timeline", "heading": "Temporalización orientativa", "sha256": "3c8610261f8510a26bd808912d2d30414382839511b91982dd906e27b98108c1"}, {"function": "timeline", "heading": "Temporalización orientativa", "sha256": "806f9c55558fe3f822cc88f6d2223bbaeaac2d0ac45c379705eafe62adb910f2"}, {"function": "timeline", "heading": "Temporalización orientativa", "sha256": "39dff45d2f47e77fd289688c9064f1ebaa2508901b798a288b4131aeff7dfb37"}, {"function": "timeline", "heading": "Temporalización orientativa", "sha256": "0630f041ca7dc3f1cd533a7085e6aa2222c93d55592e3d8b25e4ab0f2bcbc5bc"}, {"function": "timeline", "heading": "Temporalización orientativa", "sha256": "6ee85d6192d3dba0589d42b395b9d486059d7a528de7579777a007b23540df0c"}, {"function": "facilitation", "heading": "Finalidad de la sesión", "sha256": "6d8b05e3ef3caa37028ee6e976c55d34f581494535092850227aa14e88dbb12f"}], "relations": {"source_supports_enriched": true}, "timeline_refs": [0], "composition": {"origin_slides": [1]}, "timing": {"seconds": 0, "allocations": [{"source_index": 0, "seconds": 0, "decision": "Intervalo compartido íntegro; propietario contable seleccionado por función de actividad y referencia timeline de unidad (identidad semántica en empates). Soporte, sin duplicación contable. Portada limitada a la apertura inicial: las referencias timeline presenter-only no convierten la portada en soporte de todos los tramos.", "source_time": "0–5 min", "source_seconds": 300, "is_owner": false, "function": "explanations"}], "clock_intervals": [0], "presenter_notes": "Reloj fuente 0–5 min: duración compartida 300 segundos. Trabajo: Presentar el criterio de documentación reproducible y localizar individualmente las evidencias. Función del soporte: apoyo al trabajo.", "shared_intervals": [{"source_index": 0, "source_time": "0–5 min", "seconds": 300, "is_owner": false, "function": "explanations", "action": "Presentar el criterio de documentación reproducible y localizar individualmente las evidencias.", "concurrent": false, "parallel_work": ""}]}, "code_blocks": [], "representation_needs": []}</ns0:renderMetadata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Finalidad de la sesión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1338072"/>
          </a:xfrm>
          <a:prstGeom prst="rect">
            <a:avLst/>
          </a:prstGeom>
          <a:solidFill>
            <a:srgbClr val="2F5BA8"/>
          </a:solidFill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iberation Sans"/>
              </a:defRPr>
            </a:pPr>
            <a:r>
              <a:t>Otra persona debe poder entender, ejecutar y comprobar H1 sin depender de una explicación oral del equipo.</a:t>
            </a:r>
          </a:p>
        </p:txBody>
      </p:sp>
      <p:sp>
        <p:nvSpPr>
          <p:cNvPr id="6" name="Contenido" descr="Contenido"/>
          <p:cNvSpPr txBox="1"/>
          <p:nvPr/>
        </p:nvSpPr>
        <p:spPr>
          <a:xfrm>
            <a:off x="640080" y="2846832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S214 prepara el cierre mediante documentación y pruebas accesibles.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"concept", "plan_index": 0, "recognition": false, "unit_ids": ["unit-0"], "roles": {"unit-0": "core"}, "source_refs": [{"source": "teacher", "heading": "Finalidad de la sesión", "block_index": 0, "fragment": 0}], "visible_sources": [{"index": 1, "sha256": "c82567816b0ffcb3565919b2dfd35e3241ac472874f89dffb317ec9e9c9a666c"}, {"index": 2, "sha256": "7324ea5ce2422b3dc323989a010418011ff96edf6331859095535616f6b5c0ee"}], "notes_sources": [{"function": "visible_detail", "heading": "Finalidad de la sesión", "sha256": "7324ea5ce2422b3dc323989a010418011ff96edf6331859095535616f6b5c0ee"}], "relations": {"unit_relations": {"unit-0": {}}, "schedule": null, "source_supports_enriched": true}, "timeline_refs": [0], "composition": {"origin_slides": [2]}, "timing": {"seconds": 300, "allocations": [{"source_index": 0, "seconds": 300, "decision": "Intervalo compartido íntegro; propietario contable seleccionado por función de actividad y referencia timeline de unidad (identidad semántica en empates). Propietario. ", "source_time": "0–5 min", "source_seconds": 300, "is_owner": true, "function": "explanations"}], "clock_intervals": [0], "presenter_notes": "Reloj fuente 0–5 min: duración compartida 300 segundos. Trabajo: Presentar el criterio de documentación reproducible y localizar individualmente las evidencias. Función del soporte: apoyo al trabajo.", "shared_intervals": [{"source_index": 0, "source_time": "0–5 min", "seconds": 300, "is_owner": true, "function": "explanations", "action": "Presentar el criterio de documentación reproducible y localizar individualmente las evidencias.", "concurrent": false, "parallel_work": ""}]}, "code_blocks": [], "representation_needs": []}</ns0:renderMetadata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Qué debe comunicar el README de H1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Describe únicamente comportamientos presentes en el incremento.</a:t>
            </a:r>
          </a:p>
        </p:txBody>
      </p:sp>
      <p:sp>
        <p:nvSpPr>
          <p:cNvPr id="6" name="Contenido" descr="Contenido"/>
          <p:cNvSpPr txBox="1"/>
          <p:nvPr/>
        </p:nvSpPr>
        <p:spPr>
          <a:xfrm>
            <a:off x="640080" y="2455672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Explica de forma honesta lo que queda fuera de H1.</a:t>
            </a:r>
          </a:p>
        </p:txBody>
      </p:sp>
      <p:sp>
        <p:nvSpPr>
          <p:cNvPr id="7" name="Contenido" descr="Contenido"/>
          <p:cNvSpPr txBox="1"/>
          <p:nvPr/>
        </p:nvSpPr>
        <p:spPr>
          <a:xfrm>
            <a:off x="640080" y="3494024"/>
            <a:ext cx="10881360" cy="133807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Deben permitir localizar el proyecto, ejecutar el punto de entrada e introducir datos ficticios sin depender de instrucciones orales.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"focus", "plan_index": 1, "recognition": false, "unit_ids": ["unit-3", "unit-17", "unit-4", "unit-5", "unit-6", "unit-7"], "roles": {"unit-3": "core", "unit-17": "core", "unit-4": "core", "unit-5": "core", "unit-6": "core", "unit-7": "core"}, "source_refs": [{"source": "teacher", "heading": "Qué debe comunicar el README de H1", "block_index": 3, "fragment": 0}, {"source": "teacher", "heading": "Andamiaje ante bloqueos", "block_index": 17, "fragment": 0}, {"source": "teacher", "heading": "Qué hace", "block_index": 4, "fragment": 0}, {"source": "teacher", "heading": "Qué debe comunicar el README de H1", "block_index": 3, "fragment": 0}, {"source": "teacher", "heading": "Qué límites tiene", "block_index": 5, "fragment": 0}, {"source": "teacher", "heading": "Qué debe comunicar el README de H1", "block_index": 3, "fragment": 0}, {"source": "teacher", "heading": "Cómo se ejecuta", "block_index": 6, "fragment": 0}, {"source": "teacher", "heading": "Qué debe comunicar el README de H1", "block_index": 3, "fragment": 0}, {"source": "teacher", "heading": "Qué pruebas demuestran que funciona", "block_index": 7, "fragment": 0}, {"source": "teacher", "heading": "Qué debe comunicar el README de H1", "block_index": 3, "fragment": 0}], "visible_sources": [{"index": 2, "sha256": "a636b4509c43bae9ff02c0a60ae91d2d2de11c18ce8023d043cb42fcbd13ce9b"}, {"index": 3, "sha256": "654a0cfc17ea5ea3591607ca14693560b81cd3a446808702110891243ced1e77"}, {"index": 4, "sha256": "321b8f77d7f99f6943f2acb292244a3cc0c8daf5a3e76bad69cfebc4c6140626"}], "notes_sources": [{"function": "scaffolding", "heading": "Andamiaje ante bloqueos", "sha256": "31db508635c8add0672f69003d7c9145999f10c695dd58117652f84c495c43e2"}, {"function": "scaffolding", "heading": "Andamiaje ante bloqueos", "sha256": "b192c691e10627387264a6702aaadb31c41971aec02252ccb4b40b7e831c69d2"}, {"function": "facilitation", "heading": "Qué debe comunicar el README de H1", "sha256": "fa5e9c3d65e7a2df320305ae219425e1263990c24195edfad1ce2eb344e5dd0b"}, {"function": "visible_detail", "heading": "Qué debe comunicar el README de H1", "sha256": "fa5e9c3d65e7a2df320305ae219425e1263990c24195edfad1ce2eb344e5dd0b"}, {"function": "visible_detail", "heading": "Qué debe comunicar el README de H1", "sha256": "6fdc1e3b433deeba37576c3eb5499adb23a2aae4ab4217202461462ac4b5994f"}, {"function": "visible_detail", "heading": "Andamiaje ante bloqueos", "sha256": "31db508635c8add0672f69003d7c9145999f10c695dd58117652f84c495c43e2"}, {"function": "visible_detail", "heading": "Andamiaje ante bloqueos", "sha256": "b192c691e10627387264a6702aaadb31c41971aec02252ccb4b40b7e831c69d2"}, {"function": "visible_detail", "heading": "Qué hace", "sha256": "a636b4509c43bae9ff02c0a60ae91d2d2de11c18ce8023d043cb42fcbd13ce9b"}, {"function": "visible_detail", "heading": "Qué límites tiene", "sha256": "654a0cfc17ea5ea3591607ca14693560b81cd3a446808702110891243ced1e77"}, {"function": "visible_detail", "heading": "Cómo se ejecuta", "sha256": "321b8f77d7f99f6943f2acb292244a3cc0c8daf5a3e76bad69cfebc4c6140626"}, {"function": "visible_detail", "heading": "Qué pruebas demuestran que funciona", "sha256": "86dd8b27fcc54827ec275086bf3807240a6baabb512a1fbf2fd45a4d6be2d38b"}], "relations": {"unit_relations": {"unit-7": {}}, "schedule": null, "source_supports_enriched": true}, "timeline_refs": [1], "composition": {"origin_slides": [3, 4, 5, 6, 7]}, "timing": {"seconds": 300, "allocations": [{"source_index": 1, "seconds": 300, "decision": "Intervalo compartido íntegro; propietario contable seleccionado por función de actividad y referencia timeline de unidad (identidad semántica en empates). Propietario. ", "source_time": "5–10 min", "source_seconds": 300, "is_owner": true, "function": "concept"}], "clock_intervals": [1], "presenter_notes": "Reloj fuente 5–10 min: duración compartida 300 segundos. Trabajo: Analizar el modelo de README y la diferencia entre “funciona” y una prueba explicada. Función del soporte: explicación.", "shared_intervals": [{"source_index": 1, "source_time": "5–10 min", "seconds": 300, "is_owner": true, "function": "concept", "action": "Analizar el modelo de README y la diferencia entre “funciona” y una prueba explicada.", "concurrent": false, "parallel_work": ""}]}, "code_blocks": [], "representation_needs": []}</ns0:renderMetadata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Qué debe comunicar el README de H1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133807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Cada prueba debe indicar la entrada, lo esperado, lo obtenido y el comportamiento que permite verificar.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"focus", "plan_index": 1, "recognition": false, "unit_ids": ["unit-3", "unit-17", "unit-4", "unit-5", "unit-6", "unit-7"], "roles": {"unit-3": "core", "unit-17": "core", "unit-4": "core", "unit-5": "core", "unit-6": "core", "unit-7": "core"}, "source_refs": [{"source": "teacher", "heading": "Qué debe comunicar el README de H1", "block_index": 3, "fragment": 0}, {"source": "teacher", "heading": "Andamiaje ante bloqueos", "block_index": 17, "fragment": 0}, {"source": "teacher", "heading": "Qué hace", "block_index": 4, "fragment": 0}, {"source": "teacher", "heading": "Qué debe comunicar el README de H1", "block_index": 3, "fragment": 0}, {"source": "teacher", "heading": "Qué límites tiene", "block_index": 5, "fragment": 0}, {"source": "teacher", "heading": "Qué debe comunicar el README de H1", "block_index": 3, "fragment": 0}, {"source": "teacher", "heading": "Cómo se ejecuta", "block_index": 6, "fragment": 0}, {"source": "teacher", "heading": "Qué debe comunicar el README de H1", "block_index": 3, "fragment": 0}, {"source": "teacher", "heading": "Qué pruebas demuestran que funciona", "block_index": 7, "fragment": 0}, {"source": "teacher", "heading": "Qué debe comunicar el README de H1", "block_index": 3, "fragment": 0}], "visible_sources": [{"index": 5, "sha256": "86dd8b27fcc54827ec275086bf3807240a6baabb512a1fbf2fd45a4d6be2d38b"}], "notes_sources": [{"function": "scaffolding", "heading": "Andamiaje ante bloqueos", "sha256": "31db508635c8add0672f69003d7c9145999f10c695dd58117652f84c495c43e2"}, {"function": "scaffolding", "heading": "Andamiaje ante bloqueos", "sha256": "b192c691e10627387264a6702aaadb31c41971aec02252ccb4b40b7e831c69d2"}, {"function": "facilitation", "heading": "Qué debe comunicar el README de H1", "sha256": "fa5e9c3d65e7a2df320305ae219425e1263990c24195edfad1ce2eb344e5dd0b"}, {"function": "visible_detail", "heading": "Qué debe comunicar el README de H1", "sha256": "fa5e9c3d65e7a2df320305ae219425e1263990c24195edfad1ce2eb344e5dd0b"}, {"function": "visible_detail", "heading": "Qué debe comunicar el README de H1", "sha256": "6fdc1e3b433deeba37576c3eb5499adb23a2aae4ab4217202461462ac4b5994f"}, {"function": "visible_detail", "heading": "Andamiaje ante bloqueos", "sha256": "31db508635c8add0672f69003d7c9145999f10c695dd58117652f84c495c43e2"}, {"function": "visible_detail", "heading": "Andamiaje ante bloqueos", "sha256": "b192c691e10627387264a6702aaadb31c41971aec02252ccb4b40b7e831c69d2"}, {"function": "visible_detail", "heading": "Qué hace", "sha256": "a636b4509c43bae9ff02c0a60ae91d2d2de11c18ce8023d043cb42fcbd13ce9b"}, {"function": "visible_detail", "heading": "Qué límites tiene", "sha256": "654a0cfc17ea5ea3591607ca14693560b81cd3a446808702110891243ced1e77"}, {"function": "visible_detail", "heading": "Cómo se ejecuta", "sha256": "321b8f77d7f99f6943f2acb292244a3cc0c8daf5a3e76bad69cfebc4c6140626"}, {"function": "visible_detail", "heading": "Qué pruebas demuestran que funciona", "sha256": "86dd8b27fcc54827ec275086bf3807240a6baabb512a1fbf2fd45a4d6be2d38b"}], "relations": {"unit_relations": {"unit-7": {}}, "schedule": null, "source_supports_enriched": true}, "timeline_refs": [1], "composition": {"origin_slides": [3, 4, 5, 6, 7]}, "timing": {"seconds": 0, "allocations": [{"source_index": 1, "seconds": 0, "decision": "Intervalo compartido íntegro; propietario contable seleccionado por función de actividad y referencia timeline de unidad (identidad semántica en empates). Soporte, sin duplicación contable. ", "source_time": "5–10 min", "source_seconds": 300, "is_owner": false, "function": "concept"}], "clock_intervals": [1], "presenter_notes": "Reloj fuente 5–10 min: duración compartida 300 segundos. Trabajo: Analizar el modelo de README y la diferencia entre “funciona” y una prueba explicada. Función del soporte: explicación.", "shared_intervals": [{"source_index": 1, "source_time": "5–10 min", "seconds": 300, "is_owner": false, "function": "concept", "action": "Analizar el modelo de README y la diferencia entre “funciona” y una prueba explicada.", "concurrent": false, "parallel_work": ""}]}, "code_blocks": [], "representation_needs": []}</ns0:renderMetadata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Modelo pedagógico de README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ódigo editable" descr="Código editable"/>
          <p:cNvSpPr txBox="1"/>
          <p:nvPr/>
        </p:nvSpPr>
        <p:spPr>
          <a:xfrm>
            <a:off x="640080" y="1417320"/>
            <a:ext cx="10881360" cy="457962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# MiniJarvis H1</a:t>
            </a:r>
          </a:p>
        </p:txBody>
      </p:sp>
      <p:sp>
        <p:nvSpPr>
          <p:cNvPr id="6" name="Código editable" descr="Código editable"/>
          <p:cNvSpPr txBox="1"/>
          <p:nvPr/>
        </p:nvSpPr>
        <p:spPr>
          <a:xfrm>
            <a:off x="640080" y="1966722"/>
            <a:ext cx="10881360" cy="1044701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## Qué hace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MiniJarvis saluda, pide un nombre ficticio, calcula minutos a partir de horas y muestra si se alcanza un objetivo.</a:t>
            </a:r>
          </a:p>
        </p:txBody>
      </p:sp>
      <p:sp>
        <p:nvSpPr>
          <p:cNvPr id="7" name="Código editable" descr="Código editable"/>
          <p:cNvSpPr txBox="1"/>
          <p:nvPr/>
        </p:nvSpPr>
        <p:spPr>
          <a:xfrm>
            <a:off x="640080" y="3102864"/>
            <a:ext cx="10881360" cy="751332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## Límites de H1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No incluye menú, memoria, ficheros ni IA real.</a:t>
            </a:r>
          </a:p>
        </p:txBody>
      </p:sp>
      <p:sp>
        <p:nvSpPr>
          <p:cNvPr id="8" name="Código editable" descr="Código editable"/>
          <p:cNvSpPr txBox="1"/>
          <p:nvPr/>
        </p:nvSpPr>
        <p:spPr>
          <a:xfrm>
            <a:off x="640080" y="3945636"/>
            <a:ext cx="10881360" cy="1338072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## Cómo ejecutar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1. Abrir el proyecto en IntelliJ.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2. Ejecutar `Main.java`.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3. Introducir datos ficticios.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"code", "plan_index": 2, "recognition": false, "unit_ids": ["unit-8"], "roles": {"unit-8": "core"}, "source_refs": [{"source": "teacher", "heading": "Modelo pedagógico de README", "block_index": 8, "fragment": 0}], "visible_sources": [{"index": 1, "sha256": "c5f4e0df27177184d3c7b81810b757a416b1aaa0a61cb3b2569dffdf2a15f7cb"}], "notes_sources": [{"function": "facilitation", "heading": "Modelo pedagógico de README", "sha256": "0f617fce6ae7f042fdf05d8ffb789056c9454e4c336f298b587264521b3302d7"}, {"function": "facilitation", "heading": "Modelo pedagógico de README", "sha256": "38a11781de5c7173d9329c1ea04f110cb8b137ec29a8b6fad699c57d8a58ca73"}, {"function": "visible_detail", "heading": "Modelo pedagógico de README", "sha256": "546600326619722dff044d0e1f6f9eb3cbe9e0960a2e0be4b4591eb920ec5461"}], "relations": {"unit_relations": {"unit-8": {"question_context": ["context", "question"]}}, "schedule": null, "source_supports_enriched": true}, "timeline_refs": [1], "composition": {"origin_slides": [8, 9, 10]}, "timing": {"seconds": 0, "allocations": [{"source_index": 1, "seconds": 0, "decision": "Intervalo compartido íntegro; propietario contable seleccionado por función de actividad y referencia timeline de unidad (identidad semántica en empates). Soporte, sin duplicación contable. ", "source_time": "5–10 min", "source_seconds": 300, "is_owner": false, "function": "examples"}], "clock_intervals": [1], "presenter_notes": "Reloj fuente 5–10 min: duración compartida 300 segundos. Trabajo: Analizar el modelo de README y la diferencia entre “funciona” y una prueba explicada. Función del soporte: apoyo al trabajo.", "shared_intervals": [{"source_index": 1, "source_time": "5–10 min", "seconds": 300, "is_owner": false, "function": "examples", "action": "Analizar el modelo de README y la diferencia entre “funciona” y una prueba explicada.", "concurrent": false, "parallel_work": ""}]}, "code_blocks": [], "representation_needs": []}</ns0:renderMetadata>
    </p:ext>
  </p:extLs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Modelo pedagógico de README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133807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ESTRUCTURA INICIAL · completa después cada prueba: entrada → esperado → obtenido → significado.</a:t>
            </a:r>
          </a:p>
        </p:txBody>
      </p:sp>
      <p:sp>
        <p:nvSpPr>
          <p:cNvPr id="6" name="Código editable" descr="Código editable"/>
          <p:cNvSpPr txBox="1"/>
          <p:nvPr/>
        </p:nvSpPr>
        <p:spPr>
          <a:xfrm>
            <a:off x="640080" y="2846832"/>
            <a:ext cx="10881360" cy="1631442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## Pruebas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Caso A: horas = 5 → Objetivo alcanzado.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Caso B: horas = 2 → Objetivo pendiente.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Entrada no convertible: "hola" falla durante la ejecución con parseInt.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"code", "plan_index": 2, "recognition": false, "unit_ids": ["unit-8"], "roles": {"unit-8": "core"}, "source_refs": [{"source": "teacher", "heading": "Modelo pedagógico de README", "block_index": 8, "fragment": 0}], "visible_sources": [{"index": 1, "sha256": "c5f4e0df27177184d3c7b81810b757a416b1aaa0a61cb3b2569dffdf2a15f7cb"}], "notes_sources": [{"function": "facilitation", "heading": "Modelo pedagógico de README", "sha256": "0f617fce6ae7f042fdf05d8ffb789056c9454e4c336f298b587264521b3302d7"}, {"function": "facilitation", "heading": "Modelo pedagógico de README", "sha256": "38a11781de5c7173d9329c1ea04f110cb8b137ec29a8b6fad699c57d8a58ca73"}, {"function": "visible_detail", "heading": "Modelo pedagógico de README", "sha256": "546600326619722dff044d0e1f6f9eb3cbe9e0960a2e0be4b4591eb920ec5461"}], "relations": {"unit_relations": {"unit-8": {"question_context": ["context", "question"]}}, "schedule": null, "presentation_normalizations": {"## Pruebas\nCaso A: horas = 5 -&gt; Objetivo alcanzado.\nCaso B: horas = 2 -&gt; Objetivo pendiente.\nEntrada no convertible: \"hola\" falla durante la ejecución con parseInt.": "## Pruebas\nCaso A: horas = 5 → Objetivo alcanzado.\nCaso B: horas = 2 → Objetivo pendiente.\nEntrada no convertible: \"hola\" falla durante la ejecución con parseInt."}, "source_supports_enriched": true}, "timeline_refs": [1], "composition": {"origin_slides": [8, 9, 10]}, "timing": {"seconds": 0, "allocations": [{"source_index": 1, "seconds": 0, "decision": "Intervalo compartido íntegro; propietario contable seleccionado por función de actividad y referencia timeline de unidad (identidad semántica en empates). Soporte, sin duplicación contable. ", "source_time": "5–10 min", "source_seconds": 300, "is_owner": false, "function": "examples"}], "clock_intervals": [1], "presenter_notes": "Reloj fuente 5–10 min: duración compartida 300 segundos. Trabajo: Analizar el modelo de README y la diferencia entre “funciona” y una prueba explicada. Función del soporte: apoyo al trabajo.", "shared_intervals": [{"source_index": 1, "source_time": "5–10 min", "seconds": 300, "is_owner": false, "function": "examples", "action": "Analizar el modelo de README y la diferencia entre “funciona” y una prueba explicada.", "concurrent": false, "parallel_work": ""}]}, "code_blocks": [], "representation_needs": []}</ns0:renderMetadata>
    </p:ext>
  </p:extLs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Modelo pedagógico de README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 o criterio 0" descr="Acción o criterio 0"/>
          <p:cNvSpPr txBox="1"/>
          <p:nvPr/>
        </p:nvSpPr>
        <p:spPr>
          <a:xfrm>
            <a:off x="640080" y="1417320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¿describe el programa real?</a:t>
            </a:r>
          </a:p>
        </p:txBody>
      </p:sp>
      <p:sp>
        <p:nvSpPr>
          <p:cNvPr id="6" name="Acción o criterio 1" descr="Acción o criterio 1"/>
          <p:cNvSpPr txBox="1"/>
          <p:nvPr/>
        </p:nvSpPr>
        <p:spPr>
          <a:xfrm>
            <a:off x="6080760" y="1417320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¿permite actuar o solo ofrece una descripción general?</a:t>
            </a:r>
          </a:p>
        </p:txBody>
      </p:sp>
      <p:sp>
        <p:nvSpPr>
          <p:cNvPr id="7" name="Acción o criterio 2" descr="Acción o criterio 2"/>
          <p:cNvSpPr txBox="1"/>
          <p:nvPr/>
        </p:nvSpPr>
        <p:spPr>
          <a:xfrm>
            <a:off x="640080" y="2679192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¿se puede seguir sin haber estado en clase?</a:t>
            </a:r>
          </a:p>
        </p:txBody>
      </p:sp>
      <p:sp>
        <p:nvSpPr>
          <p:cNvPr id="8" name="Acción o criterio 3" descr="Acción o criterio 3"/>
          <p:cNvSpPr txBox="1"/>
          <p:nvPr/>
        </p:nvSpPr>
        <p:spPr>
          <a:xfrm>
            <a:off x="6080760" y="2679192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¿distingue capacidad actual y límite?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"code", "plan_index": 2, "recognition": false, "unit_ids": ["unit-8"], "roles": {"unit-8": "core"}, "source_refs": [{"source": "teacher", "heading": "Modelo pedagógico de README", "block_index": 8, "fragment": 0}], "visible_sources": [{"index": 3, "sha256": "15273083b91aa4bf06b8b8b1a6be690cdfba1ce61196f2cc9557f9d33d6dd180"}], "notes_sources": [{"function": "facilitation", "heading": "Modelo pedagógico de README", "sha256": "0f617fce6ae7f042fdf05d8ffb789056c9454e4c336f298b587264521b3302d7"}, {"function": "facilitation", "heading": "Modelo pedagógico de README", "sha256": "38a11781de5c7173d9329c1ea04f110cb8b137ec29a8b6fad699c57d8a58ca73"}, {"function": "visible_detail", "heading": "Modelo pedagógico de README", "sha256": "546600326619722dff044d0e1f6f9eb3cbe9e0960a2e0be4b4591eb920ec5461"}], "relations": {"unit_relations": {"unit-8": {"question_context": ["context", "question"]}}, "schedule": null, "presentation_normalizations": {"## Pruebas\nCaso A: horas = 5 -&gt; Objetivo alcanzado.\nCaso B: horas = 2 -&gt; Objetivo pendiente.\nEntrada no convertible: \"hola\" falla durante la ejecución con parseInt.": "## Pruebas\nCaso A: horas = 5 → Objetivo alcanzado.\nCaso B: horas = 2 → Objetivo pendiente.\nEntrada no convertible: \"hola\" falla durante la ejecución con parseInt."}, "source_supports_enriched": true}, "timeline_refs": [1], "composition": {"origin_slides": [8, 9, 10]}, "timing": {"seconds": 0, "allocations": [{"source_index": 1, "seconds": 0, "decision": "Intervalo compartido íntegro; propietario contable seleccionado por función de actividad y referencia timeline de unidad (identidad semántica en empates). Soporte, sin duplicación contable. ", "source_time": "5–10 min", "source_seconds": 300, "is_owner": false, "function": "examples"}], "clock_intervals": [1], "presenter_notes": "Reloj fuente 5–10 min: duración compartida 300 segundos. Trabajo: Analizar el modelo de README y la diferencia entre “funciona” y una prueba explicada. Función del soporte: apoyo al trabajo.", "shared_intervals": [{"source_index": 1, "source_time": "5–10 min", "seconds": 300, "is_owner": false, "function": "examples", "action": "Analizar el modelo de README y la diferencia entre “funciona” y una prueba explicada.", "concurrent": false, "parallel_work": ""}]}, "code_blocks": [], "representation_needs": []}</ns0:renderMetadata>
    </p:ext>
  </p:extLs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Modelo pedagógico de README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Los casos del modelo muestran dos recorridos de una decisión y una entrada no convertible.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"code", "plan_index": 2, "recognition": false, "unit_ids": ["unit-8"], "roles": {"unit-8": "core"}, "source_refs": [{"source": "teacher", "heading": "Modelo pedagógico de README", "block_index": 8, "fragment": 0}], "visible_sources": [{"index": 4, "sha256": "546600326619722dff044d0e1f6f9eb3cbe9e0960a2e0be4b4591eb920ec5461"}], "notes_sources": [{"function": "facilitation", "heading": "Modelo pedagógico de README", "sha256": "0f617fce6ae7f042fdf05d8ffb789056c9454e4c336f298b587264521b3302d7"}, {"function": "facilitation", "heading": "Modelo pedagógico de README", "sha256": "38a11781de5c7173d9329c1ea04f110cb8b137ec29a8b6fad699c57d8a58ca73"}, {"function": "visible_detail", "heading": "Modelo pedagógico de README", "sha256": "546600326619722dff044d0e1f6f9eb3cbe9e0960a2e0be4b4591eb920ec5461"}], "relations": {"unit_relations": {"unit-8": {"question_context": ["context", "question"]}}, "schedule": null, "source_supports_enriched": true}, "timeline_refs": [1], "composition": {"origin_slides": [8, 9, 10]}, "timing": {"seconds": 0, "allocations": [{"source_index": 1, "seconds": 0, "decision": "Intervalo compartido íntegro; propietario contable seleccionado por función de actividad y referencia timeline de unidad (identidad semántica en empates). Soporte, sin duplicación contable. ", "source_time": "5–10 min", "source_seconds": 300, "is_owner": false, "function": "examples"}], "clock_intervals": [1], "presenter_notes": "Reloj fuente 5–10 min: duración compartida 300 segundos. Trabajo: Analizar el modelo de README y la diferencia entre “funciona” y una prueba explicada. Función del soporte: apoyo al trabajo.", "shared_intervals": [{"source_index": 1, "source_time": "5–10 min", "seconds": 300, "is_owner": false, "function": "examples", "action": "Analizar el modelo de README y la diferencia entre “funciona” y una prueba explicada.", "concurrent": false, "parallel_work": ""}]}, "code_blocks": [], "representation_needs": []}</ns0:renderMetadata>
    </p:ext>
  </p:extLs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Qué convierte una prueba en reproducible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ódigo editable" descr="Código editable"/>
          <p:cNvSpPr txBox="1"/>
          <p:nvPr/>
        </p:nvSpPr>
        <p:spPr>
          <a:xfrm>
            <a:off x="640080" y="1417320"/>
            <a:ext cx="10881360" cy="751332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entrada → resultado esperado → resultado obtenido → qué demuestra</a:t>
            </a:r>
          </a:p>
        </p:txBody>
      </p:sp>
      <p:sp>
        <p:nvSpPr>
          <p:cNvPr id="6" name="Contenido" descr="Contenido"/>
          <p:cNvSpPr txBox="1"/>
          <p:nvPr/>
        </p:nvSpPr>
        <p:spPr>
          <a:xfrm>
            <a:off x="640080" y="2260092"/>
            <a:ext cx="10881360" cy="133807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Cuando ayude a localizarla, añade un enlace profundo al archivo, prueba o sección concreta del repositorio.</a:t>
            </a:r>
          </a:p>
        </p:txBody>
      </p:sp>
      <p:sp>
        <p:nvSpPr>
          <p:cNvPr id="7" name="Código editable" descr="Código editable"/>
          <p:cNvSpPr txBox="1"/>
          <p:nvPr/>
        </p:nvSpPr>
        <p:spPr>
          <a:xfrm>
            <a:off x="640080" y="3689604"/>
            <a:ext cx="10881360" cy="1924812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Prueba: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Entrada usada: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Resultado esperado: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Resultado obtenido: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Demuestra: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Dónde comprobarlo: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"code", "plan_index": 3, "recognition": false, "unit_ids": ["unit-9"], "roles": {"unit-9": "core"}, "source_refs": [{"source": "teacher", "heading": "Qué convierte una prueba en reproducible", "block_index": 9, "fragment": 0}], "visible_sources": [{"index": 1, "sha256": "0038402635680edbdf1f961a3dc8f6a26937508e2e6fc26e7ea49225ac5184c0"}, {"index": 2, "sha256": "c13a09621bf0edd5e3af9f238400b5c332ff798743990c2a14c0039cd48fd2d6"}, {"index": 4, "sha256": "d9304bcd6899491037793f5612452b0ecc20c4f54a59f2364432c168ddbc93ff"}], "notes_sources": [{"function": "explanations", "heading": "Qué convierte una prueba en reproducible", "sha256": "de6cc8c73919d49b31549eb12c86c1b949d6f2797225bfd0014c39e90fc2abc1"}, {"function": "facilitation", "heading": "Qué convierte una prueba en reproducible", "sha256": "00eebd0796a0824da0554d3cccd178eb12231990635249b212bbc0f009f5852c"}, {"function": "facilitation", "heading": "Qué convierte una prueba en reproducible", "sha256": "b8f1005e1462d14b79aeef56ba1d042a4b429de3c6117a1ae6ac2318af5ecacd"}, {"function": "facilitation", "heading": "Qué convierte una prueba en reproducible", "sha256": "df4867e1078d5601639202a02fe16c1f0a73a84ea327c17d00160f3295d6dc50"}, {"function": "facilitation", "heading": "Qué convierte una prueba en reproducible", "sha256": "94e4ae4805143223d12d2be26124af10ad398c3b8401fb043f0d4f58baa72986"}, {"function": "visible_detail", "heading": "Qué convierte una prueba en reproducible", "sha256": "0851cdfb288d91646015bd13e5493a9286f8bed3c3aaddb7048f1817aeff8420"}], "relations": {"unit_relations": {"unit-9": {"reproducible_test": ["input", "expected", "obtained", "meaning"], "question_context": ["context", "question"]}}, "schedule": null, "source_supports_enriched": true}, "timeline_refs": [1], "composition": {"origin_slides": [11, 12, 13]}, "timing": {"seconds": 0, "allocations": [{"source_index": 1, "seconds": 0, "decision": "Intervalo compartido íntegro; propietario contable seleccionado por función de actividad y referencia timeline de unidad (identidad semántica en empates). Soporte, sin duplicación contable. ", "source_time": "5–10 min", "source_seconds": 300, "is_owner": false, "function": "explanations"}], "clock_intervals": [1], "presenter_notes": "Reloj fuente 5–10 min: duración compartida 300 segundos. Trabajo: Analizar el modelo de README y la diferencia entre “funciona” y una prueba explicada. Función del soporte: apoyo al trabajo.", "shared_intervals": [{"source_index": 1, "source_time": "5–10 min", "seconds": 300, "is_owner": false, "function": "explanations", "action": "Analizar el modelo de README y la diferencia entre “funciona” y una prueba explicada.", "concurrent": false, "parallel_work": ""}]}, "code_blocks": [], "representation_needs": []}</ns0:renderMetadata>
    </p:ext>
  </p:extLs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Qué convierte una prueba en reproducible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Soporte fuente" descr="Soporte fuente"/>
          <p:cNvSpPr txBox="1"/>
          <p:nvPr/>
        </p:nvSpPr>
        <p:spPr>
          <a:xfrm>
            <a:off x="640080" y="1417320"/>
            <a:ext cx="10881360" cy="75133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entrada → resultado esperado → resultado obtenido → qué demuestra</a:t>
            </a:r>
          </a:p>
        </p:txBody>
      </p:sp>
      <p:sp>
        <p:nvSpPr>
          <p:cNvPr id="6" name="Soporte fuente" descr="Soporte fuente"/>
          <p:cNvSpPr txBox="1"/>
          <p:nvPr/>
        </p:nvSpPr>
        <p:spPr>
          <a:xfrm>
            <a:off x="640080" y="2260092"/>
            <a:ext cx="10881360" cy="221818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Prueba: saludo con nombre ficticio.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Entrada usada: Laura.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Salida esperada: Encantado, Laura.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Salida obtenida: Encantado, Laura.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Demuestra: la entrada leída se guarda y se usa en la salida.</a:t>
            </a:r>
          </a:p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Enlace: archivo, prueba o sección concreta del repositorio, no carpeta general.</a:t>
            </a:r>
          </a:p>
        </p:txBody>
      </p:sp>
      <p:sp>
        <p:nvSpPr>
          <p:cNvPr id="7" name="Soporte fuente" descr="Soporte fuente"/>
          <p:cNvSpPr txBox="1"/>
          <p:nvPr/>
        </p:nvSpPr>
        <p:spPr>
          <a:xfrm>
            <a:off x="640080" y="4569714"/>
            <a:ext cx="10881360" cy="499871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¿Qué demuestra exactamente esta prueba?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"source_support", "plan_index": 3, "recognition": false, "unit_ids": ["unit-9"], "roles": {"unit-9": "core"}, "source_refs": [{"source": "teacher", "heading": "Qué convierte una prueba en reproducible", "block_index": 9, "fragment": 0}], "visible_sources": [{"index": 1, "sha256": "0038402635680edbdf1f961a3dc8f6a26937508e2e6fc26e7ea49225ac5184c0"}, {"index": 6, "sha256": "36a42c572e2ec070670aeb8247eecc66191faebe8cfceb2fa01edacafc683cef"}, {"index": 7, "sha256": "bf31f3de8f6d720889e6cca27e24509d1257089bd38013ab2e89ee64c7acee8d"}], "notes_sources": [{"function": "explanations", "heading": "Qué convierte una prueba en reproducible", "sha256": "de6cc8c73919d49b31549eb12c86c1b949d6f2797225bfd0014c39e90fc2abc1"}, {"function": "facilitation", "heading": "Qué convierte una prueba en reproducible", "sha256": "00eebd0796a0824da0554d3cccd178eb12231990635249b212bbc0f009f5852c"}, {"function": "facilitation", "heading": "Qué convierte una prueba en reproducible", "sha256": "b8f1005e1462d14b79aeef56ba1d042a4b429de3c6117a1ae6ac2318af5ecacd"}, {"function": "facilitation", "heading": "Qué convierte una prueba en reproducible", "sha256": "df4867e1078d5601639202a02fe16c1f0a73a84ea327c17d00160f3295d6dc50"}, {"function": "facilitation", "heading": "Qué convierte una prueba en reproducible", "sha256": "94e4ae4805143223d12d2be26124af10ad398c3b8401fb043f0d4f58baa72986"}, {"function": "visible_detail", "heading": "Qué convierte una prueba en reproducible", "sha256": "0851cdfb288d91646015bd13e5493a9286f8bed3c3aaddb7048f1817aeff8420"}, {"function": "visible_detail", "heading": "Qué convierte una prueba en reproducible", "sha256": "00eebd0796a0824da0554d3cccd178eb12231990635249b212bbc0f009f5852c"}, {"function": "visible_detail", "heading": "Qué convierte una prueba en reproducible", "sha256": "0038402635680edbdf1f961a3dc8f6a26937508e2e6fc26e7ea49225ac5184c0"}, {"function": "visible_detail", "heading": "Qué convierte una prueba en reproducible", "sha256": "c13a09621bf0edd5e3af9f238400b5c332ff798743990c2a14c0039cd48fd2d6"}, {"function": "visible_detail", "heading": "Qué convierte una prueba en reproducible", "sha256": "b8f1005e1462d14b79aeef56ba1d042a4b429de3c6117a1ae6ac2318af5ecacd"}, {"function": "visible_detail", "heading": "Qué convierte una prueba en reproducible", "sha256": "d9304bcd6899491037793f5612452b0ecc20c4f54a59f2364432c168ddbc93ff"}, {"function": "visible_detail", "heading": "Qué convierte una prueba en reproducible", "sha256": "df4867e1078d5601639202a02fe16c1f0a73a84ea327c17d00160f3295d6dc50"}, {"function": "visible_detail", "heading": "Qué convierte una prueba en reproducible", "sha256": "36a42c572e2ec070670aeb8247eecc66191faebe8cfceb2fa01edacafc683cef"}, {"function": "visible_detail", "heading": "Qué convierte una prueba en reproducible", "sha256": "de6cc8c73919d49b31549eb12c86c1b949d6f2797225bfd0014c39e90fc2abc1"}, {"function": "visible_detail", "heading": "Qué convierte una prueba en reproducible", "sha256": "bf31f3de8f6d720889e6cca27e24509d1257089bd38013ab2e89ee64c7acee8d"}, {"function": "visible_detail", "heading": "Qué convierte una prueba en reproducible", "sha256": "94e4ae4805143223d12d2be26124af10ad398c3b8401fb043f0d4f58baa72986"}, {"function": "visible_detail", "heading": "Qué convierte una prueba en reproducible", "sha256": "9522d562fe5854f80f67e9678f18eb9552334d8705758584d2a5a73503c94cc8"}], "relations": {"unit_relations": {"unit-9": {"reproducible_test": ["input", "expected", "obtained", "meaning"], "question_context": ["context", "question"]}}, "schedule": null, "source_supports_enriched": true}, "timeline_refs": [1], "composition": {"origin_slides": [11, 12, 13]}, "timing": {"seconds": 0, "allocations": [{"source_index": 1, "seconds": 0, "decision": "Intervalo compartido íntegro; propietario contable seleccionado por función de actividad y referencia timeline de unidad (identidad semántica en empates). Soporte, sin duplicación contable. ", "source_time": "5–10 min", "source_seconds": 300, "is_owner": false, "function": "explanations"}], "clock_intervals": [1], "presenter_notes": "Reloj fuente 5–10 min: duración compartida 300 segundos. Trabajo: Analizar el modelo de README y la diferencia entre “funciona” y una prueba explicada. Función del soporte: apoyo al trabajo.", "shared_intervals": [{"source_index": 1, "source_time": "5–10 min", "seconds": 300, "is_owner": false, "function": "explanations", "action": "Analizar el modelo de README y la diferencia entre “funciona” y una prueba explicada.", "concurrent": false, "parallel_work": ""}]}, "code_blocks": [], "representation_needs": []}</ns0:renderMetadata>
    </p:ext>
  </p:extLs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Qué convierte una prueba en reproducible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 o criterio 0" descr="Acción o criterio 0"/>
          <p:cNvSpPr txBox="1"/>
          <p:nvPr/>
        </p:nvSpPr>
        <p:spPr>
          <a:xfrm>
            <a:off x="640080" y="1417320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ejecutar algo: poner el programa en marcha;</a:t>
            </a:r>
          </a:p>
        </p:txBody>
      </p:sp>
      <p:sp>
        <p:nvSpPr>
          <p:cNvPr id="6" name="Acción o criterio 1" descr="Acción o criterio 1"/>
          <p:cNvSpPr txBox="1"/>
          <p:nvPr/>
        </p:nvSpPr>
        <p:spPr>
          <a:xfrm>
            <a:off x="6080760" y="1417320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observar un resultado: registrar qué ocurrió;</a:t>
            </a:r>
          </a:p>
        </p:txBody>
      </p:sp>
      <p:sp>
        <p:nvSpPr>
          <p:cNvPr id="7" name="Acción o criterio 2" descr="Acción o criterio 2"/>
          <p:cNvSpPr txBox="1"/>
          <p:nvPr/>
        </p:nvSpPr>
        <p:spPr>
          <a:xfrm>
            <a:off x="640080" y="2343912"/>
            <a:ext cx="5257800" cy="150571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explicar una prueba: relacionar entrada, predicción, resultado y propiedad comprobada.</a:t>
            </a:r>
          </a:p>
        </p:txBody>
      </p:sp>
      <p:sp>
        <p:nvSpPr>
          <p:cNvPr id="8" name="Contenido" descr="Contenido"/>
          <p:cNvSpPr txBox="1"/>
          <p:nvPr/>
        </p:nvSpPr>
        <p:spPr>
          <a:xfrm>
            <a:off x="640080" y="3941064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Una salida coincidente no demuestra cualquier afirmación.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"code", "plan_index": 3, "recognition": false, "unit_ids": ["unit-9"], "roles": {"unit-9": "core"}, "source_refs": [{"source": "teacher", "heading": "Qué convierte una prueba en reproducible", "block_index": 9, "fragment": 0}], "visible_sources": [{"index": 9, "sha256": "9522d562fe5854f80f67e9678f18eb9552334d8705758584d2a5a73503c94cc8"}, {"index": 10, "sha256": "0851cdfb288d91646015bd13e5493a9286f8bed3c3aaddb7048f1817aeff8420"}], "notes_sources": [{"function": "explanations", "heading": "Qué convierte una prueba en reproducible", "sha256": "de6cc8c73919d49b31549eb12c86c1b949d6f2797225bfd0014c39e90fc2abc1"}, {"function": "facilitation", "heading": "Qué convierte una prueba en reproducible", "sha256": "00eebd0796a0824da0554d3cccd178eb12231990635249b212bbc0f009f5852c"}, {"function": "facilitation", "heading": "Qué convierte una prueba en reproducible", "sha256": "b8f1005e1462d14b79aeef56ba1d042a4b429de3c6117a1ae6ac2318af5ecacd"}, {"function": "facilitation", "heading": "Qué convierte una prueba en reproducible", "sha256": "df4867e1078d5601639202a02fe16c1f0a73a84ea327c17d00160f3295d6dc50"}, {"function": "facilitation", "heading": "Qué convierte una prueba en reproducible", "sha256": "94e4ae4805143223d12d2be26124af10ad398c3b8401fb043f0d4f58baa72986"}, {"function": "visible_detail", "heading": "Qué convierte una prueba en reproducible", "sha256": "0851cdfb288d91646015bd13e5493a9286f8bed3c3aaddb7048f1817aeff8420"}], "relations": {"unit_relations": {"unit-9": {"reproducible_test": ["input", "expected", "obtained", "meaning"], "question_context": ["context", "question"]}}, "schedule": null, "source_supports_enriched": true}, "timeline_refs": [1], "composition": {"origin_slides": [11, 12, 13]}, "timing": {"seconds": 0, "allocations": [{"source_index": 1, "seconds": 0, "decision": "Intervalo compartido íntegro; propietario contable seleccionado por función de actividad y referencia timeline de unidad (identidad semántica en empates). Soporte, sin duplicación contable. ", "source_time": "5–10 min", "source_seconds": 300, "is_owner": false, "function": "explanations"}], "clock_intervals": [1], "presenter_notes": "Reloj fuente 5–10 min: duración compartida 300 segundos. Trabajo: Analizar el modelo de README y la diferencia entre “funciona” y una prueba explicada. Función del soporte: apoyo al trabajo.", "shared_intervals": [{"source_index": 1, "source_time": "5–10 min", "seconds": 300, "is_owner": false, "function": "explanations", "action": "Analizar el modelo de README y la diferencia entre “funciona” y una prueba explicada.", "concurrent": false, "parallel_work": ""}]}, "code_blocks": [], "representation_needs": []}</ns0:renderMetadata>
    </p:ext>
  </p:extLs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Actividad central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" descr="Acción"/>
          <p:cNvSpPr txBox="1"/>
          <p:nvPr/>
        </p:nvSpPr>
        <p:spPr>
          <a:xfrm>
            <a:off x="640080" y="140665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QUÉ HACER</a:t>
            </a:r>
          </a:p>
        </p:txBody>
      </p:sp>
      <p:sp>
        <p:nvSpPr>
          <p:cNvPr id="6" name="Contenido" descr="Contenido"/>
          <p:cNvSpPr txBox="1"/>
          <p:nvPr/>
        </p:nvSpPr>
        <p:spPr>
          <a:xfrm>
            <a:off x="640080" y="1987804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Ubicación común: README H1 → raíz del repositorio GitHub.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"activity", "plan_index": 4, "recognition": false, "unit_ids": ["unit-11"], "roles": {"unit-11": "core"}, "source_refs": [{"source": "teacher", "heading": "Actividad central", "block_index": 11, "fragment": 0}], "visible_sources": [{"index": 0, "sha256": "6ff68897a182d7b882ee84fd8905fafbdbf35e0fe919149e6c39911e37d5e209"}], "notes_sources": [], "relations": {"unit_relations": {"unit-11": {}}, "schedule": null, "source_supports_enriched": true}, "timeline_refs": [2], "composition": {"origin_slides": [14]}, "timing": {"seconds": 0, "allocations": [{"source_index": 2, "seconds": 0, "decision": "Intervalo compartido íntegro; propietario contable seleccionado por función de actividad y referencia timeline de unidad (identidad semántica en empates). Soporte, sin duplicación contable. ", "source_time": "10–18 min", "source_seconds": 480, "is_owner": false, "function": "activity"}], "clock_intervals": [2], "presenter_notes": "Reloj fuente 10–18 min: duración compartida 480 segundos. Trabajo: Comprobación individual: localizar código, entrada, esperado, obtenido, significado y límite. Función del soporte: actividad.", "shared_intervals": [{"source_index": 2, "source_time": "10–18 min", "seconds": 480, "is_owner": false, "function": "activity", "action": "Comprobación individual: localizar código, entrada, esperado, obtenido, significado y límite.", "concurrent": false, "parallel_work": ""}]}, "code_blocks": [], "representation_needs": []}</ns0:renderMetadata>
    </p:ext>
  </p:extLs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INDIVIDUAL</a:t>
            </a: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Localización y comprensión — INDIVIDUAL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" descr="Acción"/>
          <p:cNvSpPr txBox="1"/>
          <p:nvPr/>
        </p:nvSpPr>
        <p:spPr>
          <a:xfrm>
            <a:off x="640080" y="140665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QUÉ HACER</a:t>
            </a:r>
          </a:p>
        </p:txBody>
      </p:sp>
      <p:sp>
        <p:nvSpPr>
          <p:cNvPr id="6" name="Acción o criterio 0" descr="Acción o criterio 0"/>
          <p:cNvSpPr txBox="1"/>
          <p:nvPr/>
        </p:nvSpPr>
        <p:spPr>
          <a:xfrm>
            <a:off x="640080" y="1987804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¿qué parte del programa puedo señalar?</a:t>
            </a:r>
          </a:p>
        </p:txBody>
      </p:sp>
      <p:sp>
        <p:nvSpPr>
          <p:cNvPr id="7" name="Acción o criterio 1" descr="Acción o criterio 1"/>
          <p:cNvSpPr txBox="1"/>
          <p:nvPr/>
        </p:nvSpPr>
        <p:spPr>
          <a:xfrm>
            <a:off x="6080760" y="1987804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¿qué prueba demuestra que funciona?</a:t>
            </a:r>
          </a:p>
        </p:txBody>
      </p:sp>
      <p:sp>
        <p:nvSpPr>
          <p:cNvPr id="8" name="Acción o criterio 2" descr="Acción o criterio 2"/>
          <p:cNvSpPr txBox="1"/>
          <p:nvPr/>
        </p:nvSpPr>
        <p:spPr>
          <a:xfrm>
            <a:off x="640080" y="2914396"/>
            <a:ext cx="5257800" cy="49987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¿qué entrada se utilizó?</a:t>
            </a:r>
          </a:p>
        </p:txBody>
      </p:sp>
      <p:sp>
        <p:nvSpPr>
          <p:cNvPr id="9" name="Acción o criterio 3" descr="Acción o criterio 3"/>
          <p:cNvSpPr txBox="1"/>
          <p:nvPr/>
        </p:nvSpPr>
        <p:spPr>
          <a:xfrm>
            <a:off x="6080760" y="2914396"/>
            <a:ext cx="5257800" cy="49987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¿qué resultado se esperaba?</a:t>
            </a:r>
          </a:p>
        </p:txBody>
      </p:sp>
      <p:sp>
        <p:nvSpPr>
          <p:cNvPr id="10" name="Acción o criterio 4" descr="Acción o criterio 4"/>
          <p:cNvSpPr txBox="1"/>
          <p:nvPr/>
        </p:nvSpPr>
        <p:spPr>
          <a:xfrm>
            <a:off x="640080" y="3505708"/>
            <a:ext cx="5257800" cy="49987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¿qué resultado se obtuvo?</a:t>
            </a:r>
          </a:p>
        </p:txBody>
      </p:sp>
      <p:sp>
        <p:nvSpPr>
          <p:cNvPr id="11" name="Acción o criterio 5" descr="Acción o criterio 5"/>
          <p:cNvSpPr txBox="1"/>
          <p:nvPr/>
        </p:nvSpPr>
        <p:spPr>
          <a:xfrm>
            <a:off x="6080760" y="3505708"/>
            <a:ext cx="5257800" cy="49987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¿qué demuestra esa prueba?</a:t>
            </a:r>
          </a:p>
        </p:txBody>
      </p:sp>
      <p:sp>
        <p:nvSpPr>
          <p:cNvPr id="12" name="Acción o criterio 6" descr="Acción o criterio 6"/>
          <p:cNvSpPr txBox="1"/>
          <p:nvPr/>
        </p:nvSpPr>
        <p:spPr>
          <a:xfrm>
            <a:off x="640080" y="4097019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¿qué límite de H1 puedo explicar?</a:t>
            </a:r>
          </a:p>
        </p:txBody>
      </p:sp>
      <p:sp>
        <p:nvSpPr>
          <p:cNvPr id="13" name="Contenido" descr="Contenido"/>
          <p:cNvSpPr txBox="1"/>
          <p:nvPr/>
        </p:nvSpPr>
        <p:spPr>
          <a:xfrm>
            <a:off x="640080" y="5023612"/>
            <a:ext cx="10881360" cy="55575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La persona no necesita memorizar el README.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"activity", "plan_index": 4, "recognition": false, "unit_ids": ["unit-12"], "roles": {"unit-12": "core"}, "source_refs": [{"source": "teacher", "heading": "Localización y comprensión — INDIVIDUAL", "block_index": 12, "fragment": 0}, {"source": "teacher", "heading": "Actividad central", "block_index": 11, "fragment": 0}], "visible_sources": [{"index": 2, "sha256": "4d3972d5e39013698dbb67ce838940e836754c2845fb3e31332a07ac47d37c40"}, {"index": 3, "sha256": "c55249d3f1d75b7102c791bf447c64d78940fd6c93e5f1dab1818a32640cfca9"}], "notes_sources": [{"function": "facilitation", "heading": "Localización y comprensión — INDIVIDUAL", "sha256": "5de3bbb2dee32b9200f806d21114045e6f1c668225db7b625fa85d5dcea49627"}, {"function": "visible_detail", "heading": "Localización y comprensión — INDIVIDUAL", "sha256": "c55249d3f1d75b7102c791bf447c64d78940fd6c93e5f1dab1818a32640cfca9"}], "relations": {"unit_relations": {"unit-12": {"question_context": ["context", "question"]}}, "schedule": null, "source_supports_enriched": true}, "timeline_refs": [2], "composition": {"origin_slides": [15]}, "timing": {"seconds": 480, "allocations": [{"source_index": 2, "seconds": 480, "decision": "Intervalo compartido íntegro; propietario contable seleccionado por función de actividad y referencia timeline de unidad (identidad semántica en empates). Propietario. ", "source_time": "10–18 min", "source_seconds": 480, "is_owner": true, "function": "activity"}], "clock_intervals": [2], "presenter_notes": "Reloj fuente 10–18 min: duración compartida 480 segundos. Trabajo: Comprobación individual: localizar código, entrada, esperado, obtenido, significado y límite. Función del soporte: actividad.", "shared_intervals": [{"source_index": 2, "source_time": "10–18 min", "seconds": 480, "is_owner": true, "function": "activity", "action": "Comprobación individual: localizar código, entrada, esperado, obtenido, significado y límite.", "concurrent": false, "parallel_work": ""}]}, "code_blocks": [], "representation_needs": []}</ns0:renderMetadata>
    </p:ext>
  </p:extLs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Enlace profundo y permiso útil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946912"/>
          </a:xfrm>
          <a:prstGeom prst="rect">
            <a:avLst/>
          </a:prstGeom>
          <a:solidFill>
            <a:srgbClr val="2F5BA8"/>
          </a:solidFill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iberation Sans"/>
              </a:defRPr>
            </a:pPr>
            <a:r>
              <a:t>Un enlace profundo lleva directamente al archivo, prueba o sección relevante.</a:t>
            </a:r>
          </a:p>
        </p:txBody>
      </p:sp>
      <p:sp>
        <p:nvSpPr>
          <p:cNvPr id="6" name="Acción o criterio 0" descr="Acción o criterio 0"/>
          <p:cNvSpPr txBox="1"/>
          <p:nvPr/>
        </p:nvSpPr>
        <p:spPr>
          <a:xfrm>
            <a:off x="640080" y="2455672"/>
            <a:ext cx="5257800" cy="150571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abrirlo en ventana privada, si procede;</a:t>
            </a:r>
          </a:p>
        </p:txBody>
      </p:sp>
      <p:sp>
        <p:nvSpPr>
          <p:cNvPr id="7" name="Acción o criterio 1" descr="Acción o criterio 1"/>
          <p:cNvSpPr txBox="1"/>
          <p:nvPr/>
        </p:nvSpPr>
        <p:spPr>
          <a:xfrm>
            <a:off x="6080760" y="2455672"/>
            <a:ext cx="5257800" cy="150571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probarlo con una cuenta no propietaria, cuando sea viable, o pedir a otra persona que lo abra;</a:t>
            </a:r>
          </a:p>
        </p:txBody>
      </p:sp>
      <p:sp>
        <p:nvSpPr>
          <p:cNvPr id="8" name="Acción o criterio 2" descr="Acción o criterio 2"/>
          <p:cNvSpPr txBox="1"/>
          <p:nvPr/>
        </p:nvSpPr>
        <p:spPr>
          <a:xfrm>
            <a:off x="640080" y="4052824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confirmar que lleva al recurso concreto;</a:t>
            </a:r>
          </a:p>
        </p:txBody>
      </p:sp>
      <p:sp>
        <p:nvSpPr>
          <p:cNvPr id="9" name="Acción o criterio 3" descr="Acción o criterio 3"/>
          <p:cNvSpPr txBox="1"/>
          <p:nvPr/>
        </p:nvSpPr>
        <p:spPr>
          <a:xfrm>
            <a:off x="6080760" y="4052824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confirmar que no depende de permisos exclusivos de la persona propietaria.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"concept", "plan_index": 5, "recognition": false, "unit_ids": ["unit-10"], "roles": {"unit-10": "core"}, "source_refs": [{"source": "teacher", "heading": "Enlace profundo y permiso útil", "block_index": 10, "fragment": 0}], "visible_sources": [{"index": 0, "sha256": "ca8a14ba9c1104266f9a8e83fca30ecdaace8dd787077f065739615b3f474479"}, {"index": 2, "sha256": "802b62cae2e744f57b910b6b77785a4c06d7295e172c22a9a421a64173b84b4a"}], "notes_sources": [{"function": "visible_detail", "heading": "Enlace profundo y permiso útil", "sha256": "ca8a14ba9c1104266f9a8e83fca30ecdaace8dd787077f065739615b3f474479"}, {"function": "facilitation", "heading": "Enlace profundo y permiso útil", "sha256": "48b11c45ed0b2c2e21755e9b470acd9364f1940db34de18447eb83c7d5e74464"}, {"function": "facilitation", "heading": "Enlace profundo y permiso útil", "sha256": "39dc2fe3b068cbede57c234d2246ce5d350ffce8bc7de2440b94c8ace1612845"}], "relations": {"unit_relations": {"unit-10": {}}, "schedule": null, "source_supports_enriched": true}, "timeline_refs": [3], "composition": {"origin_slides": [16, 17]}, "timing": {"seconds": 0, "allocations": [{"source_index": 3, "seconds": 0, "decision": "Intervalo compartido íntegro; propietario contable seleccionado por función de actividad y referencia timeline de unidad (identidad semántica en empates). Soporte, sin duplicación contable. ", "source_time": "18–30 min", "source_seconds": 720, "is_owner": false, "function": "concept"}], "clock_intervals": [3], "presenter_notes": "Reloj fuente 18–30 min: duración compartida 720 segundos. Trabajo: Consolidar en equipo README, instrucciones, límites, pruebas y enlaces profundos. Función del soporte: explicación.", "shared_intervals": [{"source_index": 3, "source_time": "18–30 min", "seconds": 720, "is_owner": false, "function": "concept", "action": "Consolidar en equipo README, instrucciones, límites, pruebas y enlaces profundos.", "concurrent": false, "parallel_work": ""}]}, "code_blocks": [], "representation_needs": []}</ns0:renderMetadata>
    </p:ext>
  </p:extLs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Enlace profundo y permiso útil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946912"/>
          </a:xfrm>
          <a:prstGeom prst="rect">
            <a:avLst/>
          </a:prstGeom>
          <a:solidFill>
            <a:srgbClr val="2F5BA8"/>
          </a:solidFill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iberation Sans"/>
              </a:defRPr>
            </a:pPr>
            <a:r>
              <a:t>Un enlace que solo abre la persona propietaria no está preparado para una entrega.</a:t>
            </a:r>
          </a:p>
        </p:txBody>
      </p:sp>
      <p:sp>
        <p:nvSpPr>
          <p:cNvPr id="6" name="Contenido" descr="Contenido"/>
          <p:cNvSpPr txBox="1"/>
          <p:nvPr/>
        </p:nvSpPr>
        <p:spPr>
          <a:xfrm>
            <a:off x="640080" y="2455672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Esta comprobación es una acción, no un documento nuevo.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"concept", "plan_index": 5, "recognition": false, "unit_ids": ["unit-10"], "roles": {"unit-10": "core"}, "source_refs": [{"source": "teacher", "heading": "Enlace profundo y permiso útil", "block_index": 10, "fragment": 0}], "visible_sources": [{"index": 4, "sha256": "d055443d1532d9000b45b70b893f1f2037256fefaffcd922db2507cf7c9918ca"}, {"index": 5, "sha256": "bae75a60bf58ad22cc16194f420bed58d2882c98832540bb7b952ea1c200f2ee"}], "notes_sources": [{"function": "visible_detail", "heading": "Enlace profundo y permiso útil", "sha256": "ca8a14ba9c1104266f9a8e83fca30ecdaace8dd787077f065739615b3f474479"}, {"function": "facilitation", "heading": "Enlace profundo y permiso útil", "sha256": "48b11c45ed0b2c2e21755e9b470acd9364f1940db34de18447eb83c7d5e74464"}, {"function": "facilitation", "heading": "Enlace profundo y permiso útil", "sha256": "39dc2fe3b068cbede57c234d2246ce5d350ffce8bc7de2440b94c8ace1612845"}], "relations": {"unit_relations": {"unit-10": {}}, "schedule": null, "source_supports_enriched": true}, "timeline_refs": [3], "composition": {"origin_slides": [16, 17]}, "timing": {"seconds": 0, "allocations": [{"source_index": 3, "seconds": 0, "decision": "Intervalo compartido íntegro; propietario contable seleccionado por función de actividad y referencia timeline de unidad (identidad semántica en empates). Soporte, sin duplicación contable. ", "source_time": "18–30 min", "source_seconds": 720, "is_owner": false, "function": "concept"}], "clock_intervals": [3], "presenter_notes": "Reloj fuente 18–30 min: duración compartida 720 segundos. Trabajo: Consolidar en equipo README, instrucciones, límites, pruebas y enlaces profundos. Función del soporte: explicación.", "shared_intervals": [{"source_index": 3, "source_time": "18–30 min", "seconds": 720, "is_owner": false, "function": "concept", "action": "Consolidar en equipo README, instrucciones, límites, pruebas y enlaces profundos.", "concurrent": false, "parallel_work": ""}]}, "code_blocks": [], "representation_needs": []}</ns0:renderMetadata>
    </p:ext>
  </p:extLs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EQUIPO</a:t>
            </a: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Consolidación — EQUIPO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" descr="Acción"/>
          <p:cNvSpPr txBox="1"/>
          <p:nvPr/>
        </p:nvSpPr>
        <p:spPr>
          <a:xfrm>
            <a:off x="640080" y="140665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QUÉ HACER</a:t>
            </a:r>
          </a:p>
        </p:txBody>
      </p:sp>
      <p:sp>
        <p:nvSpPr>
          <p:cNvPr id="6" name="Acción o criterio 0" descr="Acción o criterio 0"/>
          <p:cNvSpPr txBox="1"/>
          <p:nvPr/>
        </p:nvSpPr>
        <p:spPr>
          <a:xfrm>
            <a:off x="640080" y="1987804"/>
            <a:ext cx="5257800" cy="150571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crea o completa el README en esa ubicación y lo contrasta con el incremento real;</a:t>
            </a:r>
          </a:p>
        </p:txBody>
      </p:sp>
      <p:sp>
        <p:nvSpPr>
          <p:cNvPr id="7" name="Acción o criterio 1" descr="Acción o criterio 1"/>
          <p:cNvSpPr txBox="1"/>
          <p:nvPr/>
        </p:nvSpPr>
        <p:spPr>
          <a:xfrm>
            <a:off x="6080760" y="1987804"/>
            <a:ext cx="5257800" cy="150571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completa qué hace y qué límites conserva;</a:t>
            </a:r>
          </a:p>
        </p:txBody>
      </p:sp>
      <p:sp>
        <p:nvSpPr>
          <p:cNvPr id="8" name="Acción o criterio 2" descr="Acción o criterio 2"/>
          <p:cNvSpPr txBox="1"/>
          <p:nvPr/>
        </p:nvSpPr>
        <p:spPr>
          <a:xfrm>
            <a:off x="640080" y="3584956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prueba las instrucciones de ejecución;</a:t>
            </a:r>
          </a:p>
        </p:txBody>
      </p:sp>
      <p:sp>
        <p:nvSpPr>
          <p:cNvPr id="9" name="Acción o criterio 3" descr="Acción o criterio 3"/>
          <p:cNvSpPr txBox="1"/>
          <p:nvPr/>
        </p:nvSpPr>
        <p:spPr>
          <a:xfrm>
            <a:off x="6080760" y="3584956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documenta casos reproducibles;</a:t>
            </a:r>
          </a:p>
        </p:txBody>
      </p:sp>
      <p:sp>
        <p:nvSpPr>
          <p:cNvPr id="10" name="Contenido" descr="Contenido"/>
          <p:cNvSpPr txBox="1"/>
          <p:nvPr/>
        </p:nvSpPr>
        <p:spPr>
          <a:xfrm>
            <a:off x="640080" y="4511548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No se escribe documentación para aparentar más alcance.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"activity", "plan_index": 6, "recognition": false, "unit_ids": ["unit-13"], "roles": {"unit-13": "core"}, "source_refs": [{"source": "teacher", "heading": "Consolidación — EQUIPO", "block_index": 13, "fragment": 0}, {"source": "teacher", "heading": "Actividad central", "block_index": 11, "fragment": 0}], "visible_sources": [{"index": 1, "sha256": "1f007964c7f765b8af1559c50f79c700c65a9234f511f73a7bcc62449f00047f"}, {"index": 2, "sha256": "7e440dbe34fd53832a75fb5ca1905c1ee24e6627faf7d0feb7b8ea23623f6392"}], "notes_sources": [{"function": "facilitation", "heading": "Consolidación — EQUIPO", "sha256": "17fe4438e4118b7e0ef48cd1a97b9417380f13dbbb3a837a5471dc407d6c7772"}, {"function": "visible_detail", "heading": "Consolidación — EQUIPO", "sha256": "7e440dbe34fd53832a75fb5ca1905c1ee24e6627faf7d0feb7b8ea23623f6392"}], "relations": {"unit_relations": {"unit-13": {"contrast": ["example", "counterexample"]}}, "schedule": null, "source_supports_enriched": true}, "timeline_refs": [3], "composition": {"origin_slides": [18, 19]}, "timing": {"seconds": 720, "allocations": [{"source_index": 3, "seconds": 720, "decision": "Intervalo compartido íntegro; propietario contable seleccionado por función de actividad y referencia timeline de unidad (identidad semántica en empates). Propietario. ", "source_time": "18–30 min", "source_seconds": 720, "is_owner": true, "function": "activity"}], "clock_intervals": [3], "presenter_notes": "Reloj fuente 18–30 min: duración compartida 720 segundos. Trabajo: Consolidar en equipo README, instrucciones, límites, pruebas y enlaces profundos. Función del soporte: actividad.", "shared_intervals": [{"source_index": 3, "source_time": "18–30 min", "seconds": 720, "is_owner": true, "function": "activity", "action": "Consolidar en equipo README, instrucciones, límites, pruebas y enlaces profundos.", "concurrent": false, "parallel_work": ""}]}, "code_blocks": [], "representation_needs": []}</ns0:renderMetadata>
    </p:ext>
  </p:extLs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EQUIPO</a:t>
            </a: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Consolidación — EQUIPO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" descr="Acción"/>
          <p:cNvSpPr txBox="1"/>
          <p:nvPr/>
        </p:nvSpPr>
        <p:spPr>
          <a:xfrm>
            <a:off x="640080" y="140665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QUÉ HACER</a:t>
            </a:r>
          </a:p>
        </p:txBody>
      </p:sp>
      <p:sp>
        <p:nvSpPr>
          <p:cNvPr id="6" name="Acción o criterio 0" descr="Acción o criterio 0"/>
          <p:cNvSpPr txBox="1"/>
          <p:nvPr/>
        </p:nvSpPr>
        <p:spPr>
          <a:xfrm>
            <a:off x="640080" y="1987804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relaciona cada caso con lo que demuestra;</a:t>
            </a:r>
          </a:p>
        </p:txBody>
      </p:sp>
      <p:sp>
        <p:nvSpPr>
          <p:cNvPr id="7" name="Acción o criterio 1" descr="Acción o criterio 1"/>
          <p:cNvSpPr txBox="1"/>
          <p:nvPr/>
        </p:nvSpPr>
        <p:spPr>
          <a:xfrm>
            <a:off x="6080760" y="1987804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añade enlaces profundos cuando faciliten la localización;</a:t>
            </a:r>
          </a:p>
        </p:txBody>
      </p:sp>
      <p:sp>
        <p:nvSpPr>
          <p:cNvPr id="8" name="Acción o criterio 2" descr="Acción o criterio 2"/>
          <p:cNvSpPr txBox="1"/>
          <p:nvPr/>
        </p:nvSpPr>
        <p:spPr>
          <a:xfrm>
            <a:off x="640080" y="3249676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comprueba que no hay credenciales ni datos personales;</a:t>
            </a:r>
          </a:p>
        </p:txBody>
      </p:sp>
      <p:sp>
        <p:nvSpPr>
          <p:cNvPr id="9" name="Acción o criterio 3" descr="Acción o criterio 3"/>
          <p:cNvSpPr txBox="1"/>
          <p:nvPr/>
        </p:nvSpPr>
        <p:spPr>
          <a:xfrm>
            <a:off x="6080760" y="3249676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corrige aquello que una persona externa no podría comprender o reproducir.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"activity", "plan_index": 6, "recognition": false, "unit_ids": ["unit-13"], "roles": {"unit-13": "core"}, "source_refs": [{"source": "teacher", "heading": "Consolidación — EQUIPO", "block_index": 13, "fragment": 0}, {"source": "teacher", "heading": "Actividad central", "block_index": 11, "fragment": 0}], "visible_sources": [{"index": 1, "sha256": "1f007964c7f765b8af1559c50f79c700c65a9234f511f73a7bcc62449f00047f"}], "notes_sources": [{"function": "facilitation", "heading": "Consolidación — EQUIPO", "sha256": "17fe4438e4118b7e0ef48cd1a97b9417380f13dbbb3a837a5471dc407d6c7772"}, {"function": "visible_detail", "heading": "Consolidación — EQUIPO", "sha256": "7e440dbe34fd53832a75fb5ca1905c1ee24e6627faf7d0feb7b8ea23623f6392"}], "relations": {"unit_relations": {"unit-13": {"contrast": ["example", "counterexample"]}}, "schedule": null, "source_supports_enriched": true}, "timeline_refs": [3], "composition": {"origin_slides": [18, 19]}, "timing": {"seconds": 0, "allocations": [{"source_index": 3, "seconds": 0, "decision": "Intervalo compartido íntegro; propietario contable seleccionado por función de actividad y referencia timeline de unidad (identidad semántica en empates). Soporte, sin duplicación contable. ", "source_time": "18–30 min", "source_seconds": 720, "is_owner": false, "function": "activity"}], "clock_intervals": [3], "presenter_notes": "Reloj fuente 18–30 min: duración compartida 720 segundos. Trabajo: Consolidar en equipo README, instrucciones, límites, pruebas y enlaces profundos. Función del soporte: actividad.", "shared_intervals": [{"source_index": 3, "source_time": "18–30 min", "seconds": 720, "is_owner": false, "function": "activity", "action": "Consolidar en equipo README, instrucciones, límites, pruebas y enlaces profundos.", "concurrent": false, "parallel_work": ""}]}, "code_blocks": [], "representation_needs": []}</ns0:renderMetadata>
    </p:ext>
  </p:extLs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PAREJAS</a:t>
            </a: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Comprobación externa — PAREJAS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133807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Una persona o pareja externa al trabajo utiliza la documentación sin explicación oral previa. Debe intentar:</a:t>
            </a:r>
          </a:p>
        </p:txBody>
      </p:sp>
      <p:sp>
        <p:nvSpPr>
          <p:cNvPr id="6" name="Contenido" descr="Contenido"/>
          <p:cNvSpPr txBox="1"/>
          <p:nvPr/>
        </p:nvSpPr>
        <p:spPr>
          <a:xfrm>
            <a:off x="640080" y="2846832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¿Podría otra persona ejecutar y comprobar el proyecto siguiendo únicamente la documentación?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"focus", "plan_index": 7, "recognition": false, "unit_ids": ["unit-14"], "roles": {"unit-14": "core"}, "source_refs": [{"source": "teacher", "heading": "Comprobación externa — PAREJAS", "block_index": 14, "fragment": 0}, {"source": "teacher", "heading": "Actividad central", "block_index": 11, "fragment": 0}], "visible_sources": [{"index": 4, "sha256": "6ff648616c2d2d98c788e4fbe0e3c0498d924f8e3bb0cb134c1847795bb94a91"}], "notes_sources": [{"function": "facilitation", "heading": "Comprobación externa — PAREJAS", "sha256": "063b30a1c6b3c018c6deedd43c3ba168fe9bf0175ea4b4f775902a202fb66e9a"}, {"function": "visible_detail", "heading": "Comprobación externa — PAREJAS", "sha256": "f43a2bb07601275735f05960ed6c84eae7e346dcf99606eed4f345d5102245b0"}, {"function": "facilitation", "heading": "Comprobación externa — PAREJAS", "sha256": "d8ff7e114000162a565c427bb57a73ec4d1fdbcacdd6a6e8d7b56eafb17586e9"}, {"function": "visible_detail", "heading": "Comprobación externa — PAREJAS", "sha256": "063b30a1c6b3c018c6deedd43c3ba168fe9bf0175ea4b4f775902a202fb66e9a"}, {"function": "visible_detail", "heading": "Comprobación externa — PAREJAS", "sha256": "067d4f54eceed56facf3574944cf6b14e16a6fa02f5efa9ac147da6ddb4ab362"}, {"function": "visible_detail", "heading": "Comprobación externa — PAREJAS", "sha256": "d8ff7e114000162a565c427bb57a73ec4d1fdbcacdd6a6e8d7b56eafb17586e9"}, {"function": "visible_detail", "heading": "Comprobación externa — PAREJAS", "sha256": "6ff648616c2d2d98c788e4fbe0e3c0498d924f8e3bb0cb134c1847795bb94a91"}], "relations": {"unit_relations": {"unit-14": {"question_context": ["context", "question"]}}, "schedule": null, "source_supports_enriched": true}, "timeline_refs": [4], "composition": {"origin_slides": [20, 21]}, "timing": {"seconds": 240, "allocations": [{"source_index": 4, "seconds": 0, "decision": "Intervalo compartido íntegro; propietario contable seleccionado por función de actividad y referencia timeline de unidad (identidad semántica en empates). Soporte, sin duplicación contable. ", "source_time": "30–38 min", "source_seconds": 480, "is_owner": false, "function": "activity"}, {"source_index": 5, "seconds": 240, "decision": "Intervalo compartido íntegro; propietario contable seleccionado por función de actividad y referencia timeline de unidad (identidad semántica en empates). Propietario. Intervalo sin ancla: se integra en el soporte con referencia fuente más cercana (desempate por orden del plan).", "source_time": "38–42 min", "source_seconds": 240, "is_owner": true, "function": "activity"}], "clock_intervals": [4, 5], "presenter_notes": "Reloj fuente 30–38 min: duración compartida 480 segundos. Trabajo: Intercambiar por parejas y probar la documentación sin explicación oral previa. Función del soporte: actividad. Reloj fuente 38–42 min: duración compartida 240 segundos. Trabajo: Corregir bloqueos, enlaces y permisos descubiertos. Función del soporte: actividad.", "shared_intervals": [{"source_index": 4, "source_time": "30–38 min", "seconds": 480, "is_owner": false, "function": "activity", "action": "Intercambiar por parejas y probar la documentación sin explicación oral previa.", "concurrent": false, "parallel_work": ""}, {"source_index": 5, "source_time": "38–42 min", "seconds": 240, "is_owner": true, "function": "activity", "action": "Corregir bloqueos, enlaces y permisos descubiertos.", "concurrent": false, "parallel_work": ""}]}, "code_blocks": [], "representation_needs": []}</ns0:renderMetadata>
    </p:ext>
  </p:extLs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PAREJAS</a:t>
            </a: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Comprobación externa — PAREJAS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 o criterio 0" descr="Acción o criterio 0"/>
          <p:cNvSpPr txBox="1"/>
          <p:nvPr/>
        </p:nvSpPr>
        <p:spPr>
          <a:xfrm>
            <a:off x="640080" y="1417320"/>
            <a:ext cx="5257800" cy="49987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abrir el enlace;</a:t>
            </a:r>
          </a:p>
        </p:txBody>
      </p:sp>
      <p:sp>
        <p:nvSpPr>
          <p:cNvPr id="6" name="Acción o criterio 1" descr="Acción o criterio 1"/>
          <p:cNvSpPr txBox="1"/>
          <p:nvPr/>
        </p:nvSpPr>
        <p:spPr>
          <a:xfrm>
            <a:off x="6080760" y="1417320"/>
            <a:ext cx="5257800" cy="49987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encontrar el README;</a:t>
            </a:r>
          </a:p>
        </p:txBody>
      </p:sp>
      <p:sp>
        <p:nvSpPr>
          <p:cNvPr id="7" name="Acción o criterio 2" descr="Acción o criterio 2"/>
          <p:cNvSpPr txBox="1"/>
          <p:nvPr/>
        </p:nvSpPr>
        <p:spPr>
          <a:xfrm>
            <a:off x="640080" y="2008632"/>
            <a:ext cx="5257800" cy="49987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entender qué hace H1;</a:t>
            </a:r>
          </a:p>
        </p:txBody>
      </p:sp>
      <p:sp>
        <p:nvSpPr>
          <p:cNvPr id="8" name="Acción o criterio 3" descr="Acción o criterio 3"/>
          <p:cNvSpPr txBox="1"/>
          <p:nvPr/>
        </p:nvSpPr>
        <p:spPr>
          <a:xfrm>
            <a:off x="6080760" y="2008632"/>
            <a:ext cx="5257800" cy="49987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entender sus límites;</a:t>
            </a:r>
          </a:p>
        </p:txBody>
      </p:sp>
      <p:sp>
        <p:nvSpPr>
          <p:cNvPr id="9" name="Acción o criterio 4" descr="Acción o criterio 4"/>
          <p:cNvSpPr txBox="1"/>
          <p:nvPr/>
        </p:nvSpPr>
        <p:spPr>
          <a:xfrm>
            <a:off x="640080" y="2599944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seguir las instrucciones de ejecución;</a:t>
            </a:r>
          </a:p>
        </p:txBody>
      </p:sp>
      <p:sp>
        <p:nvSpPr>
          <p:cNvPr id="10" name="Acción o criterio 5" descr="Acción o criterio 5"/>
          <p:cNvSpPr txBox="1"/>
          <p:nvPr/>
        </p:nvSpPr>
        <p:spPr>
          <a:xfrm>
            <a:off x="6080760" y="2599944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localizar las pruebas;</a:t>
            </a:r>
          </a:p>
        </p:txBody>
      </p:sp>
      <p:sp>
        <p:nvSpPr>
          <p:cNvPr id="11" name="Acción o criterio 6" descr="Acción o criterio 6"/>
          <p:cNvSpPr txBox="1"/>
          <p:nvPr/>
        </p:nvSpPr>
        <p:spPr>
          <a:xfrm>
            <a:off x="640080" y="3526536"/>
            <a:ext cx="5257800" cy="83515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comprender qué demuestra al menos una prueba.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"focus", "plan_index": 7, "recognition": false, "unit_ids": ["unit-14"], "roles": {"unit-14": "core"}, "source_refs": [{"source": "teacher", "heading": "Comprobación externa — PAREJAS", "block_index": 14, "fragment": 0}, {"source": "teacher", "heading": "Actividad central", "block_index": 11, "fragment": 0}], "visible_sources": [{"index": 1, "sha256": "067d4f54eceed56facf3574944cf6b14e16a6fa02f5efa9ac147da6ddb4ab362"}], "notes_sources": [{"function": "facilitation", "heading": "Comprobación externa — PAREJAS", "sha256": "063b30a1c6b3c018c6deedd43c3ba168fe9bf0175ea4b4f775902a202fb66e9a"}, {"function": "visible_detail", "heading": "Comprobación externa — PAREJAS", "sha256": "f43a2bb07601275735f05960ed6c84eae7e346dcf99606eed4f345d5102245b0"}, {"function": "facilitation", "heading": "Comprobación externa — PAREJAS", "sha256": "d8ff7e114000162a565c427bb57a73ec4d1fdbcacdd6a6e8d7b56eafb17586e9"}, {"function": "visible_detail", "heading": "Comprobación externa — PAREJAS", "sha256": "063b30a1c6b3c018c6deedd43c3ba168fe9bf0175ea4b4f775902a202fb66e9a"}, {"function": "visible_detail", "heading": "Comprobación externa — PAREJAS", "sha256": "067d4f54eceed56facf3574944cf6b14e16a6fa02f5efa9ac147da6ddb4ab362"}, {"function": "visible_detail", "heading": "Comprobación externa — PAREJAS", "sha256": "d8ff7e114000162a565c427bb57a73ec4d1fdbcacdd6a6e8d7b56eafb17586e9"}, {"function": "visible_detail", "heading": "Comprobación externa — PAREJAS", "sha256": "6ff648616c2d2d98c788e4fbe0e3c0498d924f8e3bb0cb134c1847795bb94a91"}], "relations": {"unit_relations": {"unit-14": {"question_context": ["context", "question"]}}, "schedule": null, "source_supports_enriched": true}, "timeline_refs": [4], "composition": {"origin_slides": [20, 21]}, "timing": {"seconds": 0, "allocations": [{"source_index": 4, "seconds": 0, "decision": "Intervalo compartido íntegro; propietario contable seleccionado por función de actividad y referencia timeline de unidad (identidad semántica en empates). Soporte, sin duplicación contable. ", "source_time": "30–38 min", "source_seconds": 480, "is_owner": false, "function": "activity"}], "clock_intervals": [4], "presenter_notes": "Reloj fuente 30–38 min: duración compartida 480 segundos. Trabajo: Intercambiar por parejas y probar la documentación sin explicación oral previa. Función del soporte: actividad.", "shared_intervals": [{"source_index": 4, "source_time": "30–38 min", "seconds": 480, "is_owner": false, "function": "activity", "action": "Intercambiar por parejas y probar la documentación sin explicación oral previa.", "concurrent": false, "parallel_work": ""}]}, "code_blocks": [], "representation_needs": []}</ns0:renderMetadata>
    </p:ext>
  </p:extLs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PAREJAS</a:t>
            </a: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Comprobación externa — PAREJAS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" descr="Acción"/>
          <p:cNvSpPr txBox="1"/>
          <p:nvPr/>
        </p:nvSpPr>
        <p:spPr>
          <a:xfrm>
            <a:off x="640080" y="140665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QUÉ HACER</a:t>
            </a:r>
          </a:p>
        </p:txBody>
      </p:sp>
      <p:sp>
        <p:nvSpPr>
          <p:cNvPr id="6" name="Contenido" descr="Contenido"/>
          <p:cNvSpPr txBox="1"/>
          <p:nvPr/>
        </p:nvSpPr>
        <p:spPr>
          <a:xfrm>
            <a:off x="640080" y="1987804"/>
            <a:ext cx="10881360" cy="133807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La persona autora observa y anota mentalmente dónde aparece el bloqueo, pero no dirige cada paso.</a:t>
            </a:r>
          </a:p>
        </p:txBody>
      </p:sp>
      <p:sp>
        <p:nvSpPr>
          <p:cNvPr id="7" name="Contenido" descr="Contenido"/>
          <p:cNvSpPr txBox="1"/>
          <p:nvPr/>
        </p:nvSpPr>
        <p:spPr>
          <a:xfrm>
            <a:off x="640080" y="3417316"/>
            <a:ext cx="10881360" cy="9469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¿Podría otra persona ejecutar y comprobar el proyecto siguiendo únicamente la documentación?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"activity", "plan_index": 7, "recognition": false, "unit_ids": ["unit-14"], "roles": {"unit-14": "core"}, "source_refs": [{"source": "teacher", "heading": "Comprobación externa — PAREJAS", "block_index": 14, "fragment": 0}, {"source": "teacher", "heading": "Actividad central", "block_index": 11, "fragment": 0}], "visible_sources": [{"index": 2, "sha256": "f43a2bb07601275735f05960ed6c84eae7e346dcf99606eed4f345d5102245b0"}, {"index": 4, "sha256": "6ff648616c2d2d98c788e4fbe0e3c0498d924f8e3bb0cb134c1847795bb94a91"}], "notes_sources": [{"function": "facilitation", "heading": "Comprobación externa — PAREJAS", "sha256": "063b30a1c6b3c018c6deedd43c3ba168fe9bf0175ea4b4f775902a202fb66e9a"}, {"function": "visible_detail", "heading": "Comprobación externa — PAREJAS", "sha256": "f43a2bb07601275735f05960ed6c84eae7e346dcf99606eed4f345d5102245b0"}, {"function": "facilitation", "heading": "Comprobación externa — PAREJAS", "sha256": "d8ff7e114000162a565c427bb57a73ec4d1fdbcacdd6a6e8d7b56eafb17586e9"}], "relations": {"unit_relations": {"unit-14": {"question_context": ["context", "question"]}}, "schedule": null, "source_supports_enriched": true}, "timeline_refs": [4], "composition": {"origin_slides": [20, 21]}, "timing": {"seconds": 480, "allocations": [{"source_index": 4, "seconds": 480, "decision": "Intervalo compartido íntegro; propietario contable seleccionado por función de actividad y referencia timeline de unidad (identidad semántica en empates). Propietario. ", "source_time": "30–38 min", "source_seconds": 480, "is_owner": true, "function": "activity"}], "clock_intervals": [4], "presenter_notes": "Reloj fuente 30–38 min: duración compartida 480 segundos. Trabajo: Intercambiar por parejas y probar la documentación sin explicación oral previa. Función del soporte: actividad.", "shared_intervals": [{"source_index": 4, "source_time": "30–38 min", "seconds": 480, "is_owner": true, "function": "activity", "action": "Intercambiar por parejas y probar la documentación sin explicación oral previa.", "concurrent": false, "parallel_work": ""}]}, "code_blocks": [], "representation_needs": []}</ns0:renderMetadata>
    </p:ext>
  </p:extLs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Seguridad y uso de IA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" descr="Acción"/>
          <p:cNvSpPr txBox="1"/>
          <p:nvPr/>
        </p:nvSpPr>
        <p:spPr>
          <a:xfrm>
            <a:off x="640080" y="140665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  <a:r>
              <a:t>QUÉ HACER</a:t>
            </a:r>
          </a:p>
        </p:txBody>
      </p:sp>
      <p:sp>
        <p:nvSpPr>
          <p:cNvPr id="6" name="Acción o criterio 0" descr="Acción o criterio 0"/>
          <p:cNvSpPr txBox="1"/>
          <p:nvPr/>
        </p:nvSpPr>
        <p:spPr>
          <a:xfrm>
            <a:off x="640080" y="1987804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Trabaja únicamente con datos ficticios.</a:t>
            </a:r>
          </a:p>
        </p:txBody>
      </p:sp>
      <p:sp>
        <p:nvSpPr>
          <p:cNvPr id="7" name="Acción o criterio 1" descr="Acción o criterio 1"/>
          <p:cNvSpPr txBox="1"/>
          <p:nvPr/>
        </p:nvSpPr>
        <p:spPr>
          <a:xfrm>
            <a:off x="6080760" y="1987804"/>
            <a:ext cx="52578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8" name="Acción o criterio 2" descr="Acción o criterio 2"/>
          <p:cNvSpPr txBox="1"/>
          <p:nvPr/>
        </p:nvSpPr>
        <p:spPr>
          <a:xfrm>
            <a:off x="640080" y="3249676"/>
            <a:ext cx="5257800" cy="184099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9" name="Acción o criterio 3" descr="Acción o criterio 3"/>
          <p:cNvSpPr txBox="1"/>
          <p:nvPr/>
        </p:nvSpPr>
        <p:spPr>
          <a:xfrm>
            <a:off x="6080760" y="3249676"/>
            <a:ext cx="5257800" cy="1840991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"activity", "plan_index": 7, "recognition": false, "unit_ids": ["unit-20"], "roles": {"unit-20": "core"}, "source_refs": [{"source": "student_fallback", "heading": "Seguridad y uso de IA", "block_index": null, "fragment": 0}], "visible_sources": [{"index": 5, "sha256": "61337aa7d62b810fc872b64ccf50a7b9620d423d2be91b3dfff6d304f2bec734"}], "notes_sources": [], "relations": {"unit_relations": {"unit-20": {}}, "schedule": null, "source_supports_enriched": true}, "timeline_refs": [4], "composition": {"origin_slides": [22]}, "timing": {"seconds": 0, "allocations": [{"source_index": 4, "seconds": 0, "decision": "Intervalo compartido íntegro; propietario contable seleccionado por función de actividad y referencia timeline de unidad (identidad semántica en empates). Soporte, sin duplicación contable. ", "source_time": "30–38 min", "source_seconds": 480, "is_owner": false, "function": "security"}], "clock_intervals": [4], "presenter_notes": "Reloj fuente 30–38 min: duración compartida 480 segundos. Trabajo: Intercambiar por parejas y probar la documentación sin explicación oral previa. Función del soporte: apoyo al trabajo.", "shared_intervals": [{"source_index": 4, "source_time": "30–38 min", "seconds": 480, "is_owner": false, "function": "security", "action": "Intercambiar por parejas y probar la documentación sin explicación oral previa.", "concurrent": false, "parallel_work": ""}]}, "code_blocks": [], "representation_needs": []}</ns0:renderMetadata>
    </p:ext>
  </p:extLs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Arquitectura de evidencias y límite de S214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Acción o criterio 0" descr="Acción o criterio 0"/>
          <p:cNvSpPr txBox="1"/>
          <p:nvPr/>
        </p:nvSpPr>
        <p:spPr>
          <a:xfrm>
            <a:off x="640080" y="1417320"/>
            <a:ext cx="3444240" cy="385267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GitHub: fuente canónica para código, README, evolución técnica, pruebas localizables y enlaces técnicos.</a:t>
            </a:r>
          </a:p>
        </p:txBody>
      </p:sp>
      <p:sp>
        <p:nvSpPr>
          <p:cNvPr id="6" name="Acción o criterio 1" descr="Acción o criterio 1"/>
          <p:cNvSpPr txBox="1"/>
          <p:nvPr/>
        </p:nvSpPr>
        <p:spPr>
          <a:xfrm>
            <a:off x="4267200" y="1417320"/>
            <a:ext cx="3444240" cy="385267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Scrum: solo registra una tarea, decisión, cambio, bloqueo o planificación real; no se actualiza para demostrar que ocurrió S214.</a:t>
            </a:r>
          </a:p>
        </p:txBody>
      </p:sp>
      <p:sp>
        <p:nvSpPr>
          <p:cNvPr id="7" name="Acción o criterio 2" descr="Acción o criterio 2"/>
          <p:cNvSpPr txBox="1"/>
          <p:nvPr/>
        </p:nvSpPr>
        <p:spPr>
          <a:xfrm>
            <a:off x="7894320" y="1417320"/>
            <a:ext cx="3444240" cy="385267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Diario individual: únicamente si surge un aprendizaje, dificultad o decisión personal significativa; no se exige fila S214 ni revisión administrativa.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"concept", "plan_index": 8, "recognition": false, "unit_ids": ["unit-15"], "roles": {"unit-15": "core"}, "source_refs": [{"source": "teacher", "heading": "Arquitectura de evidencias y límite de S214", "block_index": 15, "fragment": 0}], "visible_sources": [{"index": 0, "sha256": "f2d96a56d22ec5d770cabb7e3569ec57a6522b53af5020de245b20854d3461b1"}], "notes_sources": [], "relations": {"unit_relations": {"unit-15": {}}, "schedule": null, "source_supports_enriched": true}, "timeline_refs": [], "composition": {"origin_slides": [23, 24, 25]}, "timing": {"seconds": 0, "allocations": [{"source_index": 4, "seconds": 0, "decision": "Intervalo compartido íntegro; propietario contable seleccionado por función de actividad y referencia timeline de unidad (identidad semántica en empates). Soporte, sin duplicación contable. Diapositiva sin ancla: comparte el intervalo de la diapositiva anclada más cercana (desempate por orden); sin anclas, apertura fuente.", "source_time": "30–38 min", "source_seconds": 480, "is_owner": false, "function": "explanations"}], "clock_intervals": [4], "presenter_notes": "Reloj fuente 30–38 min: duración compartida 480 segundos. Trabajo: Intercambiar por parejas y probar la documentación sin explicación oral previa. Función del soporte: apoyo al trabajo.", "shared_intervals": [{"source_index": 4, "source_time": "30–38 min", "seconds": 480, "is_owner": false, "function": "explanations", "action": "Intercambiar por parejas y probar la documentación sin explicación oral previa.", "concurrent": false, "parallel_work": ""}]}, "code_blocks": [], "representation_needs": []}</ns0:renderMetadata>
    </p:ext>
  </p:extLs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Arquitectura de evidencias y límite de S214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Soporte fuente" descr="Soporte fuente"/>
          <p:cNvSpPr txBox="1"/>
          <p:nvPr/>
        </p:nvSpPr>
        <p:spPr>
          <a:xfrm>
            <a:off x="640080" y="1417320"/>
            <a:ext cx="10881360" cy="83515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1">
                <a:solidFill>
                  <a:srgbClr val="2F5BA8"/>
                </a:solidFill>
                <a:latin typeface="Liberation Sans"/>
              </a:defRPr>
            </a:pPr>
            <a:r>
              <a:t>Moodle: S214 prepara enlaces, permisos y documentación; S215 realiza la entrega oficial de H1.</a:t>
            </a:r>
          </a:p>
        </p:txBody>
      </p:sp>
      <p:sp>
        <p:nvSpPr>
          <p:cNvPr id="6" name="Acción o criterio 0" descr="Acción o criterio 0"/>
          <p:cNvSpPr txBox="1"/>
          <p:nvPr/>
        </p:nvSpPr>
        <p:spPr>
          <a:xfrm>
            <a:off x="640080" y="2343912"/>
            <a:ext cx="5257800" cy="217627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Drive: solo para una evidencia excepcional no-code sin una ubicación más natural; no duplica código, consola, capturas, pruebas técnicas o README.</a:t>
            </a:r>
          </a:p>
        </p:txBody>
      </p:sp>
      <p:sp>
        <p:nvSpPr>
          <p:cNvPr id="7" name="Acción o criterio 1" descr="Acción o criterio 1"/>
          <p:cNvSpPr txBox="1"/>
          <p:nvPr/>
        </p:nvSpPr>
        <p:spPr>
          <a:xfrm>
            <a:off x="6080760" y="2343912"/>
            <a:ext cx="5257800" cy="2176272"/>
          </a:xfrm>
          <a:prstGeom prst="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400" b="0">
                <a:solidFill>
                  <a:srgbClr val="1C2330"/>
                </a:solidFill>
                <a:latin typeface="Liberation Sans"/>
              </a:defRPr>
            </a:pPr>
            <a:r>
              <a:t>Sites: no se crean ni actualizan durante H1. Una evidencia significativa podrá seleccionarse posteriormente durante C1.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"source_support", "plan_index": 8, "recognition": false, "unit_ids": ["unit-15"], "roles": {"unit-15": "core"}, "source_refs": [{"source": "teacher", "heading": "Arquitectura de evidencias y límite de S214", "block_index": 15, "fragment": 0}], "visible_sources": [{"index": 0, "sha256": "f2d96a56d22ec5d770cabb7e3569ec57a6522b53af5020de245b20854d3461b1"}], "notes_sources": [{"function": "visible_detail", "heading": "Arquitectura de evidencias y límite de S214", "sha256": "f2d96a56d22ec5d770cabb7e3569ec57a6522b53af5020de245b20854d3461b1"}, {"function": "visible_detail", "heading": "Arquitectura de evidencias y límite de S214", "sha256": "8b3263a9832b195f03aa0f5051d5e89b6f403645b7ec1259824f520953201c24"}], "relations": {"unit_relations": {"unit-15": {}}, "schedule": null, "source_supports_enriched": true}, "timeline_refs": [], "composition": {"origin_slides": [23, 24, 25]}, "timing": {"seconds": 0, "allocations": [{"source_index": 4, "seconds": 0, "decision": "Intervalo compartido íntegro; propietario contable seleccionado por función de actividad y referencia timeline de unidad (identidad semántica en empates). Soporte, sin duplicación contable. Diapositiva sin ancla: comparte el intervalo de la diapositiva anclada más cercana (desempate por orden); sin anclas, apertura fuente.", "source_time": "30–38 min", "source_seconds": 480, "is_owner": false, "function": "explanations"}], "clock_intervals": [4], "presenter_notes": "Reloj fuente 30–38 min: duración compartida 480 segundos. Trabajo: Intercambiar por parejas y probar la documentación sin explicación oral previa. Función del soporte: apoyo al trabajo.", "shared_intervals": [{"source_index": 4, "source_time": "30–38 min", "seconds": 480, "is_owner": false, "function": "explanations", "action": "Intercambiar por parejas y probar la documentación sin explicación oral previa.", "concurrent": false, "parallel_work": ""}]}, "code_blocks": [], "representation_needs": []}</ns0:renderMetadata>
    </p:ext>
  </p:extLs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Arquitectura de evidencias y límite de S214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1338072"/>
          </a:xfrm>
          <a:prstGeom prst="rect">
            <a:avLst/>
          </a:prstGeom>
          <a:solidFill>
            <a:srgbClr val="2F5BA8"/>
          </a:solidFill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iberation Sans"/>
              </a:defRPr>
            </a:pPr>
            <a:r>
              <a:t>No se crea una evidencia de ejecución separada cuando las pruebas y su explicación ya están localizadas desde GitHub o README.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"concept", "plan_index": 8, "recognition": false, "unit_ids": ["unit-15"], "roles": {"unit-15": "core"}, "source_refs": [{"source": "teacher", "heading": "Arquitectura de evidencias y límite de S214", "block_index": 15, "fragment": 0}], "visible_sources": [{"index": 1, "sha256": "8b3263a9832b195f03aa0f5051d5e89b6f403645b7ec1259824f520953201c24"}], "notes_sources": [], "relations": {"unit_relations": {"unit-15": {}}, "schedule": null, "source_supports_enriched": true}, "timeline_refs": [], "composition": {"origin_slides": [23, 24, 25]}, "timing": {"seconds": 0, "allocations": [{"source_index": 4, "seconds": 0, "decision": "Intervalo compartido íntegro; propietario contable seleccionado por función de actividad y referencia timeline de unidad (identidad semántica en empates). Soporte, sin duplicación contable. Diapositiva sin ancla: comparte el intervalo de la diapositiva anclada más cercana (desempate por orden); sin anclas, apertura fuente.", "source_time": "30–38 min", "source_seconds": 480, "is_owner": false, "function": "explanations"}], "clock_intervals": [4], "presenter_notes": "Reloj fuente 30–38 min: duración compartida 480 segundos. Trabajo: Intercambiar por parejas y probar la documentación sin explicación oral previa. Función del soporte: apoyo al trabajo.", "shared_intervals": [{"source_index": 4, "source_time": "30–38 min", "seconds": 480, "is_owner": false, "function": "explanations", "action": "Intercambiar por parejas y probar la documentación sin explicación oral previa.", "concurrent": false, "parallel_work": ""}]}, "code_blocks": [], "representation_needs": []}</ns0:renderMetadata>
    </p:ext>
  </p:extLs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texto" descr="Contexto"/>
          <p:cNvSpPr txBox="1"/>
          <p:nvPr/>
        </p:nvSpPr>
        <p:spPr>
          <a:xfrm>
            <a:off x="640080" y="256032"/>
            <a:ext cx="10881360" cy="44399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2F5BA8"/>
                </a:solidFill>
                <a:latin typeface="Liberation Sans"/>
              </a:defRPr>
            </a:pPr>
          </a:p>
        </p:txBody>
      </p:sp>
      <p:sp>
        <p:nvSpPr>
          <p:cNvPr id="3" name="Idea principal" descr="Idea principal"/>
          <p:cNvSpPr txBox="1"/>
          <p:nvPr/>
        </p:nvSpPr>
        <p:spPr>
          <a:xfrm>
            <a:off x="640080" y="694944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 b="1">
                <a:solidFill>
                  <a:srgbClr val="1C2330"/>
                </a:solidFill>
                <a:latin typeface="Liberation Sans"/>
              </a:defRPr>
            </a:pPr>
            <a:r>
              <a:t>Transición a S215</a:t>
            </a:r>
          </a:p>
        </p:txBody>
      </p:sp>
      <p:sp>
        <p:nvSpPr>
          <p:cNvPr id="4" name="Sesión y procedencia" descr="Sesión y procedencia"/>
          <p:cNvSpPr txBox="1"/>
          <p:nvPr/>
        </p:nvSpPr>
        <p:spPr>
          <a:xfrm>
            <a:off x="640080" y="6428232"/>
            <a:ext cx="10881360" cy="38811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1760"/>
              </a:lnSpc>
              <a:spcAft>
                <a:spcPts val="0"/>
              </a:spcAft>
              <a:defRPr sz="1600" b="0">
                <a:solidFill>
                  <a:srgbClr val="1C2330"/>
                </a:solidFill>
                <a:latin typeface="Liberation Sans"/>
              </a:defRPr>
            </a:pPr>
            <a:r>
              <a:t>S214 · H1 — Primer asistente ejecutable</a:t>
            </a:r>
          </a:p>
        </p:txBody>
      </p:sp>
      <p:sp>
        <p:nvSpPr>
          <p:cNvPr id="5" name="Contenido" descr="Contenido"/>
          <p:cNvSpPr txBox="1"/>
          <p:nvPr/>
        </p:nvSpPr>
        <p:spPr>
          <a:xfrm>
            <a:off x="640080" y="1417320"/>
            <a:ext cx="10881360" cy="555752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0">
                <a:solidFill>
                  <a:srgbClr val="1C2330"/>
                </a:solidFill>
                <a:latin typeface="Liberation Sans"/>
              </a:defRPr>
            </a:pPr>
            <a:r>
              <a:t>Documentar no sustituye defender.</a:t>
            </a:r>
          </a:p>
        </p:txBody>
      </p:sp>
      <p:sp>
        <p:nvSpPr>
          <p:cNvPr id="6" name="Código editable" descr="Código editable"/>
          <p:cNvSpPr txBox="1"/>
          <p:nvPr/>
        </p:nvSpPr>
        <p:spPr>
          <a:xfrm>
            <a:off x="640080" y="2064512"/>
            <a:ext cx="10881360" cy="457962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señalar → explicar → ejecutar → comprobar</a:t>
            </a:r>
          </a:p>
        </p:txBody>
      </p:sp>
      <p:sp>
        <p:nvSpPr>
          <p:cNvPr id="7" name="Código editable" descr="Código editable"/>
          <p:cNvSpPr txBox="1"/>
          <p:nvPr/>
        </p:nvSpPr>
        <p:spPr>
          <a:xfrm>
            <a:off x="640080" y="2613914"/>
            <a:ext cx="10881360" cy="457962"/>
          </a:xfrm>
          <a:prstGeom prst="rect">
            <a:avLst/>
          </a:prstGeom>
          <a:solidFill>
            <a:srgbClr val="FFFFFF"/>
          </a:solidFill>
        </p:spPr>
        <p:txBody>
          <a:bodyPr wrap="square" lIns="109728" rIns="109728" tIns="73152" bIns="73152">
            <a:noAutofit/>
          </a:bodyPr>
          <a:lstStyle/>
          <a:p>
            <a:pPr marL="335280" indent="-335280">
              <a:lnSpc>
                <a:spcPts val="2310"/>
              </a:lnSpc>
              <a:spcAft>
                <a:spcPts val="0"/>
              </a:spcAft>
              <a:defRPr sz="2200" b="0">
                <a:solidFill>
                  <a:srgbClr val="1C2330"/>
                </a:solidFill>
                <a:latin typeface="Liberation Mono"/>
              </a:defRPr>
            </a:pPr>
            <a:r>
              <a:t>predecir → modificar → ejecutar → comprobar</a:t>
            </a:r>
          </a:p>
        </p:txBody>
      </p:sp>
      <p:sp>
        <p:nvSpPr>
          <p:cNvPr id="8" name="Contenido" descr="Contenido"/>
          <p:cNvSpPr txBox="1"/>
          <p:nvPr/>
        </p:nvSpPr>
        <p:spPr>
          <a:xfrm>
            <a:off x="640080" y="3163316"/>
            <a:ext cx="10881360" cy="1338072"/>
          </a:xfrm>
          <a:prstGeom prst="rect">
            <a:avLst/>
          </a:prstGeom>
          <a:solidFill>
            <a:srgbClr val="2F5BA8"/>
          </a:solidFill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iberation Sans"/>
              </a:defRPr>
            </a:pPr>
            <a:r>
              <a:rPr>
                <a:solidFill>
                  <a:srgbClr val="FFFFFF"/>
                </a:solidFill>
              </a:rPr>
              <a:t>Si en la defensa te pido que señales una prueba, ejecutes, predigas una salida o modifiques una parte pequeña, ¿sabes dónde está y qué demuestra?</a:t>
            </a:r>
          </a:p>
        </p:txBody>
      </p:sp>
      <p:sp>
        <p:nvSpPr>
          <p:cNvPr id="9" name="Contenido" descr="Contenido"/>
          <p:cNvSpPr txBox="1"/>
          <p:nvPr/>
        </p:nvSpPr>
        <p:spPr>
          <a:xfrm>
            <a:off x="640080" y="4592828"/>
            <a:ext cx="10881360" cy="1338072"/>
          </a:xfrm>
          <a:prstGeom prst="rect">
            <a:avLst/>
          </a:prstGeom>
          <a:solidFill>
            <a:srgbClr val="2F5BA8"/>
          </a:solidFill>
        </p:spPr>
        <p:txBody>
          <a:bodyPr wrap="square" lIns="109728" rIns="109728" tIns="73152" bIns="73152">
            <a:noAutofit/>
          </a:bodyPr>
          <a:lstStyle/>
          <a:p>
            <a:pPr>
              <a:lnSpc>
                <a:spcPts val="308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iberation Sans"/>
              </a:defRPr>
            </a:pPr>
            <a:r>
              <a:rPr>
                <a:solidFill>
                  <a:srgbClr val="FFFFFF"/>
                </a:solidFill>
              </a:rPr>
              <a:t>¿Qué evidencia de H1 podría ser suficientemente significativa como para seleccionarla posteriormente durante C1?</a:t>
            </a:r>
          </a:p>
        </p:txBody>
      </p:sp>
    </p:spTree>
  </p:cSld>
  <p:clrMapOvr>
    <a:masterClrMapping/>
  </p:clrMapOvr>
  <p:extLst>
    <p:ext uri="urn:minijarvis:semantic-render:v1">
      <ns0:renderMetadata xmlns:ns0="urn:minijarvis:semantic-render:v1">{"session": "214", "source_files": {"teacher": "/mnt/compartido/Programación-26-27/Minijarvis/02-PROFESORADO/02-SESIONES/h1/S214-readme-y-evidencia-de-ejecucion-docente.md", "student_fallback": "/mnt/compartido/Programación-26-27/Minijarvis/01-ALUMNADO/03-SESIONES/h1/S214-readme-y-evidencia-de-ejecucion-alumnado.md"}, "layout": "closure", "plan_index": 9, "recognition": false, "unit_ids": ["unit-18", "unit-19"], "roles": {"unit-18": "core", "unit-19": "core"}, "source_refs": [{"source": "teacher", "heading": "Transición a S215", "block_index": 19, "fragment": 0}, {"source": "teacher", "heading": "Al terminar", "block_index": 20, "fragment": 0}], "visible_sources": [{"index": 0, "sha256": "169cc81d19fe6302ca171805132a43b119c8846f140a9ac45d1d18817036bccc"}, {"index": 2, "sha256": "1f1aef340edd632aa939a057d0989d338637fd7a8c0ebefbd7f7db45cb9b8adb"}, {"index": 4, "sha256": "174e1ebfc5194d5f15730904f81b780c54671929b6497f129f645319397f284f"}, {"index": 5, "sha256": "110b356fbdec8d813a7d98e85fae4eb76301bb9f096555b57a3c30eafa156309"}, {"index": 7, "sha256": "5ae258514ab32957635ebf2e9c8711581e2dab399de53226ddd2c9381ee87449"}], "notes_sources": [{"function": "closure", "heading": "Transición a S215", "sha256": "fb67f22ec5bf6da4636e91272725e469b7403d037f8900d49f6e438260d9fd93"}, {"function": "continuity", "heading": "Al terminar", "sha256": "6b176a8d492a353b7c56a01df50e3449ce407ee5e30092cab64519f2b2030854"}, {"function": "visible_detail", "heading": "Transición a S215", "sha256": "169cc81d19fe6302ca171805132a43b119c8846f140a9ac45d1d18817036bccc"}, {"function": "facilitation", "heading": "Transición a S215", "sha256": "aff6c29b3a9e2a409b50db5a5c55e161b8cac65163c139cb07c35804a8bd6c49"}, {"function": "facilitation", "heading": "Transición a S215", "sha256": "ef1dd268224b230858e7bcc8405490132ce5b33875eda8f7665cf57991c5e047"}, {"function": "facilitation", "heading": "Transición a S215", "sha256": "766b2320f087908f1da6bae8ad4e2bbc90b01e0fa05cf13d6d89f29d4990c5c1"}, {"function": "closure", "heading": "Transición a S215", "sha256": "110b356fbdec8d813a7d98e85fae4eb76301bb9f096555b57a3c30eafa156309"}, {"function": "closure", "heading": "Transición a S215", "sha256": "5ae258514ab32957635ebf2e9c8711581e2dab399de53226ddd2c9381ee87449"}, {"function": "closure", "heading": "Transición a S215", "sha256": "110b356fbdec8d813a7d98e85fae4eb76301bb9f096555b57a3c30eafa156309"}, {"function": "closure", "heading": "Transición a S215", "sha256": "5ae258514ab32957635ebf2e9c8711581e2dab399de53226ddd2c9381ee87449"}], "relations": {"unit_relations": {"unit-18": {"question_context": ["context", "question"]}}, "schedule": null, "source_supports_enriched": true}, "timeline_refs": [6], "composition": {"origin_slides": [26, 27]}, "timing": {"seconds": 180, "allocations": [{"source_index": 6, "seconds": 180, "decision": "Intervalo compartido íntegro; propietario contable seleccionado por función de actividad y referencia timeline de unidad (identidad semántica en empates). Propietario. ", "source_time": "42–45 min", "source_seconds": 180, "is_owner": true, "function": "closure"}], "clock_intervals": [6], "presenter_notes": "Reloj fuente 42–45 min: duración compartida 180 segundos. Trabajo: Comprobar el cierre y preparar la transición hacia la defensa. Función del soporte: cierre.", "shared_intervals": [{"source_index": 6, "source_time": "42–45 min", "seconds": 180, "is_owner": true, "function": "closure", "action": "Comprobar el cierre y preparar la transición hacia la defensa.", "concurrent": false, "parallel_work": ""}]}, "code_blocks": [], "representation_needs": []}</ns0:renderMetadata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