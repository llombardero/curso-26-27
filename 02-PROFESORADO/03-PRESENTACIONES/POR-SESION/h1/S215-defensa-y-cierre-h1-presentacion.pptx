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Facilitación docente · Antes de entrar en clase</a:t>
            </a:r>
          </a:p>
          <a:p>
            <a:r>
              <a:t>- [ ] Preparar el orden breve de defensas y dejar visible qué hará el resto mientras espera.</a:t>
            </a:r>
          </a:p>
          <a:p>
            <a:r>
              <a:t>- [ ] Abrir la tarea oficial de H1 en Moodle y verificar sus campos.</a:t>
            </a:r>
          </a:p>
          <a:p>
            <a:r>
              <a:t>- [ ] Comprobar que se dispone de los enlaces a GitHub, README y, si corresponde, Scrum.</a:t>
            </a:r>
          </a:p>
          <a:p>
            <a:r>
              <a:t>- [ ] Preparar una ventana privada o una cuenta distinta para comprobar permisos.</a:t>
            </a:r>
          </a:p>
          <a:p>
            <a:r>
              <a:t>- [ ] Tener localizados el código y las pruebas sobre las que se defenderá.</a:t>
            </a:r>
          </a:p>
          <a:p/>
          <a:p>
            <a:r>
              <a:t>Facilitación docente · Apertura docente</a:t>
            </a:r>
          </a:p>
          <a:p>
            <a:r>
              <a:t>&gt; Hoy cerramos H1. La defensa no es un castigo ni una exposición larga. Es la comprobación de que entendéis vuestro propio producto. Vais a señalar código, explicar, ejecutar, predecir y, cuando proceda, modificar algo pequeño. Mientras realizo defensas, el resto ensaya, revisa el incremento, hace retrospectiva y prepara la entrega.</a:t>
            </a:r>
          </a:p>
          <a:p/>
          <a:p>
            <a:r>
              <a:t>Organización del aula · Organización simultánea de los 45 minutos</a:t>
            </a:r>
          </a:p>
          <a:p>
            <a:r>
              <a:t>No organices la sesión como una única actividad para toda la clase. Mantén activas estas líneas de trabajo:</a:t>
            </a:r>
          </a:p>
          <a:p/>
          <a:p>
            <a:r>
              <a:t>Distribuye funciones dentro de cada equipo para que una defensa individual no detenga el review, la retrospectiva ni la entrega. El ensayo entre iguales prepara la defensa, pero no la sustituye.</a:t>
            </a:r>
          </a:p>
          <a:p/>
          <a:p>
            <a:r>
              <a:t>Observación · Observación docente</a:t>
            </a:r>
          </a:p>
          <a:p>
            <a:r>
              <a:t>Durante la defensa y el trabajo paralelo, observa específicamente:</a:t>
            </a:r>
          </a:p>
          <a:p/>
          <a:p>
            <a:r>
              <a:t>- que la persona demuestra autoría y comprensión individual;</a:t>
            </a:r>
          </a:p>
          <a:p>
            <a:r>
              <a:t>- que localiza en el código aquello que explica;</a:t>
            </a:r>
          </a:p>
          <a:p>
            <a:r>
              <a:t>- que formula una predicción concreta;</a:t>
            </a:r>
          </a:p>
          <a:p>
            <a:r>
              <a:t>- que explica valores, tipos, operaciones y la comparación booleana con precisión suficiente;</a:t>
            </a:r>
          </a:p>
          <a:p>
            <a:r>
              <a:t>- que realiza una modificación sencilla cuando procede;</a:t>
            </a:r>
          </a:p>
          <a:p>
            <a:r>
              <a:t>- que ejecuta y contrasta el resultado;</a:t>
            </a:r>
          </a:p>
          <a:p>
            <a:r>
              <a:t>- que distingue lo logrado en H1 de contenidos posteriores;</a:t>
            </a:r>
          </a:p>
          <a:p>
            <a:r>
              <a:t>- que identifica qué necesita practicar después;</a:t>
            </a:r>
          </a:p>
          <a:p>
            <a:r>
              <a:t>- que el equipo fundamenta la review en pruebas existentes;</a:t>
            </a:r>
          </a:p>
          <a:p>
            <a:r>
              <a:t>- que la retrospectiva produce una mejora concreta;</a:t>
            </a:r>
          </a:p>
          <a:p>
            <a:r>
              <a:t>- que los enlaces entregados son profundos y accesibles.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 Reloj fuente 43–45 min: duración compartida 120 segundos. Trabajo: Cierre común y siguiente paso. Función del soporte: apoyo al trabajo. Soporte concurrente del mismo reloj fuente: no son turnos de defensa ni una secuencia adicional. Trabajo paralelo: Reflexión individual breve y confirmación del cierre de equipo.</a:t>
            </a:r>
          </a:p>
          <a:p/>
          <a:p>
            <a:r>
              <a:t>Ritmo fuente · Organización simultánea de los 45 minutos</a:t>
            </a:r>
          </a:p>
          <a:p>
            <a:r>
              <a:t>0–5 min — Explicar el protocolo y confirmar el orden.</a:t>
            </a:r>
          </a:p>
          <a:p/>
          <a:p>
            <a:r>
              <a:t>Trabajo paralelo del alumnado: Abrir código, README, Scrum y enlaces de entrega.</a:t>
            </a:r>
          </a:p>
          <a:p/>
          <a:p>
            <a:r>
              <a:t>5–15 min — Defensas individuales breves.</a:t>
            </a:r>
          </a:p>
          <a:p/>
          <a:p>
            <a:r>
              <a:t>Trabajo paralelo del alumnado: Ensayo y revisión por parejas: señalar, predecir, modificar y comprobar.</a:t>
            </a:r>
          </a:p>
          <a:p/>
          <a:p>
            <a:r>
              <a:t>15–28 min — Continuar defensas y recuperar respuestas vagas sobre el código.</a:t>
            </a:r>
          </a:p>
          <a:p/>
          <a:p>
            <a:r>
              <a:t>Trabajo paralelo del alumnado: Review del incremento y retrospectiva en equipo.</a:t>
            </a:r>
          </a:p>
          <a:p/>
          <a:p>
            <a:r>
              <a:t>28–38 min — Continuar defensas o una segunda comprobación breve cuando haga falta.</a:t>
            </a:r>
          </a:p>
          <a:p/>
          <a:p>
            <a:r>
              <a:t>Trabajo paralelo del alumnado: Preparar la entrega Moodle, revisar enlaces profundos y probar permisos.</a:t>
            </a:r>
          </a:p>
          <a:p/>
          <a:p>
            <a:r>
              <a:t>38–43 min — Resolver defensas pendientes sin convertirlas en exposiciones.</a:t>
            </a:r>
          </a:p>
          <a:p/>
          <a:p>
            <a:r>
              <a:t>Trabajo paralelo del alumnado: Un integrante realiza la entrega; el equipo verifica que abre correctamente.</a:t>
            </a:r>
          </a:p>
          <a:p/>
          <a:p>
            <a:r>
              <a:t>43–45 min — Cierre común y siguiente paso.</a:t>
            </a:r>
          </a:p>
          <a:p/>
          <a:p>
            <a:r>
              <a:t>Trabajo paralelo del alumnado: Reflexión individual breve y confirmación del cierre de equipo.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Detalle para la explicación oral · Finalidad del cierre</a:t>
            </a:r>
          </a:p>
          <a:p>
            <a:r>
              <a:t>Al terminar, cada persona debe haber defendido una parte técnica de H1 mediante código y ejecución real. Cada equipo debe haber revisado su incremento, acordado una mejora concreta, comprobado sus enlaces y realizado la entrega oficial de H1 en Moodle.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a:t>
            </a:r>
          </a:p>
          <a:p/>
          <a:p>
            <a:r>
              <a:t>Banco de preguntas · Banco de preguntas para seleccionar</a:t>
            </a:r>
          </a:p>
          <a:p>
            <a:r>
              <a:t>Elige preguntas según el código de cada persona y la evidencia que necesites comprobar. No debe responderlas todas.</a:t>
            </a:r>
          </a:p>
          <a:p/>
          <a:p>
            <a:r>
              <a:t>Andamiaje y recuperación · Andamiaje durante la defensa</a:t>
            </a:r>
          </a:p>
          <a:p>
            <a:r>
              <a:t>No des la explicación en lugar del alumnado. Utiliza la ayuda mínima:</a:t>
            </a:r>
          </a:p>
          <a:p/>
          <a:p>
            <a:r>
              <a:t>- **Respuesta vaga:** pide volver a una línea concreta.</a:t>
            </a:r>
          </a:p>
          <a:p>
            <a:r>
              <a:t>- **No sabe predecir:** aísla los valores y la expresión antes de ejecutar.</a:t>
            </a:r>
          </a:p>
          <a:p>
            <a:r>
              <a:t>- **No sabe explicar una variable:** pide tipo, nombre, valor actual y posible cambio.</a:t>
            </a:r>
          </a:p>
          <a:p>
            <a:r>
              <a:t>- **No entiende la comparación:** aísla operandos y operador, prueba un valor que produzca `true` y otro que produzca `false`, y recuerda que H1 no abre ramas.</a:t>
            </a:r>
          </a:p>
          <a:p>
            <a:r>
              <a:t>- **No sabe explicar la entrada:** recorre teclado → `String` → conversión, si procede → uso.</a:t>
            </a:r>
          </a:p>
          <a:p>
            <a:r>
              <a:t>- **No justifica una constante:** pregunta qué ocurriría si cambiara durante la ejecución.</a:t>
            </a:r>
          </a:p>
          <a:p>
            <a:r>
              <a:t>- **Dice solo «funciona»:** pide entrada, salida esperada, salida obtenida y lugar donde se comprueba.</a:t>
            </a:r>
          </a:p>
          <a:p>
            <a:r>
              <a:t>- **Se bloquea:** permite un ensayo breve y vuelve después a la defensa individual.</a:t>
            </a:r>
          </a:p>
          <a:p/>
          <a:p>
            <a:r>
              <a:t>Detalle para la explicación oral · Defensa práctica individual</a:t>
            </a:r>
          </a:p>
          <a:p>
            <a:r>
              <a:t>La defensa se realiza sobre código trabajado y con ejecución real. Debe ser breve: selecciona dos o tres comprobaciones adecuadas a lo que la persona ha construido, no todo el banco.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Detalle para la explicación oral · Protocolo básico</a:t>
            </a:r>
          </a:p>
          <a:p>
            <a:r>
              <a:t>1. señala una línea o fragmento concreto;</a:t>
            </a:r>
          </a:p>
          <a:p>
            <a:r>
              <a:t>2. explica qué representa y qué hace;</a:t>
            </a:r>
          </a:p>
          <a:p>
            <a:r>
              <a:t>3. ejecuta con una entrada o estado conocido;</a:t>
            </a:r>
          </a:p>
          <a:p>
            <a:r>
              <a:t>4. contrasta el resultado con lo explicado.</a:t>
            </a:r>
          </a:p>
          <a:p/>
          <a:p>
            <a:r>
              <a:t>La modificación puede ser un mensaje, un literal, el valor inicial de una variable o una entrada ficticia. No debe exigir contenido posterior a H1.</a:t>
            </a:r>
          </a:p>
          <a:p/>
          <a:p>
            <a:r>
              <a:t>La defensa no es una presentación, un informe, un formulario ni una recitación del README. El producto del equipo no sustituye la comprensión individual.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Detalle para la explicación oral · Protocolo básico</a:t>
            </a:r>
          </a:p>
          <a:p>
            <a:r>
              <a:t>1. señala una línea o fragmento concreto;</a:t>
            </a:r>
          </a:p>
          <a:p>
            <a:r>
              <a:t>2. explica qué representa y qué hace;</a:t>
            </a:r>
          </a:p>
          <a:p>
            <a:r>
              <a:t>3. ejecuta con una entrada o estado conocido;</a:t>
            </a:r>
          </a:p>
          <a:p>
            <a:r>
              <a:t>4. contrasta el resultado con lo explicado.</a:t>
            </a:r>
          </a:p>
          <a:p/>
          <a:p>
            <a:r>
              <a:t>La modificación puede ser un mensaje, un literal, el valor inicial de una variable o una entrada ficticia. No debe exigir contenido posterior a H1.</a:t>
            </a:r>
          </a:p>
          <a:p/>
          <a:p>
            <a:r>
              <a:t>La defensa no es una presentación, un informe, un formulario ni una recitación del README. El producto del equipo no sustituye la comprensión individual.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a:t>
            </a:r>
          </a:p>
          <a:p/>
          <a:p>
            <a:r>
              <a:t>Banco de preguntas · Estructura y ejecución</a:t>
            </a:r>
          </a:p>
          <a:p>
            <a:r>
              <a:t>- Señala dónde comienza la ejecución y explica el papel de `main`.</a:t>
            </a:r>
          </a:p>
          <a:p>
            <a:r>
              <a:t>- Señala una instrucción que produzca salida y predice qué mostrará.</a:t>
            </a:r>
          </a:p>
          <a:p>
            <a:r>
              <a:t>- ¿Qué prueba reproducible demuestra que esta parte funciona?</a:t>
            </a:r>
          </a:p>
          <a:p/>
          <a:p>
            <a:r>
              <a:t>Banco de preguntas · Variables, constantes y literales</a:t>
            </a:r>
          </a:p>
          <a:p>
            <a:r>
              <a:t>- Señala una variable y explica su tipo, nombre, valor actual y una posible reasignación.</a:t>
            </a:r>
          </a:p>
          <a:p>
            <a:r>
              <a:t>- Señala una constante y justifica por qué ese dato no debe cambiar.</a:t>
            </a:r>
          </a:p>
          <a:p>
            <a:r>
              <a:t>- Señala un literal e identifica su tipo.</a:t>
            </a:r>
          </a:p>
          <a:p>
            <a:r>
              <a:t>- Cambia un literal o valor inicial sencillo y predice el efecto antes de ejecutar.</a:t>
            </a:r>
          </a:p>
          <a:p/>
          <a:p>
            <a:r>
              <a:t>Banco de preguntas · Expresiones, operaciones y actualizaciones</a:t>
            </a:r>
          </a:p>
          <a:p>
            <a:r>
              <a:t>- Señala una expresión u operación y explica de dónde sale el resultado.</a:t>
            </a:r>
          </a:p>
          <a:p>
            <a:r>
              <a:t>- Si aparece una división, ¿esperas división entera o real? ¿Por qué?</a:t>
            </a:r>
          </a:p>
          <a:p>
            <a:r>
              <a:t>- Si aparece `%`, ¿qué resto produce?</a:t>
            </a:r>
          </a:p>
          <a:p>
            <a:r>
              <a:t>- Si aparece `+=`, `-=`, `++` o `--`, recorre el valor paso a paso.</a:t>
            </a:r>
          </a:p>
          <a:p/>
          <a:p>
            <a:r>
              <a:t>Banco de preguntas · Entrada y conversiones</a:t>
            </a:r>
          </a:p>
          <a:p>
            <a:r>
              <a:t>- Señala dónde se crea o reutiliza `Scanner`.</a:t>
            </a:r>
          </a:p>
          <a:p>
            <a:r>
              <a:t>- ¿Qué devuelve `nextLine()` y dónde se almacena?</a:t>
            </a:r>
          </a:p>
          <a:p>
            <a:r>
              <a:t>- Si el dato debe convertirse, señala el parseo y explica el tipo resultante.</a:t>
            </a:r>
          </a:p>
          <a:p>
            <a:r>
              <a:t>- Explica qué entrada podría provocar un error de ejecución y por qué.</a:t>
            </a:r>
          </a:p>
          <a:p>
            <a:r>
              <a:t>- Recorre el flujo desde teclado hasta el uso del dato en la salida.</a:t>
            </a:r>
          </a:p>
          <a:p/>
          <a:p>
            <a:r>
              <a:t>Banco de preguntas · Comparación booleana sin bifurcación</a:t>
            </a:r>
          </a:p>
          <a:p>
            <a:r>
              <a:t>- Señala una comparación y predice su resultado para un valor concreto.</a:t>
            </a:r>
          </a:p>
          <a:p>
            <a:r>
              <a:t>- Explica qué significan `true` y `false` en esa comparación.</a:t>
            </a:r>
          </a:p>
          <a:p>
            <a:r>
              <a:t>- Ejecuta o explica dos valores que produzcan resultados booleanos distintos, sin ramas.</a:t>
            </a:r>
          </a:p>
          <a:p>
            <a:r>
              <a:t>- Cambia un valor sencillo, predice qué `boolean` se mostrará y compruébalo.</a:t>
            </a:r>
          </a:p>
          <a:p>
            <a:r>
              <a:t>- Explica por qué el resultado no decide qué instrucciones se ejecutan en H1.</a:t>
            </a:r>
          </a:p>
          <a:p/>
          <a:p>
            <a:r>
              <a:t>Banco de preguntas · Alcance de H1</a:t>
            </a:r>
          </a:p>
          <a:p>
            <a:r>
              <a:t>- ¿Qué hace MiniJarvis al cerrar H1?</a:t>
            </a:r>
          </a:p>
          <a:p>
            <a:r>
              <a:t>- ¿Qué limitación conserva deliberadamente?</a:t>
            </a:r>
          </a:p>
          <a:p>
            <a:r>
              <a:t>- ¿Qué idea queda fuera de H1 y corresponde trabajar más adelante?</a:t>
            </a:r>
          </a:p>
          <a:p>
            <a:r>
              <a:t>- ¿Qué parte puedes explicar sin ayuda y cuál necesitas practicar todavía?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a:t>
            </a:r>
          </a:p>
          <a:p/>
          <a:p>
            <a:r>
              <a:t>Banco de preguntas · Estructura y ejecución</a:t>
            </a:r>
          </a:p>
          <a:p>
            <a:r>
              <a:t>- Señala dónde comienza la ejecución y explica el papel de `main`.</a:t>
            </a:r>
          </a:p>
          <a:p>
            <a:r>
              <a:t>- Señala una instrucción que produzca salida y predice qué mostrará.</a:t>
            </a:r>
          </a:p>
          <a:p>
            <a:r>
              <a:t>- ¿Qué prueba reproducible demuestra que esta parte funciona?</a:t>
            </a:r>
          </a:p>
          <a:p/>
          <a:p>
            <a:r>
              <a:t>Banco de preguntas · Variables, constantes y literales</a:t>
            </a:r>
          </a:p>
          <a:p>
            <a:r>
              <a:t>- Señala una variable y explica su tipo, nombre, valor actual y una posible reasignación.</a:t>
            </a:r>
          </a:p>
          <a:p>
            <a:r>
              <a:t>- Señala una constante y justifica por qué ese dato no debe cambiar.</a:t>
            </a:r>
          </a:p>
          <a:p>
            <a:r>
              <a:t>- Señala un literal e identifica su tipo.</a:t>
            </a:r>
          </a:p>
          <a:p>
            <a:r>
              <a:t>- Cambia un literal o valor inicial sencillo y predice el efecto antes de ejecutar.</a:t>
            </a:r>
          </a:p>
          <a:p/>
          <a:p>
            <a:r>
              <a:t>Banco de preguntas · Expresiones, operaciones y actualizaciones</a:t>
            </a:r>
          </a:p>
          <a:p>
            <a:r>
              <a:t>- Señala una expresión u operación y explica de dónde sale el resultado.</a:t>
            </a:r>
          </a:p>
          <a:p>
            <a:r>
              <a:t>- Si aparece una división, ¿esperas división entera o real? ¿Por qué?</a:t>
            </a:r>
          </a:p>
          <a:p>
            <a:r>
              <a:t>- Si aparece `%`, ¿qué resto produce?</a:t>
            </a:r>
          </a:p>
          <a:p>
            <a:r>
              <a:t>- Si aparece `+=`, `-=`, `++` o `--`, recorre el valor paso a paso.</a:t>
            </a:r>
          </a:p>
          <a:p/>
          <a:p>
            <a:r>
              <a:t>Banco de preguntas · Entrada y conversiones</a:t>
            </a:r>
          </a:p>
          <a:p>
            <a:r>
              <a:t>- Señala dónde se crea o reutiliza `Scanner`.</a:t>
            </a:r>
          </a:p>
          <a:p>
            <a:r>
              <a:t>- ¿Qué devuelve `nextLine()` y dónde se almacena?</a:t>
            </a:r>
          </a:p>
          <a:p>
            <a:r>
              <a:t>- Si el dato debe convertirse, señala el parseo y explica el tipo resultante.</a:t>
            </a:r>
          </a:p>
          <a:p>
            <a:r>
              <a:t>- Explica qué entrada podría provocar un error de ejecución y por qué.</a:t>
            </a:r>
          </a:p>
          <a:p>
            <a:r>
              <a:t>- Recorre el flujo desde teclado hasta el uso del dato en la salida.</a:t>
            </a:r>
          </a:p>
          <a:p/>
          <a:p>
            <a:r>
              <a:t>Banco de preguntas · Comparación booleana sin bifurcación</a:t>
            </a:r>
          </a:p>
          <a:p>
            <a:r>
              <a:t>- Señala una comparación y predice su resultado para un valor concreto.</a:t>
            </a:r>
          </a:p>
          <a:p>
            <a:r>
              <a:t>- Explica qué significan `true` y `false` en esa comparación.</a:t>
            </a:r>
          </a:p>
          <a:p>
            <a:r>
              <a:t>- Ejecuta o explica dos valores que produzcan resultados booleanos distintos, sin ramas.</a:t>
            </a:r>
          </a:p>
          <a:p>
            <a:r>
              <a:t>- Cambia un valor sencillo, predice qué `boolean` se mostrará y compruébalo.</a:t>
            </a:r>
          </a:p>
          <a:p>
            <a:r>
              <a:t>- Explica por qué el resultado no decide qué instrucciones se ejecutan en H1.</a:t>
            </a:r>
          </a:p>
          <a:p/>
          <a:p>
            <a:r>
              <a:t>Banco de preguntas · Alcance de H1</a:t>
            </a:r>
          </a:p>
          <a:p>
            <a:r>
              <a:t>- ¿Qué hace MiniJarvis al cerrar H1?</a:t>
            </a:r>
          </a:p>
          <a:p>
            <a:r>
              <a:t>- ¿Qué limitación conserva deliberadamente?</a:t>
            </a:r>
          </a:p>
          <a:p>
            <a:r>
              <a:t>- ¿Qué idea queda fuera de H1 y corresponde trabajar más adelante?</a:t>
            </a:r>
          </a:p>
          <a:p>
            <a:r>
              <a:t>- ¿Qué parte puedes explicar sin ayuda y cuál necesitas practicar todavía?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a:t>
            </a:r>
          </a:p>
          <a:p/>
          <a:p>
            <a:r>
              <a:t>Andamiaje y recuperación · Recuperación ante una defensa insuficiente</a:t>
            </a:r>
          </a:p>
          <a:p>
            <a:r>
              <a:t>Si una respuesta es vaga, vuelve a una evidencia concreta:</a:t>
            </a:r>
          </a:p>
          <a:p/>
          <a:p>
            <a:r>
              <a:t>1. pide señalar la línea;</a:t>
            </a:r>
          </a:p>
          <a:p>
            <a:r>
              <a:t>2. aísla los valores y solicita una predicción;</a:t>
            </a:r>
          </a:p>
          <a:p>
            <a:r>
              <a:t>3. ejecuta;</a:t>
            </a:r>
          </a:p>
          <a:p>
            <a:r>
              <a:t>4. modifica un valor sencillo;</a:t>
            </a:r>
          </a:p>
          <a:p>
            <a:r>
              <a:t>5. comprueba el nuevo resultado;</a:t>
            </a:r>
          </a:p>
          <a:p>
            <a:r>
              <a:t>6. pide volver a explicar.</a:t>
            </a:r>
          </a:p>
          <a:p/>
          <a:p>
            <a:r>
              <a:t>No sustituyas esta recuperación por una respuesta memorizada. Si persiste una laguna, registra para el seguimiento docente la persona, el concepto no defendido, la recuperación concreta y el momento de revisión.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Defensas individuales breves. Función del soporte: actividad. Soporte concurrente del mismo reloj fuente: no son turnos de defensa ni una secuencia adicional. Trabajo paralelo: Ensayo y revisión por parejas: señalar, predecir, modificar y comprobar.</a:t>
            </a:r>
          </a:p>
          <a:p/>
          <a:p>
            <a:r>
              <a:t>Detalle para la explicación oral · Ensayo y revisión por parejas</a:t>
            </a:r>
          </a:p>
          <a:p>
            <a:r>
              <a:t>No preparan respuestas idénticas. La finalidad es descubrir lagunas y mejorar la explicación antes de la defensa docente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15–28 min: duración compartida 780 segundos. Trabajo: Continuar defensas y recuperar respuestas vagas sobre el código. Función del soporte: revisión. Soporte concurrente del mismo reloj fuente: no son turnos de defensa ni una secuencia adicional. Trabajo paralelo: Review del incremento y retrospectiva en equipo.</a:t>
            </a:r>
          </a:p>
          <a:p/>
          <a:p>
            <a:r>
              <a:t>Detalle para la explicación oral · Review del incremento H1 — EQUIPO</a:t>
            </a:r>
          </a:p>
          <a:p>
            <a:r>
              <a:t>La revisión utiliza el repositorio, el README y las pruebas existentes. No crea un informe adicional.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15–28 min: duración compartida 780 segundos. Trabajo: Continuar defensas y recuperar respuestas vagas sobre el código. Función del soporte: retrospectiva. Soporte concurrente del mismo reloj fuente: no son turnos de defensa ni una secuencia adicional. Trabajo paralelo: Review del incremento y retrospectiva en equipo.</a:t>
            </a:r>
          </a:p>
          <a:p/>
          <a:p>
            <a:r>
              <a:t>Detalle para la explicación oral · Retrospectiva H1 — EQUIPO</a:t>
            </a:r>
          </a:p>
          <a:p>
            <a:r>
              <a:t>El equipo acuerda al menos una mejora concreta y realizable. La decisión o mejora real queda en la retrospectiva Scrum; no se crea un informe paralelo.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43–45 min: duración compartida 120 segundos. Trabajo: Cierre común y siguiente paso. Función del soporte: comprobación individual. Soporte concurrente del mismo reloj fuente: no son turnos de defensa ni una secuencia adicional. Trabajo paralelo: Reflexión individual breve y confirmación del cierre de equipo.</a:t>
            </a:r>
          </a:p>
          <a:p/>
          <a:p>
            <a:r>
              <a:t>Detalle para la explicación oral · Reflexión individual</a:t>
            </a:r>
          </a:p>
          <a:p>
            <a:r>
              <a:t>Solo se conserva en el diario si contiene un aprendizaje, dificultad, decisión o siguiente paso significativo. No se crea una fila S215 por rutina.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a:r>
              <a:t>Detalle para la explicación oral · Entrega oficial Moodle y evidencias que permanecen</a:t>
            </a:r>
          </a:p>
          <a:p>
            <a:r>
              <a:t>S215 contiene la única entrega oficial de H1. Si no está en la tarea Moodle de H1, no está entregado oficialmente.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a:t>
            </a:r>
          </a:p>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a:t>
            </a:r>
          </a:p>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43–45 min: duración compartida 120 segundos. Trabajo: Cierre común y siguiente paso. Función del soporte: cierre. Soporte concurrente del mismo reloj fuente: no son turnos de defensa ni una secuencia adicional. Trabajo paralelo: Reflexión individual breve y confirmación del cierre de equipo.</a:t>
            </a:r>
          </a:p>
          <a:p/>
          <a:p>
            <a:r>
              <a:t>Facilitación docente · Cierre de H1</a:t>
            </a:r>
          </a:p>
          <a:p>
            <a:r>
              <a:t>Pregunta a cada persona:</a:t>
            </a:r>
          </a:p>
          <a:p/>
          <a:p>
            <a:r>
              <a:t>&gt; ¿Qué evidencia demuestra mejor tu aprendizaje en H1 y qué necesitas mejorar primero en H2?</a:t>
            </a:r>
          </a:p>
          <a:p/>
          <a:p>
            <a:r>
              <a:t>Transición · Al terminar</a:t>
            </a:r>
          </a:p>
          <a:p>
            <a:r>
              <a:t>Registra solo lo necesario para la continuidad: defensa pendiente, concepto no defendido, recuperación acordada, enlace inaccesible, bloqueo real o mejora que deba retomarse en H2.</a:t>
            </a:r>
          </a:p>
          <a:p/>
          <a:p>
            <a:r>
              <a:t>Detalle para la explicación oral · Cierre de H1</a:t>
            </a:r>
          </a:p>
          <a:p>
            <a:r>
              <a:t>&gt; H1 queda cerrado con código y pruebas localizables, comprensión individual defendida, review y retrospectiva reales y entrega oficial en Moodle. Hemos comunicado lo aprendido sin duplicar evidencias ni convertir el cierre en burocracia.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824"/>
        </a:solidFill>
        <a:effectLst/>
      </p:bgPr>
    </p:bg>
    <p:spTree>
      <p:nvGrpSpPr>
        <p:cNvPr id="1" name=""/>
        <p:cNvGrpSpPr/>
        <p:nvPr/>
      </p:nvGrpSpPr>
      <p:grpSpPr/>
      <p:sp>
        <p:nvSpPr>
          <p:cNvPr id="2" name="Código de sesión" descr="Código de sesión"/>
          <p:cNvSpPr txBox="1"/>
          <p:nvPr/>
        </p:nvSpPr>
        <p:spPr>
          <a:xfrm>
            <a:off x="640080" y="548640"/>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FFFFFF"/>
                </a:solidFill>
                <a:latin typeface="Liberation Sans"/>
              </a:defRPr>
            </a:pPr>
            <a:r>
              <a:t>S215 · H1 — Primer asistente ejecutable</a:t>
            </a:r>
          </a:p>
        </p:txBody>
      </p:sp>
      <p:sp>
        <p:nvSpPr>
          <p:cNvPr id="3" name="Título" descr="Título"/>
          <p:cNvSpPr txBox="1"/>
          <p:nvPr/>
        </p:nvSpPr>
        <p:spPr>
          <a:xfrm>
            <a:off x="640080" y="1508760"/>
            <a:ext cx="10881360" cy="1645920"/>
          </a:xfrm>
          <a:prstGeom prst="rect">
            <a:avLst/>
          </a:prstGeom>
          <a:noFill/>
        </p:spPr>
        <p:txBody>
          <a:bodyPr wrap="square" lIns="109728" rIns="109728" tIns="73152" bIns="73152">
            <a:noAutofit/>
          </a:bodyPr>
          <a:lstStyle/>
          <a:p>
            <a:pPr>
              <a:lnSpc>
                <a:spcPts val="4400"/>
              </a:lnSpc>
              <a:spcAft>
                <a:spcPts val="0"/>
              </a:spcAft>
              <a:defRPr sz="4000" b="1">
                <a:solidFill>
                  <a:srgbClr val="FFFFFF"/>
                </a:solidFill>
                <a:latin typeface="Liberation Sans"/>
              </a:defRPr>
            </a:pPr>
            <a:r>
              <a:t>Defensa y cierre de H1</a:t>
            </a:r>
          </a:p>
        </p:txBody>
      </p:sp>
      <p:sp>
        <p:nvSpPr>
          <p:cNvPr id="4" name="Fase HEXA" descr="Fase HEXA"/>
          <p:cNvSpPr txBox="1"/>
          <p:nvPr/>
        </p:nvSpPr>
        <p:spPr>
          <a:xfrm>
            <a:off x="640080" y="3657600"/>
            <a:ext cx="10881360" cy="731520"/>
          </a:xfrm>
          <a:prstGeom prst="rect">
            <a:avLst/>
          </a:prstGeom>
          <a:noFill/>
        </p:spPr>
        <p:txBody>
          <a:bodyPr wrap="square" lIns="109728" rIns="109728" tIns="73152" bIns="73152">
            <a:noAutofit/>
          </a:bodyPr>
          <a:lstStyle/>
          <a:p>
            <a:pPr>
              <a:lnSpc>
                <a:spcPts val="3080"/>
              </a:lnSpc>
              <a:spcAft>
                <a:spcPts val="0"/>
              </a:spcAft>
              <a:defRPr sz="2800" b="0">
                <a:solidFill>
                  <a:srgbClr val="FFFFFF"/>
                </a:solidFill>
                <a:latin typeface="Liberation Sans"/>
              </a:defRPr>
            </a:pPr>
            <a:r>
              <a:t>Fase HEXA: Comunicar — evaluar y reflexionar</a:t>
            </a:r>
          </a:p>
        </p:txBody>
      </p:sp>
      <p:sp>
        <p:nvSpPr>
          <p:cNvPr id="5" name="Modalidad del alumnado" descr="Modalidad del alumnado"/>
          <p:cNvSpPr txBox="1"/>
          <p:nvPr/>
        </p:nvSpPr>
        <p:spPr>
          <a:xfrm>
            <a:off x="640080" y="4617720"/>
            <a:ext cx="10881360" cy="502920"/>
          </a:xfrm>
          <a:prstGeom prst="rect">
            <a:avLst/>
          </a:prstGeom>
          <a:noFill/>
        </p:spPr>
        <p:txBody>
          <a:bodyPr wrap="square" lIns="109728" rIns="109728" tIns="73152" bIns="73152">
            <a:noAutofit/>
          </a:bodyPr>
          <a:lstStyle/>
          <a:p>
            <a:pPr>
              <a:lnSpc>
                <a:spcPts val="2420"/>
              </a:lnSpc>
              <a:spcAft>
                <a:spcPts val="0"/>
              </a:spcAft>
              <a:defRPr sz="2200" b="1">
                <a:solidFill>
                  <a:srgbClr val="FFFFFF"/>
                </a:solidFill>
                <a:latin typeface="Liberation Sans"/>
              </a:defRPr>
            </a:pPr>
            <a:r>
              <a:t>Modalidad publicada: Equipo → defensa individual</a:t>
            </a:r>
          </a:p>
        </p:txBody>
      </p:sp>
      <p:sp>
        <p:nvSpPr>
          <p:cNvPr id="6" name="Organización docente" descr="Organización docente"/>
          <p:cNvSpPr txBox="1"/>
          <p:nvPr/>
        </p:nvSpPr>
        <p:spPr>
          <a:xfrm>
            <a:off x="640080" y="5230368"/>
            <a:ext cx="10881360" cy="868680"/>
          </a:xfrm>
          <a:prstGeom prst="rect">
            <a:avLst/>
          </a:prstGeom>
          <a:noFill/>
        </p:spPr>
        <p:txBody>
          <a:bodyPr wrap="square" lIns="109728" rIns="109728" tIns="73152" bIns="73152">
            <a:noAutofit/>
          </a:bodyPr>
          <a:lstStyle/>
          <a:p>
            <a:pPr>
              <a:lnSpc>
                <a:spcPts val="2200"/>
              </a:lnSpc>
              <a:spcAft>
                <a:spcPts val="0"/>
              </a:spcAft>
              <a:defRPr sz="2000" b="0">
                <a:solidFill>
                  <a:srgbClr val="FFFFFF"/>
                </a:solidFill>
                <a:latin typeface="Liberation Sans"/>
              </a:defRPr>
            </a:pPr>
            <a:r>
              <a:t>Organización docente: Defensa INDIVIDUAL; ensayo y revisión por PAREJAS; review, retrospectiva y entrega en EQUIPO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"title", "plan_index": 0, "recognition": false, "unit_ids": ["unit-0", "unit-1", "unit-2", "unit-3", "unit-21", "unit-25", "unit-26", "unit-27", "unit-28", "unit-29", "unit-30"], "roles": {"unit-0": "core", "unit-1": "core", "unit-2": "core", "unit-3": "core", "unit-21": "core", "unit-25": "core", "unit-26": "core", "unit-27": "core", "unit-28": "core", "unit-29": "core", "unit-30": "core"}, "source_refs": [{"source": "teacher", "heading": "Finalidad del cierre", "block_index": 0, "fragment": 0}, {"source": "teacher", "heading": "Antes de entrar en clase", "block_index": 1, "fragment": 0}, {"source": "teacher", "heading": "Apertura docente", "block_index": 2, "fragment": 0}, {"source": "teacher", "heading": "Organización simultánea de los 45 minutos", "block_index": 3, "fragment": 0}, {"source": "teacher", "heading": "Observación docente", "block_index": 21,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"visible_sources": [], "notes_sources": [{"function": "preparation", "heading": "Antes de entrar en clase", "sha256": "d28cf9f792a99362ce7a304f8eab8e173c24706335536310a0ae64569f4acfe1"}, {"function": "explanations", "heading": "Apertura docente", "sha256": "ca102ddbb1f96db1728dfe3a313268cfd85542ed79fd70e670d43aef2fea5812"}, {"function": "explanations", "heading": "Apertura docente", "sha256": "961a36ac1093894fee007ef1fca1e4742fada4cd15b2c78a5cc5f7df8caa61e0"}, {"function": "timeline_context", "heading": "Organización simultánea de los 45 minutos", "sha256": "bce22abb6462e38ed580c0aa06d494bb0b28bdb6299a537e607def598264c0ae"}, {"function": "timeline_context", "heading": "Organización simultánea de los 45 minutos", "sha256": "211c7fdace3e439c5f959232f460b2b3095ddbaf2999d6914d85c4f602d81d98"}, {"function": "observation", "heading": "Observación docente", "sha256": "1bd4deb087487cf44ee5f56c33d6eba97d447f573d632a82b49d73ec92278896"}, {"function": "observation", "heading": "Observación docente", "sha256": "7bf865830174d8099178676547de0a3df5600bce690f3b66a606989d1eb430cb"}], "relations": {"source_supports_enriched": true}, "timeline_refs": [0], "composition": {"origin_slides": [1]}, "timing": {"seconds": 0, "allocations": [{"source_index": 0, "seconds": 0, "decision": "Intervalo compartido íntegro; propietario contable seleccionado por función de actividad y referencia timeline de unidad (identidad semántica en empates). Soporte, sin duplicación contable. Portada limitada a la apertura inicial: las referencias timeline presenter-only no convierten la portada en soporte de todos los tramos. Soporte concurrente del mismo reloj fuente: no son turnos de defensa ni una secuencia adicional. Trabajo paralelo: Abrir código, README, Scrum y enlaces de entrega.", "source_time": "0–5 min", "source_seconds": 300, "is_owner": false, "function": "explanations"}],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false, "function": "explanations", "action": "Explicar el protocolo y confirmar el orden.", "concurrent": true, "parallel_work": "Abrir código, README, Scrum y enlaces de entrega."}]}, "code_blocks": [], "representation_needs": []}</ns0:renderMetadata>
    </p:ext>
  </p:extLs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Trabajo simultáneo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oncurrencia" descr="Concurrencia"/>
          <p:cNvSpPr txBox="1"/>
          <p:nvPr/>
        </p:nvSpPr>
        <p:spPr>
          <a:xfrm>
            <a:off x="640080" y="1406652"/>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2F5BA8"/>
                </a:solidFill>
                <a:latin typeface="Liberation Sans"/>
              </a:defRPr>
            </a:pPr>
            <a:r>
              <a:t>AL MISMO TIEMPO · un reloj compartido</a:t>
            </a:r>
          </a:p>
        </p:txBody>
      </p:sp>
      <p:sp>
        <p:nvSpPr>
          <p:cNvPr id="6" name="Carril DOCENTE" descr="Carril DOCENTE"/>
          <p:cNvSpPr txBox="1"/>
          <p:nvPr/>
        </p:nvSpPr>
        <p:spPr>
          <a:xfrm>
            <a:off x="640080" y="2001012"/>
            <a:ext cx="3611880" cy="527812"/>
          </a:xfrm>
          <a:prstGeom prst="rect">
            <a:avLst/>
          </a:prstGeom>
          <a:noFill/>
        </p:spPr>
        <p:txBody>
          <a:bodyPr wrap="square" lIns="109728" rIns="109728" tIns="73152" bIns="73152">
            <a:noAutofit/>
          </a:bodyPr>
          <a:lstStyle/>
          <a:p>
            <a:pPr>
              <a:lnSpc>
                <a:spcPts val="2860"/>
              </a:lnSpc>
              <a:spcAft>
                <a:spcPts val="0"/>
              </a:spcAft>
              <a:defRPr sz="2600" b="1">
                <a:solidFill>
                  <a:srgbClr val="1C2330"/>
                </a:solidFill>
                <a:latin typeface="Liberation Sans"/>
              </a:defRPr>
            </a:pPr>
            <a:r>
              <a:t>DOCENTE</a:t>
            </a:r>
          </a:p>
        </p:txBody>
      </p:sp>
      <p:sp>
        <p:nvSpPr>
          <p:cNvPr id="7" name="Actividad concurrente DOCENTE" descr="Actividad concurrente DOCENTE"/>
          <p:cNvSpPr txBox="1"/>
          <p:nvPr/>
        </p:nvSpPr>
        <p:spPr>
          <a:xfrm>
            <a:off x="640080" y="2641092"/>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Defensa práctica individual</a:t>
            </a:r>
          </a:p>
        </p:txBody>
      </p:sp>
      <p:sp>
        <p:nvSpPr>
          <p:cNvPr id="8" name="Carril PAREJAS" descr="Carril PAREJAS"/>
          <p:cNvSpPr txBox="1"/>
          <p:nvPr/>
        </p:nvSpPr>
        <p:spPr>
          <a:xfrm>
            <a:off x="4389120" y="2001012"/>
            <a:ext cx="3611880" cy="527812"/>
          </a:xfrm>
          <a:prstGeom prst="rect">
            <a:avLst/>
          </a:prstGeom>
          <a:noFill/>
        </p:spPr>
        <p:txBody>
          <a:bodyPr wrap="square" lIns="109728" rIns="109728" tIns="73152" bIns="73152">
            <a:noAutofit/>
          </a:bodyPr>
          <a:lstStyle/>
          <a:p>
            <a:pPr>
              <a:lnSpc>
                <a:spcPts val="2860"/>
              </a:lnSpc>
              <a:spcAft>
                <a:spcPts val="0"/>
              </a:spcAft>
              <a:defRPr sz="2600" b="1">
                <a:solidFill>
                  <a:srgbClr val="1C2330"/>
                </a:solidFill>
                <a:latin typeface="Liberation Sans"/>
              </a:defRPr>
            </a:pPr>
            <a:r>
              <a:t>PAREJAS</a:t>
            </a:r>
          </a:p>
        </p:txBody>
      </p:sp>
      <p:sp>
        <p:nvSpPr>
          <p:cNvPr id="9" name="Actividad concurrente PAREJAS" descr="Actividad concurrente PAREJAS"/>
          <p:cNvSpPr txBox="1"/>
          <p:nvPr/>
        </p:nvSpPr>
        <p:spPr>
          <a:xfrm>
            <a:off x="4389120" y="2641092"/>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Ensayo y revisión por parejas</a:t>
            </a:r>
          </a:p>
        </p:txBody>
      </p:sp>
      <p:sp>
        <p:nvSpPr>
          <p:cNvPr id="10" name="Carril EQUIPO" descr="Carril EQUIPO"/>
          <p:cNvSpPr txBox="1"/>
          <p:nvPr/>
        </p:nvSpPr>
        <p:spPr>
          <a:xfrm>
            <a:off x="8138159" y="2001012"/>
            <a:ext cx="3611880" cy="527812"/>
          </a:xfrm>
          <a:prstGeom prst="rect">
            <a:avLst/>
          </a:prstGeom>
          <a:noFill/>
        </p:spPr>
        <p:txBody>
          <a:bodyPr wrap="square" lIns="109728" rIns="109728" tIns="73152" bIns="73152">
            <a:noAutofit/>
          </a:bodyPr>
          <a:lstStyle/>
          <a:p>
            <a:pPr>
              <a:lnSpc>
                <a:spcPts val="2860"/>
              </a:lnSpc>
              <a:spcAft>
                <a:spcPts val="0"/>
              </a:spcAft>
              <a:defRPr sz="2600" b="1">
                <a:solidFill>
                  <a:srgbClr val="1C2330"/>
                </a:solidFill>
                <a:latin typeface="Liberation Sans"/>
              </a:defRPr>
            </a:pPr>
            <a:r>
              <a:t>EQUIPO</a:t>
            </a:r>
          </a:p>
        </p:txBody>
      </p:sp>
      <p:sp>
        <p:nvSpPr>
          <p:cNvPr id="11" name="Actividad concurrente EQUIPO" descr="Actividad concurrente EQUIPO"/>
          <p:cNvSpPr txBox="1"/>
          <p:nvPr/>
        </p:nvSpPr>
        <p:spPr>
          <a:xfrm>
            <a:off x="8138159" y="2641092"/>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Review del incremento H1</a:t>
            </a:r>
          </a:p>
        </p:txBody>
      </p:sp>
      <p:sp>
        <p:nvSpPr>
          <p:cNvPr id="12" name="Actividad concurrente EQUIPO" descr="Actividad concurrente EQUIPO"/>
          <p:cNvSpPr txBox="1"/>
          <p:nvPr/>
        </p:nvSpPr>
        <p:spPr>
          <a:xfrm>
            <a:off x="8138159" y="3558540"/>
            <a:ext cx="3721608" cy="499871"/>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Retrospectiva H1</a:t>
            </a:r>
          </a:p>
        </p:txBody>
      </p:sp>
      <p:sp>
        <p:nvSpPr>
          <p:cNvPr id="13" name="Actividad concurrente EQUIPO" descr="Actividad concurrente EQUIPO"/>
          <p:cNvSpPr txBox="1"/>
          <p:nvPr/>
        </p:nvSpPr>
        <p:spPr>
          <a:xfrm>
            <a:off x="8138159" y="4140708"/>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Contenido de la entrega</a:t>
            </a:r>
          </a:p>
        </p:txBody>
      </p:sp>
      <p:sp>
        <p:nvSpPr>
          <p:cNvPr id="14" name="Actividad concurrente EQUIPO" descr="Actividad concurrente EQUIPO"/>
          <p:cNvSpPr txBox="1"/>
          <p:nvPr/>
        </p:nvSpPr>
        <p:spPr>
          <a:xfrm>
            <a:off x="8138159" y="5058156"/>
            <a:ext cx="3721608" cy="117043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Entrega oficial Moodle y evidencias que permanecen</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"parallel", "plan_index": 0, "recognition": false, "unit_ids": ["unit-25", "unit-26", "unit-27", "unit-28", "unit-29", "unit-30", "unit-4", "unit-14", "unit-15", "unit-16", "unit-19", "unit-18"], "roles": {"unit-25": "core", "unit-26": "core", "unit-27": "core", "unit-28": "core", "unit-29": "core", "unit-30": "core", "unit-4": "core", "unit-14": "core", "unit-15": "core", "unit-16": "core", "unit-19": "core", "unit-18": "core"}, "source_refs":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"Defensa práctica individual", "block_index": 4, "fragment": 0}, {"source": "teacher", "heading": "Ensayo y revisión por parejas", "block_index": 14, "fragment": 0}, {"source": "teacher", "heading": "Review del incremento H1 — EQUIPO", "block_index": 15, "fragment": 0}, {"source": "teacher", "heading": "Retrospectiva H1 — EQUIPO", "block_index": 16, "fragment": 0}, {"source": "teacher", "heading": "Contenido de la entrega", "block_index": 19, "fragment": 0}, {"source": "teacher", "heading": "Entrega oficial Moodle y evidencias que permanecen", "block_index": 18, "fragment": 0}, {"source": "teacher", "heading": "Entrega oficial Moodle y evidencias que permanecen", "block_index": 18, "fragment": 0}], "visible_sources": [], "notes_sources": [{"function": "timeline", "heading": "Organización simultánea de los 45 minutos", "sha256": "39e52fa32bcc3f052625dd7391653053d7b759d3e18e1ca4a284f9bb950e95b5"}, {"function": "timeline", "heading": "Organización simultánea de los 45 minutos", "sha256": "563b954e4b6ece2d87d19c52a5078bed2eddbde8a2c166676c42e662e920389c"}, {"function": "timeline", "heading": "Organización simultánea de los 45 minutos", "sha256": "8dd252d3b2cb48cc943f0182e99c811765691407b8ce83312c5bb23f0e61b66e"}, {"function": "timeline", "heading": "Organización simultánea de los 45 minutos", "sha256": "01b9607f36eb67e737e9a0ab8cee3281633e8d244ec9701d2d6feb377c79710d"}, {"function": "timeline", "heading": "Organización simultánea de los 45 minutos", "sha256": "533f5226e144d88e3d37cccf05b263b28be4f5ec1b999744be22d532174d1437"}, {"function": "timeline", "heading": "Organización simultánea de los 45 minutos", "sha256": "d60e5c1dbefd851123bb8486af567bc4e7e8f2df55597ce011bb7f805755be6e"}, {"function": "timeline", "heading": "Organización simultánea de los 45 minutos", "sha256": "c452d07b879410ed5e01da8de31e3e38e277216882b1c73f391be725d02417dc"}, {"function": "timeline", "heading": "Organización simultánea de los 45 minutos", "sha256": "253beca4a4e23b9b8a57032a30259defb60c33796132fa304b54c4d61c9a3ef5"}, {"function": "timeline", "heading": "Organización simultánea de los 45 minutos", "sha256": "f44a4997e659fe07a280e23140677d4014cf2721a020d45b1e3e1b3595e0729a"}, {"function": "timeline", "heading": "Organización simultánea de los 45 minutos", "sha256": "eda816dd0250e26436eaee0c42241cb73d1a11d16102f9efab52ae87e299a145"}, {"function": "timeline", "heading": "Organización simultánea de los 45 minutos", "sha256": "71976bb154ff7fe155dd7ad9606e0deac2f771d78676f525357cfa4430d468f0"}, {"function": "timeline", "heading": "Organización simultánea de los 45 minutos", "sha256": "7f48cb66d03231f6d69efa3a28597985ec81d893d42ffe645502ce397f6ddc4e"}], "relations": {"modality": "Defensa INDIVIDUAL; ensayo y revisión por PAREJAS; review, retrospectiva y entrega en EQUIPO", "unit_relations": {"unit-0": {}, "unit-1": {}, "unit-2": {}, "unit-3": {}, "unit-21": {"prediction_cycle": ["prediction", "execution", "contrast"]}, "unit-25": {"simultaneous": ["action", "Trabajo paralelo del alumnado"]}, "unit-26": {"simultaneous": ["action", "Trabajo paralelo del alumnado"]}, "unit-27": {"simultaneous": ["action", "Trabajo paralelo del alumnado"]}, "unit-28": {"simultaneous": ["action", "Trabajo paralelo del alumnado"]}, "unit-29": {"simultaneous": ["action", "Trabajo paralelo del alumnado"]}, "unit-30": {"simultaneous": ["action", "Trabajo paralelo del alumnado"]}}, "roles": {"unit-0": "core", "unit-1": "core", "unit-2": "core", "unit-3": "core", "unit-21": "core", "unit-25": "core", "unit-26": "core", "unit-27": "core", "unit-28": "core", "unit-29": "core", "unit-30": "core"}, "concurrency": {"lanes": {"DOCENTE": ["unit-4", "unit-25", "unit-26", "unit-27", "unit-28", "unit-29", "unit-30"], "PAREJAS": ["unit-14"], "EQUIPO": ["unit-15", "unit-16", "unit-18", "unit-19"]}, "intervals": [{"time": "0–5 min", "teacher": "Explicar el protocolo y confirmar el orden.", "details": {"Trabajo paralelo del alumnado": "Abrir código, README, Scrum y enlaces de entrega."}}, {"time": "5–15 min", "teacher": "Defensas individuales breves.", "details": {"Trabajo paralelo del alumnado": "Ensayo y revisión por parejas: señalar, predecir, modificar y comprobar."}}, {"time": "15–28 min", "teacher": "Continuar defensas y recuperar respuestas vagas sobre el código.", "details": {"Trabajo paralelo del alumnado": "Review del incremento y retrospectiva en equipo."}}, {"time": "28–38 min", "teacher": "Continuar defensas o una segunda comprobación breve cuando haga falta.", "details": {"Trabajo paralelo del alumnado": "Preparar la entrega Moodle, revisar enlaces profundos y probar permisos."}}, {"time": "38–43 min", "teacher": "Resolver defensas pendientes sin convertirlas en exposiciones.", "details": {"Trabajo paralelo del alumnado": "Un integrante realiza la entrega; el equipo verifica que abre correctamente."}}, {"time": "43–45 min", "teacher": "Cierre común y siguiente paso.", "details": {"Trabajo paralelo del alumnado": "Reflexión individual breve y confirmación del cierre de equipo."}}]}, "source_supports_enriched": true}, "timeline_refs": [0], "composition": {"origin_slides": [2]},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"timeline"},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"defense"},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"defense"},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"defense"},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"defense"}, {"source_index": 5,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Reflexión individual breve y confirmación del cierre de equipo.", "source_time": "43–45 min", "source_seconds": 120, "is_owner": false, "function": "timeline"}], "clock_intervals": [0, 1, 2, 3, 4, 5],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 Reloj fuente 43–45 min: duración compartida 120 segundos. Trabajo: Cierre común y siguiente paso. Función del soporte: apoyo al trabajo. Soporte concurrente del mismo reloj fuente: no son turnos de defensa ni una secuencia adicional. Trabajo paralelo: Reflexión individual breve y confirmación del cierre de equipo.", "shared_intervals": [{"source_index": 0, "source_time": "0–5 min", "seconds": 300, "is_owner": false, "function": "timeline", "action": "Explicar el protocolo y confirmar el orden.", "concurrent": true, "parallel_work": "Abrir código, README, Scrum y enlaces de entrega."}, {"source_index": 1, "source_time": "5–15 min", "seconds": 600, "is_owner": false, "function": "defense", "action": "Defensas individuales breves.", "concurrent": true, "parallel_work": "Ensayo y revisión por parejas: señalar, predecir, modificar y comprobar."}, {"source_index": 2, "source_time": "15–28 min", "seconds": 780, "is_owner": false, "function": "defense", "action": "Continuar defensas y recuperar respuestas vagas sobre el código.", "concurrent": true, "parallel_work": "Review del incremento y retrospectiva en equipo."}, {"source_index": 3, "source_time": "28–38 min", "seconds": 600, "is_owner": false, "function": "defense", "action": "Continuar defensas o una segunda comprobación breve cuando haga falta.", "concurrent": true, "parallel_work": "Preparar la entrega Moodle, revisar enlaces profundos y probar permisos."}, {"source_index": 4, "source_time": "38–43 min", "seconds": 300, "is_owner": false, "function": "defense", "action": "Resolver defensas pendientes sin convertirlas en exposiciones.", "concurrent": true, "parallel_work": "Un integrante realiza la entrega; el equipo verifica que abre correctamente."}, {"source_index": 5, "source_time": "43–45 min", "seconds": 120, "is_owner": false, "function": "timeline", "action": "Cierre común y siguiente paso.", "concurrent": true, "parallel_work": "Reflexión individual breve y confirmación del cierre de equipo."}]}, "code_blocks": [], "representation_needs": []}</ns0:renderMetadata>
    </p:ext>
  </p:extLs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Finalidad del cierre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ontenido" descr="Contenido"/>
          <p:cNvSpPr txBox="1"/>
          <p:nvPr/>
        </p:nvSpPr>
        <p:spPr>
          <a:xfrm>
            <a:off x="640080" y="1417320"/>
            <a:ext cx="10881360" cy="133807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Al terminar, cada persona debe haber defendido una parte técnica de H1 mediante código y ejecución real.</a:t>
            </a:r>
          </a:p>
        </p:txBody>
      </p:sp>
      <p:sp>
        <p:nvSpPr>
          <p:cNvPr id="6" name="Contenido" descr="Contenido"/>
          <p:cNvSpPr txBox="1"/>
          <p:nvPr/>
        </p:nvSpPr>
        <p:spPr>
          <a:xfrm>
            <a:off x="640080" y="284683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defensa tiene prioridad pedagógica sobre la preparación administrativa de la entrega.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0, "recognition": false, "unit_ids": ["unit-0"], "roles": {"unit-0": "core"}, "source_refs": [{"source": "teacher", "heading": "Finalidad del cierre", "block_index": 0, "fragment": 0}], "visible_sources": [{"index": 0, "sha256": "baa91eb58657b4119a5e87f1bacd58aa6dd53fd89164f20cf3bab9c5ebad905d"}, {"index": 1, "sha256": "377b12fd877062352fd3ae1d4d1a62626a6b46b73514ffa041bef3e9bbc38275"}], "notes_sources": [{"function": "visible_detail", "heading": "Finalidad del cierre", "sha256": "baa91eb58657b4119a5e87f1bacd58aa6dd53fd89164f20cf3bab9c5ebad905d"}], "relations": {"unit_relations": {"unit-0": {}}, "schedule": null, "source_supports_enriched": true}, "timeline_refs": [0], "composition": {"origin_slides": [3]}, "timing": {"seconds": 300, "allocations": [{"source_index": 0, "seconds": 300,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Abrir código, README, Scrum y enlaces de entrega.", "source_time": "0–5 min", "source_seconds": 300, "is_owner": true, "function": "explanations"}],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true, "function": "explanations", "action": "Explicar el protocolo y confirmar el orden.", "concurrent": true, "parallel_work": "Abrir código, README, Scrum y enlaces de entrega."}]}, "code_blocks": [], "representation_needs": []}</ns0:renderMetadata>
    </p:ext>
  </p:extLs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Defensa práctica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ontenido" descr="Contenido"/>
          <p:cNvSpPr txBox="1"/>
          <p:nvPr/>
        </p:nvSpPr>
        <p:spPr>
          <a:xfrm>
            <a:off x="640080" y="1417320"/>
            <a:ext cx="10881360" cy="94691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La defensa se realiza sobre código trabajado y con ejecución real.</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1, "recognition": false, "unit_ids": ["unit-4", "unit-6", "unit-22"], "roles": {"unit-4": "core", "unit-6": "core", "unit-22": "core"}, "source_refs": [{"source": "teacher", "heading": "Defensa práctica individual", "block_index": 4, "fragment": 0}, {"source": "teacher", "heading": "Banco de preguntas para seleccionar", "block_index": 6, "fragment": 0}, {"source": "teacher", "heading": "Andamiaje durante la defensa", "block_index": 22, "fragment": 0}], "visible_sources": [{"index": 0, "sha256": "581f45615f90de5b0b70429a673a839570314dcc6831a4653ec6fc655dca3111"}], "notes_sources": [{"function": "question_bank", "heading": "Banco de preguntas para seleccionar", "sha256": "175f102823c77d740d62d33c10027c8ccf28aca9ee3e05ddac7d1c35b5662ef7"}, {"function": "scaffolding", "heading": "Andamiaje durante la defensa", "sha256": "f789722e9a5385f13d67d2f5d8df5af2afe889fd4abd65b0551d275f6b9f9b1f"}, {"function": "scaffolding", "heading": "Andamiaje durante la defensa", "sha256": "6b3e6c7f27b9b6eb3e071e344b98dace4cfe8ad5a5028cdb538826e8a080cac6"}, {"function": "visible_detail", "heading": "Defensa práctica individual", "sha256": "581f45615f90de5b0b70429a673a839570314dcc6831a4653ec6fc655dca3111"}], "relations": {"unit_relations": {"unit-4": {}}, "schedule": "concurrent_support", "source_supports_enriched": true}, "timeline_refs": [1, 2, 3, 4], "composition": {"origin_slides": [4]}, "timing": {"seconds": 2280, "allocations": [{"source_index": 1, "seconds": 600,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Ensayo y revisión por parejas: señalar, predecir, modificar y comprobar.", "source_time": "5–15 min", "source_seconds": 600, "is_owner": true, "function": "defense"}, {"source_index": 2, "seconds": 780,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Review del incremento y retrospectiva en equipo.", "source_time": "15–28 min", "source_seconds": 780, "is_owner": true, "function": "defense"}, {"source_index": 3, "seconds": 600,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Preparar la entrega Moodle, revisar enlaces profundos y probar permisos.", "source_time": "28–38 min", "source_seconds": 600, "is_owner": true, "function": "defense"}, {"source_index": 4, "seconds": 300,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Un integrante realiza la entrega; el equipo verifica que abre correctamente.", "source_time": "38–43 min", "source_seconds": 300, "is_owner": true, "function": "defense"}], "clock_intervals": [1, 2, 3, 4], "presenter_notes": "Reloj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 "shared_intervals": [{"source_index": 1, "source_time": "5–15 min", "seconds": 600, "is_owner": true, "function": "defense", "action": "Defensas individuales breves.", "concurrent": true, "parallel_work": "Ensayo y revisión por parejas: señalar, predecir, modificar y comprobar."}, {"source_index": 2, "source_time": "15–28 min", "seconds": 780, "is_owner": true, "function": "defense", "action": "Continuar defensas y recuperar respuestas vagas sobre el código.", "concurrent": true, "parallel_work": "Review del incremento y retrospectiva en equipo."}, {"source_index": 3, "source_time": "28–38 min", "seconds": 600, "is_owner": true, "function": "defense", "action": "Continuar defensas o una segunda comprobación breve cuando haga falta.", "concurrent": true, "parallel_work": "Preparar la entrega Moodle, revisar enlaces profundos y probar permisos."}, {"source_index": 4, "source_time": "38–43 min", "seconds": 300, "is_owner": true, "function": "defense", "action": "Resolver defensas pendientes sin convertirlas en exposiciones.", "concurrent": true, "parallel_work": "Un integrante realiza la entrega; el equipo verifica que abre correctamente."}]}, "code_blocks": [], "representation_needs": []}</ns0:renderMetadata>
    </p:ext>
  </p:extLs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Protocolo básico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ódigo editable" descr="Código editable"/>
          <p:cNvSpPr txBox="1"/>
          <p:nvPr/>
        </p:nvSpPr>
        <p:spPr>
          <a:xfrm>
            <a:off x="640080" y="1417320"/>
            <a:ext cx="10881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señalo → explico → ejecuto → compruebo</a:t>
            </a:r>
          </a:p>
        </p:txBody>
      </p:sp>
      <p:sp>
        <p:nvSpPr>
          <p:cNvPr id="6" name="Acción o criterio 0" descr="Acción o criterio 0"/>
          <p:cNvSpPr txBox="1"/>
          <p:nvPr/>
        </p:nvSpPr>
        <p:spPr>
          <a:xfrm>
            <a:off x="640080" y="196672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1 · señala una línea o fragmento concreto;</a:t>
            </a:r>
          </a:p>
        </p:txBody>
      </p:sp>
      <p:sp>
        <p:nvSpPr>
          <p:cNvPr id="7" name="Acción o criterio 1" descr="Acción o criterio 1"/>
          <p:cNvSpPr txBox="1"/>
          <p:nvPr/>
        </p:nvSpPr>
        <p:spPr>
          <a:xfrm>
            <a:off x="6080760" y="196672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2 · explica qué representa y qué hace;</a:t>
            </a:r>
          </a:p>
        </p:txBody>
      </p:sp>
      <p:sp>
        <p:nvSpPr>
          <p:cNvPr id="8" name="Acción o criterio 2" descr="Acción o criterio 2"/>
          <p:cNvSpPr txBox="1"/>
          <p:nvPr/>
        </p:nvSpPr>
        <p:spPr>
          <a:xfrm>
            <a:off x="640080" y="289331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3 · ejecuta con una entrada o estado conocido;</a:t>
            </a:r>
          </a:p>
        </p:txBody>
      </p:sp>
      <p:sp>
        <p:nvSpPr>
          <p:cNvPr id="9" name="Acción o criterio 3" descr="Acción o criterio 3"/>
          <p:cNvSpPr txBox="1"/>
          <p:nvPr/>
        </p:nvSpPr>
        <p:spPr>
          <a:xfrm>
            <a:off x="6080760" y="289331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4 · contrasta el resultado con lo explicado.</a:t>
            </a:r>
          </a:p>
        </p:txBody>
      </p:sp>
      <p:sp>
        <p:nvSpPr>
          <p:cNvPr id="10" name="Código editable" descr="Código editable"/>
          <p:cNvSpPr txBox="1"/>
          <p:nvPr/>
        </p:nvSpPr>
        <p:spPr>
          <a:xfrm>
            <a:off x="640080" y="3819906"/>
            <a:ext cx="10881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predigo → modifico → ejecuto → compruebo</a:t>
            </a:r>
          </a:p>
        </p:txBody>
      </p:sp>
      <p:sp>
        <p:nvSpPr>
          <p:cNvPr id="11" name="Contenido" descr="Contenido"/>
          <p:cNvSpPr txBox="1"/>
          <p:nvPr/>
        </p:nvSpPr>
        <p:spPr>
          <a:xfrm>
            <a:off x="640080" y="4369308"/>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modificación puede ser un mensaje, un literal, el valor inicial de una variable o una entrada ficticia.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"linked_prediction", "plan_index": 1, "recognition": false, "unit_ids": ["unit-5"], "roles": {"unit-5": "unknown"}, "source_refs": [{"source": "teacher", "heading": "Protocolo básico", "block_index": 5, "fragment": 0}, {"source": "teacher", "heading": "Defensa práctica individual", "block_index": 4, "fragment": 0}], "visible_sources": [{"index": 1, "sha256": "394b8023ef9d5cd33907a7d1e667ab8a2ce9b620e8efeee6c49277a5cf1fd898"}, {"index": 3, "sha256": "8e3e534a43696cbe85bff29044ba032c1c06df5d2be1bbdc988f0977631622a6"}, {"index": 5, "sha256": "e9367fcc82de02511ce2a58f59eeaa6a2afe471635460ee1cddd2dbe45e206c3"}, {"index": 6, "sha256": "1b5a95c6a3d5061e95fba7ed8950964272da44b10469bea60173283035dac065"}], "notes_sources": [{"function": "facilitation", "heading": "Protocolo básico", "sha256": "034daf3a60cfa7ec180f015f027ca6b35471fad4fbf206b52b9bf8ccb4308db3"}, {"function": "visible_detail", "heading": "Protocolo básico", "sha256": "8e3e534a43696cbe85bff29044ba032c1c06df5d2be1bbdc988f0977631622a6"}, {"function": "facilitation", "heading": "Protocolo básico", "sha256": "fd7c1c09eeaf08505dceb122b2a31108355d0cf603af22454ae1921d8f3ce4a0"}, {"function": "visible_detail", "heading": "Protocolo básico", "sha256": "1b5a95c6a3d5061e95fba7ed8950964272da44b10469bea60173283035dac065"}, {"function": "visible_detail", "heading": "Protocolo básico", "sha256": "4df99556fccabb88b7ef1a952412f28a3f0059f9d18f85c3959eabbb4e0f8cc0"}], "relations": {"unit_relations": {"unit-5": {"prediction_cycle": ["prediction", "execution", "contrast"]}}, "schedule": "concurrent_support", "source_supports_enriched": true}, "timeline_refs": [0], "composition": {"origin_slides": [5, 6]},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"other"}],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false, "function": "other", "action": "Explicar el protocolo y confirmar el orden.", "concurrent": true, "parallel_work": "Abrir código, README, Scrum y enlaces de entrega."}]}, "code_blocks": [], "representation_needs": []}</ns0:renderMetadata>
    </p:ext>
  </p:extLs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Protocolo básico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ontenido" descr="Contenido"/>
          <p:cNvSpPr txBox="1"/>
          <p:nvPr/>
        </p:nvSpPr>
        <p:spPr>
          <a:xfrm>
            <a:off x="640080" y="141732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defensa no es una presentación, un informe, un formulario ni una recitación del README.</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"linked_prediction", "plan_index": 1, "recognition": false, "unit_ids": ["unit-5"], "roles": {"unit-5": "unknown"}, "source_refs": [{"source": "teacher", "heading": "Protocolo básico", "block_index": 5, "fragment": 0}, {"source": "teacher", "heading": "Defensa práctica individual", "block_index": 4, "fragment": 0}], "visible_sources": [{"index": 7, "sha256": "4df99556fccabb88b7ef1a952412f28a3f0059f9d18f85c3959eabbb4e0f8cc0"}], "notes_sources": [{"function": "facilitation", "heading": "Protocolo básico", "sha256": "034daf3a60cfa7ec180f015f027ca6b35471fad4fbf206b52b9bf8ccb4308db3"}, {"function": "visible_detail", "heading": "Protocolo básico", "sha256": "8e3e534a43696cbe85bff29044ba032c1c06df5d2be1bbdc988f0977631622a6"}, {"function": "facilitation", "heading": "Protocolo básico", "sha256": "fd7c1c09eeaf08505dceb122b2a31108355d0cf603af22454ae1921d8f3ce4a0"}, {"function": "visible_detail", "heading": "Protocolo básico", "sha256": "1b5a95c6a3d5061e95fba7ed8950964272da44b10469bea60173283035dac065"}, {"function": "visible_detail", "heading": "Protocolo básico", "sha256": "4df99556fccabb88b7ef1a952412f28a3f0059f9d18f85c3959eabbb4e0f8cc0"}], "relations": {"unit_relations": {"unit-5": {"prediction_cycle": ["prediction", "execution", "contrast"]}}, "schedule": "concurrent_support", "source_supports_enriched": true}, "timeline_refs": [0], "composition": {"origin_slides": [5, 6]},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"other"}],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false, "function": "other", "action": "Explicar el protocolo y confirmar el orden.", "concurrent": true, "parallel_work": "Abrir código, README, Scrum y enlaces de entrega."}]}, "code_blocks": [], "representation_needs": []}</ns0:renderMetadata>
    </p:ext>
  </p:extLs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Muestra del banco de preguntas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ontenido" descr="Contenido"/>
          <p:cNvSpPr txBox="1"/>
          <p:nvPr/>
        </p:nvSpPr>
        <p:spPr>
          <a:xfrm>
            <a:off x="640080" y="1417320"/>
            <a:ext cx="10881360" cy="94691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Señala dónde comienza la ejecución y explica el papel de main.</a:t>
            </a:r>
          </a:p>
        </p:txBody>
      </p:sp>
      <p:sp>
        <p:nvSpPr>
          <p:cNvPr id="6" name="Contenido" descr="Contenido"/>
          <p:cNvSpPr txBox="1"/>
          <p:nvPr/>
        </p:nvSpPr>
        <p:spPr>
          <a:xfrm>
            <a:off x="640080" y="245567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una variable y explica su tipo, nombre, valor actual y una posible reasignación.</a:t>
            </a:r>
          </a:p>
        </p:txBody>
      </p:sp>
      <p:sp>
        <p:nvSpPr>
          <p:cNvPr id="7" name="Contenido" descr="Contenido"/>
          <p:cNvSpPr txBox="1"/>
          <p:nvPr/>
        </p:nvSpPr>
        <p:spPr>
          <a:xfrm>
            <a:off x="640080" y="3494024"/>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una expresión u operación y explica de dónde sale el resultado.</a:t>
            </a:r>
          </a:p>
        </p:txBody>
      </p:sp>
      <p:sp>
        <p:nvSpPr>
          <p:cNvPr id="8" name="Contenido" descr="Contenido"/>
          <p:cNvSpPr txBox="1"/>
          <p:nvPr/>
        </p:nvSpPr>
        <p:spPr>
          <a:xfrm>
            <a:off x="640080" y="4532376"/>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dónde se crea o reutiliza Scanner.</a:t>
            </a:r>
          </a:p>
        </p:txBody>
      </p:sp>
      <p:sp>
        <p:nvSpPr>
          <p:cNvPr id="9" name="Contenido" descr="Contenido"/>
          <p:cNvSpPr txBox="1"/>
          <p:nvPr/>
        </p:nvSpPr>
        <p:spPr>
          <a:xfrm>
            <a:off x="640080" y="517956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una comparación y predice su resultado para un valor concreto.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1, "recognition": false, "unit_ids": ["unit-7", "unit-8", "unit-9", "unit-10", "unit-11", "unit-12"], "roles": {"unit-7": "core", "unit-8": "core", "unit-9": "core", "unit-10": "core", "unit-11": "core", "unit-12": "core"}, "source_refs": [{"source": "teacher", "heading": "Estructura y ejecución", "block_index": 7, "fragment": 0}, {"source": "teacher", "heading": "Banco de preguntas para seleccionar", "block_index": 6, "fragment": 0}, {"source": "teacher", "heading": "Variables, constantes y literales", "block_index": 8, "fragment": 0}, {"source": "teacher", "heading": "Banco de preguntas para seleccionar", "block_index": 6, "fragment": 0}, {"source": "teacher", "heading": "Expresiones, operaciones y actualizaciones", "block_index": 9, "fragment": 0}, {"source": "teacher", "heading": "Banco de preguntas para seleccionar", "block_index": 6, "fragment": 0}, {"source": "teacher", "heading": "Entrada y conversiones", "block_index": 10, "fragment": 0}, {"source": "teacher", "heading": "Banco de preguntas para seleccionar", "block_index": 6, "fragment": 0}, {"source": "teacher", "heading": "Comparación booleana sin bifurcación", "block_index": 11, "fragment": 0}, {"source": "teacher", "heading": "Banco de preguntas para seleccionar", "block_index": 6, "fragment": 0}, {"source": "teacher", "heading": "Alcance de H1", "block_index": 12, "fragment": 0}, {"source": "teacher", "heading": "Banco de preguntas para seleccionar", "block_index": 6, "fragment": 0}], "visible_sources": [{"index": 8, "sha256": "a2aa2cb72110d2e986cd9201284d50fef06e25c04622f02979da3c37bf368596"}, {"index": 9, "sha256": "0cb8327775890ce09d547bdee8b9421218f46e33561dfdc7174ad0e84ee5b687"}, {"index": 10, "sha256": "160d04b455da4956dbec2477ed64c658f211bc0ca0da27304e06ca26d00215ac"}, {"index": 11, "sha256": "f4f929fdca5e28b7e7b361b754bdd568838598234ea0af3b2b693dd447917ae1"}, {"index": 12, "sha256": "c935554cec995f11e85be7ffd02e4db86b2dcab1c8af127513d6f202cd484433"}], "notes_sources": [{"function": "question_bank", "heading": "Estructura y ejecución", "sha256": "62421f1b7bb6e18172b979788547424a3448a3da828fcb0496467cafc861be09"}, {"function": "question_bank", "heading": "Variables, constantes y literales", "sha256": "1707da5d024e7a1e76bfefb6ee930f1fff4625d488d19884086596be0b72ceed"}, {"function": "question_bank", "heading": "Expresiones, operaciones y actualizaciones", "sha256": "146e14b0f71ce43bed0b591bc10fa6ad9629a07de6c0b187c5927028340b06b6"}, {"function": "question_bank", "heading": "Entrada y conversiones", "sha256": "98a5b57d0280b9ab057df979ce951f689de2741a6dc527059249e80c1b8c78eb"}, {"function": "question_bank", "heading": "Comparación booleana sin bifurcación", "sha256": "6d45baf211e0cabd700bead8f0e8cd20b098fb14179d88675243b25c8e6a84b0"}, {"function": "question_bank", "heading": "Alcance de H1", "sha256": "a0a083c0ed299c40eb684212bb508b870f75a588a13e3a469bbb7198b7aa1c84"}], "relations": {"unit_relations": {"unit-7": {"question_context": ["context", "question"]}, "unit-8": {}, "unit-9": {"question_context": ["context", "question"]}, "unit-10": {"question_context": ["context", "question"]}, "unit-11": {}, "unit-12": {"question_context": ["context", "question"]}}, "schedule": "concurrent_support", "source_supports_enriched": true}, "timeline_refs": [0, 1, 2, 3, 4], "composition": {"origin_slides": [7, 8]},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"question_bank"},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"question_bank"},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"question_bank"},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"question_bank"},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"question_bank"}], "clock_intervals": [0, 1, 2, 3, 4],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 "shared_intervals": [{"source_index": 0, "source_time": "0–5 min", "seconds": 300, "is_owner": false, "function": "question_bank", "action": "Explicar el protocolo y confirmar el orden.", "concurrent": true, "parallel_work": "Abrir código, README, Scrum y enlaces de entrega."}, {"source_index": 1, "source_time": "5–15 min", "seconds": 600, "is_owner": false, "function": "question_bank", "action": "Defensas individuales breves.", "concurrent": true, "parallel_work": "Ensayo y revisión por parejas: señalar, predecir, modificar y comprobar."}, {"source_index": 2, "source_time": "15–28 min", "seconds": 780, "is_owner": false, "function": "question_bank", "action": "Continuar defensas y recuperar respuestas vagas sobre el código.", "concurrent": true, "parallel_work": "Review del incremento y retrospectiva en equipo."}, {"source_index": 3, "source_time": "28–38 min", "seconds": 600, "is_owner": false, "function": "question_bank", "action": "Continuar defensas o una segunda comprobación breve cuando haga falta.", "concurrent": true, "parallel_work": "Preparar la entrega Moodle, revisar enlaces profundos y probar permisos."}, {"source_index": 4, "source_time": "38–43 min", "seconds": 300, "is_owner": false, "function": "question_bank", "action": "Resolver defensas pendientes sin convertirlas en exposiciones.", "concurrent": true, "parallel_work": "Un integrante realiza la entrega; el equipo verifica que abre correctamente."}]}, "code_blocks": [], "representation_needs": []}</ns0:renderMetadata>
    </p:ext>
  </p:extLs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Muestra del banco de preguntas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ontenido" descr="Contenido"/>
          <p:cNvSpPr txBox="1"/>
          <p:nvPr/>
        </p:nvSpPr>
        <p:spPr>
          <a:xfrm>
            <a:off x="640080" y="1417320"/>
            <a:ext cx="10881360" cy="55575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¿Qué hace MiniJarvis al cerrar H1?</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1, "recognition": false, "unit_ids": ["unit-7", "unit-8", "unit-9", "unit-10", "unit-11", "unit-12"], "roles": {"unit-7": "core", "unit-8": "core", "unit-9": "core", "unit-10": "core", "unit-11": "core", "unit-12": "core"}, "source_refs": [{"source": "teacher", "heading": "Estructura y ejecución", "block_index": 7, "fragment": 0}, {"source": "teacher", "heading": "Banco de preguntas para seleccionar", "block_index": 6, "fragment": 0}, {"source": "teacher", "heading": "Variables, constantes y literales", "block_index": 8, "fragment": 0}, {"source": "teacher", "heading": "Banco de preguntas para seleccionar", "block_index": 6, "fragment": 0}, {"source": "teacher", "heading": "Expresiones, operaciones y actualizaciones", "block_index": 9, "fragment": 0}, {"source": "teacher", "heading": "Banco de preguntas para seleccionar", "block_index": 6, "fragment": 0}, {"source": "teacher", "heading": "Entrada y conversiones", "block_index": 10, "fragment": 0}, {"source": "teacher", "heading": "Banco de preguntas para seleccionar", "block_index": 6, "fragment": 0}, {"source": "teacher", "heading": "Comparación booleana sin bifurcación", "block_index": 11, "fragment": 0}, {"source": "teacher", "heading": "Banco de preguntas para seleccionar", "block_index": 6, "fragment": 0}, {"source": "teacher", "heading": "Alcance de H1", "block_index": 12, "fragment": 0}, {"source": "teacher", "heading": "Banco de preguntas para seleccionar", "block_index": 6, "fragment": 0}], "visible_sources": [{"index": 13, "sha256": "9529b337863bec26ae973e887d521b7e76b49212695b5e1ca08146a300215e04"}], "notes_sources": [{"function": "question_bank", "heading": "Estructura y ejecución", "sha256": "62421f1b7bb6e18172b979788547424a3448a3da828fcb0496467cafc861be09"}, {"function": "question_bank", "heading": "Variables, constantes y literales", "sha256": "1707da5d024e7a1e76bfefb6ee930f1fff4625d488d19884086596be0b72ceed"}, {"function": "question_bank", "heading": "Expresiones, operaciones y actualizaciones", "sha256": "146e14b0f71ce43bed0b591bc10fa6ad9629a07de6c0b187c5927028340b06b6"}, {"function": "question_bank", "heading": "Entrada y conversiones", "sha256": "98a5b57d0280b9ab057df979ce951f689de2741a6dc527059249e80c1b8c78eb"}, {"function": "question_bank", "heading": "Comparación booleana sin bifurcación", "sha256": "6d45baf211e0cabd700bead8f0e8cd20b098fb14179d88675243b25c8e6a84b0"}, {"function": "question_bank", "heading": "Alcance de H1", "sha256": "a0a083c0ed299c40eb684212bb508b870f75a588a13e3a469bbb7198b7aa1c84"}], "relations": {"unit_relations": {"unit-7": {"question_context": ["context", "question"]}, "unit-8": {}, "unit-9": {"question_context": ["context", "question"]}, "unit-10": {"question_context": ["context", "question"]}, "unit-11": {}, "unit-12": {"question_context": ["context", "question"]}}, "schedule": "concurrent_support", "source_supports_enriched": true}, "timeline_refs": [0, 1, 2, 3, 4], "composition": {"origin_slides": [7, 8]},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"question_bank"},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"question_bank"},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"question_bank"},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"question_bank"},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"question_bank"}], "clock_intervals": [0, 1, 2, 3, 4],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 "shared_intervals": [{"source_index": 0, "source_time": "0–5 min", "seconds": 300, "is_owner": false, "function": "question_bank", "action": "Explicar el protocolo y confirmar el orden.", "concurrent": true, "parallel_work": "Abrir código, README, Scrum y enlaces de entrega."}, {"source_index": 1, "source_time": "5–15 min", "seconds": 600, "is_owner": false, "function": "question_bank", "action": "Defensas individuales breves.", "concurrent": true, "parallel_work": "Ensayo y revisión por parejas: señalar, predecir, modificar y comprobar."}, {"source_index": 2, "source_time": "15–28 min", "seconds": 780, "is_owner": false, "function": "question_bank", "action": "Continuar defensas y recuperar respuestas vagas sobre el código.", "concurrent": true, "parallel_work": "Review del incremento y retrospectiva en equipo."}, {"source_index": 3, "source_time": "28–38 min", "seconds": 600, "is_owner": false, "function": "question_bank", "action": "Continuar defensas o una segunda comprobación breve cuando haga falta.", "concurrent": true, "parallel_work": "Preparar la entrega Moodle, revisar enlaces profundos y probar permisos."}, {"source_index": 4, "source_time": "38–43 min", "seconds": 300, "is_owner": false, "function": "question_bank", "action": "Resolver defensas pendientes sin convertirlas en exposiciones.", "concurrent": true, "parallel_work": "Un integrante realiza la entrega; el equipo verifica que abre correctamente."}]}, "code_blocks": [], "representation_needs": []}</ns0:renderMetadata>
    </p:ext>
  </p:extLs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Recuperación ante una defensa insuficiente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COMPROBAR</a:t>
            </a:r>
          </a:p>
        </p:txBody>
      </p:sp>
      <p:sp>
        <p:nvSpPr>
          <p:cNvPr id="6" name="Acción o criterio 0" descr="Acción o criterio 0"/>
          <p:cNvSpPr txBox="1"/>
          <p:nvPr/>
        </p:nvSpPr>
        <p:spPr>
          <a:xfrm>
            <a:off x="64008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Señala la línea;</a:t>
            </a:r>
          </a:p>
        </p:txBody>
      </p:sp>
      <p:sp>
        <p:nvSpPr>
          <p:cNvPr id="7" name="Acción o criterio 1" descr="Acción o criterio 1"/>
          <p:cNvSpPr txBox="1"/>
          <p:nvPr/>
        </p:nvSpPr>
        <p:spPr>
          <a:xfrm>
            <a:off x="426720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Predice con los valores indicados;</a:t>
            </a:r>
          </a:p>
        </p:txBody>
      </p:sp>
      <p:sp>
        <p:nvSpPr>
          <p:cNvPr id="8" name="Acción o criterio 2" descr="Acción o criterio 2"/>
          <p:cNvSpPr txBox="1"/>
          <p:nvPr/>
        </p:nvSpPr>
        <p:spPr>
          <a:xfrm>
            <a:off x="789432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Ejecuta;</a:t>
            </a:r>
          </a:p>
        </p:txBody>
      </p:sp>
      <p:sp>
        <p:nvSpPr>
          <p:cNvPr id="9" name="Acción o criterio 3" descr="Acción o criterio 3"/>
          <p:cNvSpPr txBox="1"/>
          <p:nvPr/>
        </p:nvSpPr>
        <p:spPr>
          <a:xfrm>
            <a:off x="640080" y="324967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Modifica un valor sencillo;</a:t>
            </a:r>
          </a:p>
        </p:txBody>
      </p:sp>
      <p:sp>
        <p:nvSpPr>
          <p:cNvPr id="10" name="Acción o criterio 4" descr="Acción o criterio 4"/>
          <p:cNvSpPr txBox="1"/>
          <p:nvPr/>
        </p:nvSpPr>
        <p:spPr>
          <a:xfrm>
            <a:off x="4267200" y="324967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Comprueba el nuevo resultado;</a:t>
            </a:r>
          </a:p>
        </p:txBody>
      </p:sp>
      <p:sp>
        <p:nvSpPr>
          <p:cNvPr id="11" name="Acción o criterio 5" descr="Acción o criterio 5"/>
          <p:cNvSpPr txBox="1"/>
          <p:nvPr/>
        </p:nvSpPr>
        <p:spPr>
          <a:xfrm>
            <a:off x="7894320" y="324967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Vuelve a explicar.</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"check", "plan_index": 1, "recognition": false, "unit_ids": ["unit-13"], "roles": {"unit-13": "core"}, "source_refs": [{"source": "teacher", "heading": "Recuperación ante una defensa insuficiente", "block_index": 13, "fragment": 0}], "visible_sources": [{"index": 14, "sha256": "33b77697f764e125b527f97cfece6571492919fc3fd7307fe0f2dc4af355c393"}], "notes_sources": [{"function": "scaffolding", "heading": "Recuperación ante una defensa insuficiente", "sha256": "15493ef499da229dad7552bc5e1bc334af3240e14d9830a0587d5abb7f56db0b"}, {"function": "scaffolding", "heading": "Recuperación ante una defensa insuficiente", "sha256": "e2edd2c7670d1ec84b3762c3495d30ac8366cbf8ac2cf5bbfb2e4b9c836f5fee"}, {"function": "scaffolding", "heading": "Recuperación ante una defensa insuficiente", "sha256": "09ea0d56ece8cf19cbe42cfefebc0c2061c23bad3012718127b362de60d4365c"}], "relations": {"unit_relations": {"unit-13": {"supports": ["unit-4"]}}, "schedule": "concurrent_support", "source_supports_enriched": true}, "timeline_refs": [0, 1, 2, 3, 4], "composition": {"origin_slides": [9]},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"scaffolding"},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"scaffolding"},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"scaffolding"},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"scaffolding"},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"scaffolding"}], "clock_intervals": [0, 1, 2, 3, 4],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 "shared_intervals": [{"source_index": 0, "source_time": "0–5 min", "seconds": 300, "is_owner": false, "function": "scaffolding", "action": "Explicar el protocolo y confirmar el orden.", "concurrent": true, "parallel_work": "Abrir código, README, Scrum y enlaces de entrega."}, {"source_index": 1, "source_time": "5–15 min", "seconds": 600, "is_owner": false, "function": "scaffolding", "action": "Defensas individuales breves.", "concurrent": true, "parallel_work": "Ensayo y revisión por parejas: señalar, predecir, modificar y comprobar."}, {"source_index": 2, "source_time": "15–28 min", "seconds": 780, "is_owner": false, "function": "scaffolding", "action": "Continuar defensas y recuperar respuestas vagas sobre el código.", "concurrent": true, "parallel_work": "Review del incremento y retrospectiva en equipo."}, {"source_index": 3, "source_time": "28–38 min", "seconds": 600, "is_owner": false, "function": "scaffolding", "action": "Continuar defensas o una segunda comprobación breve cuando haga falta.", "concurrent": true, "parallel_work": "Preparar la entrega Moodle, revisar enlaces profundos y probar permisos."}, {"source_index": 4, "source_time": "38–43 min", "seconds": 300, "is_owner": false, "function": "scaffolding", "action": "Resolver defensas pendientes sin convertirlas en exposiciones.", "concurrent": true, "parallel_work": "Un integrante realiza la entrega; el equipo verifica que abre correctamente."}]}, "code_blocks": [], "representation_needs": []}</ns0:renderMetadata>
    </p:ext>
  </p:extLs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Ensayo y revisión por parejas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o criterio 0" descr="Acción o criterio 0"/>
          <p:cNvSpPr txBox="1"/>
          <p:nvPr/>
        </p:nvSpPr>
        <p:spPr>
          <a:xfrm>
            <a:off x="64008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ensayar una explicación breve sobre una línea concreta;</a:t>
            </a:r>
          </a:p>
        </p:txBody>
      </p:sp>
      <p:sp>
        <p:nvSpPr>
          <p:cNvPr id="6" name="Acción o criterio 1" descr="Acción o criterio 1"/>
          <p:cNvSpPr txBox="1"/>
          <p:nvPr/>
        </p:nvSpPr>
        <p:spPr>
          <a:xfrm>
            <a:off x="608076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pedir que la otra persona señale el código del que habla;</a:t>
            </a:r>
          </a:p>
        </p:txBody>
      </p:sp>
      <p:sp>
        <p:nvSpPr>
          <p:cNvPr id="7" name="Acción o criterio 2" descr="Acción o criterio 2"/>
          <p:cNvSpPr txBox="1"/>
          <p:nvPr/>
        </p:nvSpPr>
        <p:spPr>
          <a:xfrm>
            <a:off x="640080" y="267919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solicitar una predicción antes de ejecutar;</a:t>
            </a:r>
          </a:p>
        </p:txBody>
      </p:sp>
      <p:sp>
        <p:nvSpPr>
          <p:cNvPr id="8" name="Acción o criterio 3" descr="Acción o criterio 3"/>
          <p:cNvSpPr txBox="1"/>
          <p:nvPr/>
        </p:nvSpPr>
        <p:spPr>
          <a:xfrm>
            <a:off x="6080760" y="267919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proponer una modificación pequeña;</a:t>
            </a:r>
          </a:p>
        </p:txBody>
      </p:sp>
      <p:sp>
        <p:nvSpPr>
          <p:cNvPr id="9" name="Acción o criterio 4" descr="Acción o criterio 4"/>
          <p:cNvSpPr txBox="1"/>
          <p:nvPr/>
        </p:nvSpPr>
        <p:spPr>
          <a:xfrm>
            <a:off x="640080" y="360578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ejecutar y contrastar el resultado;</a:t>
            </a:r>
          </a:p>
        </p:txBody>
      </p:sp>
      <p:sp>
        <p:nvSpPr>
          <p:cNvPr id="10" name="Acción o criterio 5" descr="Acción o criterio 5"/>
          <p:cNvSpPr txBox="1"/>
          <p:nvPr/>
        </p:nvSpPr>
        <p:spPr>
          <a:xfrm>
            <a:off x="6080760" y="360578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comprobar que ambas personas entienden lo que explican;</a:t>
            </a:r>
          </a:p>
        </p:txBody>
      </p:sp>
      <p:sp>
        <p:nvSpPr>
          <p:cNvPr id="11" name="Acción o criterio 6" descr="Acción o criterio 6"/>
          <p:cNvSpPr txBox="1"/>
          <p:nvPr/>
        </p:nvSpPr>
        <p:spPr>
          <a:xfrm>
            <a:off x="64008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revisar mutuamente enlaces profundos y permisos.</a:t>
            </a:r>
          </a:p>
        </p:txBody>
      </p:sp>
      <p:sp>
        <p:nvSpPr>
          <p:cNvPr id="12" name="Acción o criterio 7" descr="Acción o criterio 7"/>
          <p:cNvSpPr txBox="1"/>
          <p:nvPr/>
        </p:nvSpPr>
        <p:spPr>
          <a:xfrm>
            <a:off x="608076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ADVERTENCIA · No preparan respuestas idénticas.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"linked_prediction", "plan_index": 2, "recognition": false, "unit_ids": ["unit-14"], "roles": {"unit-14": "core"}, "source_refs": [{"source": "teacher", "heading": "Ensayo y revisión por parejas", "block_index": 14, "fragment": 0}], "visible_sources": [{"index": 1, "sha256": "3a3e14c1fc8c6b41ff3d157e81e10f31c660969fa3ad2be16a142a0e82e08572"}, {"index": 2, "sha256": "cc3f6914420889c2c4c07441593241b18e0294fae8eb059d38c238dd3e25131a"}], "notes_sources": [{"function": "facilitation", "heading": "Ensayo y revisión por parejas", "sha256": "eb12b8b4225c61edb75d38f2fd1a01176d18cc161820708be1c3362a8eb45f62"}, {"function": "visible_detail", "heading": "Ensayo y revisión por parejas", "sha256": "cc3f6914420889c2c4c07441593241b18e0294fae8eb059d38c238dd3e25131a"}], "relations": {"unit_relations": {"unit-14": {"prediction_cycle": ["prediction", "execution", "contrast"]}}, "schedule": "concurrent_support", "source_supports_enriched": true}, "timeline_refs": [1], "composition": {"origin_slides": [10, 11]}, "timing": {"seconds": 0, "allocations":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"activity"}], "clock_intervals": [1], "presenter_notes": "Reloj fuente 5–15 min: duración compartida 600 segundos. Trabajo: Defensas individuales breves. Función del soporte: actividad. Soporte concurrente del mismo reloj fuente: no son turnos de defensa ni una secuencia adicional. Trabajo paralelo: Ensayo y revisión por parejas: señalar, predecir, modificar y comprobar.", "shared_intervals": [{"source_index": 1, "source_time": "5–15 min", "seconds": 600, "is_owner": false, "function": "activity", "action": "Defensas individuales breves.", "concurrent": true, "parallel_work": "Ensayo y revisión por parejas: señalar, predecir, modificar y comprobar."}]}, "code_blocks": [], "representation_needs": []}</ns0:renderMetadata>
    </p:ext>
  </p:extLs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Review del incremento H1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hace MiniJarvis al finalizar H1?</a:t>
            </a:r>
          </a:p>
        </p:txBody>
      </p:sp>
      <p:sp>
        <p:nvSpPr>
          <p:cNvPr id="7" name="Acción o criterio 1" descr="Acción o criterio 1"/>
          <p:cNvSpPr txBox="1"/>
          <p:nvPr/>
        </p:nvSpPr>
        <p:spPr>
          <a:xfrm>
            <a:off x="426720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estaba previsto para el hito?</a:t>
            </a:r>
          </a:p>
        </p:txBody>
      </p:sp>
      <p:sp>
        <p:nvSpPr>
          <p:cNvPr id="8" name="Acción o criterio 2" descr="Acción o criterio 2"/>
          <p:cNvSpPr txBox="1"/>
          <p:nvPr/>
        </p:nvSpPr>
        <p:spPr>
          <a:xfrm>
            <a:off x="789432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funciona realmente?</a:t>
            </a:r>
          </a:p>
        </p:txBody>
      </p:sp>
      <p:sp>
        <p:nvSpPr>
          <p:cNvPr id="9" name="Acción o criterio 3" descr="Acción o criterio 3"/>
          <p:cNvSpPr txBox="1"/>
          <p:nvPr/>
        </p:nvSpPr>
        <p:spPr>
          <a:xfrm>
            <a:off x="640080" y="3249676"/>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pruebas reproducibles lo demuestran?</a:t>
            </a:r>
          </a:p>
        </p:txBody>
      </p:sp>
      <p:sp>
        <p:nvSpPr>
          <p:cNvPr id="10" name="Acción o criterio 4" descr="Acción o criterio 4"/>
          <p:cNvSpPr txBox="1"/>
          <p:nvPr/>
        </p:nvSpPr>
        <p:spPr>
          <a:xfrm>
            <a:off x="4267200" y="3249676"/>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límites conserva?</a:t>
            </a:r>
          </a:p>
        </p:txBody>
      </p:sp>
      <p:sp>
        <p:nvSpPr>
          <p:cNvPr id="11" name="Acción o criterio 5" descr="Acción o criterio 5"/>
          <p:cNvSpPr txBox="1"/>
          <p:nvPr/>
        </p:nvSpPr>
        <p:spPr>
          <a:xfrm>
            <a:off x="7894320" y="3249676"/>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queda deliberadamente fuera?</a:t>
            </a:r>
          </a:p>
        </p:txBody>
      </p:sp>
      <p:sp>
        <p:nvSpPr>
          <p:cNvPr id="12" name="Contenido" descr="Contenido"/>
          <p:cNvSpPr txBox="1"/>
          <p:nvPr/>
        </p:nvSpPr>
        <p:spPr>
          <a:xfrm>
            <a:off x="640080" y="451154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revisión utiliza el repositorio, el README y las pruebas existentes.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3, "recognition": false, "unit_ids": ["unit-15"], "roles": {"unit-15": "core"}, "source_refs": [{"source": "teacher", "heading": "Review del incremento H1 — EQUIPO", "block_index": 15, "fragment": 0}], "visible_sources": [{"index": 1, "sha256": "6d3f768ee276b45d5769d00aa030e57ed00551cbc09e720ae41cf2ec1313efc0"}, {"index": 2, "sha256": "5b51c1b2d3537f10573b41973d96c0d102394c27033e04ce33db643171f69717"}], "notes_sources": [{"function": "facilitation", "heading": "Review del incremento H1 — EQUIPO", "sha256": "509119a306357cffb1fd866336e81d6cf8d280679ecbe1bb4e7ab326a7b49afd"}, {"function": "visible_detail", "heading": "Review del incremento H1 — EQUIPO", "sha256": "5b51c1b2d3537f10573b41973d96c0d102394c27033e04ce33db643171f69717"}], "relations": {"unit_relations": {"unit-15": {"question_context": ["context", "question"]}}, "schedule": "concurrent_support", "source_supports_enriched": true}, "timeline_refs": [2], "composition": {"origin_slides": [12]}, "timing": {"seconds": 0, "allocations":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"review"}], "clock_intervals": [2], "presenter_notes": "Reloj fuente 15–28 min: duración compartida 780 segundos. Trabajo: Continuar defensas y recuperar respuestas vagas sobre el código. Función del soporte: revisión. Soporte concurrente del mismo reloj fuente: no son turnos de defensa ni una secuencia adicional. Trabajo paralelo: Review del incremento y retrospectiva en equipo.", "shared_intervals": [{"source_index": 2, "source_time": "15–28 min", "seconds": 780, "is_owner": false, "function": "review", "action": "Continuar defensas y recuperar respuestas vagas sobre el código.", "concurrent": true, "parallel_work": "Review del incremento y retrospectiva en equipo."}]}, "code_blocks": [], "representation_needs": []}</ns0:renderMetadata>
    </p:ext>
  </p:extLs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Retrospectiva H1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ayudó al equipo?</a:t>
            </a:r>
          </a:p>
        </p:txBody>
      </p:sp>
      <p:sp>
        <p:nvSpPr>
          <p:cNvPr id="7" name="Acción o criterio 1" descr="Acción o criterio 1"/>
          <p:cNvSpPr txBox="1"/>
          <p:nvPr/>
        </p:nvSpPr>
        <p:spPr>
          <a:xfrm>
            <a:off x="608076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dificultó el trabajo?</a:t>
            </a:r>
          </a:p>
        </p:txBody>
      </p:sp>
      <p:sp>
        <p:nvSpPr>
          <p:cNvPr id="8" name="Acción o criterio 2" descr="Acción o criterio 2"/>
          <p:cNvSpPr txBox="1"/>
          <p:nvPr/>
        </p:nvSpPr>
        <p:spPr>
          <a:xfrm>
            <a:off x="64008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conviene mantener?</a:t>
            </a:r>
          </a:p>
        </p:txBody>
      </p:sp>
      <p:sp>
        <p:nvSpPr>
          <p:cNvPr id="9" name="Acción o criterio 3" descr="Acción o criterio 3"/>
          <p:cNvSpPr txBox="1"/>
          <p:nvPr/>
        </p:nvSpPr>
        <p:spPr>
          <a:xfrm>
            <a:off x="608076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conviene cambiar en H2?</a:t>
            </a:r>
          </a:p>
        </p:txBody>
      </p:sp>
      <p:sp>
        <p:nvSpPr>
          <p:cNvPr id="10" name="Contenido" descr="Contenido"/>
          <p:cNvSpPr txBox="1"/>
          <p:nvPr/>
        </p:nvSpPr>
        <p:spPr>
          <a:xfrm>
            <a:off x="640080" y="350570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El equipo acuerda al menos una mejora concreta y realizable.</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4, "recognition": false, "unit_ids": ["unit-16"], "roles": {"unit-16": "core"}, "source_refs": [{"source": "teacher", "heading": "Retrospectiva H1 — EQUIPO", "block_index": 16, "fragment": 0}], "visible_sources": [{"index": 1, "sha256": "ba9d91671b387d8f35a7eb586a29931dbb2a53913b9fa17019c8a0120c54d407"}, {"index": 2, "sha256": "175ac9c54a3b2a8e3928fd8253a6a22353e8e0d9b1115b1e099650d06e1dbd57"}], "notes_sources": [{"function": "facilitation", "heading": "Retrospectiva H1 — EQUIPO", "sha256": "ea88b12cb21556983160f3885bac0b60a1e3e4ffd429d7fd9171076c1aa2a2be"}, {"function": "visible_detail", "heading": "Retrospectiva H1 — EQUIPO", "sha256": "175ac9c54a3b2a8e3928fd8253a6a22353e8e0d9b1115b1e099650d06e1dbd57"}], "relations": {"unit_relations": {"unit-16": {"question_context": ["context", "question"]}}, "schedule": "concurrent_support", "source_supports_enriched": true}, "timeline_refs": [2], "composition": {"origin_slides": [13]}, "timing": {"seconds": 0, "allocations":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"retrospective"}], "clock_intervals": [2], "presenter_notes": "Reloj fuente 15–28 min: duración compartida 780 segundos. Trabajo: Continuar defensas y recuperar respuestas vagas sobre el código. Función del soporte: retrospectiva. Soporte concurrente del mismo reloj fuente: no son turnos de defensa ni una secuencia adicional. Trabajo paralelo: Review del incremento y retrospectiva en equipo.", "shared_intervals": [{"source_index": 2, "source_time": "15–28 min", "seconds": 780, "is_owner": false, "function": "retrospective", "action": "Continuar defensas y recuperar respuestas vagas sobre el código.", "concurrent": true, "parallel_work": "Review del incremento y retrospectiva en equipo."}]}, "code_blocks": [], "representation_needs": []}</ns0:renderMetadata>
    </p:ext>
  </p:extLs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Reflexión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COMPROBAR</a:t>
            </a:r>
          </a:p>
        </p:txBody>
      </p:sp>
      <p:sp>
        <p:nvSpPr>
          <p:cNvPr id="6" name="Acción o criterio 0" descr="Acción o criterio 0"/>
          <p:cNvSpPr txBox="1"/>
          <p:nvPr/>
        </p:nvSpPr>
        <p:spPr>
          <a:xfrm>
            <a:off x="64008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puedo hacer ya sin ayuda?</a:t>
            </a:r>
          </a:p>
        </p:txBody>
      </p:sp>
      <p:sp>
        <p:nvSpPr>
          <p:cNvPr id="7" name="Acción o criterio 1" descr="Acción o criterio 1"/>
          <p:cNvSpPr txBox="1"/>
          <p:nvPr/>
        </p:nvSpPr>
        <p:spPr>
          <a:xfrm>
            <a:off x="608076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necesito practicar?</a:t>
            </a:r>
          </a:p>
        </p:txBody>
      </p:sp>
      <p:sp>
        <p:nvSpPr>
          <p:cNvPr id="8" name="Acción o criterio 2" descr="Acción o criterio 2"/>
          <p:cNvSpPr txBox="1"/>
          <p:nvPr/>
        </p:nvSpPr>
        <p:spPr>
          <a:xfrm>
            <a:off x="64008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evidencia demuestra mi aprendizaje?</a:t>
            </a:r>
          </a:p>
        </p:txBody>
      </p:sp>
      <p:sp>
        <p:nvSpPr>
          <p:cNvPr id="9" name="Acción o criterio 3" descr="Acción o criterio 3"/>
          <p:cNvSpPr txBox="1"/>
          <p:nvPr/>
        </p:nvSpPr>
        <p:spPr>
          <a:xfrm>
            <a:off x="608076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¿Cuál es mi siguiente paso en H2?</a:t>
            </a:r>
          </a:p>
        </p:txBody>
      </p:sp>
      <p:sp>
        <p:nvSpPr>
          <p:cNvPr id="10" name="Contenido" descr="Contenido"/>
          <p:cNvSpPr txBox="1"/>
          <p:nvPr/>
        </p:nvSpPr>
        <p:spPr>
          <a:xfrm>
            <a:off x="640080" y="3840988"/>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Solo se conserva en el diario si contiene un aprendizaje, dificultad, decisión o siguiente paso significativo.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"check", "plan_index": 5, "recognition": false, "unit_ids": ["unit-17"], "roles": {"unit-17": "core"}, "source_refs": [{"source": "teacher", "heading": "Reflexión individual", "block_index": 17, "fragment": 0}], "visible_sources": [{"index": 1, "sha256": "9bb197b552bb9ef6577815be872be77c66a09283b4b4871c8091414231f5e94b"}, {"index": 2, "sha256": "4616c425e5f41bc017934cd9f816570f6ba217f94ac8e47c0e48a80691f05a11"}], "notes_sources": [{"function": "facilitation", "heading": "Reflexión individual", "sha256": "535161050aab01ad919e84ebe10f6085e2c408e8e3a517693a3aa4c4dab28868"}, {"function": "visible_detail", "heading": "Reflexión individual", "sha256": "4616c425e5f41bc017934cd9f816570f6ba217f94ac8e47c0e48a80691f05a11"}], "relations": {"unit_relations": {"unit-17": {"question_context": ["context", "question"]}}, "schedule": "concurrent_support", "source_supports_enriched": true}, "timeline_refs": [5], "composition": {"origin_slides": [14]}, "timing": {"seconds": 0, "allocations": [{"source_index": 5,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Reflexión individual breve y confirmación del cierre de equipo.", "source_time": "43–45 min", "source_seconds": 120, "is_owner": false, "function": "individual_check"}], "clock_intervals": [5], "presenter_notes": "Reloj fuente 43–45 min: duración compartida 120 segundos. Trabajo: Cierre común y siguiente paso. Función del soporte: comprobación individual. Soporte concurrente del mismo reloj fuente: no son turnos de defensa ni una secuencia adicional. Trabajo paralelo: Reflexión individual breve y confirmación del cierre de equipo.", "shared_intervals": [{"source_index": 5, "source_time": "43–45 min", "seconds": 120, "is_owner": false, "function": "individual_check", "action": "Cierre común y siguiente paso.", "concurrent": true, "parallel_work": "Reflexión individual breve y confirmación del cierre de equipo."}]}, "code_blocks": [], "representation_needs": []}</ns0:renderMetadata>
    </p:ext>
  </p:extLs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1002792"/>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Entrega oficial Moodle y evidencias que permanecen</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8257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2406904"/>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S215 contiene la única entrega oficial de H1.</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["unit-18"], "roles": {"unit-18": "core"}, "source_refs": [{"source": "teacher", "heading": "Entrega oficial Moodle y evidencias que permanecen", "block_index": 18, "fragment": 0}], "visible_sources": [{"index": 0, "sha256": "6de700ba1bb02ce106171b7b11c10bee3aab6ad0e39f5be3443c0e8fb62f9afb"}], "notes_sources": [{"function": "visible_detail", "heading": "Entrega oficial Moodle y evidencias que permanecen", "sha256": "6de700ba1bb02ce106171b7b11c10bee3aab6ad0e39f5be3443c0e8fb62f9afb"}], "relations": {"unit_relations": {"unit-18": {}}, "schedule": "concurrent_support", "source_supports_enriched": true}, "timeline_refs": [4], "composition": {"origin_slides": [15]},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 tag h1-entrega o un commit estable de la versión evaluada;</a:t>
            </a:r>
          </a:p>
        </p:txBody>
      </p:sp>
      <p:sp>
        <p:nvSpPr>
          <p:cNvPr id="7" name="Acción o criterio 1" descr="Acción o criterio 1"/>
          <p:cNvSpPr txBox="1"/>
          <p:nvPr/>
        </p:nvSpPr>
        <p:spPr>
          <a:xfrm>
            <a:off x="426720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la confirmación de que diario y Scrum están actualizados en los enlaces estables ya registrados;</a:t>
            </a:r>
          </a:p>
        </p:txBody>
      </p:sp>
      <p:sp>
        <p:nvSpPr>
          <p:cNvPr id="8" name="Acción o criterio 2" descr="Acción o criterio 2"/>
          <p:cNvSpPr txBox="1"/>
          <p:nvPr/>
        </p:nvSpPr>
        <p:spPr>
          <a:xfrm>
            <a:off x="789432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evidencia no-code excepcional, solo si existe.</a:t>
            </a:r>
          </a:p>
        </p:txBody>
      </p:sp>
      <p:sp>
        <p:nvSpPr>
          <p:cNvPr id="9" name="Contenido" descr="Contenido"/>
          <p:cNvSpPr txBox="1"/>
          <p:nvPr/>
        </p:nvSpPr>
        <p:spPr>
          <a:xfrm>
            <a:off x="640080" y="4590796"/>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 volver a copiar URLs estables ni adjuntar README, capturas, registro IA o PDF/XLSX rutinarios.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2, "sha256": "be0b1a558b8d05518c69493bb69e884f2a3eba2204b07bec61f207e62e6b6d23"}, {"index": 3, "sha256": "7ed390eede9950b824b14b7419a0687bb8f4defa8ff0f2e2892f9fc862013a8d"}],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31821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GitHub y README: localizan el código, las pruebas reproducibles y la explicación técnica.</a:t>
            </a:r>
          </a:p>
        </p:txBody>
      </p:sp>
      <p:sp>
        <p:nvSpPr>
          <p:cNvPr id="7" name="Acción o criterio 1" descr="Acción o criterio 1"/>
          <p:cNvSpPr txBox="1"/>
          <p:nvPr/>
        </p:nvSpPr>
        <p:spPr>
          <a:xfrm>
            <a:off x="4267200" y="1987804"/>
            <a:ext cx="3444240" cy="31821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Scrum: se enlaza solo cuando la tarea lo necesita para localizar review, retrospectiva, una decisión, un cambio o un bloqueo real.</a:t>
            </a:r>
          </a:p>
        </p:txBody>
      </p:sp>
      <p:sp>
        <p:nvSpPr>
          <p:cNvPr id="8" name="Acción o criterio 2" descr="Acción o criterio 2"/>
          <p:cNvSpPr txBox="1"/>
          <p:nvPr/>
        </p:nvSpPr>
        <p:spPr>
          <a:xfrm>
            <a:off x="7894320" y="1987804"/>
            <a:ext cx="3444240" cy="31821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Diario individual: se usa solo para aprendizaje o siguiente paso significativo; no forma parte rutinaria de la entrega.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4, "sha256": "b156109651a436e3e00a21efcd498c595d310694627413b20c7ac16004c81b79"}],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Moodle: identifica la versión evaluada y confirma las fuentes estables sin volver a copiar sus URLs.</a:t>
            </a:r>
          </a:p>
        </p:txBody>
      </p:sp>
      <p:sp>
        <p:nvSpPr>
          <p:cNvPr id="7" name="Acción o criterio 1" descr="Acción o criterio 1"/>
          <p:cNvSpPr txBox="1"/>
          <p:nvPr/>
        </p:nvSpPr>
        <p:spPr>
          <a:xfrm>
            <a:off x="426720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Site: no se actualiza ni se enlaza en S215; H1 podrá seleccionarse posteriormente durante C1.</a:t>
            </a:r>
          </a:p>
        </p:txBody>
      </p:sp>
      <p:sp>
        <p:nvSpPr>
          <p:cNvPr id="8" name="Acción o criterio 2" descr="Acción o criterio 2"/>
          <p:cNvSpPr txBox="1"/>
          <p:nvPr/>
        </p:nvSpPr>
        <p:spPr>
          <a:xfrm>
            <a:off x="789432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Drive: no sustituye GitHub ni README y no se usa para copiar código o ejecución rutinaria.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4, "sha256": "b156109651a436e3e00a21efcd498c595d310694627413b20c7ac16004c81b79"}],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 se adjuntan capturas, formularios, portfolios, documentos de ejecución ni copias separadas de pruebas cuando GitHub y README ya permiten localizarlas.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5, "sha256": "ce896f16b019d19657752fd482af0e5f45509b5e913d95e71c02a2567ab03ede"}],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Comprobación de enlaces y permisos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abre cada enlace profundo, no solo la carpeta o página inicial;</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pruébalo en una ventana privada, con otra cuenta o mediante otra persona;</a:t>
            </a:r>
          </a:p>
        </p:txBody>
      </p:sp>
      <p:sp>
        <p:nvSpPr>
          <p:cNvPr id="8" name="Acción o criterio 2" descr="Acción o criterio 2"/>
          <p:cNvSpPr txBox="1"/>
          <p:nvPr/>
        </p:nvSpPr>
        <p:spPr>
          <a:xfrm>
            <a:off x="64008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comprueba que el repositorio y el README son accesibles;</a:t>
            </a:r>
          </a:p>
        </p:txBody>
      </p:sp>
      <p:sp>
        <p:nvSpPr>
          <p:cNvPr id="9" name="Acción o criterio 3" descr="Acción o criterio 3"/>
          <p:cNvSpPr txBox="1"/>
          <p:nvPr/>
        </p:nvSpPr>
        <p:spPr>
          <a:xfrm>
            <a:off x="608076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verifica el enlace a Scrum únicamente si se incluye;</a:t>
            </a:r>
          </a:p>
        </p:txBody>
      </p:sp>
      <p:sp>
        <p:nvSpPr>
          <p:cNvPr id="10" name="Acción o criterio 4" descr="Acción o criterio 4"/>
          <p:cNvSpPr txBox="1"/>
          <p:nvPr/>
        </p:nvSpPr>
        <p:spPr>
          <a:xfrm>
            <a:off x="640080" y="451154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marca Permisos comprobados: sí solo después de la prueba.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["unit-20"], "roles": {"unit-20": "core"}, "source_refs": [{"source": "teacher", "heading": "Comprobación de enlaces y permisos", "block_index": 20, "fragment": 0}, {"source": "teacher", "heading": "Entrega oficial Moodle y evidencias que permanecen", "block_index": 18, "fragment": 0}], "visible_sources": [{"index": 7, "sha256": "f083514fbc7b6a59b2ada33130dd3644e0beefa4f858ad71882b8a93d369162b"}], "notes_sources": [{"function": "facilitation", "heading": "Comprobación de enlaces y permisos", "sha256": "503dd2b369e2483fbe975e82688bd45870c1fecd49c63f6806c5c9f64cbd4452"}], "relations": {"unit_relations": {"unit-20": {}}, "schedule": "concurrent_support", "source_supports_enriched": true}, "timeline_refs": [3], "composition": {"origin_slides": [19]}, "timing": {"seconds": 0, "allocations":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"concept"}], "clock_intervals": [3], "presenter_notes": "Reloj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 "shared_intervals": [{"source_index": 3, "source_time": "28–38 min", "seconds": 600, "is_owner": false, "function": "concept", "action": "Continuar defensas o una segunda comprobación breve cuando haga falta.", "concurrent": true, "parallel_work": "Preparar la entrega Moodle, revisar enlaces profundos y probar permisos."}]}, "code_blocks": [], "representation_needs": []}</ns0:renderMetadata>
    </p:ext>
  </p:extLs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Comprobación de enlaces y permisos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Esta comprobación es una acción, no un documento nuevo.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["unit-20"], "roles": {"unit-20": "core"}, "source_refs": [{"source": "teacher", "heading": "Comprobación de enlaces y permisos", "block_index": 20, "fragment": 0}, {"source": "teacher", "heading": "Entrega oficial Moodle y evidencias que permanecen", "block_index": 18, "fragment": 0}], "visible_sources": [{"index": 8, "sha256": "bae75a60bf58ad22cc16194f420bed58d2882c98832540bb7b952ea1c200f2ee"}], "notes_sources": [{"function": "facilitation", "heading": "Comprobación de enlaces y permisos", "sha256": "503dd2b369e2483fbe975e82688bd45870c1fecd49c63f6806c5c9f64cbd4452"}], "relations": {"unit_relations": {"unit-20": {}}, "schedule": "concurrent_support", "source_supports_enriched": true}, "timeline_refs": [3], "composition": {"origin_slides": [19]}, "timing": {"seconds": 0, "allocations":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"concept"}], "clock_intervals": [3], "presenter_notes": "Reloj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 "shared_intervals": [{"source_index": 3, "source_time": "28–38 min", "seconds": 600, "is_owner": false, "function": "concept", "action": "Continuar defensas o una segunda comprobación breve cuando haga falta.", "concurrent": true, "parallel_work": "Preparar la entrega Moodle, revisar enlaces profundos y probar permisos."}]}, "code_blocks": [], "representation_needs": []}</ns0:renderMetadata>
    </p:ext>
  </p:extLst>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Cierre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S215 · H1 — Primer asistente ejecutable</a:t>
            </a:r>
          </a:p>
        </p:txBody>
      </p:sp>
      <p:sp>
        <p:nvSpPr>
          <p:cNvPr id="5" name="Contenido" descr="Contenido"/>
          <p:cNvSpPr txBox="1"/>
          <p:nvPr/>
        </p:nvSpPr>
        <p:spPr>
          <a:xfrm>
            <a:off x="640080" y="1417320"/>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H1 queda cerrado con código y pruebas localizables, comprensión individual defendida, review y retrospectiva reales y entrega oficial en Moodle.</a:t>
            </a:r>
          </a:p>
        </p:txBody>
      </p:sp>
      <p:sp>
        <p:nvSpPr>
          <p:cNvPr id="6" name="Contenido" descr="Contenido"/>
          <p:cNvSpPr txBox="1"/>
          <p:nvPr/>
        </p:nvSpPr>
        <p:spPr>
          <a:xfrm>
            <a:off x="640080" y="3237992"/>
            <a:ext cx="10881360" cy="94691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rPr>
                <a:solidFill>
                  <a:srgbClr val="FFFFFF"/>
                </a:solidFill>
              </a:rPr>
              <a:t>¿Qué evidencia demuestra mejor tu aprendizaje en H1 y qué necesitas mejorar primero en H2?</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"closure", "plan_index": 7, "recognition": false, "unit_ids": ["unit-23", "unit-24"], "roles": {"unit-23": "core", "unit-24": "core"}, "source_refs": [{"source": "teacher", "heading": "Cierre de H1", "block_index": 23, "fragment": 0}, {"source": "teacher", "heading": "Al terminar", "block_index": 24, "fragment": 0}], "visible_sources": [{"index": 1, "sha256": "648dfe8f01916388796bf6df4417057f10273f4372262695d1fabccd66cf856e"}, {"index": 2, "sha256": "b9191db1298cdf002ffaaac2eacaf1b80eafef653a58179d53cfe93311feade8"}], "notes_sources": [{"function": "closure", "heading": "Cierre de H1", "sha256": "3df24da5b2cedde43b67d172881c7c2fcc4ed864cdd5b15e37a1b0792ffa0001"}, {"function": "continuity", "heading": "Al terminar", "sha256": "7777b2433d1aacc8b660439cc92b0cd3d65fad46a01f1319169e83d1a0e70d6b"}, {"function": "facilitation", "heading": "Cierre de H1", "sha256": "5ac270c14daf9145b5fa6b3260aaee7fce13571ee2fba5f4f556b6f5b86f5a90"}, {"function": "visible_detail", "heading": "Cierre de H1", "sha256": "648dfe8f01916388796bf6df4417057f10273f4372262695d1fabccd66cf856e"}, {"function": "closure", "heading": "Cierre de H1", "sha256": "b9191db1298cdf002ffaaac2eacaf1b80eafef653a58179d53cfe93311feade8"}, {"function": "closure", "heading": "Cierre de H1", "sha256": "b9191db1298cdf002ffaaac2eacaf1b80eafef653a58179d53cfe93311feade8"}], "relations": {"unit_relations": {"unit-23": {"question_context": ["context", "question"]}}, "schedule": "shared_closure", "source_supports_enriched": true}, "timeline_refs": [5], "composition": {"origin_slides": [20]}, "timing": {"seconds": 120, "allocations": [{"source_index": 5, "seconds": 120,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Reflexión individual breve y confirmación del cierre de equipo.", "source_time": "43–45 min", "source_seconds": 120, "is_owner": true, "function": "closure"}], "clock_intervals": [5], "presenter_notes": "Reloj fuente 43–45 min: duración compartida 120 segundos. Trabajo: Cierre común y siguiente paso. Función del soporte: cierre. Soporte concurrente del mismo reloj fuente: no son turnos de defensa ni una secuencia adicional. Trabajo paralelo: Reflexión individual breve y confirmación del cierre de equipo.", "shared_intervals": [{"source_index": 5, "source_time": "43–45 min", "seconds": 120, "is_owner": true, "function": "closure", "action": "Cierre común y siguiente paso.", "concurrent": true, "parallel_work": "Reflexión individual breve y confirmación del cierre de equipo."}]}, "code_blocks": [], "representation_needs": []}</ns0:renderMetadata>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