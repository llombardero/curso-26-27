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1874519" cy="566928"/>
          </a:xfrm>
          <a:prstGeom prst="roundRect">
            <a:avLst/>
          </a:prstGeom>
          <a:solidFill>
            <a:srgbClr val="21597A"/>
          </a:solidFill>
          <a:ln>
            <a:solidFill>
              <a:srgbClr val="215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719072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SESIÓN 290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16916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Trazabilidad y seguridad H6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033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1">
                <a:solidFill>
                  <a:srgbClr val="BEC8D6"/>
                </a:solidFill>
                <a:latin typeface="Aptos"/>
              </a:defRPr>
            </a:pPr>
            <a:r>
              <a:t>H6 · 45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15968"/>
            <a:ext cx="10241280" cy="502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Aptos"/>
              </a:defRPr>
            </a:pPr>
            <a:r>
              <a:t>Fase HEXA: Comunicar — evaluar y reflexionar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965192"/>
            <a:ext cx="10241280" cy="5943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700" b="0">
                <a:solidFill>
                  <a:srgbClr val="D2D9E4"/>
                </a:solidFill>
                <a:latin typeface="Aptos"/>
              </a:defRPr>
            </a:pPr>
            <a:r>
              <a:t>Individual → puesta en común en equipo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272784"/>
            <a:ext cx="10607040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A0AAB9"/>
                </a:solidFill>
                <a:latin typeface="Aptos"/>
              </a:defRPr>
            </a:pPr>
            <a:r>
              <a:t>MINIJARVIS · PROGRAMACIÓN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1597A"/>
                </a:solidFill>
                <a:latin typeface="Aptos"/>
              </a:defRPr>
            </a:pPr>
            <a:r>
              <a:t>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Qué debe conseguirse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290 · H6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Objetivo: Documentar trazabilidad y seguridad del incremento H6.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Evidencia: README H6 reproducible; diario/Scrum actualizado solo si el uso de IA fue significativo.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1597A"/>
                </a:solidFill>
                <a:latin typeface="Aptos"/>
              </a:defRPr>
            </a:pPr>
            <a:r>
              <a:t>RITMO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Secuencia de aula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290 · H6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80160"/>
            <a:ext cx="475488" cy="475488"/>
          </a:xfrm>
          <a:prstGeom prst="ellipse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2618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0–5 min — Presentar objetivo, producto y evidencia de hoy.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125979"/>
            <a:ext cx="475488" cy="475488"/>
          </a:xfrm>
          <a:prstGeom prst="ellipse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2656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10769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5–13 min — Explicación breve: Si IA ayuda con ficheros, revisar rutas, excepciones y seguridad.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971799"/>
            <a:ext cx="475488" cy="475488"/>
          </a:xfrm>
          <a:prstGeom prst="ellipse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7238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95351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13–18 min — Demostración o ejemplo: Prompt para pedir explicación de Files.writeString y registro asociado.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817620"/>
            <a:ext cx="475488" cy="475488"/>
          </a:xfrm>
          <a:prstGeom prst="ellipse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91820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79933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18–35 min — Trabajo del alumnado: Completar en README la trazabilidad y seguridad H6; registrar IA solo si fue significativa.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663440"/>
            <a:ext cx="475488" cy="475488"/>
          </a:xfrm>
          <a:prstGeom prst="ellipse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6402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64515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35–40 min — Comprobar la evidencia con una explicación o prueba breve.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5509259"/>
            <a:ext cx="475488" cy="475488"/>
          </a:xfrm>
          <a:prstGeom prst="ellipse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6098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54909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40–45 min — Cierre: ¿qué riesgo de seguridad has evitado?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1597A"/>
                </a:solidFill>
                <a:latin typeface="Aptos"/>
              </a:defRPr>
            </a:pPr>
            <a:r>
              <a:t>COMPRENDER Y TRANSFERIR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Idea clave y puesta en práctica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290 · H6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5285232" cy="473659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27632"/>
            <a:ext cx="201168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21597A"/>
                </a:solidFill>
                <a:latin typeface="Aptos"/>
              </a:defRPr>
            </a:pPr>
            <a:r>
              <a:t>IDEA CLAVE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1C2330"/>
                </a:solidFill>
                <a:latin typeface="Aptos"/>
              </a:defRPr>
            </a:pPr>
            <a:r>
              <a:t>•  La IA puede ayudar con ficheros, pero hay que verificar rutas, errores y seguridad.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25880"/>
            <a:ext cx="5394960" cy="4736592"/>
          </a:xfrm>
          <a:prstGeom prst="round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27632"/>
            <a:ext cx="219456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21597A"/>
                </a:solidFill>
                <a:latin typeface="Aptos"/>
              </a:defRPr>
            </a:pPr>
            <a:r>
              <a:t>EN PRÁCTICA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FFFFFF"/>
                </a:solidFill>
                <a:latin typeface="Aptos"/>
              </a:defRPr>
            </a:pPr>
            <a:r>
              <a:t>•  Prompt para pedir explicación de Files.writeString y registro asociado.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1597A"/>
                </a:solidFill>
                <a:latin typeface="Aptos"/>
              </a:defRPr>
            </a:pPr>
            <a:r>
              <a:t>APLICAR Y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Actividad central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290 · H6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0759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21597A"/>
                </a:solidFill>
                <a:latin typeface="Aptos"/>
              </a:defRPr>
            </a:pPr>
            <a:r>
              <a:t>PASO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17319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Completar trazabilidad y seguridad en README.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77647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92277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21597A"/>
                </a:solidFill>
                <a:latin typeface="Aptos"/>
              </a:defRPr>
            </a:pPr>
            <a:r>
              <a:t>PASO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3886200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Comprueba y registra la evidencia: README H6 reproducible; diario/Scrum actualizado solo si el uso de IA fue significativo.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1597A"/>
                </a:solidFill>
                <a:latin typeface="Aptos"/>
              </a:defRPr>
            </a:pPr>
            <a:r>
              <a:t>COMPROBAR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Evidencia y comprobación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290 · H6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9844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215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280160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Pueden explicar qué están intentando conseguir.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95144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215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2276856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Registran una decisión, prueba o bloqueo; no muestran solo el resultado final.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91839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215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3273551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Todas las personas pueden describir su aportación.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288536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215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4270248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Comprueban el producto con un criterio observable.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5285231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215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5266944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usan datos personales, credenciales ni respuestas de ejemplo antes del intento propio.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1597A"/>
                </a:solidFill>
                <a:latin typeface="Aptos"/>
              </a:defRPr>
            </a:pPr>
            <a:r>
              <a:t>LÍMITES QUE PROTEGEN EL APRENDIZAJE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Seguridad y uso responsable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290 · H6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1527048"/>
            <a:ext cx="237744" cy="1719072"/>
          </a:xfrm>
          <a:prstGeom prst="roundRect">
            <a:avLst/>
          </a:prstGeom>
          <a:solidFill>
            <a:srgbClr val="247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Trabaja únicamente con datos ficticios.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45936" y="1527048"/>
            <a:ext cx="237744" cy="1719072"/>
          </a:xfrm>
          <a:prstGeom prst="roundRect">
            <a:avLst/>
          </a:prstGeom>
          <a:solidFill>
            <a:srgbClr val="C0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84847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escribas contraseñas, tokens, claves API ni datos personales.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3904487"/>
            <a:ext cx="237744" cy="1719072"/>
          </a:xfrm>
          <a:prstGeom prst="roundRect">
            <a:avLst/>
          </a:prstGeom>
          <a:solidFill>
            <a:srgbClr val="B1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Si utilizas IA en un uso permitido, registra qué pediste, qué recibiste, qué cambiaste y cómo lo comprobaste.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79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45936" y="3904487"/>
            <a:ext cx="237744" cy="1719072"/>
          </a:xfrm>
          <a:prstGeom prst="round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7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Los ejemplos de Laura solo se consultan después del intento propio.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1597A"/>
                </a:solidFill>
                <a:latin typeface="Aptos"/>
              </a:defRPr>
            </a:pPr>
            <a:r>
              <a:t>EXPLICAR Y 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Cierre y defensa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290 · H6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10927080" cy="1828800"/>
          </a:xfrm>
          <a:prstGeom prst="roundRect">
            <a:avLst/>
          </a:prstGeom>
          <a:solidFill>
            <a:srgbClr val="21597A"/>
          </a:solidFill>
          <a:ln>
            <a:solidFill>
              <a:srgbClr val="215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91056"/>
            <a:ext cx="1024128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PREGUNTA O DECISIÓN DE 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10058400" cy="8229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¿qué riesgo de seguridad has evitado?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86200"/>
            <a:ext cx="10607040" cy="128016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2300" b="1">
                <a:solidFill>
                  <a:srgbClr val="247E5C"/>
                </a:solidFill>
                <a:latin typeface="Aptos"/>
              </a:defRPr>
            </a:pPr>
            <a:r>
              <a:t>La sesión termina cuando la evidencia existe, está comprobada y puede defenderse.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