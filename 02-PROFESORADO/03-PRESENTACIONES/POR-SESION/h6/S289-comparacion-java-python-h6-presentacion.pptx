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5603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658368" y="566928"/>
            <a:ext cx="1874519" cy="566928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685800"/>
            <a:ext cx="1719072" cy="22860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Aptos"/>
              </a:defRPr>
            </a:pPr>
            <a:r>
              <a:t>SESIÓN 289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85800" y="1481328"/>
            <a:ext cx="10789920" cy="169164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3800" b="1">
                <a:solidFill>
                  <a:srgbClr val="FFFFFF"/>
                </a:solidFill>
                <a:latin typeface="Aptos"/>
              </a:defRPr>
            </a:pPr>
            <a:r>
              <a:t>Comparación Java-Python H6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13232" y="3703320"/>
            <a:ext cx="10424160" cy="411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1">
                <a:solidFill>
                  <a:srgbClr val="BEC8D6"/>
                </a:solidFill>
                <a:latin typeface="Aptos"/>
              </a:defRPr>
            </a:pPr>
            <a:r>
              <a:t>H6 · 45 minutos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4315968"/>
            <a:ext cx="10241280" cy="5029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FFFFFF"/>
                </a:solidFill>
                <a:latin typeface="Aptos"/>
              </a:defRPr>
            </a:pPr>
            <a:r>
              <a:t>Fase HEXA: Comunicar — evaluar y reflexionar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13232" y="6272784"/>
            <a:ext cx="10607040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A0AAB9"/>
                </a:solidFill>
                <a:latin typeface="Aptos"/>
              </a:defRPr>
            </a:pPr>
            <a:r>
              <a:t>MINIJARVIS · PROGRAMACIÓN + ENTORNOS DE DESARROLLO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PUNTO DE PARTIDA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Qué debe conseguirse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9436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2296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Objetivo: Comparar ficheros, JSON/logs o lectura simple.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6035040" y="1389888"/>
            <a:ext cx="5184648" cy="4297680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263640" y="1618488"/>
            <a:ext cx="4727448" cy="38404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100" b="1">
                <a:solidFill>
                  <a:srgbClr val="1C2330"/>
                </a:solidFill>
                <a:latin typeface="Aptos"/>
              </a:defRPr>
            </a:pPr>
            <a:r>
              <a:t>Evidencia: diario individual, como comparación seleccionable.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RITMO DE LA SESIÓN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Secuencia de aula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Oval 7"/>
          <p:cNvSpPr/>
          <p:nvPr/>
        </p:nvSpPr>
        <p:spPr>
          <a:xfrm>
            <a:off x="658368" y="128016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807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389888" y="12618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0–5 min — Presentar objetivo, producto y evidencia de hoy.</a:t>
            </a:r>
          </a:p>
        </p:txBody>
      </p:sp>
      <p:sp>
        <p:nvSpPr>
          <p:cNvPr id="11" name="Oval 10"/>
          <p:cNvSpPr/>
          <p:nvPr/>
        </p:nvSpPr>
        <p:spPr>
          <a:xfrm>
            <a:off x="658368" y="212597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58368" y="222656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389888" y="210769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5–13 min — Explicación breve: Ambos lenguajes pueden leer y escribir ficheros; cambia la API y la verbosidad.</a:t>
            </a:r>
          </a:p>
        </p:txBody>
      </p:sp>
      <p:sp>
        <p:nvSpPr>
          <p:cNvPr id="14" name="Oval 13"/>
          <p:cNvSpPr/>
          <p:nvPr/>
        </p:nvSpPr>
        <p:spPr>
          <a:xfrm>
            <a:off x="658368" y="297179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658368" y="3072383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3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389888" y="2953511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13–18 min — Demostración o ejemplo: Java Files.readAllLines frente a Python open.</a:t>
            </a:r>
          </a:p>
        </p:txBody>
      </p:sp>
      <p:sp>
        <p:nvSpPr>
          <p:cNvPr id="17" name="Oval 16"/>
          <p:cNvSpPr/>
          <p:nvPr/>
        </p:nvSpPr>
        <p:spPr>
          <a:xfrm>
            <a:off x="658368" y="381762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58368" y="391820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389888" y="379933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18–35 min — Trabajo del alumnado: Analizar versión Python equivalente.</a:t>
            </a:r>
          </a:p>
        </p:txBody>
      </p:sp>
      <p:sp>
        <p:nvSpPr>
          <p:cNvPr id="20" name="Oval 19"/>
          <p:cNvSpPr/>
          <p:nvPr/>
        </p:nvSpPr>
        <p:spPr>
          <a:xfrm>
            <a:off x="658368" y="4663440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58368" y="476402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5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89888" y="464515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35–40 min — Comprobar la evidencia con una explicación o prueba breve.</a:t>
            </a:r>
          </a:p>
        </p:txBody>
      </p:sp>
      <p:sp>
        <p:nvSpPr>
          <p:cNvPr id="23" name="Oval 22"/>
          <p:cNvSpPr/>
          <p:nvPr/>
        </p:nvSpPr>
        <p:spPr>
          <a:xfrm>
            <a:off x="658368" y="5509259"/>
            <a:ext cx="475488" cy="475488"/>
          </a:xfrm>
          <a:prstGeom prst="ellipse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58368" y="5609844"/>
            <a:ext cx="475488" cy="2011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ctr">
              <a:defRPr sz="1300" b="1">
                <a:solidFill>
                  <a:srgbClr val="FFFFFF"/>
                </a:solidFill>
                <a:latin typeface="Aptos"/>
              </a:defRPr>
            </a:pPr>
            <a:r>
              <a:t>6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389888" y="5490972"/>
            <a:ext cx="10058400" cy="77266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600" b="0">
                <a:solidFill>
                  <a:srgbClr val="1C2330"/>
                </a:solidFill>
                <a:latin typeface="Aptos"/>
              </a:defRPr>
            </a:pPr>
            <a:r>
              <a:t>40–45 min — Cierre: ¿qué parte es más sencilla en Python y por qué?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COMPRENDER Y TRANSFERIR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Idea clave y puesta en práctica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325880"/>
            <a:ext cx="5285232" cy="473659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627632"/>
            <a:ext cx="201168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IDEA CLAVE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1C2330"/>
                </a:solidFill>
                <a:latin typeface="Aptos"/>
              </a:defRPr>
            </a:pPr>
            <a:r>
              <a:t>•  Diferencias entre APIs de fichero en Java y Python.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72200" y="1325880"/>
            <a:ext cx="5394960" cy="4736592"/>
          </a:xfrm>
          <a:prstGeom prst="roundRect">
            <a:avLst/>
          </a:prstGeom>
          <a:solidFill>
            <a:srgbClr val="12182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492240" y="1627632"/>
            <a:ext cx="2194560" cy="329184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21597A"/>
                </a:solidFill>
                <a:latin typeface="Aptos"/>
              </a:defRPr>
            </a:pPr>
            <a:r>
              <a:t>EN PRÁCTICA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92240" y="2176272"/>
            <a:ext cx="4617720" cy="3429000"/>
          </a:xfrm>
          <a:prstGeom prst="rect">
            <a:avLst/>
          </a:prstGeom>
          <a:noFill/>
        </p:spPr>
        <p:txBody>
          <a:bodyPr wrap="square" lIns="73152" rIns="45720" tIns="36576">
            <a:spAutoFit/>
          </a:bodyPr>
          <a:lstStyle/>
          <a:p>
            <a:pPr>
              <a:spcAft>
                <a:spcPts val="900"/>
              </a:spcAft>
              <a:defRPr sz="2300">
                <a:solidFill>
                  <a:srgbClr val="FFFFFF"/>
                </a:solidFill>
                <a:latin typeface="Aptos"/>
              </a:defRPr>
            </a:pPr>
            <a:r>
              <a:t>•  Java Files.readAllLines frente a Python open.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APLICAR Y DECIDIR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Actividad central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58368" y="130759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50392" y="1453895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664208" y="1417319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Comparar lectura y escritura.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58368" y="3776472"/>
            <a:ext cx="10835640" cy="2226564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850392" y="3922776"/>
            <a:ext cx="685800" cy="38404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200" b="1">
                <a:solidFill>
                  <a:srgbClr val="21597A"/>
                </a:solidFill>
                <a:latin typeface="Aptos"/>
              </a:defRPr>
            </a:pPr>
            <a:r>
              <a:t>PASO 2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664208" y="3886200"/>
            <a:ext cx="9464040" cy="2007108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000" b="0">
                <a:solidFill>
                  <a:srgbClr val="1C2330"/>
                </a:solidFill>
                <a:latin typeface="Aptos"/>
              </a:defRPr>
            </a:pPr>
            <a:r>
              <a:t>Comprueba y registra la evidencia: diario individual, como comparación seleccionable.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COMPROBAR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Evidencia y comprobación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13232" y="1298448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389888" y="1280160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Pueden explicar qué están intentando conseguir.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13232" y="2295144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389888" y="2276856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Registran una decisión, prueba o bloqueo; no muestran solo el resultado final.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13232" y="3291839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389888" y="3273551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Todas las personas pueden describir su aportación.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13232" y="4288536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389888" y="4270248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Comprueban el producto con un criterio observable.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713232" y="5285231"/>
            <a:ext cx="420624" cy="420624"/>
          </a:xfrm>
          <a:prstGeom prst="roundRect">
            <a:avLst/>
          </a:prstGeom>
          <a:solidFill>
            <a:srgbClr val="FFFFFF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389888" y="5266944"/>
            <a:ext cx="9829800" cy="96012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usan datos personales, credenciales ni respuestas de ejemplo antes del intento propio.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LÍMITES QUE PROTEGEN EL APRENDIZAJE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Seguridad y uso responsable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ounded Rectangle 8"/>
          <p:cNvSpPr/>
          <p:nvPr/>
        </p:nvSpPr>
        <p:spPr>
          <a:xfrm>
            <a:off x="841248" y="1527048"/>
            <a:ext cx="237744" cy="1719072"/>
          </a:xfrm>
          <a:prstGeom prst="roundRect">
            <a:avLst/>
          </a:prstGeom>
          <a:solidFill>
            <a:srgbClr val="247E5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280160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Trabaja únicamente con datos ficticios.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26479" y="1298448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6345936" y="1527048"/>
            <a:ext cx="237744" cy="1719072"/>
          </a:xfrm>
          <a:prstGeom prst="roundRect">
            <a:avLst/>
          </a:prstGeom>
          <a:solidFill>
            <a:srgbClr val="C0702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784847" y="1527048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No escribas contraseñas, tokens, claves API ni datos personales.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21792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ounded Rectangle 14"/>
          <p:cNvSpPr/>
          <p:nvPr/>
        </p:nvSpPr>
        <p:spPr>
          <a:xfrm>
            <a:off x="841248" y="3904487"/>
            <a:ext cx="237744" cy="1719072"/>
          </a:xfrm>
          <a:prstGeom prst="roundRect">
            <a:avLst/>
          </a:prstGeom>
          <a:solidFill>
            <a:srgbClr val="B13A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1280160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Si utilizas IA en un uso permitido, registra qué pediste, qué recibiste, qué cambiaste y cómo lo comprobaste.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6126479" y="3675887"/>
            <a:ext cx="5230368" cy="2176272"/>
          </a:xfrm>
          <a:prstGeom prst="roundRect">
            <a:avLst/>
          </a:prstGeom>
          <a:solidFill>
            <a:srgbClr val="FFFFFF"/>
          </a:solidFill>
          <a:ln>
            <a:solidFill>
              <a:srgbClr val="E5E9E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ounded Rectangle 17"/>
          <p:cNvSpPr/>
          <p:nvPr/>
        </p:nvSpPr>
        <p:spPr>
          <a:xfrm>
            <a:off x="6345936" y="3904487"/>
            <a:ext cx="237744" cy="1719072"/>
          </a:xfrm>
          <a:prstGeom prst="round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84847" y="3904487"/>
            <a:ext cx="4224528" cy="178308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900" b="0">
                <a:solidFill>
                  <a:srgbClr val="1C2330"/>
                </a:solidFill>
                <a:latin typeface="Aptos"/>
              </a:defRPr>
            </a:pPr>
            <a:r>
              <a:t>Los ejemplos de Laura solo se consultan después del intento propio.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9F7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64592" cy="6858000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02920" y="274320"/>
            <a:ext cx="548640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000" b="1">
                <a:solidFill>
                  <a:srgbClr val="21597A"/>
                </a:solidFill>
                <a:latin typeface="Aptos"/>
              </a:defRPr>
            </a:pPr>
            <a:r>
              <a:t>EXPLICAR Y DEFENDER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603504"/>
            <a:ext cx="11064240" cy="53035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800" b="1">
                <a:solidFill>
                  <a:srgbClr val="1C2330"/>
                </a:solidFill>
                <a:latin typeface="Aptos"/>
              </a:defRPr>
            </a:pPr>
            <a:r>
              <a:t>Cierre y defensa</a:t>
            </a:r>
          </a:p>
        </p:txBody>
      </p:sp>
      <p:sp>
        <p:nvSpPr>
          <p:cNvPr id="6" name="Rectangle 5"/>
          <p:cNvSpPr/>
          <p:nvPr/>
        </p:nvSpPr>
        <p:spPr>
          <a:xfrm>
            <a:off x="0" y="6601968"/>
            <a:ext cx="12191695" cy="256032"/>
          </a:xfrm>
          <a:prstGeom prst="rect">
            <a:avLst/>
          </a:prstGeom>
          <a:solidFill>
            <a:srgbClr val="21597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11480" y="6629400"/>
            <a:ext cx="11247120" cy="16459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900" b="0">
                <a:solidFill>
                  <a:srgbClr val="FFFFFF"/>
                </a:solidFill>
                <a:latin typeface="Aptos"/>
              </a:defRPr>
            </a:pPr>
            <a:r>
              <a:t>MiniJarvis · 1.º DAW · Sesión 289 · H6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1298448"/>
            <a:ext cx="10927080" cy="1828800"/>
          </a:xfrm>
          <a:prstGeom prst="roundRect">
            <a:avLst/>
          </a:prstGeom>
          <a:solidFill>
            <a:srgbClr val="21597A"/>
          </a:solidFill>
          <a:ln>
            <a:solidFill>
              <a:srgbClr val="21597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2688" y="1591056"/>
            <a:ext cx="10241280" cy="256032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1300" b="1">
                <a:solidFill>
                  <a:srgbClr val="FFFFFF"/>
                </a:solidFill>
                <a:latin typeface="Aptos"/>
              </a:defRPr>
            </a:pPr>
            <a:r>
              <a:t>PREGUNTA O DECISIÓN DE SALIDA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32688" y="1975104"/>
            <a:ext cx="10058400" cy="822960"/>
          </a:xfrm>
          <a:prstGeom prst="rect">
            <a:avLst/>
          </a:prstGeom>
          <a:noFill/>
        </p:spPr>
        <p:txBody>
          <a:bodyPr wrap="square" lIns="45720" rIns="45720" tIns="36576" bIns="36576" anchor="t">
            <a:spAutoFit/>
          </a:bodyPr>
          <a:lstStyle/>
          <a:p>
            <a:pPr algn="l">
              <a:defRPr sz="2500" b="1">
                <a:solidFill>
                  <a:srgbClr val="FFFFFF"/>
                </a:solidFill>
                <a:latin typeface="Aptos"/>
              </a:defRPr>
            </a:pPr>
            <a:r>
              <a:t>¿qué parte es más sencilla en Python y por qué?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49808" y="3886200"/>
            <a:ext cx="10607040" cy="1280160"/>
          </a:xfrm>
          <a:prstGeom prst="rect">
            <a:avLst/>
          </a:prstGeom>
          <a:noFill/>
        </p:spPr>
        <p:txBody>
          <a:bodyPr wrap="square" lIns="45720" rIns="45720" tIns="36576" bIns="36576" anchor="ctr">
            <a:spAutoFit/>
          </a:bodyPr>
          <a:lstStyle/>
          <a:p>
            <a:pPr algn="ctr">
              <a:defRPr sz="2300" b="1">
                <a:solidFill>
                  <a:srgbClr val="247E5C"/>
                </a:solidFill>
                <a:latin typeface="Aptos"/>
              </a:defRPr>
            </a:pPr>
            <a:r>
              <a:t>La sesión termina cuando la evidencia existe, está comprobada y puede defenderse.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