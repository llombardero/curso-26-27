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566928"/>
            <a:ext cx="1828800" cy="566928"/>
          </a:xfrm>
          <a:prstGeom prst="round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676656"/>
            <a:ext cx="1682496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279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536192"/>
            <a:ext cx="10789920" cy="16459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Presentar H6: memoria persistente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822191"/>
            <a:ext cx="6766560" cy="38404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H6  · 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074920"/>
            <a:ext cx="10241280" cy="6400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400" b="0">
                <a:solidFill>
                  <a:srgbClr val="FFFFFF"/>
                </a:solidFill>
                <a:latin typeface="Aptos"/>
              </a:defRPr>
            </a:pPr>
            <a:r>
              <a:t>Hoy construiremos una evidencia que puedas comprobar y explicar.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272784"/>
            <a:ext cx="1060704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 + ENTORNOS DE DESARROLLO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21597A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vamos a conseguir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279 · H6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417320"/>
            <a:ext cx="5349240" cy="434340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38912" cy="4114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2400" b="1">
                <a:solidFill>
                  <a:srgbClr val="21597A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44168" y="1645920"/>
            <a:ext cx="438912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700" b="1">
                <a:solidFill>
                  <a:srgbClr val="21597A"/>
                </a:solidFill>
                <a:latin typeface="Aptos"/>
              </a:defRPr>
            </a:pPr>
            <a:r>
              <a:t>Hoy vas a…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86000"/>
            <a:ext cx="4800600" cy="32461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200" b="0">
                <a:solidFill>
                  <a:srgbClr val="1C2330"/>
                </a:solidFill>
                <a:latin typeface="Aptos"/>
              </a:defRPr>
            </a:pPr>
            <a:r>
              <a:t>Comprender persistencia.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6208" y="1417320"/>
            <a:ext cx="5349240" cy="434340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64808" y="1618488"/>
            <a:ext cx="438912" cy="4114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2400" b="1">
                <a:solidFill>
                  <a:srgbClr val="21597A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86016" y="1645920"/>
            <a:ext cx="438912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700" b="1">
                <a:solidFill>
                  <a:srgbClr val="21597A"/>
                </a:solidFill>
                <a:latin typeface="Aptos"/>
              </a:defRPr>
            </a:pPr>
            <a:r>
              <a:t>Debe quedar…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10528" y="2286000"/>
            <a:ext cx="4800600" cy="32461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200" b="0">
                <a:solidFill>
                  <a:srgbClr val="1C2330"/>
                </a:solidFill>
                <a:latin typeface="Aptos"/>
              </a:defRPr>
            </a:pPr>
            <a:r>
              <a:t>Necesidad documentada de persistencia.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21597A"/>
                </a:solidFill>
                <a:latin typeface="Aptos"/>
              </a:defRPr>
            </a:pPr>
            <a:r>
              <a:t>PASO A PASO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Ruta de trabajo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279 · H6</a:t>
            </a:r>
          </a:p>
        </p:txBody>
      </p:sp>
      <p:sp>
        <p:nvSpPr>
          <p:cNvPr id="8" name="Oval 7"/>
          <p:cNvSpPr/>
          <p:nvPr/>
        </p:nvSpPr>
        <p:spPr>
          <a:xfrm>
            <a:off x="685800" y="1325880"/>
            <a:ext cx="502920" cy="502920"/>
          </a:xfrm>
          <a:prstGeom prst="ellipse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435607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1344168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Lee el objetivo y escribe con tus palabras qué debe quedar terminado.</a:t>
            </a:r>
          </a:p>
        </p:txBody>
      </p:sp>
      <p:sp>
        <p:nvSpPr>
          <p:cNvPr id="11" name="Oval 10"/>
          <p:cNvSpPr/>
          <p:nvPr/>
        </p:nvSpPr>
        <p:spPr>
          <a:xfrm>
            <a:off x="685800" y="2258568"/>
            <a:ext cx="502920" cy="502920"/>
          </a:xfrm>
          <a:prstGeom prst="ellipse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2368296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20" y="2276856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Atiende al ejemplo breve y anota una predicción, duda o decisión.</a:t>
            </a:r>
          </a:p>
        </p:txBody>
      </p:sp>
      <p:sp>
        <p:nvSpPr>
          <p:cNvPr id="14" name="Oval 13"/>
          <p:cNvSpPr/>
          <p:nvPr/>
        </p:nvSpPr>
        <p:spPr>
          <a:xfrm>
            <a:off x="685800" y="3191256"/>
            <a:ext cx="502920" cy="502920"/>
          </a:xfrm>
          <a:prstGeom prst="ellipse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300984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320" y="3209544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Realiza esta tarea: Ejecutar MiniJarvis, guardar recuerdo, cerrar y comprobar pérdida actual.</a:t>
            </a:r>
          </a:p>
        </p:txBody>
      </p:sp>
      <p:sp>
        <p:nvSpPr>
          <p:cNvPr id="17" name="Oval 16"/>
          <p:cNvSpPr/>
          <p:nvPr/>
        </p:nvSpPr>
        <p:spPr>
          <a:xfrm>
            <a:off x="685800" y="4123944"/>
            <a:ext cx="502920" cy="502920"/>
          </a:xfrm>
          <a:prstGeom prst="ellipse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4233672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17320" y="4142231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el resultado con una prueba observable; no basta con decir “funciona”.</a:t>
            </a:r>
          </a:p>
        </p:txBody>
      </p:sp>
      <p:sp>
        <p:nvSpPr>
          <p:cNvPr id="20" name="Oval 19"/>
          <p:cNvSpPr/>
          <p:nvPr/>
        </p:nvSpPr>
        <p:spPr>
          <a:xfrm>
            <a:off x="685800" y="5056631"/>
            <a:ext cx="502920" cy="502920"/>
          </a:xfrm>
          <a:prstGeom prst="ellipse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5166359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17320" y="5074919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Guarda o entrega la evidencia indicada y prepárate para explicarla.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21597A"/>
                </a:solidFill>
                <a:latin typeface="Aptos"/>
              </a:defRPr>
            </a:pPr>
            <a:r>
              <a:t>COMPRENDER Y APLICAR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Claves para avanzar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279 · H6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25880"/>
            <a:ext cx="5257800" cy="452628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172200" y="1325880"/>
            <a:ext cx="5413248" cy="452628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600200"/>
            <a:ext cx="466344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600" b="1">
                <a:solidFill>
                  <a:srgbClr val="21597A"/>
                </a:solidFill>
                <a:latin typeface="Aptos"/>
              </a:defRPr>
            </a:pPr>
            <a:r>
              <a:t>IDEAS CLAVE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121408"/>
            <a:ext cx="4572000" cy="333756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Diferencia entre memoria temporal y fichero.</a:t>
            </a:r>
          </a:p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Guion breve sugerido:</a:t>
            </a:r>
          </a:p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&gt; Hoy necesitamos comprender y practicar lo justo para producir una evidencia verificable. Primero observaremos un ejemplo, después trabajaréis y al final cada pers…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1600200"/>
            <a:ext cx="457200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600" b="1">
                <a:solidFill>
                  <a:srgbClr val="21597A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2121408"/>
            <a:ext cx="4617720" cy="333756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Guardar, cerrar, abrir y comprobar pérdida actual.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21597A"/>
                </a:solidFill>
                <a:latin typeface="Aptos"/>
              </a:defRPr>
            </a:pPr>
            <a:r>
              <a:t>EVIDENCIA MÍNIMA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Antes de salir, comprueba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279 · H6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371600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15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362456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He producido o actualizado: Necesidad documentada de persistencia.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67712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15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58568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Puedo señalar dónde está.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16382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15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154680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Puedo explicar una decisión tomada.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059935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15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050791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Puedo mostrar una prueba o comprobación.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49560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15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4946904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He registrado mi aportación individual si el trabajo era de equipo.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925312"/>
            <a:ext cx="10789920" cy="2743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200" b="0">
                <a:solidFill>
                  <a:srgbClr val="586270"/>
                </a:solidFill>
                <a:latin typeface="Aptos"/>
              </a:defRPr>
            </a:pPr>
            <a:r>
              <a:t>Necesitas: Un ordenador por estudiante o pareja, con JDK e IntelliJ disponibles y el proyecto del hito accesible. · Datos ficticios de prueba. No se usarán contraseñas, tokens, claves API ni datos personales reales.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21597A"/>
                </a:solidFill>
                <a:latin typeface="Aptos"/>
              </a:defRPr>
            </a:pPr>
            <a:r>
              <a:t>COMPRUEBA Y EXPLICA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de la sesión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279 · H6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965960"/>
          </a:xfrm>
          <a:prstGeom prst="round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618488"/>
            <a:ext cx="10195560" cy="3200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ptos"/>
              </a:defRPr>
            </a:pPr>
            <a:r>
              <a:t>PREGUNTA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057400"/>
            <a:ext cx="10058400" cy="8229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700" b="1">
                <a:solidFill>
                  <a:srgbClr val="FFFFFF"/>
                </a:solidFill>
                <a:latin typeface="Aptos"/>
              </a:defRPr>
            </a:pPr>
            <a:r>
              <a:t>Pregunta: ¿qué debe sobrevivir entre ejecuciones?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3703320"/>
            <a:ext cx="3749039" cy="3200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500" b="1">
                <a:solidFill>
                  <a:srgbClr val="21597A"/>
                </a:solidFill>
                <a:latin typeface="Aptos"/>
              </a:defRPr>
            </a:pPr>
            <a:r>
              <a:t>RECUERDA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" y="4114800"/>
            <a:ext cx="6583680" cy="169164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1C2330"/>
                </a:solidFill>
                <a:latin typeface="Aptos"/>
              </a:defRPr>
            </a:pPr>
            <a:r>
              <a:t>•  Trabaja únicamente con datos ficticios.</a:t>
            </a:r>
          </a:p>
          <a:p>
            <a:pPr>
              <a:spcAft>
                <a:spcPts val="1000"/>
              </a:spcAft>
              <a:defRPr sz="1700">
                <a:solidFill>
                  <a:srgbClr val="1C2330"/>
                </a:solidFill>
                <a:latin typeface="Aptos"/>
              </a:defRPr>
            </a:pPr>
            <a:r>
              <a:t>•  No escribas contraseñas, tokens, claves API ni datos personales.</a:t>
            </a:r>
          </a:p>
          <a:p>
            <a:pPr>
              <a:spcAft>
                <a:spcPts val="1000"/>
              </a:spcAft>
              <a:defRPr sz="1700">
                <a:solidFill>
                  <a:srgbClr val="1C2330"/>
                </a:solidFill>
                <a:latin typeface="Aptos"/>
              </a:defRPr>
            </a:pPr>
            <a:r>
              <a:t>•  Si utilizas IA en un uso permitido, registra qué pediste, qué recibiste, qué cambiaste y cómo lo comprobaste.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26679" y="3794760"/>
            <a:ext cx="3703320" cy="160020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28431" y="4087368"/>
            <a:ext cx="3063240" cy="8686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8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puedes defenderla.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