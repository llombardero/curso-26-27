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566928"/>
            <a:ext cx="1828800" cy="566928"/>
          </a:xfrm>
          <a:prstGeom prst="round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676656"/>
            <a:ext cx="1682496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278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36192"/>
            <a:ext cx="10789920" cy="16459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Preparación para persistencia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822191"/>
            <a:ext cx="6766560" cy="38404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C2  · 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074920"/>
            <a:ext cx="10241280" cy="6400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400" b="0">
                <a:solidFill>
                  <a:srgbClr val="FFFFFF"/>
                </a:solidFill>
                <a:latin typeface="Aptos"/>
              </a:defRPr>
            </a:pPr>
            <a:r>
              <a:t>Hoy construiremos una evidencia que puedas comprobar y explicar.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272784"/>
            <a:ext cx="1060704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6F4F9A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vamos a conseguir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278 · C2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534924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38912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2400" b="1">
                <a:solidFill>
                  <a:srgbClr val="6F4F9A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44168" y="1645920"/>
            <a:ext cx="438912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6F4F9A"/>
                </a:solidFill>
                <a:latin typeface="Aptos"/>
              </a:defRPr>
            </a:pPr>
            <a:r>
              <a:t>Hoy vas a…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86000"/>
            <a:ext cx="4800600" cy="3246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0">
                <a:solidFill>
                  <a:srgbClr val="1C2330"/>
                </a:solidFill>
                <a:latin typeface="Aptos"/>
              </a:defRPr>
            </a:pPr>
            <a:r>
              <a:t>Anticipar H6.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6208" y="1417320"/>
            <a:ext cx="534924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4808" y="1618488"/>
            <a:ext cx="438912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2400" b="1">
                <a:solidFill>
                  <a:srgbClr val="6F4F9A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86016" y="1645920"/>
            <a:ext cx="438912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6F4F9A"/>
                </a:solidFill>
                <a:latin typeface="Aptos"/>
              </a:defRPr>
            </a:pPr>
            <a:r>
              <a:t>Debe quedar…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10528" y="2286000"/>
            <a:ext cx="4800600" cy="3246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0">
                <a:solidFill>
                  <a:srgbClr val="1C2330"/>
                </a:solidFill>
                <a:latin typeface="Aptos"/>
              </a:defRPr>
            </a:pPr>
            <a:r>
              <a:t>Boceto de persistencia H6.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6F4F9A"/>
                </a:solidFill>
                <a:latin typeface="Aptos"/>
              </a:defRPr>
            </a:pPr>
            <a:r>
              <a:t>PASO A PASO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Ruta de trabajo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278 · C2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1325880"/>
            <a:ext cx="502920" cy="502920"/>
          </a:xfrm>
          <a:prstGeom prst="ellipse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435607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1344168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Lee el objetivo y escribe con tus palabras qué debe quedar terminado.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2258568"/>
            <a:ext cx="502920" cy="502920"/>
          </a:xfrm>
          <a:prstGeom prst="ellipse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368296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2276856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Atiende al ejemplo breve y anota una predicción, duda o decisión.</a:t>
            </a:r>
          </a:p>
        </p:txBody>
      </p:sp>
      <p:sp>
        <p:nvSpPr>
          <p:cNvPr id="14" name="Oval 13"/>
          <p:cNvSpPr/>
          <p:nvPr/>
        </p:nvSpPr>
        <p:spPr>
          <a:xfrm>
            <a:off x="685800" y="3191256"/>
            <a:ext cx="502920" cy="502920"/>
          </a:xfrm>
          <a:prstGeom prst="ellipse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300984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3209544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Realiza esta tarea: Diseñar qué debe guardarse en disco.</a:t>
            </a:r>
          </a:p>
        </p:txBody>
      </p:sp>
      <p:sp>
        <p:nvSpPr>
          <p:cNvPr id="17" name="Oval 16"/>
          <p:cNvSpPr/>
          <p:nvPr/>
        </p:nvSpPr>
        <p:spPr>
          <a:xfrm>
            <a:off x="685800" y="4123944"/>
            <a:ext cx="502920" cy="502920"/>
          </a:xfrm>
          <a:prstGeom prst="ellipse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4233672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4142231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el resultado con una prueba observable; no basta con decir “funciona”.</a:t>
            </a:r>
          </a:p>
        </p:txBody>
      </p:sp>
      <p:sp>
        <p:nvSpPr>
          <p:cNvPr id="20" name="Oval 19"/>
          <p:cNvSpPr/>
          <p:nvPr/>
        </p:nvSpPr>
        <p:spPr>
          <a:xfrm>
            <a:off x="685800" y="5056631"/>
            <a:ext cx="502920" cy="502920"/>
          </a:xfrm>
          <a:prstGeom prst="ellipse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5166359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5074919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Guarda o entrega la evidencia indicada y prepárate para explicarla.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6F4F9A"/>
                </a:solidFill>
                <a:latin typeface="Aptos"/>
              </a:defRPr>
            </a:pPr>
            <a:r>
              <a:t>COMPRENDER Y APLICAR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Claves para avanzar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278 · C2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25880"/>
            <a:ext cx="525780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72200" y="1325880"/>
            <a:ext cx="5413248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600200"/>
            <a:ext cx="466344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600" b="1">
                <a:solidFill>
                  <a:srgbClr val="6F4F9A"/>
                </a:solidFill>
                <a:latin typeface="Aptos"/>
              </a:defRPr>
            </a:pPr>
            <a:r>
              <a:t>IDEAS CLAVE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121408"/>
            <a:ext cx="4572000" cy="333756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La memoria temporal desaparece al cerrar; la persistencia resuelve eso.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Guion breve sugerido: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&gt; Hoy necesitamos comprender y practicar lo justo para producir una evidencia verificable. Primero observaremos un ejemplo, después trabajaréis y al final cada pers…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1600200"/>
            <a:ext cx="457200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600" b="1">
                <a:solidFill>
                  <a:srgbClr val="6F4F9A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121408"/>
            <a:ext cx="4617720" cy="333756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Cerrar el programa y perder recuerdos.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6F4F9A"/>
                </a:solidFill>
                <a:latin typeface="Aptos"/>
              </a:defRPr>
            </a:pPr>
            <a:r>
              <a:t>EVIDENCIA MÍNIMA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Antes de salir, comprueba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278 · C2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371600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F4F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362456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He producido o actualizado: Boceto de persistencia H6.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67712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F4F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58568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señalar dónde está.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16382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F4F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154680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explicar una decisión tomada.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059935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F4F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050791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mostrar una prueba o comprobación.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49560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F4F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4946904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He registrado mi aportación individual si el trabajo era de equipo.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925312"/>
            <a:ext cx="10789920" cy="2743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200" b="0">
                <a:solidFill>
                  <a:srgbClr val="586270"/>
                </a:solidFill>
                <a:latin typeface="Aptos"/>
              </a:defRPr>
            </a:pPr>
            <a:r>
              <a:t>Necesitas: Un ordenador por estudiante o pareja, con JDK e IntelliJ disponibles y el proyecto del hito accesible. · Pizarra o una hoja reutilizable para bosquejar antes de modificar el proyecto.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6F4F9A"/>
                </a:solidFill>
                <a:latin typeface="Aptos"/>
              </a:defRPr>
            </a:pPr>
            <a:r>
              <a:t>COMPRUEBA Y EXPLICA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de la sesión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278 · C2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965960"/>
          </a:xfrm>
          <a:prstGeom prst="round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618488"/>
            <a:ext cx="10195560" cy="320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ptos"/>
              </a:defRPr>
            </a:pPr>
            <a:r>
              <a:t>PREGUNTA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057400"/>
            <a:ext cx="10058400" cy="8229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700" b="1">
                <a:solidFill>
                  <a:srgbClr val="FFFFFF"/>
                </a:solidFill>
                <a:latin typeface="Aptos"/>
              </a:defRPr>
            </a:pPr>
            <a:r>
              <a:t>Pregunta: ¿qué riesgos aparecen al guardar datos?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3703320"/>
            <a:ext cx="3749039" cy="320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500" b="1">
                <a:solidFill>
                  <a:srgbClr val="6F4F9A"/>
                </a:solidFill>
                <a:latin typeface="Aptos"/>
              </a:defRPr>
            </a:pPr>
            <a:r>
              <a:t>RECUERDA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4114800"/>
            <a:ext cx="6583680" cy="169164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Trabaja únicamente con datos ficticios.</a:t>
            </a:r>
          </a:p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No escribas contraseñas, tokens, claves API ni datos personales.</a:t>
            </a:r>
          </a:p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Si utilizas IA en un uso permitido, registra qué pediste, qué recibiste, qué cambiaste y cómo lo comprobaste.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26679" y="3794760"/>
            <a:ext cx="370332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28431" y="4087368"/>
            <a:ext cx="3063240" cy="8686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8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puedes defenderla.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