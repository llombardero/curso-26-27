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C4F3E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Composición HADA, equipos provisionales y funciones para la torre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H0 — Formación y prueba de equipos Scrum mediante la torre de papel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Fase 0 — Equipos + Idear — proponer soluciones + Planificar — organizar el trabajo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Equipos provisionales de tres o cuatro preparados por el docente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203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Mapa HADA de equipo, funciones justificadas, reglas de participación y backlog inicial de la torre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Aportación inicial, función que se desea practicar y criterio para revisar la asignación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 · tramo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203 · H0 — Formación y prueba de equipos Scrum mediante la torre de papel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0–4 min — Recuperar el sentido: Ayer obtuvimos una hipótesis individual.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4–8 min — Anunciar equipos con seguridad: Anuncia únicamente nombres y ubicación de los equipos.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8–14 min — Compartir preferencias, no puntuaciones: Cada persona dispone de un minuto para completar oralmente o por escrito: Una aportación que creo que puedo iniciar es...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14–20 min — Diagnóstico de la composición: El equipo responde: ¿Qué capacidad parece estar bien cubierta?, ¿Qué capacidad puede necesitar atención consciente?, ¿Qué riesgo tendría ignorarla durante la torre?, ¿Qué función o regla podría compensarlo?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20–25 min — Explicar las cuatro funciones: Presenta la tabla de funciones y repite: Tener una función no concede mando ni excluye a los demás.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25–31 min — Acuerdo de funciones: Cada equipo asigna responsables iniciales y escribe una justificación basada en: una preferencia que puede aprovecharse, una capacidad que necesita compensación, una función nueva que alguien quiere practicar.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 · tramo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203 · H0 — Formación y prueba de equipos Scrum mediante la torre de papel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8595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31–40 min — Microprueba de planificación de la torre: Presenta el reto, sin permitir todavía la construcción: Ciclo 1: 6 hojas A4 reutilizadas, tijeras y regla, sin conectores.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212848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13432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94560"/>
            <a:ext cx="10058400" cy="8595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40–43 min — Defensa cruzada y ajuste: Elige al azar una persona por equipo, evitando que siempre hable quien figura como responsable de comunicación.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145536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127248"/>
            <a:ext cx="10058400" cy="8595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43–45 min — Cierre individual: Cada estudiante completa: Mi responsabilidad inicial es...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explicar ·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203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HADA describe tendencias de contribución: Gestor, Colaborador, Desarrollador, Analista.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404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521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241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No crea una jerarquía ni obliga a desempeñar una función concreta.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1167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953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Responsabilidades Scrum: En Scrum existen Product Owner, Scrum Master y Developers. En esta experiencia escolar se utilizan equivalentes didácticos limitados: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el foco de valor y backlog recoge parte de la preocupación del Product Owner, el foco de facilitación recoge parte de la preocupación del Scrum Master;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404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521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241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todo el equipo actúa como desarrollador del producto físico.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21167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233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953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No presentes los cuatro focos operativos como los cuatro roles oficiales de Scrum. Calidad y evidencias son funciones educativas añadidas para garantizar participación, prueba y trazabilidad.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4622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6268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" y="46268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Valor y backlog — Mantiene objetivo, prioridades, tareas y criterio de aceptación visibles. — No decide todo ni reparte órdenes.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explicar ·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203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Facilitación y tiempo — Facilita turnos, hace visibles bloqueos y avisa de hitos temporales. — No es jefe ni controla a las personas.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4048" y="12618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521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2416" y="14264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Calidad y pruebas — Recuerda restricciones, prepara pruebas, mide y registra resultados. — No es la única persona que comprueba.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1167" y="12618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9536" y="14264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Evidencias y comunicación — Registra decisiones, cambios y aportaciones; prepara la explicación final. — No es secretario pasivo ni único portavoz.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621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38267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Todas las personas: aportan ideas, manipulan material en algún momento, ayudan a comprobar, pueden explicar una decisión.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4048" y="36621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521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2416" y="38267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Equipos de tres: Combina temporalmente valor y backlog con evidencias y comunicación, o la combinación que el equipo justifique. No elimines calidad/prueba ni facilitación.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RELACIONAR SIN ENCASILLAR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HADA orienta; las funciones se acuerdan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203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170078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39"/>
            <a:ext cx="475488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1"/>
            <a:ext cx="4224528" cy="1325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Gestor — natural: valor, backlog y tiempo · practicar: escucha y revisión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298448"/>
            <a:ext cx="5230368" cy="170078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463039"/>
            <a:ext cx="475488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4576" y="1444751"/>
            <a:ext cx="4224528" cy="1325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Colaborador — natural: facilitación y mediación · practicar: priorización y crítica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91840"/>
            <a:ext cx="5230368" cy="170078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2"/>
            <a:ext cx="475488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38144"/>
            <a:ext cx="4224528" cy="1325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Desarrollador — natural: ideas y prototipado · practicar: cierre, prueba y documentación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291840"/>
            <a:ext cx="5230368" cy="170078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3456432"/>
            <a:ext cx="475488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3438144"/>
            <a:ext cx="4224528" cy="1325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Analista — natural: calidad y prueba · practicar: experimentación y comunicación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422392"/>
            <a:ext cx="10927080" cy="758952"/>
          </a:xfrm>
          <a:prstGeom prst="roundRect">
            <a:avLst/>
          </a:prstGeom>
          <a:solidFill>
            <a:srgbClr val="CC4F3E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596128"/>
            <a:ext cx="1037844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La tabla orienta una conversación; no asigna funciones automáticamente.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OBSERVAR ANTES DE ACTUAR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Ejemplo o demostración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203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53312"/>
            <a:ext cx="10927080" cy="4526280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5740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C4F3E"/>
                </a:solidFill>
                <a:latin typeface="Aptos"/>
              </a:defRPr>
            </a:pPr>
            <a:r>
              <a:t>DEMOSTRACIÓN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9966960" cy="32461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S203 — Diseñamos el equipo que pondremos a prueba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HADA orienta; la torre aporta evidencia.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Una función = una responsabilidad visible, no poder sobre otras personas.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Todas las personas diseñan, construyen, comprueban y explican.</a:t>
            </a:r>
          </a:p>
          <a:p>
            <a:pPr>
              <a:spcAft>
                <a:spcPts val="9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Deja también visibles los cuatro focos: Valor y backlog, Facilitación y tiempo, Calidad y pruebas, Evidencias y comunicación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 ·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203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Acuerdo de funciones — responsable, sustituto, razón basada en aporte o aprendizaje y conducta observable.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95144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404872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Regla de participación — impedir que una sola persona diseñe o construya toda la torre.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82696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429000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392424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Ciclo 1 — 6 hojas A4 reutilizadas, tijeras y regla, sin conectores.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70248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416552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379976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Ciclo 2 — solicitar material adicional solo tras justificar problema, cambio previsto y prueba esperada.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257800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5404104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5367528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Reto — torre autoportante dentro de 25 × 25 cm; carga aproximada de 50 g durante 60 segundos.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 ·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203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Backlog — al menos seis tareas comprobables, con prioridad y criterio de Hecho.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68833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5176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Definición de terminado y bloqueo probable — indicar cómo se harán visibles.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7647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88620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Defensa — explicar capacidad a compensar, función, conducta observable y criterio de terminado.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01091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15721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12064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Cierre individual — Mi responsabilidad inicial; conducta observable; tarea compartida; condición para revisar la función.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 ·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203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cada equipo conoce que su composición es provisional;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10373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1992085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no se han publicado puntuaciones nominales;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2229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2704011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distingue perfil HADA de función;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34225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3415937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identifica una fortaleza y una capacidad por compensar;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46150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127862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cubre los cuatro focos operativos;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85807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4839788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justifica quién inicia cada función;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570002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5551714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todas las personas siguen participando en construcción y explicación;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 ·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203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16245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existe un backlog mínimo de seis tareas;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95960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941319"/>
            <a:ext cx="9829800" cy="16245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existe una definición verificable de terminado;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62076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4602480"/>
            <a:ext cx="9829800" cy="16245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cada persona ha registrado una conducta observable asociada a su responsabilidad.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203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409651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41605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Nadie tiene que publicar sus puntuaciones HADA.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409651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41605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participarán en diseño, construcción, prueba y explicación.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203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C4F3E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La condición para revisar la función después de la torre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584448"/>
            <a:ext cx="10607040" cy="214884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C2330"/>
                </a:solidFill>
                <a:latin typeface="Aptos"/>
              </a:defRPr>
            </a:pPr>
            <a:r>
              <a:t>•  Mi responsabilidad inicial</a:t>
            </a:r>
          </a:p>
          <a:p>
            <a:pPr>
              <a:spcAft>
                <a:spcPts val="900"/>
              </a:spcAft>
              <a:defRPr sz="1800">
                <a:solidFill>
                  <a:srgbClr val="1C2330"/>
                </a:solidFill>
                <a:latin typeface="Aptos"/>
              </a:defRPr>
            </a:pPr>
            <a:r>
              <a:t>•  La conducta observable que demostrará que la cumplo</a:t>
            </a:r>
          </a:p>
          <a:p>
            <a:pPr>
              <a:spcAft>
                <a:spcPts val="900"/>
              </a:spcAft>
              <a:defRPr sz="1800">
                <a:solidFill>
                  <a:srgbClr val="1C2330"/>
                </a:solidFill>
                <a:latin typeface="Aptos"/>
              </a:defRPr>
            </a:pPr>
            <a:r>
              <a:t>•  Una tarea compartida en la que también participaré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