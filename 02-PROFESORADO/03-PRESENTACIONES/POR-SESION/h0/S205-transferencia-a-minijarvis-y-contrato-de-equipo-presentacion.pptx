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CC4F3E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tos"/>
              </a:defRPr>
            </a:pPr>
            <a:r>
              <a:t>De la torre a MiniJarvis: revisión del equipo, contrato y rotación de funciones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H0 — Formación y prueba de equipos Scrum mediante la torre de papel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Individual → puesta en común en equipo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205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Utilizar las evidencias de la torre para revisar el equipo y convertir lo aprendido en acuerdos de trabajo para MiniJarvis.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Decisión razonada, contrato observable, funciones de H1, rotación y primer backlog verificable.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 · tramo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205 · H0 — Formación y prueba de equipos Scrum mediante la torre de papel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0–5 min — Recuperar evidencias: Entrega o pide abrir las evidencias de S202–S204.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5–13 min — Comparar HADA y conducta: Cada persona completa primero en silencio: Una preferencia HADA que pude mostrar fue...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13–19 min — Decidir sobre composición y funciones: El equipo marca una opción: mantener composición y funciones hasta la primera revisión, mantener composición y rotar o redefinir funciones, solicitar revisión docente con una razón pedagógica concreta.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19–29 min — Elaborar el contrato observable: Explica que un contrato útil no contiene valores vagos.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29–34 min — Rotación razonada: Cada equipo registra: Foco — Responsable inicial H1 — Sustituto — Momento de rotación — Capacidad que practicará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0">
                <a:solidFill>
                  <a:srgbClr val="1C2330"/>
                </a:solidFill>
                <a:latin typeface="Aptos"/>
              </a:defRPr>
            </a:pPr>
            <a:r>
              <a:t>34–41 min — Transferir la torre a un backlog de software: Modela una transformación: Torre: crear una 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 · tramo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205 · H0 — Formación y prueba de equipos Scrum mediante la torre de papel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8595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41–44 min — Comprobación cruzada: Intercambia contratos entre dos equipos o realiza revisión oral.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212848"/>
            <a:ext cx="475488" cy="475488"/>
          </a:xfrm>
          <a:prstGeom prst="ellipse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13432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94560"/>
            <a:ext cx="10058400" cy="859536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44–45 min — Cierre individual: Cada persona responde: ¿Qué conducta de la torre mantendrás y qué función diferente practicarás en MiniJarvis?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explicar ·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205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Mantener composición y funciones: Solo cuando las evidencias muestran: participación suficiente, comunicación de bloqueos, funciones entendidas, capacidad de adaptación, ausencia de riesgo o exclusión.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4048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521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241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Aun así, debe existir rotación futura.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21167" y="12618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9536" y="1426463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Mantener composición y ajustar funciones o normas: Es la opción preferente cuando el problema puede abordarse mediante: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redefinir una responsabilidad, hacer visible una capacidad ausente, introducir turnos o límites de trabajo en curso, rotar funciones;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94048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521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5241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mejorar criterios de aceptación;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21167" y="28620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2336" y="30266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9536" y="30266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concretar cuándo pedir ayuda.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462272"/>
            <a:ext cx="3398520" cy="13990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4626864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5295" y="4626864"/>
            <a:ext cx="2621280" cy="11612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Solicitar revisión docente de la composición: Está justificada cuando hay evidencias de: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Claves para explicar ·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205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2618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14264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exclusión sostenida, conflicto que impide aprender o trabajar con seguridad, incompatibilidad pedagógica relevante, necesidad de apoyo no cubierta, ausencia persistente que hace inviable el equipo;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8" y="12618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08776" y="14264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5976" y="14264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desequilibrio que no puede compensarse razonablemente mediante funciones.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621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38267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No se cambia un equipo solo porque: la torre cayó, no obtuvo gran altura, alguien prefiere trabajar con amistades, dos perfiles HADA coinciden, una persona obtuvo una puntuación menor en una columna.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07608" y="3662172"/>
            <a:ext cx="5212080" cy="219913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3826763"/>
            <a:ext cx="384048" cy="34747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5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3826763"/>
            <a:ext cx="4434840" cy="196138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0">
                <a:solidFill>
                  <a:srgbClr val="1C2330"/>
                </a:solidFill>
                <a:latin typeface="Aptos"/>
              </a:defRPr>
            </a:pPr>
            <a:r>
              <a:t>La decisión final de cambio corresponde al profesorado después de escuchar individualmente cuando sea necesario. No obligues al equipo a debatir públicamente información confidencial.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RELACIONAR SIN ENCASILLAR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HADA orienta; las funciones se acuerdan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205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170078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63039"/>
            <a:ext cx="475488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1">
                <a:solidFill>
                  <a:srgbClr val="CC4F3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44751"/>
            <a:ext cx="4224528" cy="1325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Gestor — natural: valor, backlog y tiempo · practicar: escucha y revisión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298448"/>
            <a:ext cx="5230368" cy="170078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5936" y="1463039"/>
            <a:ext cx="475488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1">
                <a:solidFill>
                  <a:srgbClr val="CC4F3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4576" y="1444751"/>
            <a:ext cx="4224528" cy="1325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Colaborador — natural: facilitación y mediación · practicar: priorización y crítica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91840"/>
            <a:ext cx="5230368" cy="170078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456432"/>
            <a:ext cx="475488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1">
                <a:solidFill>
                  <a:srgbClr val="CC4F3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38144"/>
            <a:ext cx="4224528" cy="1325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Desarrollador — natural: ideas y prototipado · practicar: cierre, prueba y documentación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3291840"/>
            <a:ext cx="5230368" cy="170078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3456432"/>
            <a:ext cx="475488" cy="3200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400" b="1">
                <a:solidFill>
                  <a:srgbClr val="CC4F3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3438144"/>
            <a:ext cx="4224528" cy="13258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Analista — natural: calidad y prueba · practicar: experimentación y comunicación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5422392"/>
            <a:ext cx="10927080" cy="758952"/>
          </a:xfrm>
          <a:prstGeom prst="roundRect">
            <a:avLst/>
          </a:prstGeom>
          <a:solidFill>
            <a:srgbClr val="CC4F3E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596128"/>
            <a:ext cx="1037844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La tabla orienta una conversación; no asigna funciones automáticamente.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205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Conducta de la torre que quiero mantener: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4203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68833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265176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Función diferente que practicaré en MiniJarvis: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7647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388620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Apoyo que puedo ofrecer a otra persona: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010912"/>
            <a:ext cx="10835640" cy="104927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515721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CC4F3E"/>
                </a:solidFill>
                <a:latin typeface="Aptos"/>
              </a:defRPr>
            </a:pPr>
            <a:r>
              <a:t>PASO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5120640"/>
            <a:ext cx="9464040" cy="82981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Evidencia que permitirá revisar mi aprendizaje: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 ·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205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el equipo ha usado HADA como hipótesis y no como etiqueta;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10373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1992085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la torre ha generado evidencias de producto y proceso;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2229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2704011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se ha distinguido review de retrospectiva;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434225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3415937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existe una decisión argumentada sobre la composición;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146150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127862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las funciones están definidas y no son jerárquicas;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485807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4839788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existe un compromiso concreto de rotación;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570002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5551714"/>
            <a:ext cx="9829800" cy="675349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el contrato contiene reglas observables;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 · 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205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16245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existe un backlog inicial de MiniJarvis;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95960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941319"/>
            <a:ext cx="9829800" cy="16245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cada tarea tiene un criterio comprobable;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620767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4602480"/>
            <a:ext cx="9829800" cy="16245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cada estudiante identifica una aportación y un aprendizaje siguiente.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CC4F3E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4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205 · H0 — Formación y prueba de equipos Scrum mediante la torre de papel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CC4F3E"/>
          </a:solidFill>
          <a:ln>
            <a:solidFill>
              <a:srgbClr val="CC4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Conducta de la torre que quiero mantener: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