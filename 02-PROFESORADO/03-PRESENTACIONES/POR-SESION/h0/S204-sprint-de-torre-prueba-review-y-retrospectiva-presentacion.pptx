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CC4F3E"/>
          </a:solidFill>
          <a:ln>
            <a:solidFill>
              <a:srgbClr val="CC4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H0.4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Torre de papel: dos ciclos Scrum, prueba, review y retrospectiva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H0 — Formación y prueba de equipos Scrum mediante la torre de papel · 90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Ejecutar — crear → Comunicar — evaluar y reflexionar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965192"/>
            <a:ext cx="1024128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D2D9E4"/>
                </a:solidFill>
                <a:latin typeface="Aptos"/>
              </a:defRPr>
            </a:pPr>
            <a:r>
              <a:t>Equipo → comprobación individual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C4F3E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H0.4 · H0 — Formación y prueba de equipos Scrum mediante la torre de papel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Poner a prueba la organización del equipo mediante dos ciclos Scrum de construcción.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Torre, tablero actualizado, dos pruebas comparables, adaptación aplicada, review, retrospectiva y aportaciones individuales.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C4F3E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 · tramo 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H0.4 · H0 — Formación y prueba de equipos Scrum mediante la torre de papel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0–6 min — Activación y propósito: Muestra el reto y di: Hoy no comprobaremos si HADA os ha definido correctamente.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6–12 min — Recuperación del diseño del equipo: Cada equipo relee: fortaleza prevista, capacidad por compensar, funciones, definición de terminado, backlog inicial.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12–18 min — Refinamiento y estrategia: Entrega únicamente el lote del ciclo 1 —6 hojas A4, tijeras y regla—, pero todavía no permitas construir durante dos minutos.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18–36 min — Ciclo 1 de construcción: Anuncia 18 minutos.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36–41 min — Prueba 1: Detén la construcción para todos.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41–50 min — Review y retrospectiva intermedias: Reserva primero tres minutos para review: ¿Qué criterio cumple?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C4F3E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 · tramo 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H0.4 · H0 — Formación y prueba de equipos Scrum mediante la torre de papel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859536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50–68 min — Ciclo 2 de adaptación: El equipo actualiza primero el backlog y marca qué tarea responde a la retrospectiva.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212848"/>
            <a:ext cx="475488" cy="475488"/>
          </a:xfrm>
          <a:prstGeom prst="ellipse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313432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94560"/>
            <a:ext cx="10058400" cy="859536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68–74 min — Prueba final: Repite exactamente el protocolo de la primera prueba.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145536"/>
            <a:ext cx="475488" cy="475488"/>
          </a:xfrm>
          <a:prstGeom prst="ellipse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246120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3127248"/>
            <a:ext cx="10058400" cy="859536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74–81 min — Review final: Cada equipo dispone de un máximo de 90 segundos.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4078224"/>
            <a:ext cx="475488" cy="475488"/>
          </a:xfrm>
          <a:prstGeom prst="ellipse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178808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4059936"/>
            <a:ext cx="10058400" cy="859536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81–88 min — Retrospectiva HADA y funciones: Cada equipo completa: Una previsión HADA que apareció en conductas fue...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5010912"/>
            <a:ext cx="475488" cy="475488"/>
          </a:xfrm>
          <a:prstGeom prst="ellipse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5111496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992624"/>
            <a:ext cx="10058400" cy="859536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88–90 min — Cierre individual y recogida: Cada persona escribe: Mi aportación observable fue...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C4F3E"/>
                </a:solidFill>
                <a:latin typeface="Aptos"/>
              </a:defRPr>
            </a:pPr>
            <a:r>
              <a:t>COMPRENDER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Claves para explicar · 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H0.4 · H0 — Formación y prueba de equipos Scrum mediante la torre de papel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261872"/>
            <a:ext cx="3398520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426463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C4F3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5295" y="1426463"/>
            <a:ext cx="2621280" cy="11612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0">
                <a:solidFill>
                  <a:srgbClr val="1C2330"/>
                </a:solidFill>
                <a:latin typeface="Aptos"/>
              </a:defRPr>
            </a:pPr>
            <a:r>
              <a:t>Producto: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94048" y="1261872"/>
            <a:ext cx="3398520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5216" y="1426463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C4F3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2416" y="1426463"/>
            <a:ext cx="2621280" cy="11612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0">
                <a:solidFill>
                  <a:srgbClr val="1C2330"/>
                </a:solidFill>
                <a:latin typeface="Aptos"/>
              </a:defRPr>
            </a:pPr>
            <a:r>
              <a:t>La torre debe sostenerse por sí misma sobre la mesa, Ninguna persona puede tocarla durante la prueba de 60 segundos, No puede fijarse a mesa, pared, suelo, mobiliario o cuerpo, La base completa debe caber dentro de un cuadrado de 25 × 25 cm.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21167" y="1261872"/>
            <a:ext cx="3398520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2336" y="1426463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C4F3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9536" y="1426463"/>
            <a:ext cx="2621280" cy="11612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0">
                <a:solidFill>
                  <a:srgbClr val="1C2330"/>
                </a:solidFill>
                <a:latin typeface="Aptos"/>
              </a:defRPr>
            </a:pPr>
            <a:r>
              <a:t>La carga común de aproximadamente 50 g debe colocarse en el punto más alto que pueda sostenerla.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2862072"/>
            <a:ext cx="3398520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3026664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C4F3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5" y="3026664"/>
            <a:ext cx="2621280" cy="11612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0">
                <a:solidFill>
                  <a:srgbClr val="1C2330"/>
                </a:solidFill>
                <a:latin typeface="Aptos"/>
              </a:defRPr>
            </a:pPr>
            <a:r>
              <a:t>Solo pueden formar parte de la torre los materiales autorizados en el ciclo correspondiente.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94048" y="2862072"/>
            <a:ext cx="3398520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95216" y="3026664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C4F3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52416" y="3026664"/>
            <a:ext cx="2621280" cy="11612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0">
                <a:solidFill>
                  <a:srgbClr val="1C2330"/>
                </a:solidFill>
                <a:latin typeface="Aptos"/>
              </a:defRPr>
            </a:pPr>
            <a:r>
              <a:t>En el ciclo 1 solo se permiten 6 hojas A4; no se permiten clips, gomas, cordel, cartulina, pegamento, cinta adhesiva ni grapas.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21167" y="2862072"/>
            <a:ext cx="3398520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22336" y="3026664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C4F3E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9536" y="3026664"/>
            <a:ext cx="2621280" cy="11612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0">
                <a:solidFill>
                  <a:srgbClr val="1C2330"/>
                </a:solidFill>
                <a:latin typeface="Aptos"/>
              </a:defRPr>
            </a:pPr>
            <a:r>
              <a:t>En el ciclo 2 pueden desbloquearse las 4 hojas restantes, 1 cartulina A4, 6 clips, 4 gomas y 100 cm de cordel.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462272"/>
            <a:ext cx="3398520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4626864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C4F3E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25295" y="4626864"/>
            <a:ext cx="2621280" cy="11612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0">
                <a:solidFill>
                  <a:srgbClr val="1C2330"/>
                </a:solidFill>
                <a:latin typeface="Aptos"/>
              </a:defRPr>
            </a:pPr>
            <a:r>
              <a:t>Tijeras, regla, lápiz, perforadora, cronómetro y cinta métrica son herramientas, no componentes.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C4F3E"/>
                </a:solidFill>
                <a:latin typeface="Aptos"/>
              </a:defRPr>
            </a:pPr>
            <a:r>
              <a:t>COMPRENDER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Claves para explicar · 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H0.4 · H0 — Formación y prueba de equipos Scrum mediante la torre de papel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261872"/>
            <a:ext cx="3398520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426463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C4F3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5295" y="1426463"/>
            <a:ext cx="2621280" cy="11612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0">
                <a:solidFill>
                  <a:srgbClr val="1C2330"/>
                </a:solidFill>
                <a:latin typeface="Aptos"/>
              </a:defRPr>
            </a:pPr>
            <a:r>
              <a:t>Los restos cortados siguen contando como material consumido y no se intercambia material entre equipos.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94048" y="1261872"/>
            <a:ext cx="3398520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5216" y="1426463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C4F3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2416" y="1426463"/>
            <a:ext cx="2621280" cy="11612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0">
                <a:solidFill>
                  <a:srgbClr val="1C2330"/>
                </a:solidFill>
                <a:latin typeface="Aptos"/>
              </a:defRPr>
            </a:pPr>
            <a:r>
              <a:t>La altura se mide con la carga colocada después de superar la prueba de estabilidad.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21167" y="1261872"/>
            <a:ext cx="3398520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2336" y="1426463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C4F3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9536" y="1426463"/>
            <a:ext cx="2621280" cy="11612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0">
                <a:solidFill>
                  <a:srgbClr val="1C2330"/>
                </a:solidFill>
                <a:latin typeface="Aptos"/>
              </a:defRPr>
            </a:pPr>
            <a:r>
              <a:t>Proceso: Antes de construir debe existir backlog visible, Solo puede haber un número limitado de tareas en curso;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2862072"/>
            <a:ext cx="3398520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3026664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C4F3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5" y="3026664"/>
            <a:ext cx="2621280" cy="11612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0">
                <a:solidFill>
                  <a:srgbClr val="1C2330"/>
                </a:solidFill>
                <a:latin typeface="Aptos"/>
              </a:defRPr>
            </a:pPr>
            <a:r>
              <a:t>recomienda máximo dos, Los bloqueos se hacen visibles, no se ocultan, Cada función debe dejar una evidencia observable, Todas las personas deben participar en diseño, construcción, prueba o explicación;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94048" y="2862072"/>
            <a:ext cx="3398520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95216" y="3026664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C4F3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52416" y="3026664"/>
            <a:ext cx="2621280" cy="11612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0">
                <a:solidFill>
                  <a:srgbClr val="1C2330"/>
                </a:solidFill>
                <a:latin typeface="Aptos"/>
              </a:defRPr>
            </a:pPr>
            <a:r>
              <a:t>ninguna queda como observadora permanente.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21167" y="2862072"/>
            <a:ext cx="3398520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22336" y="3026664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C4F3E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9536" y="3026664"/>
            <a:ext cx="2621280" cy="11612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0">
                <a:solidFill>
                  <a:srgbClr val="1C2330"/>
                </a:solidFill>
                <a:latin typeface="Aptos"/>
              </a:defRPr>
            </a:pPr>
            <a:r>
              <a:t>El material es limitado para provocar priorización, no para fomentar competición.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462272"/>
            <a:ext cx="3398520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4626864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C4F3E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25295" y="4626864"/>
            <a:ext cx="2621280" cy="11612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0">
                <a:solidFill>
                  <a:srgbClr val="1C2330"/>
                </a:solidFill>
                <a:latin typeface="Aptos"/>
              </a:defRPr>
            </a:pPr>
            <a:r>
              <a:t>Criterio de terminado: La torre está terminada cuando está sobre la mesa,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C4F3E"/>
                </a:solidFill>
                <a:latin typeface="Aptos"/>
              </a:defRPr>
            </a:pPr>
            <a:r>
              <a:t>COMPRENDER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Claves para explicar · 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H0.4 · H0 — Formación y prueba de equipos Scrum mediante la torre de papel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261872"/>
            <a:ext cx="3398520" cy="21991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426463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C4F3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5295" y="1426463"/>
            <a:ext cx="2621280" cy="19613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800" b="0">
                <a:solidFill>
                  <a:srgbClr val="1C2330"/>
                </a:solidFill>
                <a:latin typeface="Aptos"/>
              </a:defRPr>
            </a:pPr>
            <a:r>
              <a:t>usa solo el material permitido,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94048" y="1261872"/>
            <a:ext cx="3398520" cy="21991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5216" y="1426463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C4F3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2416" y="1426463"/>
            <a:ext cx="2621280" cy="19613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800" b="0">
                <a:solidFill>
                  <a:srgbClr val="1C2330"/>
                </a:solidFill>
                <a:latin typeface="Aptos"/>
              </a:defRPr>
            </a:pPr>
            <a:r>
              <a:t>su base cabe en 25 × 25 cm,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21167" y="1261872"/>
            <a:ext cx="3398520" cy="21991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2336" y="1426463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C4F3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9536" y="1426463"/>
            <a:ext cx="2621280" cy="19613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800" b="0">
                <a:solidFill>
                  <a:srgbClr val="1C2330"/>
                </a:solidFill>
                <a:latin typeface="Aptos"/>
              </a:defRPr>
            </a:pPr>
            <a:r>
              <a:t>sostiene la carga común durante 60 segundos sin contacto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662172"/>
            <a:ext cx="3398520" cy="21991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3826763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C4F3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5" y="3826763"/>
            <a:ext cx="2621280" cy="19613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800" b="0">
                <a:solidFill>
                  <a:srgbClr val="1C2330"/>
                </a:solidFill>
                <a:latin typeface="Aptos"/>
              </a:defRPr>
            </a:pPr>
            <a:r>
              <a:t>y el equipo ha registrado su prueba.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94048" y="3662172"/>
            <a:ext cx="3398520" cy="21991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95216" y="3826763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C4F3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52416" y="3826763"/>
            <a:ext cx="2621280" cy="19613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800" b="0">
                <a:solidFill>
                  <a:srgbClr val="1C2330"/>
                </a:solidFill>
                <a:latin typeface="Aptos"/>
              </a:defRPr>
            </a:pPr>
            <a:r>
              <a:t>La altura es un dato de la review, no sustituye la definición de terminado.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C4F3E"/>
                </a:solidFill>
                <a:latin typeface="Aptos"/>
              </a:defRPr>
            </a:pPr>
            <a:r>
              <a:t>OBSERVAR ANTES DE ACTUAR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Ejemplo o demostración · 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H0.4 · H0 — Formación y prueba de equipos Scrum mediante la torre de papel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53312"/>
            <a:ext cx="10927080" cy="4526280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5740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CC4F3E"/>
                </a:solidFill>
                <a:latin typeface="Aptos"/>
              </a:defRPr>
            </a:pPr>
            <a:r>
              <a:t>DEMOSTRACIÓN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212848"/>
            <a:ext cx="9966960" cy="324612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•  RETO: torre autoportante de papel</a:t>
            </a:r>
          </a:p>
          <a:p>
            <a:pPr>
              <a:spcAft>
                <a:spcPts val="9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•  Debe:</a:t>
            </a:r>
          </a:p>
          <a:p>
            <a:pPr>
              <a:spcAft>
                <a:spcPts val="9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•  [ ] usar solo el material entregado;</a:t>
            </a:r>
          </a:p>
          <a:p>
            <a:pPr>
              <a:spcAft>
                <a:spcPts val="9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•  [ ] apoyarse únicamente en la mesa;</a:t>
            </a:r>
          </a:p>
          <a:p>
            <a:pPr>
              <a:spcAft>
                <a:spcPts val="9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•  [ ] tener una base que quepa en 25 × 25 cm;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C4F3E"/>
                </a:solidFill>
                <a:latin typeface="Aptos"/>
              </a:defRPr>
            </a:pPr>
            <a:r>
              <a:t>OBSERVAR ANTES DE ACTUAR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Ejemplo o demostración · 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H0.4 · H0 — Formación y prueba de equipos Scrum mediante la torre de papel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53312"/>
            <a:ext cx="10927080" cy="4526280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5740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CC4F3E"/>
                </a:solidFill>
                <a:latin typeface="Aptos"/>
              </a:defRPr>
            </a:pPr>
            <a:r>
              <a:t>DEMOSTRACIÓN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212848"/>
            <a:ext cx="9966960" cy="324612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•  [ ] sostener la carga común de aproximadamente 50 g durante 60 segundos;</a:t>
            </a:r>
          </a:p>
          <a:p>
            <a:pPr>
              <a:spcAft>
                <a:spcPts val="9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•  [ ] medirse con la carga colocada;</a:t>
            </a:r>
          </a:p>
          <a:p>
            <a:pPr>
              <a:spcAft>
                <a:spcPts val="900"/>
              </a:spcAft>
              <a:defRPr sz="2200">
                <a:solidFill>
                  <a:srgbClr val="FFFFFF"/>
                </a:solidFill>
                <a:latin typeface="Aptos"/>
              </a:defRPr>
            </a:pPr>
            <a:r>
              <a:t>•  [ ] poder explicarse mediante decisiones y pruebas.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C4F3E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H0.4 · H0 — Formación y prueba de equipos Scrum mediante la torre de papel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104927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CC4F3E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82981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Mi aportación observable fue: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542032"/>
            <a:ext cx="10835640" cy="104927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68833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CC4F3E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2651760"/>
            <a:ext cx="9464040" cy="82981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Una decisión de otra persona que ayudé a mejorar o integrar: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776472"/>
            <a:ext cx="10835640" cy="104927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CC4F3E"/>
                </a:solidFill>
                <a:latin typeface="Aptos"/>
              </a:defRPr>
            </a:pPr>
            <a:r>
              <a:t>PASO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4208" y="3886200"/>
            <a:ext cx="9464040" cy="82981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Otra función que quiero practicar en MiniJarvis: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010912"/>
            <a:ext cx="10835640" cy="104927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515721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CC4F3E"/>
                </a:solidFill>
                <a:latin typeface="Aptos"/>
              </a:defRPr>
            </a:pPr>
            <a:r>
              <a:t>PASO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5120640"/>
            <a:ext cx="9464040" cy="82981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La evidencia que permitirá revisar mi aprendizaje será: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C4F3E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 · 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H0.4 · H0 — Formación y prueba de equipos Scrum mediante la torre de papel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C4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675349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se han realizado dos ciclos de construcción o dos intentos registrados;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10373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C4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1992085"/>
            <a:ext cx="9829800" cy="675349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existe backlog inicial y adaptado;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72229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C4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2704011"/>
            <a:ext cx="9829800" cy="675349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la definición de terminado se ha aplicado;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434225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C4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3415937"/>
            <a:ext cx="9829800" cy="675349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las dos pruebas usan el mismo protocolo;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4146150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C4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4127862"/>
            <a:ext cx="9829800" cy="675349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review y retrospectiva están diferenciadas;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485807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C4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89888" y="4839788"/>
            <a:ext cx="9829800" cy="675349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todas las personas registran una aportación;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5570002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C4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89888" y="5551714"/>
            <a:ext cx="9829800" cy="675349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las funciones han producido o dejado de producir conductas observables;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C4F3E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 · 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H0.4 · H0 — Formación y prueba de equipos Scrum mediante la torre de papel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C4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245516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existe al menos una mejora aplicada;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790187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C4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3771900"/>
            <a:ext cx="9829800" cy="245516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cualquier petición de cambio se fundamenta en hechos, no en etiquetas HADA.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C4F3E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H0.4 · H0 — Formación y prueba de equipos Scrum mediante la torre de papel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CC4F3E"/>
          </a:solidFill>
          <a:ln>
            <a:solidFill>
              <a:srgbClr val="CC4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Mi aportación observable fue: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