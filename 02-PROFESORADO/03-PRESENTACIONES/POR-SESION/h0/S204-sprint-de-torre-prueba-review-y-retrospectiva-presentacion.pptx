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CC4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58368" y="566928"/>
            <a:ext cx="1874519" cy="566928"/>
          </a:xfrm>
          <a:prstGeom prst="roundRect">
            <a:avLst/>
          </a:prstGeom>
          <a:solidFill>
            <a:srgbClr val="CC4F3E"/>
          </a:solidFill>
          <a:ln>
            <a:solidFill>
              <a:srgbClr val="CC4F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85800"/>
            <a:ext cx="1719072" cy="22860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SESIÓN 204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481328"/>
            <a:ext cx="10789920" cy="169164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3800" b="1">
                <a:solidFill>
                  <a:srgbClr val="FFFFFF"/>
                </a:solidFill>
                <a:latin typeface="Aptos"/>
              </a:defRPr>
            </a:pPr>
            <a:r>
              <a:t>Torre de papel: dos ciclos Scrum, prueba, review y retrospectiva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3703320"/>
            <a:ext cx="10424160" cy="411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1">
                <a:solidFill>
                  <a:srgbClr val="BEC8D6"/>
                </a:solidFill>
                <a:latin typeface="Aptos"/>
              </a:defRPr>
            </a:pPr>
            <a:r>
              <a:t>H0 — Formación y prueba de equipos Scrum mediante la torre de papel · 90 minutos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4315968"/>
            <a:ext cx="10241280" cy="5029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FFFFFF"/>
                </a:solidFill>
                <a:latin typeface="Aptos"/>
              </a:defRPr>
            </a:pPr>
            <a:r>
              <a:t>Fase HEXA: Ejecutar — crear → Comunicar — evaluar y reflexionar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" y="4965192"/>
            <a:ext cx="10241280" cy="59436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700" b="0">
                <a:solidFill>
                  <a:srgbClr val="D2D9E4"/>
                </a:solidFill>
                <a:latin typeface="Aptos"/>
              </a:defRPr>
            </a:pPr>
            <a:r>
              <a:t>Equipo → comprobación individual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232" y="6272784"/>
            <a:ext cx="10607040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A0AAB9"/>
                </a:solidFill>
                <a:latin typeface="Aptos"/>
              </a:defRPr>
            </a:pPr>
            <a:r>
              <a:t>MINIJARVIS · PROGRAMACIÓN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C4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CC4F3E"/>
                </a:solidFill>
                <a:latin typeface="Aptos"/>
              </a:defRPr>
            </a:pPr>
            <a:r>
              <a:t>PUNTO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Qué debe conseguirse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CC4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204 · H0 — Formación y prueba de equipos Scrum mediante la torre de papel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389888"/>
            <a:ext cx="5184648" cy="4297680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618488"/>
            <a:ext cx="4727448" cy="3840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100" b="1">
                <a:solidFill>
                  <a:srgbClr val="1C2330"/>
                </a:solidFill>
                <a:latin typeface="Aptos"/>
              </a:defRPr>
            </a:pPr>
            <a:r>
              <a:t>Objetivo: Poner a prueba la organización del equipo mediante dos ciclos Scrum de construcción.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0" y="1389888"/>
            <a:ext cx="5184648" cy="4297680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63640" y="1618488"/>
            <a:ext cx="4727448" cy="3840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100" b="1">
                <a:solidFill>
                  <a:srgbClr val="1C2330"/>
                </a:solidFill>
                <a:latin typeface="Aptos"/>
              </a:defRPr>
            </a:pPr>
            <a:r>
              <a:t>Evidencia: Torre, tablero actualizado, dos pruebas comparables, adaptación aplicada, review, retrospectiva y aportaciones individuales.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C4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CC4F3E"/>
                </a:solidFill>
                <a:latin typeface="Aptos"/>
              </a:defRPr>
            </a:pPr>
            <a:r>
              <a:t>RITMO DE LA SESIÓN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Secuencia de aula · tramo 1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CC4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204 · H0 — Formación y prueba de equipos Scrum mediante la torre de papel</a:t>
            </a:r>
          </a:p>
        </p:txBody>
      </p:sp>
      <p:sp>
        <p:nvSpPr>
          <p:cNvPr id="8" name="Oval 7"/>
          <p:cNvSpPr/>
          <p:nvPr/>
        </p:nvSpPr>
        <p:spPr>
          <a:xfrm>
            <a:off x="658368" y="1280160"/>
            <a:ext cx="475488" cy="475488"/>
          </a:xfrm>
          <a:prstGeom prst="ellipse">
            <a:avLst/>
          </a:prstGeom>
          <a:solidFill>
            <a:srgbClr val="CC4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38074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89888" y="126187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400" b="0">
                <a:solidFill>
                  <a:srgbClr val="1C2330"/>
                </a:solidFill>
                <a:latin typeface="Aptos"/>
              </a:defRPr>
            </a:pPr>
            <a:r>
              <a:t>0–6 min — Activación y propósito: Muestra el reto y di: Hoy no comprobaremos si HADA os ha definido correctamente.</a:t>
            </a:r>
          </a:p>
        </p:txBody>
      </p:sp>
      <p:sp>
        <p:nvSpPr>
          <p:cNvPr id="11" name="Oval 10"/>
          <p:cNvSpPr/>
          <p:nvPr/>
        </p:nvSpPr>
        <p:spPr>
          <a:xfrm>
            <a:off x="658368" y="2125979"/>
            <a:ext cx="475488" cy="475488"/>
          </a:xfrm>
          <a:prstGeom prst="ellipse">
            <a:avLst/>
          </a:prstGeom>
          <a:solidFill>
            <a:srgbClr val="CC4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2226563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89888" y="2107691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400" b="0">
                <a:solidFill>
                  <a:srgbClr val="1C2330"/>
                </a:solidFill>
                <a:latin typeface="Aptos"/>
              </a:defRPr>
            </a:pPr>
            <a:r>
              <a:t>6–12 min — Recuperación del diseño del equipo: Cada equipo relee: fortaleza prevista, capacidad por compensar, funciones, definición de terminado, backlog inicial.</a:t>
            </a:r>
          </a:p>
        </p:txBody>
      </p:sp>
      <p:sp>
        <p:nvSpPr>
          <p:cNvPr id="14" name="Oval 13"/>
          <p:cNvSpPr/>
          <p:nvPr/>
        </p:nvSpPr>
        <p:spPr>
          <a:xfrm>
            <a:off x="658368" y="2971799"/>
            <a:ext cx="475488" cy="475488"/>
          </a:xfrm>
          <a:prstGeom prst="ellipse">
            <a:avLst/>
          </a:prstGeom>
          <a:solidFill>
            <a:srgbClr val="CC4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3072383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89888" y="2953511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400" b="0">
                <a:solidFill>
                  <a:srgbClr val="1C2330"/>
                </a:solidFill>
                <a:latin typeface="Aptos"/>
              </a:defRPr>
            </a:pPr>
            <a:r>
              <a:t>12–18 min — Refinamiento y estrategia: Entrega únicamente el lote del ciclo 1 —6 hojas A4, tijeras y regla—, pero todavía no permitas construir durante dos minutos.</a:t>
            </a:r>
          </a:p>
        </p:txBody>
      </p:sp>
      <p:sp>
        <p:nvSpPr>
          <p:cNvPr id="17" name="Oval 16"/>
          <p:cNvSpPr/>
          <p:nvPr/>
        </p:nvSpPr>
        <p:spPr>
          <a:xfrm>
            <a:off x="658368" y="3817620"/>
            <a:ext cx="475488" cy="475488"/>
          </a:xfrm>
          <a:prstGeom prst="ellipse">
            <a:avLst/>
          </a:prstGeom>
          <a:solidFill>
            <a:srgbClr val="CC4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" y="391820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89888" y="379933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400" b="0">
                <a:solidFill>
                  <a:srgbClr val="1C2330"/>
                </a:solidFill>
                <a:latin typeface="Aptos"/>
              </a:defRPr>
            </a:pPr>
            <a:r>
              <a:t>18–36 min — Ciclo 1 de construcción: Anuncia 18 minutos.</a:t>
            </a:r>
          </a:p>
        </p:txBody>
      </p:sp>
      <p:sp>
        <p:nvSpPr>
          <p:cNvPr id="20" name="Oval 19"/>
          <p:cNvSpPr/>
          <p:nvPr/>
        </p:nvSpPr>
        <p:spPr>
          <a:xfrm>
            <a:off x="658368" y="4663440"/>
            <a:ext cx="475488" cy="475488"/>
          </a:xfrm>
          <a:prstGeom prst="ellipse">
            <a:avLst/>
          </a:prstGeom>
          <a:solidFill>
            <a:srgbClr val="CC4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8368" y="476402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89888" y="464515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400" b="0">
                <a:solidFill>
                  <a:srgbClr val="1C2330"/>
                </a:solidFill>
                <a:latin typeface="Aptos"/>
              </a:defRPr>
            </a:pPr>
            <a:r>
              <a:t>36–41 min — Prueba 1: Detén la construcción para todos.</a:t>
            </a:r>
          </a:p>
        </p:txBody>
      </p:sp>
      <p:sp>
        <p:nvSpPr>
          <p:cNvPr id="23" name="Oval 22"/>
          <p:cNvSpPr/>
          <p:nvPr/>
        </p:nvSpPr>
        <p:spPr>
          <a:xfrm>
            <a:off x="658368" y="5509259"/>
            <a:ext cx="475488" cy="475488"/>
          </a:xfrm>
          <a:prstGeom prst="ellipse">
            <a:avLst/>
          </a:prstGeom>
          <a:solidFill>
            <a:srgbClr val="CC4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8368" y="560984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89888" y="549097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400" b="0">
                <a:solidFill>
                  <a:srgbClr val="1C2330"/>
                </a:solidFill>
                <a:latin typeface="Aptos"/>
              </a:defRPr>
            </a:pPr>
            <a:r>
              <a:t>41–50 min — Review y retrospectiva intermedias: Reserva primero tres minutos para review: ¿Qué criterio cumple?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C4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CC4F3E"/>
                </a:solidFill>
                <a:latin typeface="Aptos"/>
              </a:defRPr>
            </a:pPr>
            <a:r>
              <a:t>RITMO DE LA SESIÓN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Secuencia de aula · tramo 2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CC4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204 · H0 — Formación y prueba de equipos Scrum mediante la torre de papel</a:t>
            </a:r>
          </a:p>
        </p:txBody>
      </p:sp>
      <p:sp>
        <p:nvSpPr>
          <p:cNvPr id="8" name="Oval 7"/>
          <p:cNvSpPr/>
          <p:nvPr/>
        </p:nvSpPr>
        <p:spPr>
          <a:xfrm>
            <a:off x="658368" y="1280160"/>
            <a:ext cx="475488" cy="475488"/>
          </a:xfrm>
          <a:prstGeom prst="ellipse">
            <a:avLst/>
          </a:prstGeom>
          <a:solidFill>
            <a:srgbClr val="CC4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38074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89888" y="1261872"/>
            <a:ext cx="10058400" cy="859536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400" b="0">
                <a:solidFill>
                  <a:srgbClr val="1C2330"/>
                </a:solidFill>
                <a:latin typeface="Aptos"/>
              </a:defRPr>
            </a:pPr>
            <a:r>
              <a:t>50–68 min — Ciclo 2 de adaptación: El equipo actualiza primero el backlog y marca qué tarea responde a la retrospectiva.</a:t>
            </a:r>
          </a:p>
        </p:txBody>
      </p:sp>
      <p:sp>
        <p:nvSpPr>
          <p:cNvPr id="11" name="Oval 10"/>
          <p:cNvSpPr/>
          <p:nvPr/>
        </p:nvSpPr>
        <p:spPr>
          <a:xfrm>
            <a:off x="658368" y="2212848"/>
            <a:ext cx="475488" cy="475488"/>
          </a:xfrm>
          <a:prstGeom prst="ellipse">
            <a:avLst/>
          </a:prstGeom>
          <a:solidFill>
            <a:srgbClr val="CC4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2313432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89888" y="2194560"/>
            <a:ext cx="10058400" cy="859536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400" b="0">
                <a:solidFill>
                  <a:srgbClr val="1C2330"/>
                </a:solidFill>
                <a:latin typeface="Aptos"/>
              </a:defRPr>
            </a:pPr>
            <a:r>
              <a:t>68–74 min — Prueba final: Repite exactamente el protocolo de la primera prueba.</a:t>
            </a:r>
          </a:p>
        </p:txBody>
      </p:sp>
      <p:sp>
        <p:nvSpPr>
          <p:cNvPr id="14" name="Oval 13"/>
          <p:cNvSpPr/>
          <p:nvPr/>
        </p:nvSpPr>
        <p:spPr>
          <a:xfrm>
            <a:off x="658368" y="3145536"/>
            <a:ext cx="475488" cy="475488"/>
          </a:xfrm>
          <a:prstGeom prst="ellipse">
            <a:avLst/>
          </a:prstGeom>
          <a:solidFill>
            <a:srgbClr val="CC4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3246120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89888" y="3127248"/>
            <a:ext cx="10058400" cy="859536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400" b="0">
                <a:solidFill>
                  <a:srgbClr val="1C2330"/>
                </a:solidFill>
                <a:latin typeface="Aptos"/>
              </a:defRPr>
            </a:pPr>
            <a:r>
              <a:t>74–81 min — Review final: Cada equipo dispone de un máximo de 90 segundos.</a:t>
            </a:r>
          </a:p>
        </p:txBody>
      </p:sp>
      <p:sp>
        <p:nvSpPr>
          <p:cNvPr id="17" name="Oval 16"/>
          <p:cNvSpPr/>
          <p:nvPr/>
        </p:nvSpPr>
        <p:spPr>
          <a:xfrm>
            <a:off x="658368" y="4078224"/>
            <a:ext cx="475488" cy="475488"/>
          </a:xfrm>
          <a:prstGeom prst="ellipse">
            <a:avLst/>
          </a:prstGeom>
          <a:solidFill>
            <a:srgbClr val="CC4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" y="4178808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89888" y="4059936"/>
            <a:ext cx="10058400" cy="859536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400" b="0">
                <a:solidFill>
                  <a:srgbClr val="1C2330"/>
                </a:solidFill>
                <a:latin typeface="Aptos"/>
              </a:defRPr>
            </a:pPr>
            <a:r>
              <a:t>81–88 min — Retrospectiva HADA y funciones: Cada equipo completa: Una previsión HADA que apareció en conductas fue...</a:t>
            </a:r>
          </a:p>
        </p:txBody>
      </p:sp>
      <p:sp>
        <p:nvSpPr>
          <p:cNvPr id="20" name="Oval 19"/>
          <p:cNvSpPr/>
          <p:nvPr/>
        </p:nvSpPr>
        <p:spPr>
          <a:xfrm>
            <a:off x="658368" y="5010912"/>
            <a:ext cx="475488" cy="475488"/>
          </a:xfrm>
          <a:prstGeom prst="ellipse">
            <a:avLst/>
          </a:prstGeom>
          <a:solidFill>
            <a:srgbClr val="CC4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8368" y="5111496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89888" y="4992624"/>
            <a:ext cx="10058400" cy="859536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400" b="0">
                <a:solidFill>
                  <a:srgbClr val="1C2330"/>
                </a:solidFill>
                <a:latin typeface="Aptos"/>
              </a:defRPr>
            </a:pPr>
            <a:r>
              <a:t>88–90 min — Cierre individual y recogida: Cada persona escribe: Mi aportación observable fue...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C4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CC4F3E"/>
                </a:solidFill>
                <a:latin typeface="Aptos"/>
              </a:defRPr>
            </a:pPr>
            <a:r>
              <a:t>COMPRENDER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Claves para explicar · 1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CC4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204 · H0 — Formación y prueba de equipos Scrum mediante la torre de papel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1261872"/>
            <a:ext cx="3398520" cy="139903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68096" y="1426463"/>
            <a:ext cx="384048" cy="34747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500" b="1">
                <a:solidFill>
                  <a:srgbClr val="CC4F3E"/>
                </a:solidFill>
                <a:latin typeface="Aptos"/>
              </a:defRPr>
            </a:pPr>
            <a: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25295" y="1426463"/>
            <a:ext cx="2621280" cy="116128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0">
                <a:solidFill>
                  <a:srgbClr val="1C2330"/>
                </a:solidFill>
                <a:latin typeface="Aptos"/>
              </a:defRPr>
            </a:pPr>
            <a:r>
              <a:t>Producto: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194048" y="1261872"/>
            <a:ext cx="3398520" cy="139903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395216" y="1426463"/>
            <a:ext cx="384048" cy="34747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500" b="1">
                <a:solidFill>
                  <a:srgbClr val="CC4F3E"/>
                </a:solidFill>
                <a:latin typeface="Aptos"/>
              </a:defRPr>
            </a:pPr>
            <a: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52416" y="1426463"/>
            <a:ext cx="2621280" cy="116128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0">
                <a:solidFill>
                  <a:srgbClr val="1C2330"/>
                </a:solidFill>
                <a:latin typeface="Aptos"/>
              </a:defRPr>
            </a:pPr>
            <a:r>
              <a:t>La torre debe sostenerse por sí misma sobre la mesa, Ninguna persona puede tocarla durante la prueba de 60 segundos, No puede fijarse a mesa, pared, suelo, mobiliario o cuerpo, La base completa debe caber dentro de un cuadrado de 25 × 25 cm.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821167" y="1261872"/>
            <a:ext cx="3398520" cy="139903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22336" y="1426463"/>
            <a:ext cx="384048" cy="34747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500" b="1">
                <a:solidFill>
                  <a:srgbClr val="CC4F3E"/>
                </a:solidFill>
                <a:latin typeface="Aptos"/>
              </a:defRPr>
            </a:pPr>
            <a: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79536" y="1426463"/>
            <a:ext cx="2621280" cy="116128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0">
                <a:solidFill>
                  <a:srgbClr val="1C2330"/>
                </a:solidFill>
                <a:latin typeface="Aptos"/>
              </a:defRPr>
            </a:pPr>
            <a:r>
              <a:t>La carga común de aproximadamente 50 g debe colocarse en el punto más alto que pueda sostenerla.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6928" y="2862072"/>
            <a:ext cx="3398520" cy="139903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8096" y="3026664"/>
            <a:ext cx="384048" cy="34747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500" b="1">
                <a:solidFill>
                  <a:srgbClr val="CC4F3E"/>
                </a:solidFill>
                <a:latin typeface="Aptos"/>
              </a:defRPr>
            </a:pPr>
            <a:r>
              <a:t>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25295" y="3026664"/>
            <a:ext cx="2621280" cy="116128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0">
                <a:solidFill>
                  <a:srgbClr val="1C2330"/>
                </a:solidFill>
                <a:latin typeface="Aptos"/>
              </a:defRPr>
            </a:pPr>
            <a:r>
              <a:t>Solo pueden formar parte de la torre los materiales autorizados en el ciclo correspondiente.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194048" y="2862072"/>
            <a:ext cx="3398520" cy="139903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395216" y="3026664"/>
            <a:ext cx="384048" cy="34747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500" b="1">
                <a:solidFill>
                  <a:srgbClr val="CC4F3E"/>
                </a:solidFill>
                <a:latin typeface="Aptos"/>
              </a:defRPr>
            </a:pPr>
            <a:r>
              <a:t>05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852416" y="3026664"/>
            <a:ext cx="2621280" cy="116128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0">
                <a:solidFill>
                  <a:srgbClr val="1C2330"/>
                </a:solidFill>
                <a:latin typeface="Aptos"/>
              </a:defRPr>
            </a:pPr>
            <a:r>
              <a:t>En el ciclo 1 solo se permiten 6 hojas A4; no se permiten clips, gomas, cordel, cartulina, pegamento, cinta adhesiva ni grapas.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821167" y="2862072"/>
            <a:ext cx="3398520" cy="139903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022336" y="3026664"/>
            <a:ext cx="384048" cy="34747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500" b="1">
                <a:solidFill>
                  <a:srgbClr val="CC4F3E"/>
                </a:solidFill>
                <a:latin typeface="Aptos"/>
              </a:defRPr>
            </a:pPr>
            <a:r>
              <a:t>06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79536" y="3026664"/>
            <a:ext cx="2621280" cy="116128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0">
                <a:solidFill>
                  <a:srgbClr val="1C2330"/>
                </a:solidFill>
                <a:latin typeface="Aptos"/>
              </a:defRPr>
            </a:pPr>
            <a:r>
              <a:t>En el ciclo 2 pueden desbloquearse las 4 hojas restantes, 1 cartulina A4, 6 clips, 4 gomas y 100 cm de cordel.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66928" y="4462272"/>
            <a:ext cx="3398520" cy="139903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68096" y="4626864"/>
            <a:ext cx="384048" cy="34747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500" b="1">
                <a:solidFill>
                  <a:srgbClr val="CC4F3E"/>
                </a:solidFill>
                <a:latin typeface="Aptos"/>
              </a:defRPr>
            </a:pPr>
            <a:r>
              <a:t>07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25295" y="4626864"/>
            <a:ext cx="2621280" cy="116128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0">
                <a:solidFill>
                  <a:srgbClr val="1C2330"/>
                </a:solidFill>
                <a:latin typeface="Aptos"/>
              </a:defRPr>
            </a:pPr>
            <a:r>
              <a:t>Tijeras, regla, lápiz, perforadora, cronómetro y cinta métrica son herramientas, no componentes.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C4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CC4F3E"/>
                </a:solidFill>
                <a:latin typeface="Aptos"/>
              </a:defRPr>
            </a:pPr>
            <a:r>
              <a:t>COMPRENDER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Claves para explicar · 2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CC4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204 · H0 — Formación y prueba de equipos Scrum mediante la torre de papel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1261872"/>
            <a:ext cx="3398520" cy="139903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68096" y="1426463"/>
            <a:ext cx="384048" cy="34747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500" b="1">
                <a:solidFill>
                  <a:srgbClr val="CC4F3E"/>
                </a:solidFill>
                <a:latin typeface="Aptos"/>
              </a:defRPr>
            </a:pPr>
            <a: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25295" y="1426463"/>
            <a:ext cx="2621280" cy="116128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0">
                <a:solidFill>
                  <a:srgbClr val="1C2330"/>
                </a:solidFill>
                <a:latin typeface="Aptos"/>
              </a:defRPr>
            </a:pPr>
            <a:r>
              <a:t>Los restos cortados siguen contando como material consumido y no se intercambia material entre equipos.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194048" y="1261872"/>
            <a:ext cx="3398520" cy="139903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395216" y="1426463"/>
            <a:ext cx="384048" cy="34747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500" b="1">
                <a:solidFill>
                  <a:srgbClr val="CC4F3E"/>
                </a:solidFill>
                <a:latin typeface="Aptos"/>
              </a:defRPr>
            </a:pPr>
            <a: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52416" y="1426463"/>
            <a:ext cx="2621280" cy="116128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0">
                <a:solidFill>
                  <a:srgbClr val="1C2330"/>
                </a:solidFill>
                <a:latin typeface="Aptos"/>
              </a:defRPr>
            </a:pPr>
            <a:r>
              <a:t>La altura se mide con la carga colocada después de superar la prueba de estabilidad.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821167" y="1261872"/>
            <a:ext cx="3398520" cy="139903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22336" y="1426463"/>
            <a:ext cx="384048" cy="34747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500" b="1">
                <a:solidFill>
                  <a:srgbClr val="CC4F3E"/>
                </a:solidFill>
                <a:latin typeface="Aptos"/>
              </a:defRPr>
            </a:pPr>
            <a: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79536" y="1426463"/>
            <a:ext cx="2621280" cy="116128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0">
                <a:solidFill>
                  <a:srgbClr val="1C2330"/>
                </a:solidFill>
                <a:latin typeface="Aptos"/>
              </a:defRPr>
            </a:pPr>
            <a:r>
              <a:t>Proceso: Antes de construir debe existir backlog visible, Solo puede haber un número limitado de tareas en curso;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6928" y="2862072"/>
            <a:ext cx="3398520" cy="139903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8096" y="3026664"/>
            <a:ext cx="384048" cy="34747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500" b="1">
                <a:solidFill>
                  <a:srgbClr val="CC4F3E"/>
                </a:solidFill>
                <a:latin typeface="Aptos"/>
              </a:defRPr>
            </a:pPr>
            <a:r>
              <a:t>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25295" y="3026664"/>
            <a:ext cx="2621280" cy="116128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0">
                <a:solidFill>
                  <a:srgbClr val="1C2330"/>
                </a:solidFill>
                <a:latin typeface="Aptos"/>
              </a:defRPr>
            </a:pPr>
            <a:r>
              <a:t>recomienda máximo dos, Los bloqueos se hacen visibles, no se ocultan, Cada función debe dejar una evidencia observable, Todas las personas deben participar en diseño, construcción, prueba o explicación;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194048" y="2862072"/>
            <a:ext cx="3398520" cy="139903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395216" y="3026664"/>
            <a:ext cx="384048" cy="34747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500" b="1">
                <a:solidFill>
                  <a:srgbClr val="CC4F3E"/>
                </a:solidFill>
                <a:latin typeface="Aptos"/>
              </a:defRPr>
            </a:pPr>
            <a:r>
              <a:t>05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852416" y="3026664"/>
            <a:ext cx="2621280" cy="116128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0">
                <a:solidFill>
                  <a:srgbClr val="1C2330"/>
                </a:solidFill>
                <a:latin typeface="Aptos"/>
              </a:defRPr>
            </a:pPr>
            <a:r>
              <a:t>ninguna queda como observadora permanente.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821167" y="2862072"/>
            <a:ext cx="3398520" cy="139903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022336" y="3026664"/>
            <a:ext cx="384048" cy="34747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500" b="1">
                <a:solidFill>
                  <a:srgbClr val="CC4F3E"/>
                </a:solidFill>
                <a:latin typeface="Aptos"/>
              </a:defRPr>
            </a:pPr>
            <a:r>
              <a:t>06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79536" y="3026664"/>
            <a:ext cx="2621280" cy="116128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0">
                <a:solidFill>
                  <a:srgbClr val="1C2330"/>
                </a:solidFill>
                <a:latin typeface="Aptos"/>
              </a:defRPr>
            </a:pPr>
            <a:r>
              <a:t>El material es limitado para provocar priorización, no para fomentar competición.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66928" y="4462272"/>
            <a:ext cx="3398520" cy="139903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68096" y="4626864"/>
            <a:ext cx="384048" cy="34747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500" b="1">
                <a:solidFill>
                  <a:srgbClr val="CC4F3E"/>
                </a:solidFill>
                <a:latin typeface="Aptos"/>
              </a:defRPr>
            </a:pPr>
            <a:r>
              <a:t>07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25295" y="4626864"/>
            <a:ext cx="2621280" cy="116128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0">
                <a:solidFill>
                  <a:srgbClr val="1C2330"/>
                </a:solidFill>
                <a:latin typeface="Aptos"/>
              </a:defRPr>
            </a:pPr>
            <a:r>
              <a:t>Criterio de terminado: La torre está terminada cuando está sobre la mesa,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C4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CC4F3E"/>
                </a:solidFill>
                <a:latin typeface="Aptos"/>
              </a:defRPr>
            </a:pPr>
            <a:r>
              <a:t>COMPRENDER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Claves para explicar · 3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CC4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204 · H0 — Formación y prueba de equipos Scrum mediante la torre de papel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1261872"/>
            <a:ext cx="3398520" cy="219913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68096" y="1426463"/>
            <a:ext cx="384048" cy="34747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500" b="1">
                <a:solidFill>
                  <a:srgbClr val="CC4F3E"/>
                </a:solidFill>
                <a:latin typeface="Aptos"/>
              </a:defRPr>
            </a:pPr>
            <a: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25295" y="1426463"/>
            <a:ext cx="2621280" cy="196138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800" b="0">
                <a:solidFill>
                  <a:srgbClr val="1C2330"/>
                </a:solidFill>
                <a:latin typeface="Aptos"/>
              </a:defRPr>
            </a:pPr>
            <a:r>
              <a:t>usa solo el material permitido,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194048" y="1261872"/>
            <a:ext cx="3398520" cy="219913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395216" y="1426463"/>
            <a:ext cx="384048" cy="34747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500" b="1">
                <a:solidFill>
                  <a:srgbClr val="CC4F3E"/>
                </a:solidFill>
                <a:latin typeface="Aptos"/>
              </a:defRPr>
            </a:pPr>
            <a: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52416" y="1426463"/>
            <a:ext cx="2621280" cy="196138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800" b="0">
                <a:solidFill>
                  <a:srgbClr val="1C2330"/>
                </a:solidFill>
                <a:latin typeface="Aptos"/>
              </a:defRPr>
            </a:pPr>
            <a:r>
              <a:t>su base cabe en 25 × 25 cm,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821167" y="1261872"/>
            <a:ext cx="3398520" cy="219913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22336" y="1426463"/>
            <a:ext cx="384048" cy="34747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500" b="1">
                <a:solidFill>
                  <a:srgbClr val="CC4F3E"/>
                </a:solidFill>
                <a:latin typeface="Aptos"/>
              </a:defRPr>
            </a:pPr>
            <a: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79536" y="1426463"/>
            <a:ext cx="2621280" cy="196138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800" b="0">
                <a:solidFill>
                  <a:srgbClr val="1C2330"/>
                </a:solidFill>
                <a:latin typeface="Aptos"/>
              </a:defRPr>
            </a:pPr>
            <a:r>
              <a:t>sostiene la carga común durante 60 segundos sin contacto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6928" y="3662172"/>
            <a:ext cx="3398520" cy="219913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8096" y="3826763"/>
            <a:ext cx="384048" cy="34747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500" b="1">
                <a:solidFill>
                  <a:srgbClr val="CC4F3E"/>
                </a:solidFill>
                <a:latin typeface="Aptos"/>
              </a:defRPr>
            </a:pPr>
            <a:r>
              <a:t>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25295" y="3826763"/>
            <a:ext cx="2621280" cy="196138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800" b="0">
                <a:solidFill>
                  <a:srgbClr val="1C2330"/>
                </a:solidFill>
                <a:latin typeface="Aptos"/>
              </a:defRPr>
            </a:pPr>
            <a:r>
              <a:t>y el equipo ha registrado su prueba.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194048" y="3662172"/>
            <a:ext cx="3398520" cy="219913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395216" y="3826763"/>
            <a:ext cx="384048" cy="34747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500" b="1">
                <a:solidFill>
                  <a:srgbClr val="CC4F3E"/>
                </a:solidFill>
                <a:latin typeface="Aptos"/>
              </a:defRPr>
            </a:pPr>
            <a:r>
              <a:t>05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852416" y="3826763"/>
            <a:ext cx="2621280" cy="196138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800" b="0">
                <a:solidFill>
                  <a:srgbClr val="1C2330"/>
                </a:solidFill>
                <a:latin typeface="Aptos"/>
              </a:defRPr>
            </a:pPr>
            <a:r>
              <a:t>La altura es un dato de la review, no sustituye la definición de terminado.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C4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CC4F3E"/>
                </a:solidFill>
                <a:latin typeface="Aptos"/>
              </a:defRPr>
            </a:pPr>
            <a:r>
              <a:t>OBSERVAR ANTES DE ACTUAR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Ejemplo o demostración · 1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CC4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204 · H0 — Formación y prueba de equipos Scrum mediante la torre de papel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353312"/>
            <a:ext cx="10927080" cy="4526280"/>
          </a:xfrm>
          <a:prstGeom prst="round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627632"/>
            <a:ext cx="2057400" cy="411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CC4F3E"/>
                </a:solidFill>
                <a:latin typeface="Aptos"/>
              </a:defRPr>
            </a:pPr>
            <a:r>
              <a:t>DEMOSTRACIÓN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212848"/>
            <a:ext cx="9966960" cy="324612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900"/>
              </a:spcAft>
              <a:defRPr sz="2200">
                <a:solidFill>
                  <a:srgbClr val="FFFFFF"/>
                </a:solidFill>
                <a:latin typeface="Aptos"/>
              </a:defRPr>
            </a:pPr>
            <a:r>
              <a:t>•  RETO: torre autoportante de papel</a:t>
            </a:r>
          </a:p>
          <a:p>
            <a:pPr>
              <a:spcAft>
                <a:spcPts val="900"/>
              </a:spcAft>
              <a:defRPr sz="2200">
                <a:solidFill>
                  <a:srgbClr val="FFFFFF"/>
                </a:solidFill>
                <a:latin typeface="Aptos"/>
              </a:defRPr>
            </a:pPr>
            <a:r>
              <a:t>•  Debe:</a:t>
            </a:r>
          </a:p>
          <a:p>
            <a:pPr>
              <a:spcAft>
                <a:spcPts val="900"/>
              </a:spcAft>
              <a:defRPr sz="2200">
                <a:solidFill>
                  <a:srgbClr val="FFFFFF"/>
                </a:solidFill>
                <a:latin typeface="Aptos"/>
              </a:defRPr>
            </a:pPr>
            <a:r>
              <a:t>•  [ ] usar solo el material entregado;</a:t>
            </a:r>
          </a:p>
          <a:p>
            <a:pPr>
              <a:spcAft>
                <a:spcPts val="900"/>
              </a:spcAft>
              <a:defRPr sz="2200">
                <a:solidFill>
                  <a:srgbClr val="FFFFFF"/>
                </a:solidFill>
                <a:latin typeface="Aptos"/>
              </a:defRPr>
            </a:pPr>
            <a:r>
              <a:t>•  [ ] apoyarse únicamente en la mesa;</a:t>
            </a:r>
          </a:p>
          <a:p>
            <a:pPr>
              <a:spcAft>
                <a:spcPts val="900"/>
              </a:spcAft>
              <a:defRPr sz="2200">
                <a:solidFill>
                  <a:srgbClr val="FFFFFF"/>
                </a:solidFill>
                <a:latin typeface="Aptos"/>
              </a:defRPr>
            </a:pPr>
            <a:r>
              <a:t>•  [ ] tener una base que quepa en 25 × 25 cm;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C4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CC4F3E"/>
                </a:solidFill>
                <a:latin typeface="Aptos"/>
              </a:defRPr>
            </a:pPr>
            <a:r>
              <a:t>OBSERVAR ANTES DE ACTUAR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Ejemplo o demostración · 2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CC4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204 · H0 — Formación y prueba de equipos Scrum mediante la torre de papel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353312"/>
            <a:ext cx="10927080" cy="4526280"/>
          </a:xfrm>
          <a:prstGeom prst="round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627632"/>
            <a:ext cx="2057400" cy="411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CC4F3E"/>
                </a:solidFill>
                <a:latin typeface="Aptos"/>
              </a:defRPr>
            </a:pPr>
            <a:r>
              <a:t>DEMOSTRACIÓN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212848"/>
            <a:ext cx="9966960" cy="324612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900"/>
              </a:spcAft>
              <a:defRPr sz="2200">
                <a:solidFill>
                  <a:srgbClr val="FFFFFF"/>
                </a:solidFill>
                <a:latin typeface="Aptos"/>
              </a:defRPr>
            </a:pPr>
            <a:r>
              <a:t>•  [ ] sostener la carga común de aproximadamente 50 g durante 60 segundos;</a:t>
            </a:r>
          </a:p>
          <a:p>
            <a:pPr>
              <a:spcAft>
                <a:spcPts val="900"/>
              </a:spcAft>
              <a:defRPr sz="2200">
                <a:solidFill>
                  <a:srgbClr val="FFFFFF"/>
                </a:solidFill>
                <a:latin typeface="Aptos"/>
              </a:defRPr>
            </a:pPr>
            <a:r>
              <a:t>•  [ ] medirse con la carga colocada;</a:t>
            </a:r>
          </a:p>
          <a:p>
            <a:pPr>
              <a:spcAft>
                <a:spcPts val="900"/>
              </a:spcAft>
              <a:defRPr sz="2200">
                <a:solidFill>
                  <a:srgbClr val="FFFFFF"/>
                </a:solidFill>
                <a:latin typeface="Aptos"/>
              </a:defRPr>
            </a:pPr>
            <a:r>
              <a:t>•  [ ] poder explicarse mediante decisiones y pruebas.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C4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CC4F3E"/>
                </a:solidFill>
                <a:latin typeface="Aptos"/>
              </a:defRPr>
            </a:pPr>
            <a:r>
              <a:t>APLICAR Y DECIDIR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Actividad central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CC4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204 · H0 — Formación y prueba de equipos Scrum mediante la torre de papel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307592"/>
            <a:ext cx="10835640" cy="104927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1453895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CC4F3E"/>
                </a:solidFill>
                <a:latin typeface="Aptos"/>
              </a:defRPr>
            </a:pPr>
            <a:r>
              <a:t>PASO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64208" y="1417319"/>
            <a:ext cx="9464040" cy="82981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Mi aportación observable fue: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2542032"/>
            <a:ext cx="10835640" cy="104927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0392" y="2688336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CC4F3E"/>
                </a:solidFill>
                <a:latin typeface="Aptos"/>
              </a:defRPr>
            </a:pPr>
            <a:r>
              <a:t>PASO 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64208" y="2651760"/>
            <a:ext cx="9464040" cy="82981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Una decisión de otra persona que ayudé a mejorar o integrar: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3776472"/>
            <a:ext cx="10835640" cy="104927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50392" y="3922776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CC4F3E"/>
                </a:solidFill>
                <a:latin typeface="Aptos"/>
              </a:defRPr>
            </a:pPr>
            <a:r>
              <a:t>PASO 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64208" y="3886200"/>
            <a:ext cx="9464040" cy="82981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Otra función que quiero practicar en MiniJarvis: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58368" y="5010912"/>
            <a:ext cx="10835640" cy="104927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50392" y="5157216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CC4F3E"/>
                </a:solidFill>
                <a:latin typeface="Aptos"/>
              </a:defRPr>
            </a:pPr>
            <a:r>
              <a:t>PASO 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64208" y="5120640"/>
            <a:ext cx="9464040" cy="82981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La evidencia que permitirá revisar mi aprendizaje será: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C4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CC4F3E"/>
                </a:solidFill>
                <a:latin typeface="Aptos"/>
              </a:defRPr>
            </a:pPr>
            <a:r>
              <a:t>COMPROBAR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Evidencia y comprobación · 1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CC4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204 · H0 — Formación y prueba de equipos Scrum mediante la torre de papel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298448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CC4F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89888" y="1280160"/>
            <a:ext cx="9829800" cy="675349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se han realizado dos ciclos de construcción o dos intentos registrados;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2010373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CC4F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89888" y="1992085"/>
            <a:ext cx="9829800" cy="675349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existe backlog inicial y adaptado;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3232" y="2722299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CC4F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89888" y="2704011"/>
            <a:ext cx="9829800" cy="675349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la definición de terminado se ha aplicado;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3232" y="3434225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CC4F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89888" y="3415937"/>
            <a:ext cx="9829800" cy="675349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las dos pruebas usan el mismo protocolo;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13232" y="4146150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CC4F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89888" y="4127862"/>
            <a:ext cx="9829800" cy="675349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review y retrospectiva están diferenciadas;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13232" y="4858076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CC4F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389888" y="4839788"/>
            <a:ext cx="9829800" cy="675349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todas las personas registran una aportación;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13232" y="5570002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CC4F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389888" y="5551714"/>
            <a:ext cx="9829800" cy="675349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las funciones han producido o dejado de producir conductas observables;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C4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CC4F3E"/>
                </a:solidFill>
                <a:latin typeface="Aptos"/>
              </a:defRPr>
            </a:pPr>
            <a:r>
              <a:t>COMPROBAR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Evidencia y comprobación · 2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CC4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204 · H0 — Formación y prueba de equipos Scrum mediante la torre de papel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298448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CC4F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89888" y="1280160"/>
            <a:ext cx="9829800" cy="2455164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existe al menos una mejora aplicada;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3790187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CC4F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89888" y="3771900"/>
            <a:ext cx="9829800" cy="2455164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cualquier petición de cambio se fundamenta en hechos, no en etiquetas HADA.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C4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CC4F3E"/>
                </a:solidFill>
                <a:latin typeface="Aptos"/>
              </a:defRPr>
            </a:pPr>
            <a:r>
              <a:t>EXPLICAR Y DEFENDER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Cierre y defensa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CC4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204 · H0 — Formación y prueba de equipos Scrum mediante la torre de papel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298448"/>
            <a:ext cx="10927080" cy="1828800"/>
          </a:xfrm>
          <a:prstGeom prst="roundRect">
            <a:avLst/>
          </a:prstGeom>
          <a:solidFill>
            <a:srgbClr val="CC4F3E"/>
          </a:solidFill>
          <a:ln>
            <a:solidFill>
              <a:srgbClr val="CC4F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591056"/>
            <a:ext cx="1024128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Aptos"/>
              </a:defRPr>
            </a:pPr>
            <a:r>
              <a:t>PREGUNTA O DECISIÓN DE SALIDA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1975104"/>
            <a:ext cx="10058400" cy="82296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500" b="1">
                <a:solidFill>
                  <a:srgbClr val="FFFFFF"/>
                </a:solidFill>
                <a:latin typeface="Aptos"/>
              </a:defRPr>
            </a:pPr>
            <a:r>
              <a:t>Mi aportación observable fue: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3886200"/>
            <a:ext cx="10607040" cy="1280160"/>
          </a:xfrm>
          <a:prstGeom prst="rect">
            <a:avLst/>
          </a:prstGeom>
          <a:noFill/>
        </p:spPr>
        <p:txBody>
          <a:bodyPr wrap="square" lIns="45720" rIns="45720" tIns="36576" bIns="36576" anchor="ctr">
            <a:spAutoFit/>
          </a:bodyPr>
          <a:lstStyle/>
          <a:p>
            <a:pPr algn="ctr">
              <a:defRPr sz="2300" b="1">
                <a:solidFill>
                  <a:srgbClr val="247E5C"/>
                </a:solidFill>
                <a:latin typeface="Aptos"/>
              </a:defRPr>
            </a:pPr>
            <a:r>
              <a:t>La sesión termina cuando la evidencia existe, está comprobada y puede defenderse.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