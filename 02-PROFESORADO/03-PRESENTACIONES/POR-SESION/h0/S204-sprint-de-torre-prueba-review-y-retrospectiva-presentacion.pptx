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1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40080" y="566928"/>
            <a:ext cx="1828800" cy="566928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676656"/>
            <a:ext cx="1682496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SESIÓN 204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536192"/>
            <a:ext cx="10789920" cy="16459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3800" b="1">
                <a:solidFill>
                  <a:srgbClr val="FFFFFF"/>
                </a:solidFill>
                <a:latin typeface="Aptos"/>
              </a:defRPr>
            </a:pPr>
            <a:r>
              <a:t>Torre de papel: construir, probar, inspeccionar y adaptar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822191"/>
            <a:ext cx="6766560" cy="38404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900" b="1">
                <a:solidFill>
                  <a:srgbClr val="BEC8D6"/>
                </a:solidFill>
                <a:latin typeface="Aptos"/>
              </a:defRPr>
            </a:pPr>
            <a:r>
              <a:t>H0  ·  90 minutos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5074920"/>
            <a:ext cx="10241280" cy="6400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400" b="0">
                <a:solidFill>
                  <a:srgbClr val="FFFFFF"/>
                </a:solidFill>
                <a:latin typeface="Aptos"/>
              </a:defRPr>
            </a:pPr>
            <a:r>
              <a:t>Hoy construiremos una evidencia que puedas comprobar y explicar.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6272784"/>
            <a:ext cx="1060704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A0AAB9"/>
                </a:solidFill>
                <a:latin typeface="Aptos"/>
              </a:defRPr>
            </a:pPr>
            <a:r>
              <a:t>MINIJARVIS · PROGRAMACIÓN + ENTORNOS DE DESARROLLO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PUNTO DE PARTIDA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Qué vamos a conseguir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C4F3E"/>
                </a:solidFill>
                <a:latin typeface="Aptos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44168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C4F3E"/>
                </a:solidFill>
                <a:latin typeface="Aptos"/>
              </a:defRPr>
            </a:pPr>
            <a:r>
              <a:t>Hoy vas a…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Comprender y aplicar el objetivo de la sesión.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36208" y="1417320"/>
            <a:ext cx="5349240" cy="43434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4808" y="1618488"/>
            <a:ext cx="438912" cy="4114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2400" b="1">
                <a:solidFill>
                  <a:srgbClr val="CC4F3E"/>
                </a:solidFill>
                <a:latin typeface="Aptos"/>
              </a:defRPr>
            </a:pPr>
            <a: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86016" y="1645920"/>
            <a:ext cx="438912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700" b="1">
                <a:solidFill>
                  <a:srgbClr val="CC4F3E"/>
                </a:solidFill>
                <a:latin typeface="Aptos"/>
              </a:defRPr>
            </a:pPr>
            <a:r>
              <a:t>Debe quedar…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10528" y="2286000"/>
            <a:ext cx="4800600" cy="324612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200" b="0">
                <a:solidFill>
                  <a:srgbClr val="1C2330"/>
                </a:solidFill>
                <a:latin typeface="Aptos"/>
              </a:defRPr>
            </a:pPr>
            <a:r>
              <a:t>Una evidencia comprobable y defendible.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PASO A PASO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Ruta de trabajo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325880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1435607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44168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Comprender y aplicar el objetivo de la sesión.</a:t>
            </a:r>
          </a:p>
        </p:txBody>
      </p:sp>
      <p:sp>
        <p:nvSpPr>
          <p:cNvPr id="11" name="Oval 10"/>
          <p:cNvSpPr/>
          <p:nvPr/>
        </p:nvSpPr>
        <p:spPr>
          <a:xfrm>
            <a:off x="685800" y="2258568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5800" y="2368296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417320" y="2276856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Realiza una prueba observable.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3191256"/>
            <a:ext cx="502920" cy="502920"/>
          </a:xfrm>
          <a:prstGeom prst="ellipse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5800" y="3300984"/>
            <a:ext cx="502920" cy="201168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400" b="1">
                <a:solidFill>
                  <a:srgbClr val="FFFFFF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3209544"/>
            <a:ext cx="9875520" cy="5486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Guarda la evidencia y prepárate para explicarla.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COMPRENDER Y APLICAR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Claves para avanzar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94360" y="1325880"/>
            <a:ext cx="5257800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172200" y="1325880"/>
            <a:ext cx="5413248" cy="452628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600200"/>
            <a:ext cx="466344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C4F3E"/>
                </a:solidFill>
                <a:latin typeface="Aptos"/>
              </a:defRPr>
            </a:pPr>
            <a:r>
              <a:t>IDEAS CLAVE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121408"/>
            <a:ext cx="457200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Comprender y aplicar el objetivo de la sesión.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Relaciona el producto con el proceso, la prueba y la explicación.</a:t>
            </a:r>
          </a:p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La evidencia esperada es: Una evidencia comprobable y defendible.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46520" y="1600200"/>
            <a:ext cx="4572000" cy="3657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600" b="1">
                <a:solidFill>
                  <a:srgbClr val="CC4F3E"/>
                </a:solidFill>
                <a:latin typeface="Aptos"/>
              </a:defRPr>
            </a:pPr>
            <a:r>
              <a:t>ACTIVIDAD CENTRAL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2121408"/>
            <a:ext cx="4617720" cy="333756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800">
                <a:solidFill>
                  <a:srgbClr val="1C2330"/>
                </a:solidFill>
                <a:latin typeface="Aptos"/>
              </a:defRPr>
            </a:pPr>
            <a:r>
              <a:t>•  Sigue la consigna indicada en clase.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EVIDENCIA MÍNIMA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Antes de salir, comprueba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13232" y="1371600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89888" y="1362456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He producido o actualizado: Una evidencia comprobable y defendible.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3232" y="2267712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389888" y="2258568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señalar dónde está.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3232" y="3163824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3154680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explicar una decisión.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13232" y="4059935"/>
            <a:ext cx="420624" cy="420624"/>
          </a:xfrm>
          <a:prstGeom prst="roundRect">
            <a:avLst/>
          </a:prstGeom>
          <a:solidFill>
            <a:srgbClr val="FFFFFF"/>
          </a:solidFill>
          <a:ln>
            <a:solidFill>
              <a:srgbClr val="CC4F3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89888" y="4050791"/>
            <a:ext cx="9784080" cy="5943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000" b="0">
                <a:solidFill>
                  <a:srgbClr val="1C2330"/>
                </a:solidFill>
                <a:latin typeface="Aptos"/>
              </a:defRPr>
            </a:pPr>
            <a:r>
              <a:t>Puedo mostrar una prueba.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9F7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10896"/>
            <a:ext cx="5029200" cy="25603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000" b="1">
                <a:solidFill>
                  <a:srgbClr val="CC4F3E"/>
                </a:solidFill>
                <a:latin typeface="Aptos"/>
              </a:defRPr>
            </a:pPr>
            <a:r>
              <a:t>COMPRUEBA Y EXPLICA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621792"/>
            <a:ext cx="11064240" cy="53035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800" b="1">
                <a:solidFill>
                  <a:srgbClr val="1C2330"/>
                </a:solidFill>
                <a:latin typeface="Aptos"/>
              </a:defRPr>
            </a:pPr>
            <a:r>
              <a:t>Cierre de la sesión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6629400"/>
            <a:ext cx="11247120" cy="164592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900" b="0">
                <a:solidFill>
                  <a:srgbClr val="FFFFFF"/>
                </a:solidFill>
                <a:latin typeface="Aptos"/>
              </a:defRPr>
            </a:pPr>
            <a:r>
              <a:t>MiniJarvis · 1.º DAW · Sesión 204 · H0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" y="1298448"/>
            <a:ext cx="10927080" cy="1965960"/>
          </a:xfrm>
          <a:prstGeom prst="roundRect">
            <a:avLst/>
          </a:prstGeom>
          <a:solidFill>
            <a:srgbClr val="CC4F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618488"/>
            <a:ext cx="10195560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Aptos"/>
              </a:defRPr>
            </a:pPr>
            <a:r>
              <a:t>PREGUNTA DE SALIDA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057400"/>
            <a:ext cx="10058400" cy="82296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2700" b="1">
                <a:solidFill>
                  <a:srgbClr val="FFFFFF"/>
                </a:solidFill>
                <a:latin typeface="Aptos"/>
              </a:defRPr>
            </a:pPr>
            <a:r>
              <a:t>¿Qué has hecho y cómo sabes que funciona?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3703320"/>
            <a:ext cx="3749039" cy="32004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l">
              <a:defRPr sz="1500" b="1">
                <a:solidFill>
                  <a:srgbClr val="CC4F3E"/>
                </a:solidFill>
                <a:latin typeface="Aptos"/>
              </a:defRPr>
            </a:pPr>
            <a:r>
              <a:t>RECUERDA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4114800"/>
            <a:ext cx="6583680" cy="1691640"/>
          </a:xfrm>
          <a:prstGeom prst="rect">
            <a:avLst/>
          </a:prstGeom>
          <a:noFill/>
        </p:spPr>
        <p:txBody>
          <a:bodyPr wrap="square" lIns="73152" rIns="45720" tIns="36576">
            <a:spAutoFit/>
          </a:bodyPr>
          <a:lstStyle/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Usa datos ficticios.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No compartas contraseñas ni claves.</a:t>
            </a:r>
          </a:p>
          <a:p>
            <a:pPr>
              <a:spcAft>
                <a:spcPts val="1000"/>
              </a:spcAft>
              <a:defRPr sz="1700">
                <a:solidFill>
                  <a:srgbClr val="1C2330"/>
                </a:solidFill>
                <a:latin typeface="Aptos"/>
              </a:defRPr>
            </a:pPr>
            <a:r>
              <a:t>•  Registra y valida cualquier uso de IA.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26679" y="3794760"/>
            <a:ext cx="3703320" cy="1600200"/>
          </a:xfrm>
          <a:prstGeom prst="roundRect">
            <a:avLst/>
          </a:prstGeom>
          <a:solidFill>
            <a:srgbClr val="FFFFFF"/>
          </a:solidFill>
          <a:ln>
            <a:solidFill>
              <a:srgbClr val="EBEE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28431" y="4087368"/>
            <a:ext cx="3063240" cy="868680"/>
          </a:xfrm>
          <a:prstGeom prst="rect">
            <a:avLst/>
          </a:prstGeom>
          <a:noFill/>
        </p:spPr>
        <p:txBody>
          <a:bodyPr wrap="square" lIns="36576" rIns="36576" tIns="27432" bIns="27432">
            <a:spAutoFit/>
          </a:bodyPr>
          <a:lstStyle/>
          <a:p>
            <a:pPr algn="ctr">
              <a:defRPr sz="1800" b="1">
                <a:solidFill>
                  <a:srgbClr val="247E5C"/>
                </a:solidFill>
                <a:latin typeface="Aptos"/>
              </a:defRPr>
            </a:pPr>
            <a:r>
              <a:t>La sesión termina cuando la evidencia existe, está comprobada y puedes defenderla.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