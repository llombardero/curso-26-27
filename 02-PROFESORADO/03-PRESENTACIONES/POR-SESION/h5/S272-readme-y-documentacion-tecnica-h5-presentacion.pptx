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8368" y="566928"/>
            <a:ext cx="1874519" cy="566928"/>
          </a:xfrm>
          <a:prstGeom prst="roundRect">
            <a:avLst/>
          </a:prstGeom>
          <a:solidFill>
            <a:srgbClr val="C87022"/>
          </a:solidFill>
          <a:ln>
            <a:solidFill>
              <a:srgbClr val="C870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719072" cy="22860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SESIÓN 272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81328"/>
            <a:ext cx="10789920" cy="169164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Aptos"/>
              </a:defRPr>
            </a:pPr>
            <a:r>
              <a:t>README y documentación técnica H5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3703320"/>
            <a:ext cx="10424160" cy="4114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1">
                <a:solidFill>
                  <a:srgbClr val="BEC8D6"/>
                </a:solidFill>
                <a:latin typeface="Aptos"/>
              </a:defRPr>
            </a:pPr>
            <a:r>
              <a:t>H5 · 45 minutos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4315968"/>
            <a:ext cx="10241280" cy="5029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FFFFFF"/>
                </a:solidFill>
                <a:latin typeface="Aptos"/>
              </a:defRPr>
            </a:pPr>
            <a:r>
              <a:t>Fase HEXA: Comunicar — evaluar y reflexionar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4965192"/>
            <a:ext cx="10241280" cy="59436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700" b="0">
                <a:solidFill>
                  <a:srgbClr val="D2D9E4"/>
                </a:solidFill>
                <a:latin typeface="Aptos"/>
              </a:defRPr>
            </a:pPr>
            <a:r>
              <a:t>Equipo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6272784"/>
            <a:ext cx="10607040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A0AAB9"/>
                </a:solidFill>
                <a:latin typeface="Aptos"/>
              </a:defRPr>
            </a:pPr>
            <a:r>
              <a:t>MINIJARVIS · PROGRAMACIÓN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C87022"/>
                </a:solidFill>
                <a:latin typeface="Aptos"/>
              </a:defRPr>
            </a:pPr>
            <a:r>
              <a:t>PUNTO DE PARTIDA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Qué debe conseguirse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272 · H5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389888"/>
            <a:ext cx="5184648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618488"/>
            <a:ext cx="4727448" cy="38404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100" b="1">
                <a:solidFill>
                  <a:srgbClr val="1C2330"/>
                </a:solidFill>
                <a:latin typeface="Aptos"/>
              </a:defRPr>
            </a:pPr>
            <a:r>
              <a:t>Objetivo: Documentar diseño extensible.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1389888"/>
            <a:ext cx="5184648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1618488"/>
            <a:ext cx="4727448" cy="38404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100" b="1">
                <a:solidFill>
                  <a:srgbClr val="1C2330"/>
                </a:solidFill>
                <a:latin typeface="Aptos"/>
              </a:defRPr>
            </a:pPr>
            <a:r>
              <a:t>Evidencia: README H5.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C87022"/>
                </a:solidFill>
                <a:latin typeface="Aptos"/>
              </a:defRPr>
            </a:pPr>
            <a:r>
              <a:t>RITMO DE LA SESIÓN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Secuencia de aula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272 · H5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280160"/>
            <a:ext cx="475488" cy="475488"/>
          </a:xfrm>
          <a:prstGeom prst="ellipse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38074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9888" y="126187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0–5 min — Presentar objetivo, producto y evidencia de hoy.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" y="2125979"/>
            <a:ext cx="475488" cy="475488"/>
          </a:xfrm>
          <a:prstGeom prst="ellipse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2226563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89888" y="2107691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5–13 min — Explicación breve: Documentar H5 implica explicar cómo se añade una herramienta.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2971799"/>
            <a:ext cx="475488" cy="475488"/>
          </a:xfrm>
          <a:prstGeom prst="ellipse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3072383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89888" y="2953511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13–18 min — Demostración o ejemplo: Apartado “Cómo añadir una nueva Tool”.</a:t>
            </a:r>
          </a:p>
        </p:txBody>
      </p:sp>
      <p:sp>
        <p:nvSpPr>
          <p:cNvPr id="17" name="Oval 16"/>
          <p:cNvSpPr/>
          <p:nvPr/>
        </p:nvSpPr>
        <p:spPr>
          <a:xfrm>
            <a:off x="658368" y="3817620"/>
            <a:ext cx="475488" cy="475488"/>
          </a:xfrm>
          <a:prstGeom prst="ellipse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391820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89888" y="379933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18–35 min — Trabajo del alumnado: Actualizar README con estructura, herramientas y ejecución.</a:t>
            </a:r>
          </a:p>
        </p:txBody>
      </p:sp>
      <p:sp>
        <p:nvSpPr>
          <p:cNvPr id="20" name="Oval 19"/>
          <p:cNvSpPr/>
          <p:nvPr/>
        </p:nvSpPr>
        <p:spPr>
          <a:xfrm>
            <a:off x="658368" y="4663440"/>
            <a:ext cx="475488" cy="475488"/>
          </a:xfrm>
          <a:prstGeom prst="ellipse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476402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89888" y="464515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35–40 min — Comprobar la evidencia con una explicación o prueba breve.</a:t>
            </a:r>
          </a:p>
        </p:txBody>
      </p:sp>
      <p:sp>
        <p:nvSpPr>
          <p:cNvPr id="23" name="Oval 22"/>
          <p:cNvSpPr/>
          <p:nvPr/>
        </p:nvSpPr>
        <p:spPr>
          <a:xfrm>
            <a:off x="658368" y="5509259"/>
            <a:ext cx="475488" cy="475488"/>
          </a:xfrm>
          <a:prstGeom prst="ellipse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560984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89888" y="549097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40–45 min — Cierre: Otro equipo intenta entender cómo añadir una herramienta.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C87022"/>
                </a:solidFill>
                <a:latin typeface="Aptos"/>
              </a:defRPr>
            </a:pPr>
            <a:r>
              <a:t>COMPRENDER Y TRANSFERIR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Idea clave y puesta en práctica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272 · H5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325880"/>
            <a:ext cx="5285232" cy="473659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627632"/>
            <a:ext cx="2011680" cy="329184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300" b="1">
                <a:solidFill>
                  <a:srgbClr val="C87022"/>
                </a:solidFill>
                <a:latin typeface="Aptos"/>
              </a:defRPr>
            </a:pPr>
            <a:r>
              <a:t>IDEA CLAVE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176272"/>
            <a:ext cx="4617720" cy="3429000"/>
          </a:xfrm>
          <a:prstGeom prst="rect">
            <a:avLst/>
          </a:prstGeom>
          <a:noFill/>
        </p:spPr>
        <p:txBody>
          <a:bodyPr wrap="square" lIns="73152" rIns="45720" tIns="36576">
            <a:spAutoFit/>
          </a:bodyPr>
          <a:lstStyle/>
          <a:p>
            <a:pPr>
              <a:spcAft>
                <a:spcPts val="900"/>
              </a:spcAft>
              <a:defRPr sz="2300">
                <a:solidFill>
                  <a:srgbClr val="1C2330"/>
                </a:solidFill>
                <a:latin typeface="Aptos"/>
              </a:defRPr>
            </a:pPr>
            <a:r>
              <a:t>•  README debe explicar cómo añadir una herramienta.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325880"/>
            <a:ext cx="5394960" cy="4736592"/>
          </a:xfrm>
          <a:prstGeom prst="roundRect">
            <a:avLst/>
          </a:prstGeom>
          <a:solidFill>
            <a:srgbClr val="12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627632"/>
            <a:ext cx="2194560" cy="329184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300" b="1">
                <a:solidFill>
                  <a:srgbClr val="C87022"/>
                </a:solidFill>
                <a:latin typeface="Aptos"/>
              </a:defRPr>
            </a:pPr>
            <a:r>
              <a:t>EN PRÁCTICA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176272"/>
            <a:ext cx="4617720" cy="3429000"/>
          </a:xfrm>
          <a:prstGeom prst="rect">
            <a:avLst/>
          </a:prstGeom>
          <a:noFill/>
        </p:spPr>
        <p:txBody>
          <a:bodyPr wrap="square" lIns="73152" rIns="45720" tIns="36576">
            <a:spAutoFit/>
          </a:bodyPr>
          <a:lstStyle/>
          <a:p>
            <a:pPr>
              <a:spcAft>
                <a:spcPts val="900"/>
              </a:spcAft>
              <a:defRPr sz="2300">
                <a:solidFill>
                  <a:srgbClr val="FFFFFF"/>
                </a:solidFill>
                <a:latin typeface="Aptos"/>
              </a:defRPr>
            </a:pPr>
            <a:r>
              <a:t>•  Apartado “Cómo añadir una nueva Tool”.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C87022"/>
                </a:solidFill>
                <a:latin typeface="Aptos"/>
              </a:defRPr>
            </a:pPr>
            <a:r>
              <a:t>APLICAR Y DECIDIR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Actividad central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272 · H5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07592"/>
            <a:ext cx="10835640" cy="2226564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453895"/>
            <a:ext cx="685800" cy="38404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200" b="1">
                <a:solidFill>
                  <a:srgbClr val="C87022"/>
                </a:solidFill>
                <a:latin typeface="Aptos"/>
              </a:defRPr>
            </a:pPr>
            <a:r>
              <a:t>PASO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64208" y="1417319"/>
            <a:ext cx="9464040" cy="200710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000" b="0">
                <a:solidFill>
                  <a:srgbClr val="1C2330"/>
                </a:solidFill>
                <a:latin typeface="Aptos"/>
              </a:defRPr>
            </a:pPr>
            <a:r>
              <a:t>Actualizar README.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3776472"/>
            <a:ext cx="10835640" cy="2226564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3922776"/>
            <a:ext cx="685800" cy="38404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200" b="1">
                <a:solidFill>
                  <a:srgbClr val="C87022"/>
                </a:solidFill>
                <a:latin typeface="Aptos"/>
              </a:defRPr>
            </a:pPr>
            <a:r>
              <a:t>PASO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64208" y="3886200"/>
            <a:ext cx="9464040" cy="200710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000" b="0">
                <a:solidFill>
                  <a:srgbClr val="1C2330"/>
                </a:solidFill>
                <a:latin typeface="Aptos"/>
              </a:defRPr>
            </a:pPr>
            <a:r>
              <a:t>Comprueba y registra la evidencia: README H5.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C87022"/>
                </a:solidFill>
                <a:latin typeface="Aptos"/>
              </a:defRPr>
            </a:pPr>
            <a:r>
              <a:t>COMPROBAR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Evidencia y comprobación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272 · H5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298448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C870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89888" y="1280160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Pueden explicar qué están intentando conseguir.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2295144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C870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89888" y="2276856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Registran una decisión, prueba o bloqueo; no muestran solo el resultado final.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3291839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C870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89888" y="3273551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Todas las personas pueden describir su aportación.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4288536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C870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89888" y="4270248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Comprueban el producto con un criterio observable.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5285231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C870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89888" y="5266944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No usan datos personales, credenciales ni respuestas de ejemplo antes del intento propio.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C87022"/>
                </a:solidFill>
                <a:latin typeface="Aptos"/>
              </a:defRPr>
            </a:pPr>
            <a:r>
              <a:t>EXPLICAR Y DEFENDER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Cierre y defensa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272 · H5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298448"/>
            <a:ext cx="10927080" cy="1828800"/>
          </a:xfrm>
          <a:prstGeom prst="roundRect">
            <a:avLst/>
          </a:prstGeom>
          <a:solidFill>
            <a:srgbClr val="C87022"/>
          </a:solidFill>
          <a:ln>
            <a:solidFill>
              <a:srgbClr val="C870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91056"/>
            <a:ext cx="1024128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ptos"/>
              </a:defRPr>
            </a:pPr>
            <a:r>
              <a:t>PREGUNTA O DECISIÓN DE SALIDA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1975104"/>
            <a:ext cx="10058400" cy="82296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  <a:latin typeface="Aptos"/>
              </a:defRPr>
            </a:pPr>
            <a:r>
              <a:t>Otro equipo intenta entender cómo añadir una herramienta.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3886200"/>
            <a:ext cx="10607040" cy="1280160"/>
          </a:xfrm>
          <a:prstGeom prst="rect">
            <a:avLst/>
          </a:prstGeom>
          <a:noFill/>
        </p:spPr>
        <p:txBody>
          <a:bodyPr wrap="square" lIns="45720" rIns="45720" tIns="36576" bIns="36576" anchor="ctr">
            <a:spAutoFit/>
          </a:bodyPr>
          <a:lstStyle/>
          <a:p>
            <a:pPr algn="ctr">
              <a:defRPr sz="2300" b="1">
                <a:solidFill>
                  <a:srgbClr val="247E5C"/>
                </a:solidFill>
                <a:latin typeface="Aptos"/>
              </a:defRPr>
            </a:pPr>
            <a:r>
              <a:t>La sesión termina cuando la evidencia existe, está comprobada y puede defenderse.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