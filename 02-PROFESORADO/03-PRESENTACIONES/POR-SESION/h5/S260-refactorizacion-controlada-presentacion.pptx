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66928"/>
            <a:ext cx="1874519" cy="566928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685800"/>
            <a:ext cx="1719072" cy="22860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260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481328"/>
            <a:ext cx="10789920" cy="169164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Refactorización controlada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3703320"/>
            <a:ext cx="10424160" cy="411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H5 · 45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2" y="4315968"/>
            <a:ext cx="10241280" cy="5029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FFFFFF"/>
                </a:solidFill>
                <a:latin typeface="Aptos"/>
              </a:defRPr>
            </a:pPr>
            <a:r>
              <a:t>Fase HEXA: Investigar — aprender lo necesario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6272784"/>
            <a:ext cx="10607040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debe conseguirse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Objetivo: Mejorar estructura sin cambiar comportamiento.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035040" y="1389888"/>
            <a:ext cx="5184648" cy="4297680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1618488"/>
            <a:ext cx="4727448" cy="38404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100" b="1">
                <a:solidFill>
                  <a:srgbClr val="1C2330"/>
                </a:solidFill>
                <a:latin typeface="Aptos"/>
              </a:defRPr>
            </a:pPr>
            <a:r>
              <a:t>Evidencia: docs/informe-refactorizacion-h5.md inicial.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RITMO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Secuencia de aula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Oval 7"/>
          <p:cNvSpPr/>
          <p:nvPr/>
        </p:nvSpPr>
        <p:spPr>
          <a:xfrm>
            <a:off x="658368" y="128016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13807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12618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0–5 min — Presentar objetivo, producto y evidencia de hoy.</a:t>
            </a:r>
          </a:p>
        </p:txBody>
      </p:sp>
      <p:sp>
        <p:nvSpPr>
          <p:cNvPr id="11" name="Oval 10"/>
          <p:cNvSpPr/>
          <p:nvPr/>
        </p:nvSpPr>
        <p:spPr>
          <a:xfrm>
            <a:off x="658368" y="212597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8" y="222656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210769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5–13 min — Explicación breve: Refactorizar mejora estructura sin cambiar comportamiento.</a:t>
            </a:r>
          </a:p>
        </p:txBody>
      </p:sp>
      <p:sp>
        <p:nvSpPr>
          <p:cNvPr id="14" name="Oval 13"/>
          <p:cNvSpPr/>
          <p:nvPr/>
        </p:nvSpPr>
        <p:spPr>
          <a:xfrm>
            <a:off x="658368" y="297179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3072383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2953511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13–18 min — Demostración o ejemplo: Extraer método o renombrar variable y ejecutar pruebas.</a:t>
            </a:r>
          </a:p>
        </p:txBody>
      </p:sp>
      <p:sp>
        <p:nvSpPr>
          <p:cNvPr id="17" name="Oval 16"/>
          <p:cNvSpPr/>
          <p:nvPr/>
        </p:nvSpPr>
        <p:spPr>
          <a:xfrm>
            <a:off x="658368" y="381762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" y="391820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379933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18–35 min — Trabajo del alumnado: Aplicar una refactorización pequeña.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" y="4663440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" y="476402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464515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35–40 min — Comprobar la evidencia con una explicación o prueba breve.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" y="5509259"/>
            <a:ext cx="475488" cy="475488"/>
          </a:xfrm>
          <a:prstGeom prst="ellipse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" y="5609844"/>
            <a:ext cx="475488" cy="2011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ctr">
              <a:defRPr sz="1300" b="1">
                <a:solidFill>
                  <a:srgbClr val="FFFFFF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5490972"/>
            <a:ext cx="10058400" cy="77266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600" b="0">
                <a:solidFill>
                  <a:srgbClr val="1C2330"/>
                </a:solidFill>
                <a:latin typeface="Aptos"/>
              </a:defRPr>
            </a:pPr>
            <a:r>
              <a:t>40–45 min — Cierre: Ejecutar prueba que demuestre que no se rompió.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COMPRENDER Y TRANSFERIR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Idea clave y puesta en práctica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325880"/>
            <a:ext cx="5285232" cy="473659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627632"/>
            <a:ext cx="201168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IDEA CLAVE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1C2330"/>
                </a:solidFill>
                <a:latin typeface="Aptos"/>
              </a:defRPr>
            </a:pPr>
            <a:r>
              <a:t>•  Antes/después, motivo y prueba posterior.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325880"/>
            <a:ext cx="5394960" cy="4736592"/>
          </a:xfrm>
          <a:prstGeom prst="round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1627632"/>
            <a:ext cx="2194560" cy="329184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C87022"/>
                </a:solidFill>
                <a:latin typeface="Aptos"/>
              </a:defRPr>
            </a:pPr>
            <a:r>
              <a:t>EN PRÁCTICA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92240" y="2176272"/>
            <a:ext cx="4617720" cy="342900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900"/>
              </a:spcAft>
              <a:defRPr sz="2300">
                <a:solidFill>
                  <a:srgbClr val="FFFFFF"/>
                </a:solidFill>
                <a:latin typeface="Aptos"/>
              </a:defRPr>
            </a:pPr>
            <a:r>
              <a:t>•  Extraer método o renombrar variable y ejecutar pruebas.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APLICAR Y DECIDIR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130759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0392" y="1453895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64208" y="1417319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Refactor pequeño documentado.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3776472"/>
            <a:ext cx="10835640" cy="2226564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50392" y="3922776"/>
            <a:ext cx="685800" cy="38404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200" b="1">
                <a:solidFill>
                  <a:srgbClr val="C87022"/>
                </a:solidFill>
                <a:latin typeface="Aptos"/>
              </a:defRPr>
            </a:pPr>
            <a:r>
              <a:t>PASO 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64208" y="3886200"/>
            <a:ext cx="9464040" cy="2007108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Comprueba y registra la evidencia: docs/informe-refactorizacion-h5.md inicial.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COMPROBAR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Evidencia y comprobación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298448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280160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producido o actualizado: docs/informe-refactorizacion-h5 inicial.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9514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76856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291839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273551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explicar una decisión tomada.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288536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270248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Puedo mostrar una prueba o comprobación.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13232" y="5285231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389888" y="5266944"/>
            <a:ext cx="9829800" cy="96012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He registrado mi aportación individual si el trabajo era de equipo.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LÍMITES QUE PROTEGEN EL APRENDIZAJE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Seguridad y uso responsable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841248" y="1527048"/>
            <a:ext cx="237744" cy="1719072"/>
          </a:xfrm>
          <a:prstGeom prst="roundRect">
            <a:avLst/>
          </a:prstGeom>
          <a:solidFill>
            <a:srgbClr val="247E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80160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Trabaja únicamente con datos ficticios.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26479" y="1298448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345936" y="1527048"/>
            <a:ext cx="237744" cy="1719072"/>
          </a:xfrm>
          <a:prstGeom prst="roundRect">
            <a:avLst/>
          </a:prstGeom>
          <a:solidFill>
            <a:srgbClr val="C070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784847" y="1527048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No escribas contraseñas, tokens, claves API ni datos personales.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41248" y="3904487"/>
            <a:ext cx="237744" cy="1719072"/>
          </a:xfrm>
          <a:prstGeom prst="roundRect">
            <a:avLst/>
          </a:prstGeom>
          <a:solidFill>
            <a:srgbClr val="B13A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0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Si utilizas IA en un uso permitido, registra qué pediste, qué recibiste, qué cambiaste y cómo lo comprobaste.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26479" y="3675887"/>
            <a:ext cx="5230368" cy="2176272"/>
          </a:xfrm>
          <a:prstGeom prst="roundRect">
            <a:avLst/>
          </a:prstGeom>
          <a:solidFill>
            <a:srgbClr val="FFFFFF"/>
          </a:solidFill>
          <a:ln>
            <a:solidFill>
              <a:srgbClr val="E5E9E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345936" y="3904487"/>
            <a:ext cx="237744" cy="1719072"/>
          </a:xfrm>
          <a:prstGeom prst="round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784847" y="3904487"/>
            <a:ext cx="4224528" cy="178308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900" b="0">
                <a:solidFill>
                  <a:srgbClr val="1C2330"/>
                </a:solidFill>
                <a:latin typeface="Aptos"/>
              </a:defRPr>
            </a:pPr>
            <a:r>
              <a:t>Los ejemplos de Laura solo se consultan después del intento propio.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274320"/>
            <a:ext cx="548640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000" b="1">
                <a:solidFill>
                  <a:srgbClr val="C87022"/>
                </a:solidFill>
                <a:latin typeface="Aptos"/>
              </a:defRPr>
            </a:pPr>
            <a:r>
              <a:t>EXPLICAR Y DEFENDER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03504"/>
            <a:ext cx="11064240" cy="53035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y defensa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870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260 · H5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828800"/>
          </a:xfrm>
          <a:prstGeom prst="roundRect">
            <a:avLst/>
          </a:prstGeom>
          <a:solidFill>
            <a:srgbClr val="C87022"/>
          </a:solidFill>
          <a:ln>
            <a:solidFill>
              <a:srgbClr val="C870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32688" y="1591056"/>
            <a:ext cx="10241280" cy="256032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1300" b="1">
                <a:solidFill>
                  <a:srgbClr val="FFFFFF"/>
                </a:solidFill>
                <a:latin typeface="Aptos"/>
              </a:defRPr>
            </a:pPr>
            <a:r>
              <a:t>PREGUNTA O DECISIÓN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975104"/>
            <a:ext cx="10058400" cy="822960"/>
          </a:xfrm>
          <a:prstGeom prst="rect">
            <a:avLst/>
          </a:prstGeom>
          <a:noFill/>
        </p:spPr>
        <p:txBody>
          <a:bodyPr wrap="square" lIns="45720" rIns="45720" tIns="36576" bIns="36576" anchor="t">
            <a:spAutoFit/>
          </a:bodyPr>
          <a:lstStyle/>
          <a:p>
            <a:pPr algn="l">
              <a:defRPr sz="2500" b="1">
                <a:solidFill>
                  <a:srgbClr val="FFFFFF"/>
                </a:solidFill>
                <a:latin typeface="Aptos"/>
              </a:defRPr>
            </a:pPr>
            <a:r>
              <a:t>Ejecutar prueba que demuestre que no se rompió.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886200"/>
            <a:ext cx="10607040" cy="1280160"/>
          </a:xfrm>
          <a:prstGeom prst="rect">
            <a:avLst/>
          </a:prstGeom>
          <a:noFill/>
        </p:spPr>
        <p:txBody>
          <a:bodyPr wrap="square" lIns="45720" rIns="45720" tIns="36576" bIns="36576" anchor="ctr">
            <a:spAutoFit/>
          </a:bodyPr>
          <a:lstStyle/>
          <a:p>
            <a:pPr algn="ctr">
              <a:defRPr sz="23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 defenderse.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