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40080" y="566928"/>
            <a:ext cx="1828800" cy="566928"/>
          </a:xfrm>
          <a:prstGeom prst="round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676656"/>
            <a:ext cx="1682496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SESIÓN 260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536192"/>
            <a:ext cx="10789920" cy="164592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3800" b="1">
                <a:solidFill>
                  <a:srgbClr val="FFFFFF"/>
                </a:solidFill>
                <a:latin typeface="Aptos"/>
              </a:defRPr>
            </a:pPr>
            <a:r>
              <a:t>Refactorización controlada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822191"/>
            <a:ext cx="6766560" cy="38404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900" b="1">
                <a:solidFill>
                  <a:srgbClr val="BEC8D6"/>
                </a:solidFill>
                <a:latin typeface="Aptos"/>
              </a:defRPr>
            </a:pPr>
            <a:r>
              <a:t>H5  ·  45 minutos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5074920"/>
            <a:ext cx="10241280" cy="64008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400" b="0">
                <a:solidFill>
                  <a:srgbClr val="FFFFFF"/>
                </a:solidFill>
                <a:latin typeface="Aptos"/>
              </a:defRPr>
            </a:pPr>
            <a:r>
              <a:t>Hoy construiremos una evidencia que puedas comprobar y explicar.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6272784"/>
            <a:ext cx="1060704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A0AAB9"/>
                </a:solidFill>
                <a:latin typeface="Aptos"/>
              </a:defRPr>
            </a:pPr>
            <a:r>
              <a:t>MINIJARVIS · PROGRAMACIÓN + ENTORNOS DE DESARROLLO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5029200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C87022"/>
                </a:solidFill>
                <a:latin typeface="Aptos"/>
              </a:defRPr>
            </a:pPr>
            <a:r>
              <a:t>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1064240" cy="53035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Qué vamos a conseguir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260 · H5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417320"/>
            <a:ext cx="5349240" cy="4343400"/>
          </a:xfrm>
          <a:prstGeom prst="roundRect">
            <a:avLst/>
          </a:prstGeom>
          <a:solidFill>
            <a:srgbClr val="FFFFFF"/>
          </a:solidFill>
          <a:ln>
            <a:solidFill>
              <a:srgbClr val="EB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618488"/>
            <a:ext cx="438912" cy="41148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2400" b="1">
                <a:solidFill>
                  <a:srgbClr val="C87022"/>
                </a:solidFill>
                <a:latin typeface="Aptos"/>
              </a:defRPr>
            </a:pPr>
            <a: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44168" y="1645920"/>
            <a:ext cx="4389120" cy="3657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700" b="1">
                <a:solidFill>
                  <a:srgbClr val="C87022"/>
                </a:solidFill>
                <a:latin typeface="Aptos"/>
              </a:defRPr>
            </a:pPr>
            <a:r>
              <a:t>Hoy vas a…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286000"/>
            <a:ext cx="4800600" cy="324612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200" b="0">
                <a:solidFill>
                  <a:srgbClr val="1C2330"/>
                </a:solidFill>
                <a:latin typeface="Aptos"/>
              </a:defRPr>
            </a:pPr>
            <a:r>
              <a:t>Mejorar estructura sin cambiar comportamiento.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6208" y="1417320"/>
            <a:ext cx="5349240" cy="4343400"/>
          </a:xfrm>
          <a:prstGeom prst="roundRect">
            <a:avLst/>
          </a:prstGeom>
          <a:solidFill>
            <a:srgbClr val="FFFFFF"/>
          </a:solidFill>
          <a:ln>
            <a:solidFill>
              <a:srgbClr val="EB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64808" y="1618488"/>
            <a:ext cx="438912" cy="41148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2400" b="1">
                <a:solidFill>
                  <a:srgbClr val="C87022"/>
                </a:solidFill>
                <a:latin typeface="Aptos"/>
              </a:defRPr>
            </a:pPr>
            <a: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86016" y="1645920"/>
            <a:ext cx="4389120" cy="3657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700" b="1">
                <a:solidFill>
                  <a:srgbClr val="C87022"/>
                </a:solidFill>
                <a:latin typeface="Aptos"/>
              </a:defRPr>
            </a:pPr>
            <a:r>
              <a:t>Debe quedar…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10528" y="2286000"/>
            <a:ext cx="4800600" cy="324612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200" b="0">
                <a:solidFill>
                  <a:srgbClr val="1C2330"/>
                </a:solidFill>
                <a:latin typeface="Aptos"/>
              </a:defRPr>
            </a:pPr>
            <a:r>
              <a:t>docs/informe-refactorizacion-h5 inicial.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5029200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C87022"/>
                </a:solidFill>
                <a:latin typeface="Aptos"/>
              </a:defRPr>
            </a:pPr>
            <a:r>
              <a:t>PASO A PASO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1064240" cy="53035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Ruta de trabajo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260 · H5</a:t>
            </a:r>
          </a:p>
        </p:txBody>
      </p:sp>
      <p:sp>
        <p:nvSpPr>
          <p:cNvPr id="8" name="Oval 7"/>
          <p:cNvSpPr/>
          <p:nvPr/>
        </p:nvSpPr>
        <p:spPr>
          <a:xfrm>
            <a:off x="685800" y="1325880"/>
            <a:ext cx="502920" cy="502920"/>
          </a:xfrm>
          <a:prstGeom prst="ellipse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435607"/>
            <a:ext cx="50292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20" y="1344168"/>
            <a:ext cx="9875520" cy="5486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Lee el objetivo y escribe con tus palabras qué debe quedar terminado.</a:t>
            </a:r>
          </a:p>
        </p:txBody>
      </p:sp>
      <p:sp>
        <p:nvSpPr>
          <p:cNvPr id="11" name="Oval 10"/>
          <p:cNvSpPr/>
          <p:nvPr/>
        </p:nvSpPr>
        <p:spPr>
          <a:xfrm>
            <a:off x="685800" y="2258568"/>
            <a:ext cx="502920" cy="502920"/>
          </a:xfrm>
          <a:prstGeom prst="ellipse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2368296"/>
            <a:ext cx="50292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17320" y="2276856"/>
            <a:ext cx="9875520" cy="5486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Atiende al ejemplo breve y anota una predicción, duda o decisión.</a:t>
            </a:r>
          </a:p>
        </p:txBody>
      </p:sp>
      <p:sp>
        <p:nvSpPr>
          <p:cNvPr id="14" name="Oval 13"/>
          <p:cNvSpPr/>
          <p:nvPr/>
        </p:nvSpPr>
        <p:spPr>
          <a:xfrm>
            <a:off x="685800" y="3191256"/>
            <a:ext cx="502920" cy="502920"/>
          </a:xfrm>
          <a:prstGeom prst="ellipse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300984"/>
            <a:ext cx="50292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17320" y="3209544"/>
            <a:ext cx="9875520" cy="5486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Realiza esta tarea: Aplicar una refactorización pequeña.</a:t>
            </a:r>
          </a:p>
        </p:txBody>
      </p:sp>
      <p:sp>
        <p:nvSpPr>
          <p:cNvPr id="17" name="Oval 16"/>
          <p:cNvSpPr/>
          <p:nvPr/>
        </p:nvSpPr>
        <p:spPr>
          <a:xfrm>
            <a:off x="685800" y="4123944"/>
            <a:ext cx="502920" cy="502920"/>
          </a:xfrm>
          <a:prstGeom prst="ellipse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800" y="4233672"/>
            <a:ext cx="50292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17320" y="4142231"/>
            <a:ext cx="9875520" cy="5486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Comprueba el resultado con una prueba observable; no basta con decir “funciona”.</a:t>
            </a:r>
          </a:p>
        </p:txBody>
      </p:sp>
      <p:sp>
        <p:nvSpPr>
          <p:cNvPr id="20" name="Oval 19"/>
          <p:cNvSpPr/>
          <p:nvPr/>
        </p:nvSpPr>
        <p:spPr>
          <a:xfrm>
            <a:off x="685800" y="5056631"/>
            <a:ext cx="502920" cy="502920"/>
          </a:xfrm>
          <a:prstGeom prst="ellipse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5166359"/>
            <a:ext cx="50292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17320" y="5074919"/>
            <a:ext cx="9875520" cy="5486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Guarda o entrega la evidencia indicada y prepárate para explicarla.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5029200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C87022"/>
                </a:solidFill>
                <a:latin typeface="Aptos"/>
              </a:defRPr>
            </a:pPr>
            <a:r>
              <a:t>COMPRENDER Y APLICAR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1064240" cy="53035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Claves para avanzar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260 · H5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325880"/>
            <a:ext cx="5257800" cy="4526280"/>
          </a:xfrm>
          <a:prstGeom prst="roundRect">
            <a:avLst/>
          </a:prstGeom>
          <a:solidFill>
            <a:srgbClr val="FFFFFF"/>
          </a:solidFill>
          <a:ln>
            <a:solidFill>
              <a:srgbClr val="EB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172200" y="1325880"/>
            <a:ext cx="5413248" cy="4526280"/>
          </a:xfrm>
          <a:prstGeom prst="roundRect">
            <a:avLst/>
          </a:prstGeom>
          <a:solidFill>
            <a:srgbClr val="FFFFFF"/>
          </a:solidFill>
          <a:ln>
            <a:solidFill>
              <a:srgbClr val="EB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600200"/>
            <a:ext cx="4663440" cy="3657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600" b="1">
                <a:solidFill>
                  <a:srgbClr val="C87022"/>
                </a:solidFill>
                <a:latin typeface="Aptos"/>
              </a:defRPr>
            </a:pPr>
            <a:r>
              <a:t>IDEAS CLAVE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121408"/>
            <a:ext cx="4572000" cy="333756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1C2330"/>
                </a:solidFill>
                <a:latin typeface="Aptos"/>
              </a:defRPr>
            </a:pPr>
            <a:r>
              <a:t>•  Antes/después, motivo y prueba posterior.</a:t>
            </a:r>
          </a:p>
          <a:p>
            <a:pPr>
              <a:spcAft>
                <a:spcPts val="1000"/>
              </a:spcAft>
              <a:defRPr sz="1800">
                <a:solidFill>
                  <a:srgbClr val="1C2330"/>
                </a:solidFill>
                <a:latin typeface="Aptos"/>
              </a:defRPr>
            </a:pPr>
            <a:r>
              <a:t>•  Guion breve sugerido:</a:t>
            </a:r>
          </a:p>
          <a:p>
            <a:pPr>
              <a:spcAft>
                <a:spcPts val="1000"/>
              </a:spcAft>
              <a:defRPr sz="1800">
                <a:solidFill>
                  <a:srgbClr val="1C2330"/>
                </a:solidFill>
                <a:latin typeface="Aptos"/>
              </a:defRPr>
            </a:pPr>
            <a:r>
              <a:t>•  &gt; Hoy necesitamos comprender y practicar lo justo para producir una evidencia verificable. Primero observaremos un ejemplo, después trabajaréis y al final cada pers…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46520" y="1600200"/>
            <a:ext cx="4572000" cy="3657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600" b="1">
                <a:solidFill>
                  <a:srgbClr val="C87022"/>
                </a:solidFill>
                <a:latin typeface="Aptos"/>
              </a:defRPr>
            </a:pPr>
            <a:r>
              <a:t>ACTIVIDAD CENTRAL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46520" y="2121408"/>
            <a:ext cx="4617720" cy="333756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1C2330"/>
                </a:solidFill>
                <a:latin typeface="Aptos"/>
              </a:defRPr>
            </a:pPr>
            <a:r>
              <a:t>•  Extraer método o renombrar variable y ejecutar pruebas.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5029200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C87022"/>
                </a:solidFill>
                <a:latin typeface="Aptos"/>
              </a:defRPr>
            </a:pPr>
            <a:r>
              <a:t>EVIDENCIA MÍNIMA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1064240" cy="53035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Antes de salir, comprueba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260 · H5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371600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C870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89888" y="1362456"/>
            <a:ext cx="9784080" cy="5943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He producido o actualizado: docs/informe-refactorizacion-h5 inicial.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2267712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C870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89888" y="2258568"/>
            <a:ext cx="9784080" cy="5943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Puedo señalar dónde está.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3163824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C870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89888" y="3154680"/>
            <a:ext cx="9784080" cy="5943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Puedo explicar una decisión tomada.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4059935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C870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89888" y="4050791"/>
            <a:ext cx="9784080" cy="5943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Puedo mostrar una prueba o comprobación.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3232" y="4956048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C870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89888" y="4946904"/>
            <a:ext cx="9784080" cy="5943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He registrado mi aportación individual si el trabajo era de equipo.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5925312"/>
            <a:ext cx="10789920" cy="27432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200" b="0">
                <a:solidFill>
                  <a:srgbClr val="586270"/>
                </a:solidFill>
                <a:latin typeface="Aptos"/>
              </a:defRPr>
            </a:pPr>
            <a:r>
              <a:t>Necesitas: Un ordenador por estudiante o pareja, con JDK e IntelliJ disponibles y el proyecto del hito accesible.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5029200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C87022"/>
                </a:solidFill>
                <a:latin typeface="Aptos"/>
              </a:defRPr>
            </a:pPr>
            <a:r>
              <a:t>COMPRUEBA Y EXPLICA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1064240" cy="53035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Cierre de la sesión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260 · H5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10927080" cy="1965960"/>
          </a:xfrm>
          <a:prstGeom prst="round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618488"/>
            <a:ext cx="10195560" cy="3200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ptos"/>
              </a:defRPr>
            </a:pPr>
            <a:r>
              <a:t>PREGUNTA DE SALIDA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057400"/>
            <a:ext cx="10058400" cy="8229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700" b="1">
                <a:solidFill>
                  <a:srgbClr val="FFFFFF"/>
                </a:solidFill>
                <a:latin typeface="Aptos"/>
              </a:defRPr>
            </a:pPr>
            <a:r>
              <a:t>Ejecutar prueba que demuestre que no se rompió.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" y="3703320"/>
            <a:ext cx="3749039" cy="3200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500" b="1">
                <a:solidFill>
                  <a:srgbClr val="C87022"/>
                </a:solidFill>
                <a:latin typeface="Aptos"/>
              </a:defRPr>
            </a:pPr>
            <a:r>
              <a:t>RECUERDA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3232" y="4114800"/>
            <a:ext cx="6583680" cy="169164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1000"/>
              </a:spcAft>
              <a:defRPr sz="1700">
                <a:solidFill>
                  <a:srgbClr val="1C2330"/>
                </a:solidFill>
                <a:latin typeface="Aptos"/>
              </a:defRPr>
            </a:pPr>
            <a:r>
              <a:t>•  Trabaja únicamente con datos ficticios.</a:t>
            </a:r>
          </a:p>
          <a:p>
            <a:pPr>
              <a:spcAft>
                <a:spcPts val="1000"/>
              </a:spcAft>
              <a:defRPr sz="1700">
                <a:solidFill>
                  <a:srgbClr val="1C2330"/>
                </a:solidFill>
                <a:latin typeface="Aptos"/>
              </a:defRPr>
            </a:pPr>
            <a:r>
              <a:t>•  No escribas contraseñas, tokens, claves API ni datos personales.</a:t>
            </a:r>
          </a:p>
          <a:p>
            <a:pPr>
              <a:spcAft>
                <a:spcPts val="1000"/>
              </a:spcAft>
              <a:defRPr sz="1700">
                <a:solidFill>
                  <a:srgbClr val="1C2330"/>
                </a:solidFill>
                <a:latin typeface="Aptos"/>
              </a:defRPr>
            </a:pPr>
            <a:r>
              <a:t>•  Si utilizas IA en un uso permitido, registra qué pediste, qué recibiste, qué cambiaste y cómo lo comprobaste.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26679" y="3794760"/>
            <a:ext cx="3703320" cy="1600200"/>
          </a:xfrm>
          <a:prstGeom prst="roundRect">
            <a:avLst/>
          </a:prstGeom>
          <a:solidFill>
            <a:srgbClr val="FFFFFF"/>
          </a:solidFill>
          <a:ln>
            <a:solidFill>
              <a:srgbClr val="EB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28431" y="4087368"/>
            <a:ext cx="3063240" cy="86868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800" b="1">
                <a:solidFill>
                  <a:srgbClr val="247E5C"/>
                </a:solidFill>
                <a:latin typeface="Aptos"/>
              </a:defRPr>
            </a:pPr>
            <a:r>
              <a:t>La sesión termina cuando la evidencia existe, está comprobada y puedes defenderla.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