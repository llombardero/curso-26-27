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566928"/>
            <a:ext cx="1874519" cy="566928"/>
          </a:xfrm>
          <a:prstGeom prst="roundRect">
            <a:avLst/>
          </a:prstGeom>
          <a:solidFill>
            <a:srgbClr val="147C88"/>
          </a:solidFill>
          <a:ln>
            <a:solidFill>
              <a:srgbClr val="147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719072" cy="22860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SESIÓN 220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81328"/>
            <a:ext cx="10789920" cy="169164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Aptos"/>
              </a:defRPr>
            </a:pPr>
            <a:r>
              <a:t>Condicionales if/else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3703320"/>
            <a:ext cx="10424160" cy="411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1">
                <a:solidFill>
                  <a:srgbClr val="BEC8D6"/>
                </a:solidFill>
                <a:latin typeface="Aptos"/>
              </a:defRPr>
            </a:pPr>
            <a:r>
              <a:t>H2 · 45 minutos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4315968"/>
            <a:ext cx="10241280" cy="5029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Aptos"/>
              </a:defRPr>
            </a:pPr>
            <a:r>
              <a:t>Fase HEXA: Investigar — aprender lo necesario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6272784"/>
            <a:ext cx="10607040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A0AAB9"/>
                </a:solidFill>
                <a:latin typeface="Aptos"/>
              </a:defRPr>
            </a:pPr>
            <a:r>
              <a:t>MINIJARVIS · PROGRAMACIÓN + ENTORNOS DE DESARROLLO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147C88"/>
                </a:solidFill>
                <a:latin typeface="Aptos"/>
              </a:defRPr>
            </a:pPr>
            <a:r>
              <a:t>PUNTO DE PARTIDA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Qué debe conseguirse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220 · H2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89888"/>
            <a:ext cx="518464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18488"/>
            <a:ext cx="4727448" cy="3840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100" b="1">
                <a:solidFill>
                  <a:srgbClr val="1C2330"/>
                </a:solidFill>
                <a:latin typeface="Aptos"/>
              </a:defRPr>
            </a:pPr>
            <a:r>
              <a:t>Objetivo: Ejecutar una respuesta según comando.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389888"/>
            <a:ext cx="518464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618488"/>
            <a:ext cx="4727448" cy="3840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100" b="1">
                <a:solidFill>
                  <a:srgbClr val="1C2330"/>
                </a:solidFill>
                <a:latin typeface="Aptos"/>
              </a:defRPr>
            </a:pPr>
            <a:r>
              <a:t>Evidencia: Menú parcial funcional.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147C88"/>
                </a:solidFill>
                <a:latin typeface="Aptos"/>
              </a:defRPr>
            </a:pPr>
            <a:r>
              <a:t>RITMO DE LA SESIÓN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Secuencia de aula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220 · H2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280160"/>
            <a:ext cx="475488" cy="475488"/>
          </a:xfrm>
          <a:prstGeom prst="ellipse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8074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126187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0–5 min — Presentar objetivo, producto y evidencia de hoy.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2125979"/>
            <a:ext cx="475488" cy="475488"/>
          </a:xfrm>
          <a:prstGeom prst="ellipse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226563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9888" y="2107691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5–13 min — Explicación breve: Un condicional permite ejecutar una rama u otra según una condición.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2971799"/>
            <a:ext cx="475488" cy="475488"/>
          </a:xfrm>
          <a:prstGeom prst="ellipse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3072383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2953511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13–18 min — Demostración o ejemplo: Rama para ayuda, estado y else.</a:t>
            </a:r>
          </a:p>
        </p:txBody>
      </p:sp>
      <p:sp>
        <p:nvSpPr>
          <p:cNvPr id="17" name="Oval 16"/>
          <p:cNvSpPr/>
          <p:nvPr/>
        </p:nvSpPr>
        <p:spPr>
          <a:xfrm>
            <a:off x="658368" y="3817620"/>
            <a:ext cx="475488" cy="475488"/>
          </a:xfrm>
          <a:prstGeom prst="ellipse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91820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89888" y="379933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18–35 min — Trabajo del alumnado: Implementar ayuda, estado y comando desconocido.</a:t>
            </a:r>
          </a:p>
        </p:txBody>
      </p:sp>
      <p:sp>
        <p:nvSpPr>
          <p:cNvPr id="20" name="Oval 19"/>
          <p:cNvSpPr/>
          <p:nvPr/>
        </p:nvSpPr>
        <p:spPr>
          <a:xfrm>
            <a:off x="658368" y="4663440"/>
            <a:ext cx="475488" cy="475488"/>
          </a:xfrm>
          <a:prstGeom prst="ellipse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476402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89888" y="464515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35–40 min — Comprobar la evidencia con una explicación o prueba breve.</a:t>
            </a:r>
          </a:p>
        </p:txBody>
      </p:sp>
      <p:sp>
        <p:nvSpPr>
          <p:cNvPr id="23" name="Oval 22"/>
          <p:cNvSpPr/>
          <p:nvPr/>
        </p:nvSpPr>
        <p:spPr>
          <a:xfrm>
            <a:off x="658368" y="5509259"/>
            <a:ext cx="475488" cy="475488"/>
          </a:xfrm>
          <a:prstGeom prst="ellipse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560984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9888" y="549097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40–45 min — Cierre: ¿qué rama se ejecuta con un comando inventado?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147C88"/>
                </a:solidFill>
                <a:latin typeface="Aptos"/>
              </a:defRPr>
            </a:pPr>
            <a:r>
              <a:t>COMPRENDER Y TRANSFERIR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Idea clave y puesta en práctica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220 · H2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325880"/>
            <a:ext cx="5285232" cy="473659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627632"/>
            <a:ext cx="2011680" cy="329184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147C88"/>
                </a:solidFill>
                <a:latin typeface="Aptos"/>
              </a:defRPr>
            </a:pPr>
            <a:r>
              <a:t>IDEA CLAVE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176272"/>
            <a:ext cx="4617720" cy="342900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900"/>
              </a:spcAft>
              <a:defRPr sz="2300">
                <a:solidFill>
                  <a:srgbClr val="1C2330"/>
                </a:solidFill>
                <a:latin typeface="Aptos"/>
              </a:defRPr>
            </a:pPr>
            <a:r>
              <a:t>•  if, else if, else y orden de evaluación.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325880"/>
            <a:ext cx="5394960" cy="4736592"/>
          </a:xfrm>
          <a:prstGeom prst="round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627632"/>
            <a:ext cx="2194560" cy="329184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147C88"/>
                </a:solidFill>
                <a:latin typeface="Aptos"/>
              </a:defRPr>
            </a:pPr>
            <a:r>
              <a:t>EN PRÁCTICA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176272"/>
            <a:ext cx="4617720" cy="342900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900"/>
              </a:spcAft>
              <a:defRPr sz="2300">
                <a:solidFill>
                  <a:srgbClr val="FFFFFF"/>
                </a:solidFill>
                <a:latin typeface="Aptos"/>
              </a:defRPr>
            </a:pPr>
            <a:r>
              <a:t>•  Rama para ayuda, estado y else.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147C88"/>
                </a:solidFill>
                <a:latin typeface="Aptos"/>
              </a:defRPr>
            </a:pPr>
            <a:r>
              <a:t>APLICAR Y DECIDIR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Actividad central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220 · H2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07592"/>
            <a:ext cx="10835640" cy="222656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453895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147C88"/>
                </a:solidFill>
                <a:latin typeface="Aptos"/>
              </a:defRPr>
            </a:pPr>
            <a:r>
              <a:t>PASO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4208" y="1417319"/>
            <a:ext cx="9464040" cy="200710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Implementar tres comandos.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776472"/>
            <a:ext cx="10835640" cy="222656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3922776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147C88"/>
                </a:solidFill>
                <a:latin typeface="Aptos"/>
              </a:defRPr>
            </a:pPr>
            <a:r>
              <a:t>PASO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64208" y="3886200"/>
            <a:ext cx="9464040" cy="200710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Comprueba y registra la evidencia: Menú parcial funcional.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147C88"/>
                </a:solidFill>
                <a:latin typeface="Aptos"/>
              </a:defRPr>
            </a:pPr>
            <a:r>
              <a:t>COMPROBAR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Evidencia y comprobación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220 · H2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298448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147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89888" y="1280160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Pueden explicar qué están intentando conseguir.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295144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147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89888" y="2276856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Registran una decisión, prueba o bloqueo; no muestran solo el resultado final.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291839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147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89888" y="3273551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Todas las personas pueden describir su aportación.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4288536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147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89888" y="4270248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Comprueban el producto con un criterio observable.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5285231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147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89888" y="5266944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No usan datos personales, credenciales ni respuestas de ejemplo antes del intento propio.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147C88"/>
                </a:solidFill>
                <a:latin typeface="Aptos"/>
              </a:defRPr>
            </a:pPr>
            <a:r>
              <a:t>LÍMITES QUE PROTEGEN EL APRENDIZAJE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Seguridad y uso responsable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220 · H2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298448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8" y="1527048"/>
            <a:ext cx="237744" cy="1719072"/>
          </a:xfrm>
          <a:prstGeom prst="roundRect">
            <a:avLst/>
          </a:prstGeom>
          <a:solidFill>
            <a:srgbClr val="247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1527048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Trabaja únicamente con datos ficticios.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79" y="1298448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45936" y="1527048"/>
            <a:ext cx="237744" cy="1719072"/>
          </a:xfrm>
          <a:prstGeom prst="roundRect">
            <a:avLst/>
          </a:prstGeom>
          <a:solidFill>
            <a:srgbClr val="C07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84847" y="1527048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No escribas contraseñas, tokens, claves API ni datos personales.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3675887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41248" y="3904487"/>
            <a:ext cx="237744" cy="1719072"/>
          </a:xfrm>
          <a:prstGeom prst="roundRect">
            <a:avLst/>
          </a:prstGeom>
          <a:solidFill>
            <a:srgbClr val="B1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3904487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Si utilizas IA en un uso permitido, registra qué pediste, qué recibiste, qué cambiaste y cómo lo comprobaste.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79" y="3675887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45936" y="3904487"/>
            <a:ext cx="237744" cy="1719072"/>
          </a:xfrm>
          <a:prstGeom prst="roundRect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4847" y="3904487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Los ejemplos de Laura solo se consultan después del intento propio.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147C88"/>
                </a:solidFill>
                <a:latin typeface="Aptos"/>
              </a:defRPr>
            </a:pPr>
            <a:r>
              <a:t>EXPLICAR Y DEFENDER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Cierre y defensa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4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220 · H2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298448"/>
            <a:ext cx="10927080" cy="1828800"/>
          </a:xfrm>
          <a:prstGeom prst="roundRect">
            <a:avLst/>
          </a:prstGeom>
          <a:solidFill>
            <a:srgbClr val="147C88"/>
          </a:solidFill>
          <a:ln>
            <a:solidFill>
              <a:srgbClr val="147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91056"/>
            <a:ext cx="1024128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ptos"/>
              </a:defRPr>
            </a:pPr>
            <a:r>
              <a:t>PREGUNTA O DECISIÓN DE SALIDA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975104"/>
            <a:ext cx="10058400" cy="82296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Aptos"/>
              </a:defRPr>
            </a:pPr>
            <a:r>
              <a:t>¿qué rama se ejecuta con un comando inventado?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886200"/>
            <a:ext cx="10607040" cy="1280160"/>
          </a:xfrm>
          <a:prstGeom prst="rect">
            <a:avLst/>
          </a:prstGeom>
          <a:noFill/>
        </p:spPr>
        <p:txBody>
          <a:bodyPr wrap="square" lIns="45720" rIns="45720" tIns="36576" bIns="36576" anchor="ctr">
            <a:spAutoFit/>
          </a:bodyPr>
          <a:lstStyle/>
          <a:p>
            <a:pPr algn="ctr">
              <a:defRPr sz="2300" b="1">
                <a:solidFill>
                  <a:srgbClr val="247E5C"/>
                </a:solidFill>
                <a:latin typeface="Aptos"/>
              </a:defRPr>
            </a:pPr>
            <a:r>
              <a:t>La sesión termina cuando la evidencia existe, está comprobada y puede defenderse.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